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charts/chart3.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A26"/>
                </a:solidFill>
                <a:latin typeface="Calibri"/>
              </a:defRPr>
            </a:pPr>
            <a:r>
              <a:rPr sz="1300" b="0" i="0" u="none" strike="noStrike">
                <a:solidFill>
                  <a:srgbClr val="1E2A26"/>
                </a:solidFill>
                <a:latin typeface="Calibri"/>
              </a:rPr>
              <a:t>Dry powder output, kg per operating day (8% loss, 10:1)</a:t>
            </a:r>
          </a:p>
        </c:rich>
      </c:tx>
      <c:layout/>
      <c:overlay val="0"/>
    </c:title>
    <c:autoTitleDeleted val="0"/>
    <c:plotArea>
      <c:layout/>
      <c:barChart>
        <c:barDir val="col"/>
        <c:grouping val="clustered"/>
        <c:varyColors val="0"/>
        <c:ser>
          <c:idx val="0"/>
          <c:order val="0"/>
          <c:tx>
            <c:strRef>
              <c:f>Sheet1!$B$1</c:f>
              <c:strCache>
                <c:ptCount val="1"/>
                <c:pt idx="0">
                  <c:v>45 blocks/day (current 2-storey building)</c:v>
                </c:pt>
              </c:strCache>
            </c:strRef>
          </c:tx>
          <c:spPr>
            <a:solidFill>
              <a:srgbClr val="8DB596"/>
            </a:solidFill>
            <a:effectLst/>
          </c:spPr>
          <c:invertIfNegative val="0"/>
          <c:dLbls>
            <c:numFmt formatCode="0.0" sourceLinked="0"/>
            <c:txPr>
              <a:bodyPr/>
              <a:lstStyle/>
              <a:p>
                <a:pPr>
                  <a:defRPr b="0" i="0" strike="noStrike" sz="1000" u="none">
                    <a:solidFill>
                      <a:srgbClr val="1E2A26"/>
                    </a:solidFill>
                    <a:latin typeface="Arial"/>
                  </a:defRPr>
                </a:pPr>
              </a:p>
            </c:txPr>
            <c:showLegendKey val="0"/>
            <c:showVal val="1"/>
            <c:showCatName val="0"/>
            <c:showSerName val="0"/>
            <c:showPercent val="0"/>
            <c:showBubbleSize val="0"/>
            <c:showLeaderLines val="0"/>
          </c:dLbls>
          <c:cat>
            <c:multiLvlStrRef>
              <c:f>Sheet1!$A$2:$A$5</c:f>
              <c:multiLvlStrCache>
                <c:ptCount val="4"/>
                <c:lvl>
                  <c:pt idx="0">
                    <c:v>BE 50%</c:v>
                  </c:pt>
                  <c:pt idx="1">
                    <c:v>BE 65% (base)</c:v>
                  </c:pt>
                  <c:pt idx="2">
                    <c:v>BE 80%</c:v>
                  </c:pt>
                  <c:pt idx="3">
                    <c:v>BE 100%</c:v>
                  </c:pt>
                </c:lvl>
              </c:multiLvlStrCache>
            </c:multiLvlStrRef>
          </c:cat>
          <c:val>
            <c:numRef>
              <c:f>Sheet1!$B$2:$B$5</c:f>
              <c:numCache>
                <c:formatCode>General</c:formatCode>
                <c:ptCount val="4"/>
                <c:pt idx="0">
                  <c:v>2.07</c:v>
                </c:pt>
                <c:pt idx="1">
                  <c:v>2.69</c:v>
                </c:pt>
                <c:pt idx="2">
                  <c:v>3.31</c:v>
                </c:pt>
                <c:pt idx="3">
                  <c:v>4.14</c:v>
                </c:pt>
              </c:numCache>
            </c:numRef>
          </c:val>
        </c:ser>
        <c:ser>
          <c:idx val="1"/>
          <c:order val="1"/>
          <c:tx>
            <c:strRef>
              <c:f>Sheet1!$C$1</c:f>
              <c:strCache>
                <c:ptCount val="1"/>
                <c:pt idx="0">
                  <c:v>60 blocks/day (Phase 1)</c:v>
                </c:pt>
              </c:strCache>
            </c:strRef>
          </c:tx>
          <c:spPr>
            <a:solidFill>
              <a:srgbClr val="2E5E4E"/>
            </a:solidFill>
            <a:effectLst/>
          </c:spPr>
          <c:invertIfNegative val="0"/>
          <c:dLbls>
            <c:numFmt formatCode="0.0" sourceLinked="0"/>
            <c:txPr>
              <a:bodyPr/>
              <a:lstStyle/>
              <a:p>
                <a:pPr>
                  <a:defRPr b="0" i="0" strike="noStrike" sz="1000" u="none">
                    <a:solidFill>
                      <a:srgbClr val="1E2A26"/>
                    </a:solidFill>
                    <a:latin typeface="Arial"/>
                  </a:defRPr>
                </a:pPr>
              </a:p>
            </c:txPr>
            <c:showLegendKey val="0"/>
            <c:showVal val="1"/>
            <c:showCatName val="0"/>
            <c:showSerName val="0"/>
            <c:showPercent val="0"/>
            <c:showBubbleSize val="0"/>
            <c:showLeaderLines val="0"/>
          </c:dLbls>
          <c:cat>
            <c:multiLvlStrRef>
              <c:f>Sheet1!$A$2:$A$5</c:f>
              <c:multiLvlStrCache>
                <c:ptCount val="4"/>
                <c:lvl>
                  <c:pt idx="0">
                    <c:v>BE 50%</c:v>
                  </c:pt>
                  <c:pt idx="1">
                    <c:v>BE 65% (base)</c:v>
                  </c:pt>
                  <c:pt idx="2">
                    <c:v>BE 80%</c:v>
                  </c:pt>
                  <c:pt idx="3">
                    <c:v>BE 100%</c:v>
                  </c:pt>
                </c:lvl>
              </c:multiLvlStrCache>
            </c:multiLvlStrRef>
          </c:cat>
          <c:val>
            <c:numRef>
              <c:f>Sheet1!$C$2:$C$5</c:f>
              <c:numCache>
                <c:formatCode>General</c:formatCode>
                <c:ptCount val="4"/>
                <c:pt idx="0">
                  <c:v>2.76</c:v>
                </c:pt>
                <c:pt idx="1">
                  <c:v>3.59</c:v>
                </c:pt>
                <c:pt idx="2">
                  <c:v>4.42</c:v>
                </c:pt>
                <c:pt idx="3">
                  <c:v>5.52</c:v>
                </c:pt>
              </c:numCache>
            </c:numRef>
          </c:val>
        </c:ser>
        <c:ser>
          <c:idx val="2"/>
          <c:order val="2"/>
          <c:tx>
            <c:strRef>
              <c:f>Sheet1!$D$1</c:f>
              <c:strCache>
                <c:ptCount val="1"/>
                <c:pt idx="0">
                  <c:v>90 blocks/day (Phase 2)</c:v>
                </c:pt>
              </c:strCache>
            </c:strRef>
          </c:tx>
          <c:spPr>
            <a:solidFill>
              <a:srgbClr val="D9962B"/>
            </a:solidFill>
            <a:effectLst/>
          </c:spPr>
          <c:invertIfNegative val="0"/>
          <c:dLbls>
            <c:numFmt formatCode="0.0" sourceLinked="0"/>
            <c:txPr>
              <a:bodyPr/>
              <a:lstStyle/>
              <a:p>
                <a:pPr>
                  <a:defRPr b="0" i="0" strike="noStrike" sz="1000" u="none">
                    <a:solidFill>
                      <a:srgbClr val="1E2A26"/>
                    </a:solidFill>
                    <a:latin typeface="Arial"/>
                  </a:defRPr>
                </a:pPr>
              </a:p>
            </c:txPr>
            <c:showLegendKey val="0"/>
            <c:showVal val="1"/>
            <c:showCatName val="0"/>
            <c:showSerName val="0"/>
            <c:showPercent val="0"/>
            <c:showBubbleSize val="0"/>
            <c:showLeaderLines val="0"/>
          </c:dLbls>
          <c:cat>
            <c:multiLvlStrRef>
              <c:f>Sheet1!$A$2:$A$5</c:f>
              <c:multiLvlStrCache>
                <c:ptCount val="4"/>
                <c:lvl>
                  <c:pt idx="0">
                    <c:v>BE 50%</c:v>
                  </c:pt>
                  <c:pt idx="1">
                    <c:v>BE 65% (base)</c:v>
                  </c:pt>
                  <c:pt idx="2">
                    <c:v>BE 80%</c:v>
                  </c:pt>
                  <c:pt idx="3">
                    <c:v>BE 100%</c:v>
                  </c:pt>
                </c:lvl>
              </c:multiLvlStrCache>
            </c:multiLvlStrRef>
          </c:cat>
          <c:val>
            <c:numRef>
              <c:f>Sheet1!$D$2:$D$5</c:f>
              <c:numCache>
                <c:formatCode>General</c:formatCode>
                <c:ptCount val="4"/>
                <c:pt idx="0">
                  <c:v>4.14</c:v>
                </c:pt>
                <c:pt idx="1">
                  <c:v>5.38</c:v>
                </c:pt>
                <c:pt idx="2">
                  <c:v>6.62</c:v>
                </c:pt>
                <c:pt idx="3">
                  <c:v>8.28</c:v>
                </c:pt>
              </c:numCache>
            </c:numRef>
          </c:val>
        </c:ser>
        <c:dLbls>
          <c:numFmt formatCode="0.0" sourceLinked="0"/>
          <c:txPr>
            <a:bodyPr/>
            <a:lstStyle/>
            <a:p>
              <a:pPr>
                <a:defRPr b="0" i="0" strike="noStrike" sz="1000" u="none">
                  <a:solidFill>
                    <a:srgbClr val="1E2A26"/>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E2A26"/>
                </a:solidFill>
                <a:latin typeface="Arial"/>
              </a:defRPr>
            </a:pPr>
            <a:endParaRPr lang="en-US"/>
          </a:p>
        </c:txPr>
        <c:crossAx val="2094734552"/>
        <c:crosses val="autoZero"/>
        <c:auto val="1"/>
        <c:lblAlgn val="ctr"/>
        <c:noMultiLvlLbl val="1"/>
      </c:catAx>
      <c:valAx>
        <c:axId val="2094734552"/>
        <c:scaling>
          <c:orientation val="minMax"/>
          <c:max val="9"/>
          <c:min val="0"/>
        </c:scaling>
        <c:delete val="0"/>
        <c:axPos val="l"/>
        <c:majorGridlines>
          <c:spPr>
            <a:ln w="6350" cap="flat">
              <a:solidFill>
                <a:srgbClr val="E5EC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6F69"/>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2A26"/>
                </a:solidFill>
                <a:latin typeface="Calibri"/>
              </a:defRPr>
            </a:pPr>
            <a:r>
              <a:rPr sz="1200" b="0" i="0" u="none" strike="noStrike">
                <a:solidFill>
                  <a:srgbClr val="1E2A26"/>
                </a:solidFill>
                <a:latin typeface="Calibri"/>
              </a:rPr>
              <a:t>Daily batch: 155 kg wet @ 60% moisture</a:t>
            </a:r>
          </a:p>
        </c:rich>
      </c:tx>
      <c:layout/>
      <c:overlay val="0"/>
    </c:title>
    <c:autoTitleDeleted val="0"/>
    <c:plotArea>
      <c:layout/>
      <c:doughnutChart>
        <c:varyColors val="1"/>
        <c:ser>
          <c:idx val="0"/>
          <c:order val="0"/>
          <c:tx>
            <c:strRef>
              <c:f>Sheet1!$B$1</c:f>
              <c:strCache>
                <c:ptCount val="1"/>
                <c:pt idx="0">
                  <c:v>Daily batch</c:v>
                </c:pt>
              </c:strCache>
            </c:strRef>
          </c:tx>
          <c:spPr>
            <a:solidFill>
              <a:schemeClr val="accent1"/>
            </a:solidFill>
            <a:ln w="9525" cap="flat">
              <a:solidFill>
                <a:srgbClr val="F9F9F9"/>
              </a:solidFill>
              <a:prstDash val="solid"/>
              <a:round/>
            </a:ln>
            <a:effectLst/>
          </c:spPr>
          <c:dPt>
            <c:idx val="0"/>
            <c:bubble3D val="0"/>
            <c:spPr>
              <a:solidFill>
                <a:srgbClr val="2E5E4E"/>
              </a:solidFill>
              <a:effectLst/>
            </c:spPr>
          </c:dPt>
          <c:dPt>
            <c:idx val="1"/>
            <c:bubble3D val="0"/>
            <c:spPr>
              <a:solidFill>
                <a:srgbClr val="D9962B"/>
              </a:solidFill>
              <a:effectLst/>
            </c:spPr>
          </c:dPt>
          <c:dPt>
            <c:idx val="2"/>
            <c:bubble3D val="0"/>
            <c:spPr>
              <a:solidFill>
                <a:srgbClr val="4F8AA0"/>
              </a:solidFill>
              <a:effectLst/>
            </c:spPr>
          </c:dPt>
          <c:dLbls>
            <c:dLbl>
              <c:idx val="0"/>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Hardwood sawdust 31 kg</c:v>
                </c:pt>
                <c:pt idx="1">
                  <c:v>Soy hull 31 kg</c:v>
                </c:pt>
                <c:pt idx="2">
                  <c:v>Water 93 L</c:v>
                </c:pt>
              </c:strCache>
            </c:strRef>
          </c:cat>
          <c:val>
            <c:numRef>
              <c:f>Sheet1!$B$2:$B$4</c:f>
              <c:numCache>
                <c:ptCount val="3"/>
                <c:pt idx="0">
                  <c:v>31</c:v>
                </c:pt>
                <c:pt idx="1">
                  <c:v>31</c:v>
                </c:pt>
                <c:pt idx="2">
                  <c:v>93</c:v>
                </c:pt>
              </c:numCache>
            </c:numRef>
          </c:val>
        </c:ser>
        <c:firstSliceAng val="0"/>
        <c:holeSize val="55"/>
      </c:doughnutChart>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c:v>
                </c:pt>
              </c:strCache>
            </c:strRef>
          </c:tx>
          <c:spPr>
            <a:solidFill>
              <a:srgbClr val="2E5E4E"/>
            </a:solidFill>
            <a:effectLst/>
          </c:spPr>
          <c:invertIfNegative val="0"/>
          <c:dLbls>
            <c:numFmt formatCode="0.0" sourceLinked="0"/>
            <c:txPr>
              <a:bodyPr/>
              <a:lstStyle/>
              <a:p>
                <a:pPr>
                  <a:defRPr b="0" i="0" strike="noStrike" sz="1000" u="none">
                    <a:solidFill>
                      <a:srgbClr val="1E2A26"/>
                    </a:solidFill>
                    <a:latin typeface="Arial"/>
                  </a:defRPr>
                </a:pPr>
              </a:p>
            </c:txPr>
            <c:showLegendKey val="0"/>
            <c:showVal val="1"/>
            <c:showCatName val="0"/>
            <c:showSerName val="0"/>
            <c:showPercent val="0"/>
            <c:showBubbleSize val="0"/>
            <c:showLeaderLines val="0"/>
          </c:dLbls>
          <c:cat>
            <c:multiLvlStrRef>
              <c:f>Sheet1!$A$2:$A$4</c:f>
              <c:multiLvlStrCache>
                <c:ptCount val="3"/>
                <c:lvl>
                  <c:pt idx="0">
                    <c:v>Year 1</c:v>
                  </c:pt>
                  <c:pt idx="1">
                    <c:v>Year 2</c:v>
                  </c:pt>
                  <c:pt idx="2">
                    <c:v>Year 3 (Phase 2)</c:v>
                  </c:pt>
                </c:lvl>
              </c:multiLvlStrCache>
            </c:multiLvlStrRef>
          </c:cat>
          <c:val>
            <c:numRef>
              <c:f>Sheet1!$B$2:$B$4</c:f>
              <c:numCache>
                <c:formatCode>General</c:formatCode>
                <c:ptCount val="3"/>
                <c:pt idx="0">
                  <c:v>38.8</c:v>
                </c:pt>
                <c:pt idx="1">
                  <c:v>89.6</c:v>
                </c:pt>
                <c:pt idx="2">
                  <c:v>134.3</c:v>
                </c:pt>
              </c:numCache>
            </c:numRef>
          </c:val>
        </c:ser>
        <c:ser>
          <c:idx val="1"/>
          <c:order val="1"/>
          <c:tx>
            <c:strRef>
              <c:f>Sheet1!$C$1</c:f>
              <c:strCache>
                <c:ptCount val="1"/>
                <c:pt idx="0">
                  <c:v>Operating cost</c:v>
                </c:pt>
              </c:strCache>
            </c:strRef>
          </c:tx>
          <c:spPr>
            <a:solidFill>
              <a:srgbClr val="C9D5CF"/>
            </a:solidFill>
            <a:effectLst/>
          </c:spPr>
          <c:invertIfNegative val="0"/>
          <c:dLbls>
            <c:numFmt formatCode="0.0" sourceLinked="0"/>
            <c:txPr>
              <a:bodyPr/>
              <a:lstStyle/>
              <a:p>
                <a:pPr>
                  <a:defRPr b="0" i="0" strike="noStrike" sz="1000" u="none">
                    <a:solidFill>
                      <a:srgbClr val="1E2A26"/>
                    </a:solidFill>
                    <a:latin typeface="Arial"/>
                  </a:defRPr>
                </a:pPr>
              </a:p>
            </c:txPr>
            <c:showLegendKey val="0"/>
            <c:showVal val="1"/>
            <c:showCatName val="0"/>
            <c:showSerName val="0"/>
            <c:showPercent val="0"/>
            <c:showBubbleSize val="0"/>
            <c:showLeaderLines val="0"/>
          </c:dLbls>
          <c:cat>
            <c:multiLvlStrRef>
              <c:f>Sheet1!$A$2:$A$4</c:f>
              <c:multiLvlStrCache>
                <c:ptCount val="3"/>
                <c:lvl>
                  <c:pt idx="0">
                    <c:v>Year 1</c:v>
                  </c:pt>
                  <c:pt idx="1">
                    <c:v>Year 2</c:v>
                  </c:pt>
                  <c:pt idx="2">
                    <c:v>Year 3 (Phase 2)</c:v>
                  </c:pt>
                </c:lvl>
              </c:multiLvlStrCache>
            </c:multiLvlStrRef>
          </c:cat>
          <c:val>
            <c:numRef>
              <c:f>Sheet1!$C$2:$C$4</c:f>
              <c:numCache>
                <c:formatCode>General</c:formatCode>
                <c:ptCount val="3"/>
                <c:pt idx="0">
                  <c:v>22.8</c:v>
                </c:pt>
                <c:pt idx="1">
                  <c:v>33.1</c:v>
                </c:pt>
                <c:pt idx="2">
                  <c:v>46.8</c:v>
                </c:pt>
              </c:numCache>
            </c:numRef>
          </c:val>
        </c:ser>
        <c:ser>
          <c:idx val="2"/>
          <c:order val="2"/>
          <c:tx>
            <c:strRef>
              <c:f>Sheet1!$D$1</c:f>
              <c:strCache>
                <c:ptCount val="1"/>
                <c:pt idx="0">
                  <c:v>EBITDA</c:v>
                </c:pt>
              </c:strCache>
            </c:strRef>
          </c:tx>
          <c:spPr>
            <a:solidFill>
              <a:srgbClr val="D9962B"/>
            </a:solidFill>
            <a:effectLst/>
          </c:spPr>
          <c:invertIfNegative val="0"/>
          <c:dLbls>
            <c:numFmt formatCode="0.0" sourceLinked="0"/>
            <c:txPr>
              <a:bodyPr/>
              <a:lstStyle/>
              <a:p>
                <a:pPr>
                  <a:defRPr b="0" i="0" strike="noStrike" sz="1000" u="none">
                    <a:solidFill>
                      <a:srgbClr val="1E2A26"/>
                    </a:solidFill>
                    <a:latin typeface="Arial"/>
                  </a:defRPr>
                </a:pPr>
              </a:p>
            </c:txPr>
            <c:showLegendKey val="0"/>
            <c:showVal val="1"/>
            <c:showCatName val="0"/>
            <c:showSerName val="0"/>
            <c:showPercent val="0"/>
            <c:showBubbleSize val="0"/>
            <c:showLeaderLines val="0"/>
          </c:dLbls>
          <c:cat>
            <c:multiLvlStrRef>
              <c:f>Sheet1!$A$2:$A$4</c:f>
              <c:multiLvlStrCache>
                <c:ptCount val="3"/>
                <c:lvl>
                  <c:pt idx="0">
                    <c:v>Year 1</c:v>
                  </c:pt>
                  <c:pt idx="1">
                    <c:v>Year 2</c:v>
                  </c:pt>
                  <c:pt idx="2">
                    <c:v>Year 3 (Phase 2)</c:v>
                  </c:pt>
                </c:lvl>
              </c:multiLvlStrCache>
            </c:multiLvlStrRef>
          </c:cat>
          <c:val>
            <c:numRef>
              <c:f>Sheet1!$D$2:$D$4</c:f>
              <c:numCache>
                <c:formatCode>General</c:formatCode>
                <c:ptCount val="3"/>
                <c:pt idx="0">
                  <c:v>16</c:v>
                </c:pt>
                <c:pt idx="1">
                  <c:v>56.4</c:v>
                </c:pt>
                <c:pt idx="2">
                  <c:v>87.5</c:v>
                </c:pt>
              </c:numCache>
            </c:numRef>
          </c:val>
        </c:ser>
        <c:dLbls>
          <c:numFmt formatCode="0.0" sourceLinked="0"/>
          <c:txPr>
            <a:bodyPr/>
            <a:lstStyle/>
            <a:p>
              <a:pPr>
                <a:defRPr b="0" i="0" strike="noStrike" sz="1000" u="none">
                  <a:solidFill>
                    <a:srgbClr val="1E2A26"/>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E2A26"/>
                </a:solidFill>
                <a:latin typeface="Arial"/>
              </a:defRPr>
            </a:pPr>
            <a:endParaRPr lang="en-US"/>
          </a:p>
        </c:txPr>
        <c:crossAx val="2094734552"/>
        <c:crosses val="autoZero"/>
        <c:auto val="1"/>
        <c:lblAlgn val="ctr"/>
        <c:noMultiLvlLbl val="1"/>
      </c:catAx>
      <c:valAx>
        <c:axId val="2094734552"/>
        <c:scaling>
          <c:orientation val="minMax"/>
          <c:max val="150"/>
          <c:min val="0"/>
        </c:scaling>
        <c:delete val="0"/>
        <c:axPos val="l"/>
        <c:majorGridlines>
          <c:spPr>
            <a:ln w="6350" cap="flat">
              <a:solidFill>
                <a:srgbClr val="E5EC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6F69"/>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deck covers the biology, facility design, processing, quality, market, economics, regulatory path and implementation plan for a Lion's Mane (Hericium erinaceus) facility at Hamirpur, HP.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numbers use conservative biology (65% biological efficiency, 8% contamination loss, 10:1 fresh-to-dry). The notes' 80-100% BE is treated as upside, not the base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Scientific audiences will check the chemistry: hericenones are fruiting-body compounds, erinacines are largely mycelial. Positioning as fruiting-body-only is the honest and defensible claim. Validate the supply-gap thesis with 5-10 buyer interviews before launch.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Location advantages: genetics (ICAR-DMR Solan), feedstock (Punjab soy hull, Zirakpur sawdust), buyers (BBN cluster, Haridwar-Dehradun, NCR), incentives (special category state), and a natural cool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Mass balance: 31 kg hardwood + 31 kg soy hull + 93 L water = 155 kg wet at 60% moisture = 62 blocks of 2.5 kg. Each block holds ~1 kg dry substrate. At 65% BE and 8% losses, 60 blocks give ~36 kg fresh, ~3.6 kg dry.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 shows dry kg per operating day across block counts and BE. The base case is 65% BE. The 45-block series is what the existing 25x10 ft two-storey footprint can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Colonised blocks move to fruiting when fully white, before pins form inside the bag. Slit/X-cut initiates pinning in 5-7 days; first harvest ~12-14 days after the cut. Second flush is typically 30-50% of the first; blocks exit after two flushes.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the ICAR-DMR culture in Month 1 because of the ~2 month lead time. Run a private-lab strain in parallel as a hedge.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Spawn rate: 6 kg per 60 blocks = 100 g per 2.5 kg block (~4% of wet weight, 10% of dry substrate). On nutrient-rich Master's Mix, raising this to 150 g per block shortens colonization and closes the contamination window; trial both in Month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Recipe per notes: 31 kg hardwood + 31 kg soy hull + 93 L water = 155 kg wet, 60% moisture, ~62 blocks of 2.5 kg.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Supplemented sawdust blocks heat slowly at the core; a 90-minute cycle that is fine for small grain bags will leave survivors in 2.5 kg Master's Mix blocks. Validate by placing a thermocouple and a biological indicator in the centre of the densest block in the coldest part of the chamber.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facility is designed so that material moves only forward, people move from clean to dirty, and air pressure cascades from clean to dirty. This is the single most important design decision for contamination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notes gave slightly different incubation temperatures (21-24, 23-24, 22). We control air at 22 C so block cores stay below 27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hybrid model (commercial split ACs plus a HEPA-filtered make-up air box) is far cheaper than a full AHU cleanroom and is adequate for mushroom inoculation when combined with ISO 5 laminar flow hoods.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blocks per day x 21 days = 1,260 blocks. Racks are 4 ft wide by 2 ft deep, 9 ft tall with 8 tiers. Incubation packing density is much higher than fruiting because no fruit bodies need space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smaller fruiting rooms beat one large one: you can empty, clean and sanitize one while the other produces, which breaks pest and mould cycles.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correction. The biggest are autoclave sizing and sterilization time (contamination), fruiting density and room count (quality), and yield assumptions (finance).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 substrate 6x10, clean lab 6x10, incubation 13x10, fruiting 25x10. Phase 1 is fitted into 750 sq ft on site plus off-site storage; incubation and fruiting space set the ~60 blocks/day ceiling.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Lion's Mane bruises and yellows quickly. Handle by the base, never squeeze the spines, and get it into the dryer the same day. For B2C packs, advise use in hot preparations (tea, coffee, cooking); heat helps release beta-glucans from chitin cell walls. This is usage guidance, not a health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starch test is the single most powerful commercial differentiator: mycelium-on-grain products typically show high starch and low beta-glucan. Quote beta-glucan and starch on every CoA.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Erinacines concentrate in mycelium, so a future mycelial or ethanol-extract line is a scientifically distinct product, not a substitute for fruiting-body powder.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Validate each segment with 2-3 buyer conversations and sample requests before Month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sampling from pilot production in Month 5-6 so buyer qualification runs in parallel with the ramp. Expect 30-90 day credit terms; an early-payment discount of ~2% can pull cash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Freight rates beyond Dehradun are planning estimates based on the Dehradun quote; confirm with carriers.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Right-sized budget targeting 150 kg/month, kept under the Rs 50 L PMEGP project-cost cap. Rent and land excluded (own premises assumed). Microscope (contamination ID) and RO water (clean humidifier feed, no scale) are retained as essential.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Labour: production manager/mycologist Rs 35k, lab technician Rs 22k, three associates at Rs 14k each. Rent excluded.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Payback: Year 1 EBITDA of Rs 16 L plus about Rs 4.7 L in Month 13 recovers the Rs 18.85 L project cost at roughly month 13. Debt service and tax are not included; the bank DPR will add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Scheme parameters change; verify current guidelines and cost norms at the DPR stage. Not financial or legal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 FSSAI category and licence tier with a food regulatory consultant before Month 4. Not legal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Personnel move clean to dirty within a day. The lab technician does sterile work first and never enters fruiting or prep beforehand.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path: subsidy in-principle approval gates equipment purchase; culture lead time gates the strain trial. Start both in Month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operational risks are contamination and power. Both are addressed in design (sterilization validation, pressure cascade, DG) rather than left to operators.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KPI is measurable from the lot logs, data loggers and CoAs described earlier.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Spore allergy is the most under-appreciated occupational risk in mushroom farming. Masks in fruiting rooms are mandatory.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for the five decisions. The two long-lead items, culture and subsidy approval, should start this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1.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0-1.png"/><Relationship Id="rId3" Type="http://schemas.openxmlformats.org/officeDocument/2006/relationships/image" Target="../media/image-10-2.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1.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02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22000"/>
          </a:blip>
          <a:stretch>
            <a:fillRect/>
          </a:stretch>
        </p:blipFill>
        <p:spPr>
          <a:xfrm>
            <a:off x="7863840" y="1097280"/>
            <a:ext cx="4206240" cy="4206240"/>
          </a:xfrm>
          <a:prstGeom prst="rect">
            <a:avLst/>
          </a:prstGeom>
        </p:spPr>
      </p:pic>
      <p:sp>
        <p:nvSpPr>
          <p:cNvPr id="3" name="Text 0"/>
          <p:cNvSpPr txBox="1"/>
          <p:nvPr/>
        </p:nvSpPr>
        <p:spPr>
          <a:xfrm>
            <a:off x="731520" y="1188720"/>
            <a:ext cx="7315200" cy="320040"/>
          </a:xfrm>
          <a:prstGeom prst="rect">
            <a:avLst/>
          </a:prstGeom>
          <a:noFill/>
          <a:ln/>
        </p:spPr>
        <p:txBody>
          <a:bodyPr wrap="square" lIns="0" tIns="0" rIns="0" bIns="0" rtlCol="0" anchor="t"/>
          <a:lstStyle/>
          <a:p>
            <a:pPr indent="0" marL="0">
              <a:buNone/>
            </a:pPr>
            <a:r>
              <a:rPr lang="en-US" sz="1300" b="1" spc="400" kern="0" dirty="0">
                <a:solidFill>
                  <a:srgbClr val="D9962B"/>
                </a:solidFill>
                <a:latin typeface="Calibri" pitchFamily="34" charset="0"/>
                <a:ea typeface="Calibri" pitchFamily="34" charset="-122"/>
                <a:cs typeface="Calibri" pitchFamily="34" charset="-120"/>
              </a:rPr>
              <a:t>PROJECT PLAN  ·  OCTOBER 2026</a:t>
            </a:r>
            <a:endParaRPr lang="en-US" sz="1300" dirty="0"/>
          </a:p>
        </p:txBody>
      </p:sp>
      <p:sp>
        <p:nvSpPr>
          <p:cNvPr id="4" name="Text 1"/>
          <p:cNvSpPr txBox="1"/>
          <p:nvPr/>
        </p:nvSpPr>
        <p:spPr>
          <a:xfrm>
            <a:off x="731520" y="1645920"/>
            <a:ext cx="7863840" cy="17373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Lion's Mane Cultivation &amp; Processing Facility</a:t>
            </a:r>
            <a:endParaRPr lang="en-US" sz="4400" dirty="0"/>
          </a:p>
        </p:txBody>
      </p:sp>
      <p:sp>
        <p:nvSpPr>
          <p:cNvPr id="5" name="Text 2"/>
          <p:cNvSpPr txBox="1"/>
          <p:nvPr/>
        </p:nvSpPr>
        <p:spPr>
          <a:xfrm>
            <a:off x="731520" y="3474720"/>
            <a:ext cx="7315200" cy="822960"/>
          </a:xfrm>
          <a:prstGeom prst="rect">
            <a:avLst/>
          </a:prstGeom>
          <a:noFill/>
          <a:ln/>
        </p:spPr>
        <p:txBody>
          <a:bodyPr wrap="square" lIns="0" tIns="0" rIns="0" bIns="0" rtlCol="0" anchor="t"/>
          <a:lstStyle/>
          <a:p>
            <a:pPr indent="0" marL="0">
              <a:buNone/>
            </a:pPr>
            <a:r>
              <a:rPr lang="en-US" sz="1800" dirty="0">
                <a:solidFill>
                  <a:srgbClr val="8DB596"/>
                </a:solidFill>
                <a:latin typeface="Calibri" pitchFamily="34" charset="0"/>
                <a:ea typeface="Calibri" pitchFamily="34" charset="-122"/>
                <a:cs typeface="Calibri" pitchFamily="34" charset="-120"/>
              </a:rPr>
              <a:t>Commercial production of Hericium erinaceus fruiting-body powder for nutraceutical, Ayurveda and nootropic brands</a:t>
            </a:r>
            <a:endParaRPr lang="en-US" sz="1800" dirty="0"/>
          </a:p>
        </p:txBody>
      </p:sp>
      <p:sp>
        <p:nvSpPr>
          <p:cNvPr id="6" name="Text 3"/>
          <p:cNvSpPr txBox="1"/>
          <p:nvPr/>
        </p:nvSpPr>
        <p:spPr>
          <a:xfrm>
            <a:off x="731520" y="4389120"/>
            <a:ext cx="7315200" cy="36576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Hamirpur, Himachal Pradesh, India</a:t>
            </a:r>
            <a:endParaRPr lang="en-US" sz="1500" dirty="0"/>
          </a:p>
        </p:txBody>
      </p:sp>
      <p:sp>
        <p:nvSpPr>
          <p:cNvPr id="7" name="Shape 4"/>
          <p:cNvSpPr/>
          <p:nvPr/>
        </p:nvSpPr>
        <p:spPr>
          <a:xfrm>
            <a:off x="731520" y="5257800"/>
            <a:ext cx="1883664" cy="411480"/>
          </a:xfrm>
          <a:prstGeom prst="roundRect">
            <a:avLst>
              <a:gd name="adj" fmla="val 48889"/>
            </a:avLst>
          </a:prstGeom>
          <a:solidFill>
            <a:srgbClr val="2E5E4E"/>
          </a:solidFill>
          <a:ln w="9525">
            <a:solidFill>
              <a:srgbClr val="8DB596"/>
            </a:solidFill>
            <a:prstDash val="solid"/>
          </a:ln>
        </p:spPr>
      </p:sp>
      <p:sp>
        <p:nvSpPr>
          <p:cNvPr id="8" name="Text 5"/>
          <p:cNvSpPr txBox="1"/>
          <p:nvPr/>
        </p:nvSpPr>
        <p:spPr>
          <a:xfrm>
            <a:off x="731520" y="5257800"/>
            <a:ext cx="1883664" cy="41148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Fruiting-body only</a:t>
            </a:r>
            <a:endParaRPr lang="en-US" sz="1200" dirty="0"/>
          </a:p>
        </p:txBody>
      </p:sp>
      <p:sp>
        <p:nvSpPr>
          <p:cNvPr id="9" name="Shape 6"/>
          <p:cNvSpPr/>
          <p:nvPr/>
        </p:nvSpPr>
        <p:spPr>
          <a:xfrm>
            <a:off x="2843784" y="5257800"/>
            <a:ext cx="1796796" cy="411480"/>
          </a:xfrm>
          <a:prstGeom prst="roundRect">
            <a:avLst>
              <a:gd name="adj" fmla="val 48889"/>
            </a:avLst>
          </a:prstGeom>
          <a:solidFill>
            <a:srgbClr val="2E5E4E"/>
          </a:solidFill>
          <a:ln w="9525">
            <a:solidFill>
              <a:srgbClr val="8DB596"/>
            </a:solidFill>
            <a:prstDash val="solid"/>
          </a:ln>
        </p:spPr>
      </p:sp>
      <p:sp>
        <p:nvSpPr>
          <p:cNvPr id="10" name="Text 7"/>
          <p:cNvSpPr txBox="1"/>
          <p:nvPr/>
        </p:nvSpPr>
        <p:spPr>
          <a:xfrm>
            <a:off x="2843784" y="5257800"/>
            <a:ext cx="1796796" cy="41148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Lot-wise NABL CoA</a:t>
            </a:r>
            <a:endParaRPr lang="en-US" sz="1200" dirty="0"/>
          </a:p>
        </p:txBody>
      </p:sp>
      <p:sp>
        <p:nvSpPr>
          <p:cNvPr id="11" name="Shape 8"/>
          <p:cNvSpPr/>
          <p:nvPr/>
        </p:nvSpPr>
        <p:spPr>
          <a:xfrm>
            <a:off x="4869180" y="5257800"/>
            <a:ext cx="3012948" cy="411480"/>
          </a:xfrm>
          <a:prstGeom prst="roundRect">
            <a:avLst>
              <a:gd name="adj" fmla="val 48889"/>
            </a:avLst>
          </a:prstGeom>
          <a:solidFill>
            <a:srgbClr val="2E5E4E"/>
          </a:solidFill>
          <a:ln w="9525">
            <a:solidFill>
              <a:srgbClr val="8DB596"/>
            </a:solidFill>
            <a:prstDash val="solid"/>
          </a:ln>
        </p:spPr>
      </p:sp>
      <p:sp>
        <p:nvSpPr>
          <p:cNvPr id="12" name="Text 9"/>
          <p:cNvSpPr txBox="1"/>
          <p:nvPr/>
        </p:nvSpPr>
        <p:spPr>
          <a:xfrm>
            <a:off x="4869180" y="5257800"/>
            <a:ext cx="3012948" cy="41148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Unidirectional biosecure design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D9962B"/>
                </a:solidFill>
                <a:latin typeface="Calibri" pitchFamily="34" charset="0"/>
                <a:ea typeface="Calibri" pitchFamily="34" charset="-122"/>
                <a:cs typeface="Calibri" pitchFamily="34" charset="-120"/>
              </a:rPr>
              <a:t>EXECUTIVE SUMMARY</a:t>
            </a:r>
            <a:endParaRPr lang="en-US" sz="11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14302A"/>
                </a:solidFill>
                <a:latin typeface="Cambria" pitchFamily="34" charset="0"/>
                <a:ea typeface="Cambria" pitchFamily="34" charset="-122"/>
                <a:cs typeface="Cambria" pitchFamily="34" charset="-120"/>
              </a:rPr>
              <a:t>A phased, lab-grade Lion's Mane plant in the Himalayan foothills</a:t>
            </a:r>
            <a:endParaRPr lang="en-US" sz="30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900" dirty="0">
                <a:solidFill>
                  <a:srgbClr val="5F6F69"/>
                </a:solidFill>
                <a:latin typeface="Calibri" pitchFamily="34" charset="0"/>
                <a:ea typeface="Calibri" pitchFamily="34" charset="-122"/>
                <a:cs typeface="Calibri" pitchFamily="34" charset="-120"/>
              </a:rPr>
              <a:t>Lion's Mane Facility  ·  Hamirpur, HP  ·  Project Plan</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900" dirty="0">
                <a:solidFill>
                  <a:srgbClr val="5F6F69"/>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548640" y="1508760"/>
            <a:ext cx="2606040" cy="2103120"/>
          </a:xfrm>
          <a:prstGeom prst="roundRect">
            <a:avLst>
              <a:gd name="adj" fmla="val 3478"/>
            </a:avLst>
          </a:prstGeom>
          <a:solidFill>
            <a:srgbClr val="EEF4F0"/>
          </a:solidFill>
          <a:ln w="9525">
            <a:solidFill>
              <a:srgbClr val="EEF4F0"/>
            </a:solidFill>
            <a:prstDash val="solid"/>
          </a:ln>
        </p:spPr>
      </p:sp>
      <p:sp>
        <p:nvSpPr>
          <p:cNvPr id="7" name="Text 5"/>
          <p:cNvSpPr txBox="1"/>
          <p:nvPr/>
        </p:nvSpPr>
        <p:spPr>
          <a:xfrm>
            <a:off x="777240" y="1673352"/>
            <a:ext cx="2148840" cy="1051560"/>
          </a:xfrm>
          <a:prstGeom prst="rect">
            <a:avLst/>
          </a:prstGeom>
          <a:noFill/>
          <a:ln/>
        </p:spPr>
        <p:txBody>
          <a:bodyPr wrap="square" lIns="0" tIns="0" rIns="0" bIns="0" rtlCol="0" anchor="ctr"/>
          <a:lstStyle/>
          <a:p>
            <a:pPr indent="0" marL="0">
              <a:buNone/>
            </a:pPr>
            <a:r>
              <a:rPr lang="en-US" sz="3000" b="1" dirty="0">
                <a:solidFill>
                  <a:srgbClr val="2E5E4E"/>
                </a:solidFill>
                <a:latin typeface="Cambria" pitchFamily="34" charset="0"/>
                <a:ea typeface="Cambria" pitchFamily="34" charset="-122"/>
                <a:cs typeface="Cambria" pitchFamily="34" charset="-120"/>
              </a:rPr>
              <a:t>60 → 90</a:t>
            </a:r>
            <a:endParaRPr lang="en-US" sz="3000" dirty="0"/>
          </a:p>
        </p:txBody>
      </p:sp>
      <p:sp>
        <p:nvSpPr>
          <p:cNvPr id="8" name="Text 6"/>
          <p:cNvSpPr txBox="1"/>
          <p:nvPr/>
        </p:nvSpPr>
        <p:spPr>
          <a:xfrm>
            <a:off x="777240" y="2665476"/>
            <a:ext cx="2148840" cy="841248"/>
          </a:xfrm>
          <a:prstGeom prst="rect">
            <a:avLst/>
          </a:prstGeom>
          <a:noFill/>
          <a:ln/>
        </p:spPr>
        <p:txBody>
          <a:bodyPr wrap="square" lIns="0" tIns="0" rIns="0" bIns="0" rtlCol="0" anchor="t"/>
          <a:lstStyle/>
          <a:p>
            <a:pPr indent="0" marL="0">
              <a:buNone/>
            </a:pPr>
            <a:r>
              <a:rPr lang="en-US" sz="1150" dirty="0">
                <a:solidFill>
                  <a:srgbClr val="5F6F69"/>
                </a:solidFill>
                <a:latin typeface="Calibri" pitchFamily="34" charset="0"/>
                <a:ea typeface="Calibri" pitchFamily="34" charset="-122"/>
                <a:cs typeface="Calibri" pitchFamily="34" charset="-120"/>
              </a:rPr>
              <a:t>fruiting blocks inoculated per day</a:t>
            </a:r>
            <a:endParaRPr lang="en-US" sz="1150" dirty="0"/>
          </a:p>
          <a:p>
            <a:pPr indent="0" marL="0">
              <a:buNone/>
            </a:pPr>
            <a:r>
              <a:rPr lang="en-US" sz="1150" dirty="0">
                <a:solidFill>
                  <a:srgbClr val="5F6F69"/>
                </a:solidFill>
                <a:latin typeface="Calibri" pitchFamily="34" charset="0"/>
                <a:ea typeface="Calibri" pitchFamily="34" charset="-122"/>
                <a:cs typeface="Calibri" pitchFamily="34" charset="-120"/>
              </a:rPr>
              <a:t>(Phase 1 → Phase 2)</a:t>
            </a:r>
            <a:endParaRPr lang="en-US" sz="1150" dirty="0"/>
          </a:p>
        </p:txBody>
      </p:sp>
      <p:sp>
        <p:nvSpPr>
          <p:cNvPr id="9" name="Shape 7"/>
          <p:cNvSpPr/>
          <p:nvPr/>
        </p:nvSpPr>
        <p:spPr>
          <a:xfrm>
            <a:off x="3337560" y="1508760"/>
            <a:ext cx="2606040" cy="2103120"/>
          </a:xfrm>
          <a:prstGeom prst="roundRect">
            <a:avLst>
              <a:gd name="adj" fmla="val 3478"/>
            </a:avLst>
          </a:prstGeom>
          <a:solidFill>
            <a:srgbClr val="EEF4F0"/>
          </a:solidFill>
          <a:ln w="9525">
            <a:solidFill>
              <a:srgbClr val="EEF4F0"/>
            </a:solidFill>
            <a:prstDash val="solid"/>
          </a:ln>
        </p:spPr>
      </p:sp>
      <p:sp>
        <p:nvSpPr>
          <p:cNvPr id="10" name="Text 8"/>
          <p:cNvSpPr txBox="1"/>
          <p:nvPr/>
        </p:nvSpPr>
        <p:spPr>
          <a:xfrm>
            <a:off x="3566160" y="1673352"/>
            <a:ext cx="2148840" cy="1051560"/>
          </a:xfrm>
          <a:prstGeom prst="rect">
            <a:avLst/>
          </a:prstGeom>
          <a:noFill/>
          <a:ln/>
        </p:spPr>
        <p:txBody>
          <a:bodyPr wrap="square" lIns="0" tIns="0" rIns="0" bIns="0" rtlCol="0" anchor="ctr"/>
          <a:lstStyle/>
          <a:p>
            <a:pPr indent="0" marL="0">
              <a:buNone/>
            </a:pPr>
            <a:r>
              <a:rPr lang="en-US" sz="3000" b="1" dirty="0">
                <a:solidFill>
                  <a:srgbClr val="2E5E4E"/>
                </a:solidFill>
                <a:latin typeface="Cambria" pitchFamily="34" charset="0"/>
                <a:ea typeface="Cambria" pitchFamily="34" charset="-122"/>
                <a:cs typeface="Cambria" pitchFamily="34" charset="-120"/>
              </a:rPr>
              <a:t>3.6 → 5.4 kg</a:t>
            </a:r>
            <a:endParaRPr lang="en-US" sz="3000" dirty="0"/>
          </a:p>
        </p:txBody>
      </p:sp>
      <p:sp>
        <p:nvSpPr>
          <p:cNvPr id="11" name="Text 9"/>
          <p:cNvSpPr txBox="1"/>
          <p:nvPr/>
        </p:nvSpPr>
        <p:spPr>
          <a:xfrm>
            <a:off x="3566160" y="2665476"/>
            <a:ext cx="2148840" cy="841248"/>
          </a:xfrm>
          <a:prstGeom prst="rect">
            <a:avLst/>
          </a:prstGeom>
          <a:noFill/>
          <a:ln/>
        </p:spPr>
        <p:txBody>
          <a:bodyPr wrap="square" lIns="0" tIns="0" rIns="0" bIns="0" rtlCol="0" anchor="t"/>
          <a:lstStyle/>
          <a:p>
            <a:pPr indent="0" marL="0">
              <a:buNone/>
            </a:pPr>
            <a:r>
              <a:rPr lang="en-US" sz="1150" dirty="0">
                <a:solidFill>
                  <a:srgbClr val="5F6F69"/>
                </a:solidFill>
                <a:latin typeface="Calibri" pitchFamily="34" charset="0"/>
                <a:ea typeface="Calibri" pitchFamily="34" charset="-122"/>
                <a:cs typeface="Calibri" pitchFamily="34" charset="-120"/>
              </a:rPr>
              <a:t>dry fruiting-body powder per operating day (base case, 65% BE)</a:t>
            </a:r>
            <a:endParaRPr lang="en-US" sz="1150" dirty="0"/>
          </a:p>
        </p:txBody>
      </p:sp>
      <p:sp>
        <p:nvSpPr>
          <p:cNvPr id="12" name="Shape 10"/>
          <p:cNvSpPr/>
          <p:nvPr/>
        </p:nvSpPr>
        <p:spPr>
          <a:xfrm>
            <a:off x="548640" y="3840480"/>
            <a:ext cx="2606040" cy="2103120"/>
          </a:xfrm>
          <a:prstGeom prst="roundRect">
            <a:avLst>
              <a:gd name="adj" fmla="val 3478"/>
            </a:avLst>
          </a:prstGeom>
          <a:solidFill>
            <a:srgbClr val="EEF4F0"/>
          </a:solidFill>
          <a:ln w="9525">
            <a:solidFill>
              <a:srgbClr val="EEF4F0"/>
            </a:solidFill>
            <a:prstDash val="solid"/>
          </a:ln>
        </p:spPr>
      </p:sp>
      <p:sp>
        <p:nvSpPr>
          <p:cNvPr id="13" name="Text 11"/>
          <p:cNvSpPr txBox="1"/>
          <p:nvPr/>
        </p:nvSpPr>
        <p:spPr>
          <a:xfrm>
            <a:off x="777240" y="4005072"/>
            <a:ext cx="2148840" cy="1051560"/>
          </a:xfrm>
          <a:prstGeom prst="rect">
            <a:avLst/>
          </a:prstGeom>
          <a:noFill/>
          <a:ln/>
        </p:spPr>
        <p:txBody>
          <a:bodyPr wrap="square" lIns="0" tIns="0" rIns="0" bIns="0" rtlCol="0" anchor="ctr"/>
          <a:lstStyle/>
          <a:p>
            <a:pPr indent="0" marL="0">
              <a:buNone/>
            </a:pPr>
            <a:r>
              <a:rPr lang="en-US" sz="3000" b="1" dirty="0">
                <a:solidFill>
                  <a:srgbClr val="2E5E4E"/>
                </a:solidFill>
                <a:latin typeface="Cambria" pitchFamily="34" charset="0"/>
                <a:ea typeface="Cambria" pitchFamily="34" charset="-122"/>
                <a:cs typeface="Cambria" pitchFamily="34" charset="-120"/>
              </a:rPr>
              <a:t>₹18.85 L</a:t>
            </a:r>
            <a:endParaRPr lang="en-US" sz="3000" dirty="0"/>
          </a:p>
        </p:txBody>
      </p:sp>
      <p:sp>
        <p:nvSpPr>
          <p:cNvPr id="14" name="Text 12"/>
          <p:cNvSpPr txBox="1"/>
          <p:nvPr/>
        </p:nvSpPr>
        <p:spPr>
          <a:xfrm>
            <a:off x="777240" y="4997196"/>
            <a:ext cx="2148840" cy="841248"/>
          </a:xfrm>
          <a:prstGeom prst="rect">
            <a:avLst/>
          </a:prstGeom>
          <a:noFill/>
          <a:ln/>
        </p:spPr>
        <p:txBody>
          <a:bodyPr wrap="square" lIns="0" tIns="0" rIns="0" bIns="0" rtlCol="0" anchor="t"/>
          <a:lstStyle/>
          <a:p>
            <a:pPr indent="0" marL="0">
              <a:buNone/>
            </a:pPr>
            <a:r>
              <a:rPr lang="en-US" sz="1150" dirty="0">
                <a:solidFill>
                  <a:srgbClr val="5F6F69"/>
                </a:solidFill>
                <a:latin typeface="Calibri" pitchFamily="34" charset="0"/>
                <a:ea typeface="Calibri" pitchFamily="34" charset="-122"/>
                <a:cs typeface="Calibri" pitchFamily="34" charset="-120"/>
              </a:rPr>
              <a:t>total Phase-1 project cost incl. ₹4 L working capital</a:t>
            </a:r>
            <a:endParaRPr lang="en-US" sz="1150" dirty="0"/>
          </a:p>
        </p:txBody>
      </p:sp>
      <p:sp>
        <p:nvSpPr>
          <p:cNvPr id="15" name="Shape 13"/>
          <p:cNvSpPr/>
          <p:nvPr/>
        </p:nvSpPr>
        <p:spPr>
          <a:xfrm>
            <a:off x="3337560" y="3840480"/>
            <a:ext cx="2606040" cy="2103120"/>
          </a:xfrm>
          <a:prstGeom prst="roundRect">
            <a:avLst>
              <a:gd name="adj" fmla="val 3478"/>
            </a:avLst>
          </a:prstGeom>
          <a:solidFill>
            <a:srgbClr val="FBF1DE"/>
          </a:solidFill>
          <a:ln w="9525">
            <a:solidFill>
              <a:srgbClr val="FBF1DE"/>
            </a:solidFill>
            <a:prstDash val="solid"/>
          </a:ln>
        </p:spPr>
      </p:sp>
      <p:sp>
        <p:nvSpPr>
          <p:cNvPr id="16" name="Text 14"/>
          <p:cNvSpPr txBox="1"/>
          <p:nvPr/>
        </p:nvSpPr>
        <p:spPr>
          <a:xfrm>
            <a:off x="3566160" y="4005072"/>
            <a:ext cx="2148840" cy="1051560"/>
          </a:xfrm>
          <a:prstGeom prst="rect">
            <a:avLst/>
          </a:prstGeom>
          <a:noFill/>
          <a:ln/>
        </p:spPr>
        <p:txBody>
          <a:bodyPr wrap="square" lIns="0" tIns="0" rIns="0" bIns="0" rtlCol="0" anchor="ctr"/>
          <a:lstStyle/>
          <a:p>
            <a:pPr indent="0" marL="0">
              <a:buNone/>
            </a:pPr>
            <a:r>
              <a:rPr lang="en-US" sz="3000" b="1" dirty="0">
                <a:solidFill>
                  <a:srgbClr val="A36A12"/>
                </a:solidFill>
                <a:latin typeface="Cambria" pitchFamily="34" charset="0"/>
                <a:ea typeface="Cambria" pitchFamily="34" charset="-122"/>
                <a:cs typeface="Cambria" pitchFamily="34" charset="-120"/>
              </a:rPr>
              <a:t>~13 months</a:t>
            </a:r>
            <a:endParaRPr lang="en-US" sz="3000" dirty="0"/>
          </a:p>
        </p:txBody>
      </p:sp>
      <p:sp>
        <p:nvSpPr>
          <p:cNvPr id="17" name="Text 15"/>
          <p:cNvSpPr txBox="1"/>
          <p:nvPr/>
        </p:nvSpPr>
        <p:spPr>
          <a:xfrm>
            <a:off x="3566160" y="4997196"/>
            <a:ext cx="2148840" cy="841248"/>
          </a:xfrm>
          <a:prstGeom prst="rect">
            <a:avLst/>
          </a:prstGeom>
          <a:noFill/>
          <a:ln/>
        </p:spPr>
        <p:txBody>
          <a:bodyPr wrap="square" lIns="0" tIns="0" rIns="0" bIns="0" rtlCol="0" anchor="t"/>
          <a:lstStyle/>
          <a:p>
            <a:pPr indent="0" marL="0">
              <a:buNone/>
            </a:pPr>
            <a:r>
              <a:rPr lang="en-US" sz="1150" dirty="0">
                <a:solidFill>
                  <a:srgbClr val="5F6F69"/>
                </a:solidFill>
                <a:latin typeface="Calibri" pitchFamily="34" charset="0"/>
                <a:ea typeface="Calibri" pitchFamily="34" charset="-122"/>
                <a:cs typeface="Calibri" pitchFamily="34" charset="-120"/>
              </a:rPr>
              <a:t>EBITDA payback from project start (Phase 1, ₹8,000/kg)</a:t>
            </a:r>
            <a:endParaRPr lang="en-US" sz="1150" dirty="0"/>
          </a:p>
        </p:txBody>
      </p:sp>
      <p:sp>
        <p:nvSpPr>
          <p:cNvPr id="18" name="Shape 16"/>
          <p:cNvSpPr/>
          <p:nvPr/>
        </p:nvSpPr>
        <p:spPr>
          <a:xfrm>
            <a:off x="6355080" y="1508760"/>
            <a:ext cx="5303520" cy="4434840"/>
          </a:xfrm>
          <a:prstGeom prst="roundRect">
            <a:avLst>
              <a:gd name="adj" fmla="val 1649"/>
            </a:avLst>
          </a:prstGeom>
          <a:solidFill>
            <a:srgbClr val="FFFFFF"/>
          </a:solidFill>
          <a:ln w="9525">
            <a:solidFill>
              <a:srgbClr val="D3DED8"/>
            </a:solidFill>
            <a:prstDash val="solid"/>
          </a:ln>
        </p:spPr>
      </p:sp>
      <p:sp>
        <p:nvSpPr>
          <p:cNvPr id="19" name="Text 17"/>
          <p:cNvSpPr txBox="1"/>
          <p:nvPr/>
        </p:nvSpPr>
        <p:spPr>
          <a:xfrm>
            <a:off x="6629400" y="1691640"/>
            <a:ext cx="4754880" cy="365760"/>
          </a:xfrm>
          <a:prstGeom prst="rect">
            <a:avLst/>
          </a:prstGeom>
          <a:noFill/>
          <a:ln/>
        </p:spPr>
        <p:txBody>
          <a:bodyPr wrap="square" lIns="0" tIns="0" rIns="0" bIns="0" rtlCol="0" anchor="t"/>
          <a:lstStyle/>
          <a:p>
            <a:pPr indent="0" marL="0">
              <a:buNone/>
            </a:pPr>
            <a:r>
              <a:rPr lang="en-US" sz="1800" b="1" dirty="0">
                <a:solidFill>
                  <a:srgbClr val="14302A"/>
                </a:solidFill>
                <a:latin typeface="Cambria" pitchFamily="34" charset="0"/>
                <a:ea typeface="Cambria" pitchFamily="34" charset="-122"/>
                <a:cs typeface="Cambria" pitchFamily="34" charset="-120"/>
              </a:rPr>
              <a:t>The plan in brief</a:t>
            </a:r>
            <a:endParaRPr lang="en-US" sz="1800" dirty="0"/>
          </a:p>
        </p:txBody>
      </p:sp>
      <p:sp>
        <p:nvSpPr>
          <p:cNvPr id="20" name="Text 18"/>
          <p:cNvSpPr txBox="1"/>
          <p:nvPr/>
        </p:nvSpPr>
        <p:spPr>
          <a:xfrm>
            <a:off x="6629400" y="2148840"/>
            <a:ext cx="4800600" cy="365760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rgbClr val="1E2A26"/>
                </a:solidFill>
                <a:latin typeface="Calibri" pitchFamily="34" charset="0"/>
                <a:ea typeface="Calibri" pitchFamily="34" charset="-122"/>
                <a:cs typeface="Calibri" pitchFamily="34" charset="-120"/>
              </a:rPr>
              <a:t>Grow Lion's Mane on "Master's Mix" (hardwood + soy hull) in a sterile, unidirectional facility: dirty → clean → spore-wet.</a:t>
            </a:r>
            <a:endParaRPr lang="en-US" sz="1350" dirty="0"/>
          </a:p>
          <a:p>
            <a:pPr marL="342900" indent="-342900">
              <a:spcAft>
                <a:spcPts val="500"/>
              </a:spcAft>
              <a:buSzPct val="100000"/>
              <a:buChar char="•"/>
            </a:pPr>
            <a:r>
              <a:rPr lang="en-US" sz="1350" dirty="0">
                <a:solidFill>
                  <a:srgbClr val="1E2A26"/>
                </a:solidFill>
                <a:latin typeface="Calibri" pitchFamily="34" charset="0"/>
                <a:ea typeface="Calibri" pitchFamily="34" charset="-122"/>
                <a:cs typeface="Calibri" pitchFamily="34" charset="-120"/>
              </a:rPr>
              <a:t>Sell tested, fruiting-body-only dried powder to nutraceutical, Ayurveda and nootropic brands at ₹8,000–12,000/kg (B2B).</a:t>
            </a:r>
            <a:endParaRPr lang="en-US" sz="1350" dirty="0"/>
          </a:p>
          <a:p>
            <a:pPr marL="342900" indent="-342900">
              <a:spcAft>
                <a:spcPts val="500"/>
              </a:spcAft>
              <a:buSzPct val="100000"/>
              <a:buChar char="•"/>
            </a:pPr>
            <a:r>
              <a:rPr lang="en-US" sz="1350" dirty="0">
                <a:solidFill>
                  <a:srgbClr val="1E2A26"/>
                </a:solidFill>
                <a:latin typeface="Calibri" pitchFamily="34" charset="0"/>
                <a:ea typeface="Calibri" pitchFamily="34" charset="-122"/>
                <a:cs typeface="Calibri" pitchFamily="34" charset="-120"/>
              </a:rPr>
              <a:t>Phase 1: 60 blocks/day in a tightly zoned 750 sq ft plant. Phase 2: 90 blocks/day to deliver the 5 kg/day target reliably.</a:t>
            </a:r>
            <a:endParaRPr lang="en-US" sz="1350" dirty="0"/>
          </a:p>
          <a:p>
            <a:pPr marL="342900" indent="-342900">
              <a:spcAft>
                <a:spcPts val="500"/>
              </a:spcAft>
              <a:buSzPct val="100000"/>
              <a:buChar char="•"/>
            </a:pPr>
            <a:r>
              <a:rPr lang="en-US" sz="1350" dirty="0">
                <a:solidFill>
                  <a:srgbClr val="1E2A26"/>
                </a:solidFill>
                <a:latin typeface="Calibri" pitchFamily="34" charset="0"/>
                <a:ea typeface="Calibri" pitchFamily="34" charset="-122"/>
                <a:cs typeface="Calibri" pitchFamily="34" charset="-120"/>
              </a:rPr>
              <a:t>Cash cost ~₹3,000/kg vs. ₹8,000/kg base price; break-even at ~37% of Phase-1 output.</a:t>
            </a:r>
            <a:endParaRPr lang="en-US" sz="1350" dirty="0"/>
          </a:p>
          <a:p>
            <a:pPr marL="342900" indent="-342900">
              <a:spcAft>
                <a:spcPts val="500"/>
              </a:spcAft>
              <a:buSzPct val="100000"/>
              <a:buChar char="•"/>
            </a:pPr>
            <a:r>
              <a:rPr lang="en-US" sz="1350" dirty="0">
                <a:solidFill>
                  <a:srgbClr val="1E2A26"/>
                </a:solidFill>
                <a:latin typeface="Calibri" pitchFamily="34" charset="0"/>
                <a:ea typeface="Calibri" pitchFamily="34" charset="-122"/>
                <a:cs typeface="Calibri" pitchFamily="34" charset="-120"/>
              </a:rPr>
              <a:t>Funding led by PMEGP (35% margin-money subsidy, 5% promoter share) with MIDH/NHB and PMFME as alternates.</a:t>
            </a:r>
            <a:endParaRPr lang="en-US" sz="1350" dirty="0"/>
          </a:p>
          <a:p>
            <a:pPr marL="342900" indent="-342900">
              <a:spcAft>
                <a:spcPts val="500"/>
              </a:spcAft>
              <a:buSzPct val="100000"/>
              <a:buChar char="•"/>
            </a:pPr>
            <a:r>
              <a:rPr lang="en-US" sz="1350" dirty="0">
                <a:solidFill>
                  <a:srgbClr val="1E2A26"/>
                </a:solidFill>
                <a:latin typeface="Calibri" pitchFamily="34" charset="0"/>
                <a:ea typeface="Calibri" pitchFamily="34" charset="-122"/>
                <a:cs typeface="Calibri" pitchFamily="34" charset="-120"/>
              </a:rPr>
              <a:t>First harvest ~Month 7 from project start; steady-state output from Month 8.</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D9962B"/>
                </a:solidFill>
                <a:latin typeface="Calibri" pitchFamily="34" charset="0"/>
                <a:ea typeface="Calibri" pitchFamily="34" charset="-122"/>
                <a:cs typeface="Calibri" pitchFamily="34" charset="-120"/>
              </a:rPr>
              <a:t>01 · THE OPPORTUNITY</a:t>
            </a:r>
            <a:endParaRPr lang="en-US" sz="11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14302A"/>
                </a:solidFill>
                <a:latin typeface="Cambria" pitchFamily="34" charset="0"/>
                <a:ea typeface="Cambria" pitchFamily="34" charset="-122"/>
                <a:cs typeface="Cambria" pitchFamily="34" charset="-120"/>
              </a:rPr>
              <a:t>Why Lion's Mane, and why now</a:t>
            </a:r>
            <a:endParaRPr lang="en-US" sz="30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900" dirty="0">
                <a:solidFill>
                  <a:srgbClr val="5F6F69"/>
                </a:solidFill>
                <a:latin typeface="Calibri" pitchFamily="34" charset="0"/>
                <a:ea typeface="Calibri" pitchFamily="34" charset="-122"/>
                <a:cs typeface="Calibri" pitchFamily="34" charset="-120"/>
              </a:rPr>
              <a:t>Lion's Mane Facility  ·  Hamirpur, HP  ·  Project Plan</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900" dirty="0">
                <a:solidFill>
                  <a:srgbClr val="5F6F69"/>
                </a:solidFill>
                <a:latin typeface="Calibri" pitchFamily="34" charset="0"/>
                <a:ea typeface="Calibri" pitchFamily="34" charset="-122"/>
                <a:cs typeface="Calibri" pitchFamily="34" charset="-120"/>
              </a:rPr>
              <a:t>3</a:t>
            </a:r>
            <a:endParaRPr lang="en-US" sz="900" dirty="0"/>
          </a:p>
        </p:txBody>
      </p:sp>
      <p:sp>
        <p:nvSpPr>
          <p:cNvPr id="6" name="Shape 4"/>
          <p:cNvSpPr/>
          <p:nvPr/>
        </p:nvSpPr>
        <p:spPr>
          <a:xfrm>
            <a:off x="548640" y="1554480"/>
            <a:ext cx="685800" cy="685800"/>
          </a:xfrm>
          <a:prstGeom prst="ellipse">
            <a:avLst/>
          </a:prstGeom>
          <a:solidFill>
            <a:srgbClr val="2E5E4E"/>
          </a:solidFill>
          <a:ln w="12700">
            <a:solidFill>
              <a:srgbClr val="2E5E4E"/>
            </a:solidFill>
            <a:prstDash val="solid"/>
          </a:ln>
        </p:spPr>
      </p:sp>
      <p:pic>
        <p:nvPicPr>
          <p:cNvPr id="7" name="Image 0" descr="preencoded.png">    </p:cNvPr>
          <p:cNvPicPr>
            <a:picLocks noChangeAspect="1"/>
          </p:cNvPicPr>
          <p:nvPr/>
        </p:nvPicPr>
        <p:blipFill>
          <a:blip r:embed="rId1"/>
          <a:stretch>
            <a:fillRect/>
          </a:stretch>
        </p:blipFill>
        <p:spPr>
          <a:xfrm>
            <a:off x="726948" y="1732788"/>
            <a:ext cx="329184" cy="329184"/>
          </a:xfrm>
          <a:prstGeom prst="rect">
            <a:avLst/>
          </a:prstGeom>
        </p:spPr>
      </p:pic>
      <p:sp>
        <p:nvSpPr>
          <p:cNvPr id="8" name="Text 5"/>
          <p:cNvSpPr txBox="1"/>
          <p:nvPr/>
        </p:nvSpPr>
        <p:spPr>
          <a:xfrm>
            <a:off x="1463040" y="1536192"/>
            <a:ext cx="4846320" cy="365760"/>
          </a:xfrm>
          <a:prstGeom prst="rect">
            <a:avLst/>
          </a:prstGeom>
          <a:noFill/>
          <a:ln/>
        </p:spPr>
        <p:txBody>
          <a:bodyPr wrap="square" lIns="0" tIns="0" rIns="0" bIns="0" rtlCol="0" anchor="t"/>
          <a:lstStyle/>
          <a:p>
            <a:pPr indent="0" marL="0">
              <a:buNone/>
            </a:pPr>
            <a:r>
              <a:rPr lang="en-US" sz="1700" b="1" dirty="0">
                <a:solidFill>
                  <a:srgbClr val="14302A"/>
                </a:solidFill>
                <a:latin typeface="Cambria" pitchFamily="34" charset="0"/>
                <a:ea typeface="Cambria" pitchFamily="34" charset="-122"/>
                <a:cs typeface="Cambria" pitchFamily="34" charset="-120"/>
              </a:rPr>
              <a:t>Distinct bioactive profile</a:t>
            </a:r>
            <a:endParaRPr lang="en-US" sz="1700" dirty="0"/>
          </a:p>
        </p:txBody>
      </p:sp>
      <p:sp>
        <p:nvSpPr>
          <p:cNvPr id="9" name="Text 6"/>
          <p:cNvSpPr txBox="1"/>
          <p:nvPr/>
        </p:nvSpPr>
        <p:spPr>
          <a:xfrm>
            <a:off x="1463040" y="1920240"/>
            <a:ext cx="4846320" cy="1005840"/>
          </a:xfrm>
          <a:prstGeom prst="rect">
            <a:avLst/>
          </a:prstGeom>
          <a:noFill/>
          <a:ln/>
        </p:spPr>
        <p:txBody>
          <a:bodyPr wrap="square" lIns="0" tIns="0" rIns="0" bIns="0" rtlCol="0" anchor="t"/>
          <a:lstStyle/>
          <a:p>
            <a:pPr indent="0" marL="0">
              <a:buNone/>
            </a:pPr>
            <a:r>
              <a:rPr lang="en-US" sz="1200" dirty="0">
                <a:solidFill>
                  <a:srgbClr val="1E2A26"/>
                </a:solidFill>
                <a:latin typeface="Calibri" pitchFamily="34" charset="0"/>
                <a:ea typeface="Calibri" pitchFamily="34" charset="-122"/>
                <a:cs typeface="Calibri" pitchFamily="34" charset="-120"/>
              </a:rPr>
              <a:t>Fruiting bodies carry hericenones and β-glucans; erinacines sit mainly in the mycelium. Both are studied for neurotrophic (NGF-related) and cognitive-support activity. Research is ongoing, so we will make no disease claims.</a:t>
            </a:r>
            <a:endParaRPr lang="en-US" sz="1200" dirty="0"/>
          </a:p>
        </p:txBody>
      </p:sp>
      <p:sp>
        <p:nvSpPr>
          <p:cNvPr id="10" name="Shape 7"/>
          <p:cNvSpPr/>
          <p:nvPr/>
        </p:nvSpPr>
        <p:spPr>
          <a:xfrm>
            <a:off x="548640" y="3063240"/>
            <a:ext cx="685800" cy="685800"/>
          </a:xfrm>
          <a:prstGeom prst="ellipse">
            <a:avLst/>
          </a:prstGeom>
          <a:solidFill>
            <a:srgbClr val="2E5E4E"/>
          </a:solidFill>
          <a:ln w="12700">
            <a:solidFill>
              <a:srgbClr val="2E5E4E"/>
            </a:solidFill>
            <a:prstDash val="solid"/>
          </a:ln>
        </p:spPr>
      </p:sp>
      <p:pic>
        <p:nvPicPr>
          <p:cNvPr id="11" name="Image 1" descr="preencoded.png">    </p:cNvPr>
          <p:cNvPicPr>
            <a:picLocks noChangeAspect="1"/>
          </p:cNvPicPr>
          <p:nvPr/>
        </p:nvPicPr>
        <p:blipFill>
          <a:blip r:embed="rId2"/>
          <a:stretch>
            <a:fillRect/>
          </a:stretch>
        </p:blipFill>
        <p:spPr>
          <a:xfrm>
            <a:off x="726948" y="3241548"/>
            <a:ext cx="329184" cy="329184"/>
          </a:xfrm>
          <a:prstGeom prst="rect">
            <a:avLst/>
          </a:prstGeom>
        </p:spPr>
      </p:pic>
      <p:sp>
        <p:nvSpPr>
          <p:cNvPr id="12" name="Text 8"/>
          <p:cNvSpPr txBox="1"/>
          <p:nvPr/>
        </p:nvSpPr>
        <p:spPr>
          <a:xfrm>
            <a:off x="1463040" y="3044952"/>
            <a:ext cx="4846320" cy="365760"/>
          </a:xfrm>
          <a:prstGeom prst="rect">
            <a:avLst/>
          </a:prstGeom>
          <a:noFill/>
          <a:ln/>
        </p:spPr>
        <p:txBody>
          <a:bodyPr wrap="square" lIns="0" tIns="0" rIns="0" bIns="0" rtlCol="0" anchor="t"/>
          <a:lstStyle/>
          <a:p>
            <a:pPr indent="0" marL="0">
              <a:buNone/>
            </a:pPr>
            <a:r>
              <a:rPr lang="en-US" sz="1700" b="1" dirty="0">
                <a:solidFill>
                  <a:srgbClr val="14302A"/>
                </a:solidFill>
                <a:latin typeface="Cambria" pitchFamily="34" charset="0"/>
                <a:ea typeface="Cambria" pitchFamily="34" charset="-122"/>
                <a:cs typeface="Cambria" pitchFamily="34" charset="-120"/>
              </a:rPr>
              <a:t>Growing B2B pull</a:t>
            </a:r>
            <a:endParaRPr lang="en-US" sz="1700" dirty="0"/>
          </a:p>
        </p:txBody>
      </p:sp>
      <p:sp>
        <p:nvSpPr>
          <p:cNvPr id="13" name="Text 9"/>
          <p:cNvSpPr txBox="1"/>
          <p:nvPr/>
        </p:nvSpPr>
        <p:spPr>
          <a:xfrm>
            <a:off x="1463040" y="3429000"/>
            <a:ext cx="4846320" cy="1005840"/>
          </a:xfrm>
          <a:prstGeom prst="rect">
            <a:avLst/>
          </a:prstGeom>
          <a:noFill/>
          <a:ln/>
        </p:spPr>
        <p:txBody>
          <a:bodyPr wrap="square" lIns="0" tIns="0" rIns="0" bIns="0" rtlCol="0" anchor="t"/>
          <a:lstStyle/>
          <a:p>
            <a:pPr indent="0" marL="0">
              <a:buNone/>
            </a:pPr>
            <a:r>
              <a:rPr lang="en-US" sz="1200" dirty="0">
                <a:solidFill>
                  <a:srgbClr val="1E2A26"/>
                </a:solidFill>
                <a:latin typeface="Calibri" pitchFamily="34" charset="0"/>
                <a:ea typeface="Calibri" pitchFamily="34" charset="-122"/>
                <a:cs typeface="Calibri" pitchFamily="34" charset="-120"/>
              </a:rPr>
              <a:t>Nootropic supplements, mushroom coffee and tea, and Ayurveda-adjacent formulations are pulling demand for functional-mushroom ingredients from Indian brands.</a:t>
            </a:r>
            <a:endParaRPr lang="en-US" sz="1200" dirty="0"/>
          </a:p>
        </p:txBody>
      </p:sp>
      <p:sp>
        <p:nvSpPr>
          <p:cNvPr id="14" name="Shape 10"/>
          <p:cNvSpPr/>
          <p:nvPr/>
        </p:nvSpPr>
        <p:spPr>
          <a:xfrm>
            <a:off x="548640" y="4572000"/>
            <a:ext cx="685800" cy="685800"/>
          </a:xfrm>
          <a:prstGeom prst="ellipse">
            <a:avLst/>
          </a:prstGeom>
          <a:solidFill>
            <a:srgbClr val="D9962B"/>
          </a:solidFill>
          <a:ln w="12700">
            <a:solidFill>
              <a:srgbClr val="D9962B"/>
            </a:solidFill>
            <a:prstDash val="solid"/>
          </a:ln>
        </p:spPr>
      </p:sp>
      <p:pic>
        <p:nvPicPr>
          <p:cNvPr id="15" name="Image 2" descr="preencoded.png">    </p:cNvPr>
          <p:cNvPicPr>
            <a:picLocks noChangeAspect="1"/>
          </p:cNvPicPr>
          <p:nvPr/>
        </p:nvPicPr>
        <p:blipFill>
          <a:blip r:embed="rId3"/>
          <a:stretch>
            <a:fillRect/>
          </a:stretch>
        </p:blipFill>
        <p:spPr>
          <a:xfrm>
            <a:off x="726948" y="4750308"/>
            <a:ext cx="329184" cy="329184"/>
          </a:xfrm>
          <a:prstGeom prst="rect">
            <a:avLst/>
          </a:prstGeom>
        </p:spPr>
      </p:pic>
      <p:sp>
        <p:nvSpPr>
          <p:cNvPr id="16" name="Text 11"/>
          <p:cNvSpPr txBox="1"/>
          <p:nvPr/>
        </p:nvSpPr>
        <p:spPr>
          <a:xfrm>
            <a:off x="1463040" y="4553712"/>
            <a:ext cx="4846320" cy="365760"/>
          </a:xfrm>
          <a:prstGeom prst="rect">
            <a:avLst/>
          </a:prstGeom>
          <a:noFill/>
          <a:ln/>
        </p:spPr>
        <p:txBody>
          <a:bodyPr wrap="square" lIns="0" tIns="0" rIns="0" bIns="0" rtlCol="0" anchor="t"/>
          <a:lstStyle/>
          <a:p>
            <a:pPr indent="0" marL="0">
              <a:buNone/>
            </a:pPr>
            <a:r>
              <a:rPr lang="en-US" sz="1700" b="1" dirty="0">
                <a:solidFill>
                  <a:srgbClr val="14302A"/>
                </a:solidFill>
                <a:latin typeface="Cambria" pitchFamily="34" charset="0"/>
                <a:ea typeface="Cambria" pitchFamily="34" charset="-122"/>
                <a:cs typeface="Cambria" pitchFamily="34" charset="-120"/>
              </a:rPr>
              <a:t>The supply gap we target</a:t>
            </a:r>
            <a:endParaRPr lang="en-US" sz="1700" dirty="0"/>
          </a:p>
        </p:txBody>
      </p:sp>
      <p:sp>
        <p:nvSpPr>
          <p:cNvPr id="17" name="Text 12"/>
          <p:cNvSpPr txBox="1"/>
          <p:nvPr/>
        </p:nvSpPr>
        <p:spPr>
          <a:xfrm>
            <a:off x="1463040" y="4937760"/>
            <a:ext cx="4846320" cy="1005840"/>
          </a:xfrm>
          <a:prstGeom prst="rect">
            <a:avLst/>
          </a:prstGeom>
          <a:noFill/>
          <a:ln/>
        </p:spPr>
        <p:txBody>
          <a:bodyPr wrap="square" lIns="0" tIns="0" rIns="0" bIns="0" rtlCol="0" anchor="t"/>
          <a:lstStyle/>
          <a:p>
            <a:pPr indent="0" marL="0">
              <a:buNone/>
            </a:pPr>
            <a:r>
              <a:rPr lang="en-US" sz="1200" dirty="0">
                <a:solidFill>
                  <a:srgbClr val="1E2A26"/>
                </a:solidFill>
                <a:latin typeface="Calibri" pitchFamily="34" charset="0"/>
                <a:ea typeface="Calibri" pitchFamily="34" charset="-122"/>
                <a:cs typeface="Calibri" pitchFamily="34" charset="-120"/>
              </a:rPr>
              <a:t>Consistent, domestic, fruiting-body-only supply with a full certificate of analysis per lot is hard to find. Much trade material is imported or mycelium-on-grain with high starch.</a:t>
            </a:r>
            <a:endParaRPr lang="en-US" sz="1200" dirty="0"/>
          </a:p>
        </p:txBody>
      </p:sp>
      <p:sp>
        <p:nvSpPr>
          <p:cNvPr id="18" name="Shape 13"/>
          <p:cNvSpPr/>
          <p:nvPr/>
        </p:nvSpPr>
        <p:spPr>
          <a:xfrm>
            <a:off x="6858000" y="1508760"/>
            <a:ext cx="4800600" cy="4480560"/>
          </a:xfrm>
          <a:prstGeom prst="roundRect">
            <a:avLst>
              <a:gd name="adj" fmla="val 1633"/>
            </a:avLst>
          </a:prstGeom>
          <a:solidFill>
            <a:srgbClr val="14302A"/>
          </a:solidFill>
          <a:ln w="9525">
            <a:solidFill>
              <a:srgbClr val="14302A"/>
            </a:solidFill>
            <a:prstDash val="solid"/>
          </a:ln>
        </p:spPr>
      </p:sp>
      <p:sp>
        <p:nvSpPr>
          <p:cNvPr id="19" name="Text 14"/>
          <p:cNvSpPr txBox="1"/>
          <p:nvPr/>
        </p:nvSpPr>
        <p:spPr>
          <a:xfrm>
            <a:off x="7178040" y="1737360"/>
            <a:ext cx="4206240" cy="411480"/>
          </a:xfrm>
          <a:prstGeom prst="rect">
            <a:avLst/>
          </a:prstGeom>
          <a:noFill/>
          <a:ln/>
        </p:spPr>
        <p:txBody>
          <a:bodyPr wrap="square" lIns="0" tIns="0" rIns="0" bIns="0" rtlCol="0" anchor="t"/>
          <a:lstStyle/>
          <a:p>
            <a:pPr indent="0" marL="0">
              <a:buNone/>
            </a:pPr>
            <a:r>
              <a:rPr lang="en-US" sz="1900" b="1" dirty="0">
                <a:solidFill>
                  <a:srgbClr val="FFFFFF"/>
                </a:solidFill>
                <a:latin typeface="Cambria" pitchFamily="34" charset="0"/>
                <a:ea typeface="Cambria" pitchFamily="34" charset="-122"/>
                <a:cs typeface="Cambria" pitchFamily="34" charset="-120"/>
              </a:rPr>
              <a:t>Our differentiation</a:t>
            </a:r>
            <a:endParaRPr lang="en-US" sz="1900" dirty="0"/>
          </a:p>
        </p:txBody>
      </p:sp>
      <p:pic>
        <p:nvPicPr>
          <p:cNvPr id="20" name="Image 3" descr="preencoded.png">    </p:cNvPr>
          <p:cNvPicPr>
            <a:picLocks noChangeAspect="1"/>
          </p:cNvPicPr>
          <p:nvPr/>
        </p:nvPicPr>
        <p:blipFill>
          <a:blip r:embed="rId4"/>
          <a:stretch>
            <a:fillRect/>
          </a:stretch>
        </p:blipFill>
        <p:spPr>
          <a:xfrm>
            <a:off x="7178040" y="2331720"/>
            <a:ext cx="274320" cy="274320"/>
          </a:xfrm>
          <a:prstGeom prst="rect">
            <a:avLst/>
          </a:prstGeom>
        </p:spPr>
      </p:pic>
      <p:sp>
        <p:nvSpPr>
          <p:cNvPr id="21" name="Text 15"/>
          <p:cNvSpPr txBox="1"/>
          <p:nvPr/>
        </p:nvSpPr>
        <p:spPr>
          <a:xfrm>
            <a:off x="7589520" y="2286000"/>
            <a:ext cx="3840480" cy="5029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100% fruiting body: no grain filler, verified by starch test (&lt;5%)</a:t>
            </a:r>
            <a:endParaRPr lang="en-US" sz="1250" dirty="0"/>
          </a:p>
        </p:txBody>
      </p:sp>
      <p:pic>
        <p:nvPicPr>
          <p:cNvPr id="22" name="Image 4" descr="preencoded.png">    </p:cNvPr>
          <p:cNvPicPr>
            <a:picLocks noChangeAspect="1"/>
          </p:cNvPicPr>
          <p:nvPr/>
        </p:nvPicPr>
        <p:blipFill>
          <a:blip r:embed="rId5"/>
          <a:stretch>
            <a:fillRect/>
          </a:stretch>
        </p:blipFill>
        <p:spPr>
          <a:xfrm>
            <a:off x="7178040" y="2907792"/>
            <a:ext cx="274320" cy="274320"/>
          </a:xfrm>
          <a:prstGeom prst="rect">
            <a:avLst/>
          </a:prstGeom>
        </p:spPr>
      </p:pic>
      <p:sp>
        <p:nvSpPr>
          <p:cNvPr id="23" name="Text 16"/>
          <p:cNvSpPr txBox="1"/>
          <p:nvPr/>
        </p:nvSpPr>
        <p:spPr>
          <a:xfrm>
            <a:off x="7589520" y="2862072"/>
            <a:ext cx="3840480" cy="5029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Controlled-environment grown: zero pesticides</a:t>
            </a:r>
            <a:endParaRPr lang="en-US" sz="1250" dirty="0"/>
          </a:p>
        </p:txBody>
      </p:sp>
      <p:pic>
        <p:nvPicPr>
          <p:cNvPr id="24" name="Image 5" descr="preencoded.png">    </p:cNvPr>
          <p:cNvPicPr>
            <a:picLocks noChangeAspect="1"/>
          </p:cNvPicPr>
          <p:nvPr/>
        </p:nvPicPr>
        <p:blipFill>
          <a:blip r:embed="rId6"/>
          <a:stretch>
            <a:fillRect/>
          </a:stretch>
        </p:blipFill>
        <p:spPr>
          <a:xfrm>
            <a:off x="7178040" y="3483864"/>
            <a:ext cx="274320" cy="274320"/>
          </a:xfrm>
          <a:prstGeom prst="rect">
            <a:avLst/>
          </a:prstGeom>
        </p:spPr>
      </p:pic>
      <p:sp>
        <p:nvSpPr>
          <p:cNvPr id="25" name="Text 17"/>
          <p:cNvSpPr txBox="1"/>
          <p:nvPr/>
        </p:nvSpPr>
        <p:spPr>
          <a:xfrm>
            <a:off x="7589520" y="3438144"/>
            <a:ext cx="3840480" cy="5029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Farm-to-dryer in under 4 hours for colour and actives</a:t>
            </a:r>
            <a:endParaRPr lang="en-US" sz="1250" dirty="0"/>
          </a:p>
        </p:txBody>
      </p:sp>
      <p:pic>
        <p:nvPicPr>
          <p:cNvPr id="26" name="Image 6" descr="preencoded.png">    </p:cNvPr>
          <p:cNvPicPr>
            <a:picLocks noChangeAspect="1"/>
          </p:cNvPicPr>
          <p:nvPr/>
        </p:nvPicPr>
        <p:blipFill>
          <a:blip r:embed="rId7"/>
          <a:stretch>
            <a:fillRect/>
          </a:stretch>
        </p:blipFill>
        <p:spPr>
          <a:xfrm>
            <a:off x="7178040" y="4059936"/>
            <a:ext cx="274320" cy="274320"/>
          </a:xfrm>
          <a:prstGeom prst="rect">
            <a:avLst/>
          </a:prstGeom>
        </p:spPr>
      </p:pic>
      <p:sp>
        <p:nvSpPr>
          <p:cNvPr id="27" name="Text 18"/>
          <p:cNvSpPr txBox="1"/>
          <p:nvPr/>
        </p:nvSpPr>
        <p:spPr>
          <a:xfrm>
            <a:off x="7589520" y="4014216"/>
            <a:ext cx="3840480" cy="5029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Lot-coded traceability from culture to carton</a:t>
            </a:r>
            <a:endParaRPr lang="en-US" sz="1250" dirty="0"/>
          </a:p>
        </p:txBody>
      </p:sp>
      <p:pic>
        <p:nvPicPr>
          <p:cNvPr id="28" name="Image 7" descr="preencoded.png">    </p:cNvPr>
          <p:cNvPicPr>
            <a:picLocks noChangeAspect="1"/>
          </p:cNvPicPr>
          <p:nvPr/>
        </p:nvPicPr>
        <p:blipFill>
          <a:blip r:embed="rId8"/>
          <a:stretch>
            <a:fillRect/>
          </a:stretch>
        </p:blipFill>
        <p:spPr>
          <a:xfrm>
            <a:off x="7178040" y="4636008"/>
            <a:ext cx="274320" cy="274320"/>
          </a:xfrm>
          <a:prstGeom prst="rect">
            <a:avLst/>
          </a:prstGeom>
        </p:spPr>
      </p:pic>
      <p:sp>
        <p:nvSpPr>
          <p:cNvPr id="29" name="Text 19"/>
          <p:cNvSpPr txBox="1"/>
          <p:nvPr/>
        </p:nvSpPr>
        <p:spPr>
          <a:xfrm>
            <a:off x="7589520" y="4590288"/>
            <a:ext cx="3840480" cy="5029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Third-party NABL CoA with every shipment</a:t>
            </a:r>
            <a:endParaRPr lang="en-US" sz="1250" dirty="0"/>
          </a:p>
        </p:txBody>
      </p:sp>
      <p:pic>
        <p:nvPicPr>
          <p:cNvPr id="30" name="Image 8" descr="preencoded.png">    </p:cNvPr>
          <p:cNvPicPr>
            <a:picLocks noChangeAspect="1"/>
          </p:cNvPicPr>
          <p:nvPr/>
        </p:nvPicPr>
        <p:blipFill>
          <a:blip r:embed="rId9"/>
          <a:stretch>
            <a:fillRect/>
          </a:stretch>
        </p:blipFill>
        <p:spPr>
          <a:xfrm>
            <a:off x="7178040" y="5212080"/>
            <a:ext cx="274320" cy="274320"/>
          </a:xfrm>
          <a:prstGeom prst="rect">
            <a:avLst/>
          </a:prstGeom>
        </p:spPr>
      </p:pic>
      <p:sp>
        <p:nvSpPr>
          <p:cNvPr id="31" name="Text 20"/>
          <p:cNvSpPr txBox="1"/>
          <p:nvPr/>
        </p:nvSpPr>
        <p:spPr>
          <a:xfrm>
            <a:off x="7589520" y="5166360"/>
            <a:ext cx="3840480" cy="5029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Culture sourced from ICAR-DMR Solan / accredited labs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D9962B"/>
                </a:solidFill>
                <a:latin typeface="Calibri" pitchFamily="34" charset="0"/>
                <a:ea typeface="Calibri" pitchFamily="34" charset="-122"/>
                <a:cs typeface="Calibri" pitchFamily="34" charset="-120"/>
              </a:rPr>
              <a:t>01 · THE OPPORTUNITY</a:t>
            </a:r>
            <a:endParaRPr lang="en-US" sz="11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14302A"/>
                </a:solidFill>
                <a:latin typeface="Cambria" pitchFamily="34" charset="0"/>
                <a:ea typeface="Cambria" pitchFamily="34" charset="-122"/>
                <a:cs typeface="Cambria" pitchFamily="34" charset="-120"/>
              </a:rPr>
              <a:t>Why Hamirpur, Himachal Pradesh</a:t>
            </a:r>
            <a:endParaRPr lang="en-US" sz="30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900" dirty="0">
                <a:solidFill>
                  <a:srgbClr val="5F6F69"/>
                </a:solidFill>
                <a:latin typeface="Calibri" pitchFamily="34" charset="0"/>
                <a:ea typeface="Calibri" pitchFamily="34" charset="-122"/>
                <a:cs typeface="Calibri" pitchFamily="34" charset="-120"/>
              </a:rPr>
              <a:t>Lion's Mane Facility  ·  Hamirpur, HP  ·  Project Plan</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900" dirty="0">
                <a:solidFill>
                  <a:srgbClr val="5F6F69"/>
                </a:solidFill>
                <a:latin typeface="Calibri" pitchFamily="34" charset="0"/>
                <a:ea typeface="Calibri" pitchFamily="34" charset="-122"/>
                <a:cs typeface="Calibri" pitchFamily="34" charset="-120"/>
              </a:rPr>
              <a:t>4</a:t>
            </a:r>
            <a:endParaRPr lang="en-US" sz="900" dirty="0"/>
          </a:p>
        </p:txBody>
      </p:sp>
      <p:sp>
        <p:nvSpPr>
          <p:cNvPr id="6" name="Shape 4"/>
          <p:cNvSpPr/>
          <p:nvPr/>
        </p:nvSpPr>
        <p:spPr>
          <a:xfrm>
            <a:off x="548640" y="1508760"/>
            <a:ext cx="3520440" cy="2148840"/>
          </a:xfrm>
          <a:prstGeom prst="roundRect">
            <a:avLst>
              <a:gd name="adj" fmla="val 3404"/>
            </a:avLst>
          </a:prstGeom>
          <a:solidFill>
            <a:srgbClr val="EEF4F0"/>
          </a:solidFill>
          <a:ln w="9525">
            <a:solidFill>
              <a:srgbClr val="EEF4F0"/>
            </a:solidFill>
            <a:prstDash val="solid"/>
          </a:ln>
        </p:spPr>
      </p:sp>
      <p:sp>
        <p:nvSpPr>
          <p:cNvPr id="7" name="Shape 5"/>
          <p:cNvSpPr/>
          <p:nvPr/>
        </p:nvSpPr>
        <p:spPr>
          <a:xfrm>
            <a:off x="777240" y="1737360"/>
            <a:ext cx="548640" cy="548640"/>
          </a:xfrm>
          <a:prstGeom prst="ellipse">
            <a:avLst/>
          </a:prstGeom>
          <a:solidFill>
            <a:srgbClr val="2E5E4E"/>
          </a:solidFill>
          <a:ln w="12700">
            <a:solidFill>
              <a:srgbClr val="2E5E4E"/>
            </a:solidFill>
            <a:prstDash val="solid"/>
          </a:ln>
        </p:spPr>
      </p:sp>
      <p:pic>
        <p:nvPicPr>
          <p:cNvPr id="8" name="Image 0" descr="preencoded.png">    </p:cNvPr>
          <p:cNvPicPr>
            <a:picLocks noChangeAspect="1"/>
          </p:cNvPicPr>
          <p:nvPr/>
        </p:nvPicPr>
        <p:blipFill>
          <a:blip r:embed="rId1"/>
          <a:stretch>
            <a:fillRect/>
          </a:stretch>
        </p:blipFill>
        <p:spPr>
          <a:xfrm>
            <a:off x="919886" y="1880006"/>
            <a:ext cx="263347" cy="263347"/>
          </a:xfrm>
          <a:prstGeom prst="rect">
            <a:avLst/>
          </a:prstGeom>
        </p:spPr>
      </p:pic>
      <p:sp>
        <p:nvSpPr>
          <p:cNvPr id="9" name="Text 6"/>
          <p:cNvSpPr txBox="1"/>
          <p:nvPr/>
        </p:nvSpPr>
        <p:spPr>
          <a:xfrm>
            <a:off x="1463040" y="1764792"/>
            <a:ext cx="2468880" cy="502920"/>
          </a:xfrm>
          <a:prstGeom prst="rect">
            <a:avLst/>
          </a:prstGeom>
          <a:noFill/>
          <a:ln/>
        </p:spPr>
        <p:txBody>
          <a:bodyPr wrap="square" lIns="0" tIns="0" rIns="0" bIns="0" rtlCol="0" anchor="ctr"/>
          <a:lstStyle/>
          <a:p>
            <a:pPr indent="0" marL="0">
              <a:buNone/>
            </a:pPr>
            <a:r>
              <a:rPr lang="en-US" sz="1500" b="1" dirty="0">
                <a:solidFill>
                  <a:srgbClr val="14302A"/>
                </a:solidFill>
                <a:latin typeface="Cambria" pitchFamily="34" charset="0"/>
                <a:ea typeface="Cambria" pitchFamily="34" charset="-122"/>
                <a:cs typeface="Cambria" pitchFamily="34" charset="-120"/>
              </a:rPr>
              <a:t>Genetics on the doorstep</a:t>
            </a:r>
            <a:endParaRPr lang="en-US" sz="1500" dirty="0"/>
          </a:p>
        </p:txBody>
      </p:sp>
      <p:sp>
        <p:nvSpPr>
          <p:cNvPr id="10" name="Text 7"/>
          <p:cNvSpPr txBox="1"/>
          <p:nvPr/>
        </p:nvSpPr>
        <p:spPr>
          <a:xfrm>
            <a:off x="777240" y="2423160"/>
            <a:ext cx="3063240" cy="114300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ICAR-Directorate of Mushroom Research, Solan: the national mushroom research centre, for certified mother cultures and technical support.</a:t>
            </a:r>
            <a:endParaRPr lang="en-US" sz="1250" dirty="0"/>
          </a:p>
        </p:txBody>
      </p:sp>
      <p:sp>
        <p:nvSpPr>
          <p:cNvPr id="11" name="Shape 8"/>
          <p:cNvSpPr/>
          <p:nvPr/>
        </p:nvSpPr>
        <p:spPr>
          <a:xfrm>
            <a:off x="4297680" y="1508760"/>
            <a:ext cx="3520440" cy="2148840"/>
          </a:xfrm>
          <a:prstGeom prst="roundRect">
            <a:avLst>
              <a:gd name="adj" fmla="val 3404"/>
            </a:avLst>
          </a:prstGeom>
          <a:solidFill>
            <a:srgbClr val="EEF4F0"/>
          </a:solidFill>
          <a:ln w="9525">
            <a:solidFill>
              <a:srgbClr val="EEF4F0"/>
            </a:solidFill>
            <a:prstDash val="solid"/>
          </a:ln>
        </p:spPr>
      </p:sp>
      <p:sp>
        <p:nvSpPr>
          <p:cNvPr id="12" name="Shape 9"/>
          <p:cNvSpPr/>
          <p:nvPr/>
        </p:nvSpPr>
        <p:spPr>
          <a:xfrm>
            <a:off x="4526280" y="1737360"/>
            <a:ext cx="548640" cy="548640"/>
          </a:xfrm>
          <a:prstGeom prst="ellipse">
            <a:avLst/>
          </a:prstGeom>
          <a:solidFill>
            <a:srgbClr val="2E5E4E"/>
          </a:solidFill>
          <a:ln w="12700">
            <a:solidFill>
              <a:srgbClr val="2E5E4E"/>
            </a:solidFill>
            <a:prstDash val="solid"/>
          </a:ln>
        </p:spPr>
      </p:sp>
      <p:pic>
        <p:nvPicPr>
          <p:cNvPr id="13" name="Image 1" descr="preencoded.png">    </p:cNvPr>
          <p:cNvPicPr>
            <a:picLocks noChangeAspect="1"/>
          </p:cNvPicPr>
          <p:nvPr/>
        </p:nvPicPr>
        <p:blipFill>
          <a:blip r:embed="rId2"/>
          <a:stretch>
            <a:fillRect/>
          </a:stretch>
        </p:blipFill>
        <p:spPr>
          <a:xfrm>
            <a:off x="4668926" y="1880006"/>
            <a:ext cx="263347" cy="263347"/>
          </a:xfrm>
          <a:prstGeom prst="rect">
            <a:avLst/>
          </a:prstGeom>
        </p:spPr>
      </p:pic>
      <p:sp>
        <p:nvSpPr>
          <p:cNvPr id="14" name="Text 10"/>
          <p:cNvSpPr txBox="1"/>
          <p:nvPr/>
        </p:nvSpPr>
        <p:spPr>
          <a:xfrm>
            <a:off x="5212080" y="1764792"/>
            <a:ext cx="2468880" cy="502920"/>
          </a:xfrm>
          <a:prstGeom prst="rect">
            <a:avLst/>
          </a:prstGeom>
          <a:noFill/>
          <a:ln/>
        </p:spPr>
        <p:txBody>
          <a:bodyPr wrap="square" lIns="0" tIns="0" rIns="0" bIns="0" rtlCol="0" anchor="ctr"/>
          <a:lstStyle/>
          <a:p>
            <a:pPr indent="0" marL="0">
              <a:buNone/>
            </a:pPr>
            <a:r>
              <a:rPr lang="en-US" sz="1500" b="1" dirty="0">
                <a:solidFill>
                  <a:srgbClr val="14302A"/>
                </a:solidFill>
                <a:latin typeface="Cambria" pitchFamily="34" charset="0"/>
                <a:ea typeface="Cambria" pitchFamily="34" charset="-122"/>
                <a:cs typeface="Cambria" pitchFamily="34" charset="-120"/>
              </a:rPr>
              <a:t>Feedstock corridor</a:t>
            </a:r>
            <a:endParaRPr lang="en-US" sz="1500" dirty="0"/>
          </a:p>
        </p:txBody>
      </p:sp>
      <p:sp>
        <p:nvSpPr>
          <p:cNvPr id="15" name="Text 11"/>
          <p:cNvSpPr txBox="1"/>
          <p:nvPr/>
        </p:nvSpPr>
        <p:spPr>
          <a:xfrm>
            <a:off x="4526280" y="2423160"/>
            <a:ext cx="3063240" cy="114300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Soy hull ("soya chilka") from Punjab / Hamirpur feed mills (₹15–25/kg) and hardwood sawdust from Zirakpur sawmills (₹5/kg).</a:t>
            </a:r>
            <a:endParaRPr lang="en-US" sz="1250" dirty="0"/>
          </a:p>
        </p:txBody>
      </p:sp>
      <p:sp>
        <p:nvSpPr>
          <p:cNvPr id="16" name="Shape 12"/>
          <p:cNvSpPr/>
          <p:nvPr/>
        </p:nvSpPr>
        <p:spPr>
          <a:xfrm>
            <a:off x="8046720" y="1508760"/>
            <a:ext cx="3520440" cy="2148840"/>
          </a:xfrm>
          <a:prstGeom prst="roundRect">
            <a:avLst>
              <a:gd name="adj" fmla="val 3404"/>
            </a:avLst>
          </a:prstGeom>
          <a:solidFill>
            <a:srgbClr val="EEF4F0"/>
          </a:solidFill>
          <a:ln w="9525">
            <a:solidFill>
              <a:srgbClr val="EEF4F0"/>
            </a:solidFill>
            <a:prstDash val="solid"/>
          </a:ln>
        </p:spPr>
      </p:sp>
      <p:sp>
        <p:nvSpPr>
          <p:cNvPr id="17" name="Shape 13"/>
          <p:cNvSpPr/>
          <p:nvPr/>
        </p:nvSpPr>
        <p:spPr>
          <a:xfrm>
            <a:off x="8275320" y="1737360"/>
            <a:ext cx="548640" cy="548640"/>
          </a:xfrm>
          <a:prstGeom prst="ellipse">
            <a:avLst/>
          </a:prstGeom>
          <a:solidFill>
            <a:srgbClr val="2E5E4E"/>
          </a:solidFill>
          <a:ln w="12700">
            <a:solidFill>
              <a:srgbClr val="2E5E4E"/>
            </a:solidFill>
            <a:prstDash val="solid"/>
          </a:ln>
        </p:spPr>
      </p:sp>
      <p:pic>
        <p:nvPicPr>
          <p:cNvPr id="18" name="Image 2" descr="preencoded.png">    </p:cNvPr>
          <p:cNvPicPr>
            <a:picLocks noChangeAspect="1"/>
          </p:cNvPicPr>
          <p:nvPr/>
        </p:nvPicPr>
        <p:blipFill>
          <a:blip r:embed="rId3"/>
          <a:stretch>
            <a:fillRect/>
          </a:stretch>
        </p:blipFill>
        <p:spPr>
          <a:xfrm>
            <a:off x="8417966" y="1880006"/>
            <a:ext cx="263347" cy="263347"/>
          </a:xfrm>
          <a:prstGeom prst="rect">
            <a:avLst/>
          </a:prstGeom>
        </p:spPr>
      </p:pic>
      <p:sp>
        <p:nvSpPr>
          <p:cNvPr id="19" name="Text 14"/>
          <p:cNvSpPr txBox="1"/>
          <p:nvPr/>
        </p:nvSpPr>
        <p:spPr>
          <a:xfrm>
            <a:off x="8961120" y="1764792"/>
            <a:ext cx="2468880" cy="502920"/>
          </a:xfrm>
          <a:prstGeom prst="rect">
            <a:avLst/>
          </a:prstGeom>
          <a:noFill/>
          <a:ln/>
        </p:spPr>
        <p:txBody>
          <a:bodyPr wrap="square" lIns="0" tIns="0" rIns="0" bIns="0" rtlCol="0" anchor="ctr"/>
          <a:lstStyle/>
          <a:p>
            <a:pPr indent="0" marL="0">
              <a:buNone/>
            </a:pPr>
            <a:r>
              <a:rPr lang="en-US" sz="1500" b="1" dirty="0">
                <a:solidFill>
                  <a:srgbClr val="14302A"/>
                </a:solidFill>
                <a:latin typeface="Cambria" pitchFamily="34" charset="0"/>
                <a:ea typeface="Cambria" pitchFamily="34" charset="-122"/>
                <a:cs typeface="Cambria" pitchFamily="34" charset="-120"/>
              </a:rPr>
              <a:t>Buyer clusters in reach</a:t>
            </a:r>
            <a:endParaRPr lang="en-US" sz="1500" dirty="0"/>
          </a:p>
        </p:txBody>
      </p:sp>
      <p:sp>
        <p:nvSpPr>
          <p:cNvPr id="20" name="Text 15"/>
          <p:cNvSpPr txBox="1"/>
          <p:nvPr/>
        </p:nvSpPr>
        <p:spPr>
          <a:xfrm>
            <a:off x="8275320" y="2423160"/>
            <a:ext cx="3063240" cy="114300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Baddi–Barotiwala–Nalagarh pharma &amp; nutraceutical belt (HP), Haridwar–Dehradun Ayurveda cluster (320 km), Delhi-NCR brands.</a:t>
            </a:r>
            <a:endParaRPr lang="en-US" sz="1250" dirty="0"/>
          </a:p>
        </p:txBody>
      </p:sp>
      <p:sp>
        <p:nvSpPr>
          <p:cNvPr id="21" name="Shape 16"/>
          <p:cNvSpPr/>
          <p:nvPr/>
        </p:nvSpPr>
        <p:spPr>
          <a:xfrm>
            <a:off x="548640" y="3886200"/>
            <a:ext cx="3520440" cy="2148840"/>
          </a:xfrm>
          <a:prstGeom prst="roundRect">
            <a:avLst>
              <a:gd name="adj" fmla="val 3404"/>
            </a:avLst>
          </a:prstGeom>
          <a:solidFill>
            <a:srgbClr val="EEF4F0"/>
          </a:solidFill>
          <a:ln w="9525">
            <a:solidFill>
              <a:srgbClr val="EEF4F0"/>
            </a:solidFill>
            <a:prstDash val="solid"/>
          </a:ln>
        </p:spPr>
      </p:sp>
      <p:sp>
        <p:nvSpPr>
          <p:cNvPr id="22" name="Shape 17"/>
          <p:cNvSpPr/>
          <p:nvPr/>
        </p:nvSpPr>
        <p:spPr>
          <a:xfrm>
            <a:off x="777240" y="4114800"/>
            <a:ext cx="548640" cy="548640"/>
          </a:xfrm>
          <a:prstGeom prst="ellipse">
            <a:avLst/>
          </a:prstGeom>
          <a:solidFill>
            <a:srgbClr val="2E5E4E"/>
          </a:solidFill>
          <a:ln w="12700">
            <a:solidFill>
              <a:srgbClr val="2E5E4E"/>
            </a:solidFill>
            <a:prstDash val="solid"/>
          </a:ln>
        </p:spPr>
      </p:sp>
      <p:pic>
        <p:nvPicPr>
          <p:cNvPr id="23" name="Image 3" descr="preencoded.png">    </p:cNvPr>
          <p:cNvPicPr>
            <a:picLocks noChangeAspect="1"/>
          </p:cNvPicPr>
          <p:nvPr/>
        </p:nvPicPr>
        <p:blipFill>
          <a:blip r:embed="rId4"/>
          <a:stretch>
            <a:fillRect/>
          </a:stretch>
        </p:blipFill>
        <p:spPr>
          <a:xfrm>
            <a:off x="919886" y="4257446"/>
            <a:ext cx="263347" cy="263347"/>
          </a:xfrm>
          <a:prstGeom prst="rect">
            <a:avLst/>
          </a:prstGeom>
        </p:spPr>
      </p:pic>
      <p:sp>
        <p:nvSpPr>
          <p:cNvPr id="24" name="Text 18"/>
          <p:cNvSpPr txBox="1"/>
          <p:nvPr/>
        </p:nvSpPr>
        <p:spPr>
          <a:xfrm>
            <a:off x="1463040" y="4142232"/>
            <a:ext cx="2468880" cy="502920"/>
          </a:xfrm>
          <a:prstGeom prst="rect">
            <a:avLst/>
          </a:prstGeom>
          <a:noFill/>
          <a:ln/>
        </p:spPr>
        <p:txBody>
          <a:bodyPr wrap="square" lIns="0" tIns="0" rIns="0" bIns="0" rtlCol="0" anchor="ctr"/>
          <a:lstStyle/>
          <a:p>
            <a:pPr indent="0" marL="0">
              <a:buNone/>
            </a:pPr>
            <a:r>
              <a:rPr lang="en-US" sz="1500" b="1" dirty="0">
                <a:solidFill>
                  <a:srgbClr val="14302A"/>
                </a:solidFill>
                <a:latin typeface="Cambria" pitchFamily="34" charset="0"/>
                <a:ea typeface="Cambria" pitchFamily="34" charset="-122"/>
                <a:cs typeface="Cambria" pitchFamily="34" charset="-120"/>
              </a:rPr>
              <a:t>Hill-state incentives</a:t>
            </a:r>
            <a:endParaRPr lang="en-US" sz="1500" dirty="0"/>
          </a:p>
        </p:txBody>
      </p:sp>
      <p:sp>
        <p:nvSpPr>
          <p:cNvPr id="25" name="Text 19"/>
          <p:cNvSpPr txBox="1"/>
          <p:nvPr/>
        </p:nvSpPr>
        <p:spPr>
          <a:xfrm>
            <a:off x="777240" y="4800600"/>
            <a:ext cx="3063240" cy="114300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Special Category State: PMEGP 35% rural subsidy with only 5% promoter contribution; MIDH/NHB horticulture support.</a:t>
            </a:r>
            <a:endParaRPr lang="en-US" sz="1250" dirty="0"/>
          </a:p>
        </p:txBody>
      </p:sp>
      <p:sp>
        <p:nvSpPr>
          <p:cNvPr id="26" name="Shape 20"/>
          <p:cNvSpPr/>
          <p:nvPr/>
        </p:nvSpPr>
        <p:spPr>
          <a:xfrm>
            <a:off x="4297680" y="3886200"/>
            <a:ext cx="3520440" cy="2148840"/>
          </a:xfrm>
          <a:prstGeom prst="roundRect">
            <a:avLst>
              <a:gd name="adj" fmla="val 3404"/>
            </a:avLst>
          </a:prstGeom>
          <a:solidFill>
            <a:srgbClr val="FBF1DE"/>
          </a:solidFill>
          <a:ln w="9525">
            <a:solidFill>
              <a:srgbClr val="FBF1DE"/>
            </a:solidFill>
            <a:prstDash val="solid"/>
          </a:ln>
        </p:spPr>
      </p:sp>
      <p:sp>
        <p:nvSpPr>
          <p:cNvPr id="27" name="Shape 21"/>
          <p:cNvSpPr/>
          <p:nvPr/>
        </p:nvSpPr>
        <p:spPr>
          <a:xfrm>
            <a:off x="4526280" y="4114800"/>
            <a:ext cx="548640" cy="548640"/>
          </a:xfrm>
          <a:prstGeom prst="ellipse">
            <a:avLst/>
          </a:prstGeom>
          <a:solidFill>
            <a:srgbClr val="D9962B"/>
          </a:solidFill>
          <a:ln w="12700">
            <a:solidFill>
              <a:srgbClr val="D9962B"/>
            </a:solidFill>
            <a:prstDash val="solid"/>
          </a:ln>
        </p:spPr>
      </p:sp>
      <p:pic>
        <p:nvPicPr>
          <p:cNvPr id="28" name="Image 4" descr="preencoded.png">    </p:cNvPr>
          <p:cNvPicPr>
            <a:picLocks noChangeAspect="1"/>
          </p:cNvPicPr>
          <p:nvPr/>
        </p:nvPicPr>
        <p:blipFill>
          <a:blip r:embed="rId5"/>
          <a:stretch>
            <a:fillRect/>
          </a:stretch>
        </p:blipFill>
        <p:spPr>
          <a:xfrm>
            <a:off x="4668926" y="4257446"/>
            <a:ext cx="263347" cy="263347"/>
          </a:xfrm>
          <a:prstGeom prst="rect">
            <a:avLst/>
          </a:prstGeom>
        </p:spPr>
      </p:pic>
      <p:sp>
        <p:nvSpPr>
          <p:cNvPr id="29" name="Text 22"/>
          <p:cNvSpPr txBox="1"/>
          <p:nvPr/>
        </p:nvSpPr>
        <p:spPr>
          <a:xfrm>
            <a:off x="5212080" y="4142232"/>
            <a:ext cx="2468880" cy="502920"/>
          </a:xfrm>
          <a:prstGeom prst="rect">
            <a:avLst/>
          </a:prstGeom>
          <a:noFill/>
          <a:ln/>
        </p:spPr>
        <p:txBody>
          <a:bodyPr wrap="square" lIns="0" tIns="0" rIns="0" bIns="0" rtlCol="0" anchor="ctr"/>
          <a:lstStyle/>
          <a:p>
            <a:pPr indent="0" marL="0">
              <a:buNone/>
            </a:pPr>
            <a:r>
              <a:rPr lang="en-US" sz="1500" b="1" dirty="0">
                <a:solidFill>
                  <a:srgbClr val="14302A"/>
                </a:solidFill>
                <a:latin typeface="Cambria" pitchFamily="34" charset="0"/>
                <a:ea typeface="Cambria" pitchFamily="34" charset="-122"/>
                <a:cs typeface="Cambria" pitchFamily="34" charset="-120"/>
              </a:rPr>
              <a:t>Favourable climate window</a:t>
            </a:r>
            <a:endParaRPr lang="en-US" sz="1500" dirty="0"/>
          </a:p>
        </p:txBody>
      </p:sp>
      <p:sp>
        <p:nvSpPr>
          <p:cNvPr id="30" name="Text 23"/>
          <p:cNvSpPr txBox="1"/>
          <p:nvPr/>
        </p:nvSpPr>
        <p:spPr>
          <a:xfrm>
            <a:off x="4526280" y="4800600"/>
            <a:ext cx="3063240" cy="114300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Cool Oct–Mar ambient suits 15–18°C fruiting and cuts HVAC load. Summers (up to ~40°C) and monsoon humidity are engineered for.</a:t>
            </a:r>
            <a:endParaRPr lang="en-US" sz="1250" dirty="0"/>
          </a:p>
        </p:txBody>
      </p:sp>
      <p:sp>
        <p:nvSpPr>
          <p:cNvPr id="31" name="Shape 24"/>
          <p:cNvSpPr/>
          <p:nvPr/>
        </p:nvSpPr>
        <p:spPr>
          <a:xfrm>
            <a:off x="8046720" y="3886200"/>
            <a:ext cx="3520440" cy="2148840"/>
          </a:xfrm>
          <a:prstGeom prst="roundRect">
            <a:avLst>
              <a:gd name="adj" fmla="val 3404"/>
            </a:avLst>
          </a:prstGeom>
          <a:solidFill>
            <a:srgbClr val="EEF4F0"/>
          </a:solidFill>
          <a:ln w="9525">
            <a:solidFill>
              <a:srgbClr val="EEF4F0"/>
            </a:solidFill>
            <a:prstDash val="solid"/>
          </a:ln>
        </p:spPr>
      </p:sp>
      <p:sp>
        <p:nvSpPr>
          <p:cNvPr id="32" name="Shape 25"/>
          <p:cNvSpPr/>
          <p:nvPr/>
        </p:nvSpPr>
        <p:spPr>
          <a:xfrm>
            <a:off x="8275320" y="4114800"/>
            <a:ext cx="548640" cy="548640"/>
          </a:xfrm>
          <a:prstGeom prst="ellipse">
            <a:avLst/>
          </a:prstGeom>
          <a:solidFill>
            <a:srgbClr val="2E5E4E"/>
          </a:solidFill>
          <a:ln w="12700">
            <a:solidFill>
              <a:srgbClr val="2E5E4E"/>
            </a:solidFill>
            <a:prstDash val="solid"/>
          </a:ln>
        </p:spPr>
      </p:sp>
      <p:pic>
        <p:nvPicPr>
          <p:cNvPr id="33" name="Image 5" descr="preencoded.png">    </p:cNvPr>
          <p:cNvPicPr>
            <a:picLocks noChangeAspect="1"/>
          </p:cNvPicPr>
          <p:nvPr/>
        </p:nvPicPr>
        <p:blipFill>
          <a:blip r:embed="rId6"/>
          <a:stretch>
            <a:fillRect/>
          </a:stretch>
        </p:blipFill>
        <p:spPr>
          <a:xfrm>
            <a:off x="8417966" y="4257446"/>
            <a:ext cx="263347" cy="263347"/>
          </a:xfrm>
          <a:prstGeom prst="rect">
            <a:avLst/>
          </a:prstGeom>
        </p:spPr>
      </p:pic>
      <p:sp>
        <p:nvSpPr>
          <p:cNvPr id="34" name="Text 26"/>
          <p:cNvSpPr txBox="1"/>
          <p:nvPr/>
        </p:nvSpPr>
        <p:spPr>
          <a:xfrm>
            <a:off x="8961120" y="4142232"/>
            <a:ext cx="2468880" cy="502920"/>
          </a:xfrm>
          <a:prstGeom prst="rect">
            <a:avLst/>
          </a:prstGeom>
          <a:noFill/>
          <a:ln/>
        </p:spPr>
        <p:txBody>
          <a:bodyPr wrap="square" lIns="0" tIns="0" rIns="0" bIns="0" rtlCol="0" anchor="ctr"/>
          <a:lstStyle/>
          <a:p>
            <a:pPr indent="0" marL="0">
              <a:buNone/>
            </a:pPr>
            <a:r>
              <a:rPr lang="en-US" sz="1500" b="1" dirty="0">
                <a:solidFill>
                  <a:srgbClr val="14302A"/>
                </a:solidFill>
                <a:latin typeface="Cambria" pitchFamily="34" charset="0"/>
                <a:ea typeface="Cambria" pitchFamily="34" charset="-122"/>
                <a:cs typeface="Cambria" pitchFamily="34" charset="-120"/>
              </a:rPr>
              <a:t>Skilled rural workforce</a:t>
            </a:r>
            <a:endParaRPr lang="en-US" sz="1500" dirty="0"/>
          </a:p>
        </p:txBody>
      </p:sp>
      <p:sp>
        <p:nvSpPr>
          <p:cNvPr id="35" name="Text 27"/>
          <p:cNvSpPr txBox="1"/>
          <p:nvPr/>
        </p:nvSpPr>
        <p:spPr>
          <a:xfrm>
            <a:off x="8275320" y="4800600"/>
            <a:ext cx="3063240" cy="114300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HP has an established mushroom-growing culture (Solan: "Mushroom City of India"), easing hiring and training.</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D9962B"/>
                </a:solidFill>
                <a:latin typeface="Calibri" pitchFamily="34" charset="0"/>
                <a:ea typeface="Calibri" pitchFamily="34" charset="-122"/>
                <a:cs typeface="Calibri" pitchFamily="34" charset="-120"/>
              </a:rPr>
              <a:t>02 · BIOLOGY &amp; OUTPUT</a:t>
            </a:r>
            <a:endParaRPr lang="en-US" sz="11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14302A"/>
                </a:solidFill>
                <a:latin typeface="Cambria" pitchFamily="34" charset="0"/>
                <a:ea typeface="Cambria" pitchFamily="34" charset="-122"/>
                <a:cs typeface="Cambria" pitchFamily="34" charset="-120"/>
              </a:rPr>
              <a:t>Daily production model: substrate to powder</a:t>
            </a:r>
            <a:endParaRPr lang="en-US" sz="30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900" dirty="0">
                <a:solidFill>
                  <a:srgbClr val="5F6F69"/>
                </a:solidFill>
                <a:latin typeface="Calibri" pitchFamily="34" charset="0"/>
                <a:ea typeface="Calibri" pitchFamily="34" charset="-122"/>
                <a:cs typeface="Calibri" pitchFamily="34" charset="-120"/>
              </a:rPr>
              <a:t>Lion's Mane Facility  ·  Hamirpur, HP  ·  Project Plan</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900" dirty="0">
                <a:solidFill>
                  <a:srgbClr val="5F6F69"/>
                </a:solidFill>
                <a:latin typeface="Calibri" pitchFamily="34" charset="0"/>
                <a:ea typeface="Calibri" pitchFamily="34" charset="-122"/>
                <a:cs typeface="Calibri" pitchFamily="34" charset="-120"/>
              </a:rPr>
              <a:t>5</a:t>
            </a:r>
            <a:endParaRPr lang="en-US" sz="900" dirty="0"/>
          </a:p>
        </p:txBody>
      </p:sp>
      <p:sp>
        <p:nvSpPr>
          <p:cNvPr id="6" name="Shape 4"/>
          <p:cNvSpPr/>
          <p:nvPr/>
        </p:nvSpPr>
        <p:spPr>
          <a:xfrm>
            <a:off x="548640" y="1600200"/>
            <a:ext cx="2011680" cy="1920240"/>
          </a:xfrm>
          <a:prstGeom prst="roundRect">
            <a:avLst>
              <a:gd name="adj" fmla="val 3810"/>
            </a:avLst>
          </a:prstGeom>
          <a:solidFill>
            <a:srgbClr val="EEF4F0"/>
          </a:solidFill>
          <a:ln w="9525">
            <a:solidFill>
              <a:srgbClr val="EEF4F0"/>
            </a:solidFill>
            <a:prstDash val="solid"/>
          </a:ln>
        </p:spPr>
      </p:sp>
      <p:sp>
        <p:nvSpPr>
          <p:cNvPr id="7" name="Text 5"/>
          <p:cNvSpPr txBox="1"/>
          <p:nvPr/>
        </p:nvSpPr>
        <p:spPr>
          <a:xfrm>
            <a:off x="640080" y="1783080"/>
            <a:ext cx="1828800" cy="640080"/>
          </a:xfrm>
          <a:prstGeom prst="rect">
            <a:avLst/>
          </a:prstGeom>
          <a:noFill/>
          <a:ln/>
        </p:spPr>
        <p:txBody>
          <a:bodyPr wrap="square" lIns="0" tIns="0" rIns="0" bIns="0" rtlCol="0" anchor="ctr"/>
          <a:lstStyle/>
          <a:p>
            <a:pPr algn="ctr" indent="0" marL="0">
              <a:buNone/>
            </a:pPr>
            <a:r>
              <a:rPr lang="en-US" sz="2600" b="1" dirty="0">
                <a:solidFill>
                  <a:srgbClr val="2E5E4E"/>
                </a:solidFill>
                <a:latin typeface="Cambria" pitchFamily="34" charset="0"/>
                <a:ea typeface="Cambria" pitchFamily="34" charset="-122"/>
                <a:cs typeface="Cambria" pitchFamily="34" charset="-120"/>
              </a:rPr>
              <a:t>155 kg</a:t>
            </a:r>
            <a:endParaRPr lang="en-US" sz="2600" dirty="0"/>
          </a:p>
        </p:txBody>
      </p:sp>
      <p:sp>
        <p:nvSpPr>
          <p:cNvPr id="8" name="Text 6"/>
          <p:cNvSpPr txBox="1"/>
          <p:nvPr/>
        </p:nvSpPr>
        <p:spPr>
          <a:xfrm>
            <a:off x="640080" y="2514600"/>
            <a:ext cx="1828800" cy="822960"/>
          </a:xfrm>
          <a:prstGeom prst="rect">
            <a:avLst/>
          </a:prstGeom>
          <a:noFill/>
          <a:ln/>
        </p:spPr>
        <p:txBody>
          <a:bodyPr wrap="square" lIns="0" tIns="0" rIns="0" bIns="0" rtlCol="0" anchor="t"/>
          <a:lstStyle/>
          <a:p>
            <a:pPr algn="ctr" indent="0" marL="0">
              <a:buNone/>
            </a:pPr>
            <a:r>
              <a:rPr lang="en-US" sz="1200" dirty="0">
                <a:solidFill>
                  <a:srgbClr val="5F6F69"/>
                </a:solidFill>
                <a:latin typeface="Calibri" pitchFamily="34" charset="0"/>
                <a:ea typeface="Calibri" pitchFamily="34" charset="-122"/>
                <a:cs typeface="Calibri" pitchFamily="34" charset="-120"/>
              </a:rPr>
              <a:t>wet Master's Mix</a:t>
            </a:r>
            <a:endParaRPr lang="en-US" sz="1200" dirty="0"/>
          </a:p>
          <a:p>
            <a:pPr algn="ctr" indent="0" marL="0">
              <a:buNone/>
            </a:pPr>
            <a:r>
              <a:rPr lang="en-US" sz="1200" dirty="0">
                <a:solidFill>
                  <a:srgbClr val="5F6F69"/>
                </a:solidFill>
                <a:latin typeface="Calibri" pitchFamily="34" charset="0"/>
                <a:ea typeface="Calibri" pitchFamily="34" charset="-122"/>
                <a:cs typeface="Calibri" pitchFamily="34" charset="-120"/>
              </a:rPr>
              <a:t>62 kg dry · 60% moisture</a:t>
            </a:r>
            <a:endParaRPr lang="en-US" sz="1200" dirty="0"/>
          </a:p>
        </p:txBody>
      </p:sp>
      <p:sp>
        <p:nvSpPr>
          <p:cNvPr id="9" name="Shape 7"/>
          <p:cNvSpPr/>
          <p:nvPr/>
        </p:nvSpPr>
        <p:spPr>
          <a:xfrm>
            <a:off x="2587752" y="2560320"/>
            <a:ext cx="219456" cy="0"/>
          </a:xfrm>
          <a:prstGeom prst="line">
            <a:avLst/>
          </a:prstGeom>
          <a:noFill/>
          <a:ln w="19050">
            <a:solidFill>
              <a:srgbClr val="D9962B"/>
            </a:solidFill>
            <a:prstDash val="solid"/>
            <a:tailEnd type="triangle"/>
          </a:ln>
        </p:spPr>
      </p:sp>
      <p:sp>
        <p:nvSpPr>
          <p:cNvPr id="10" name="Shape 8"/>
          <p:cNvSpPr/>
          <p:nvPr/>
        </p:nvSpPr>
        <p:spPr>
          <a:xfrm>
            <a:off x="2834640" y="1600200"/>
            <a:ext cx="2011680" cy="1920240"/>
          </a:xfrm>
          <a:prstGeom prst="roundRect">
            <a:avLst>
              <a:gd name="adj" fmla="val 3810"/>
            </a:avLst>
          </a:prstGeom>
          <a:solidFill>
            <a:srgbClr val="EEF4F0"/>
          </a:solidFill>
          <a:ln w="9525">
            <a:solidFill>
              <a:srgbClr val="EEF4F0"/>
            </a:solidFill>
            <a:prstDash val="solid"/>
          </a:ln>
        </p:spPr>
      </p:sp>
      <p:sp>
        <p:nvSpPr>
          <p:cNvPr id="11" name="Text 9"/>
          <p:cNvSpPr txBox="1"/>
          <p:nvPr/>
        </p:nvSpPr>
        <p:spPr>
          <a:xfrm>
            <a:off x="2926080" y="1783080"/>
            <a:ext cx="1828800" cy="640080"/>
          </a:xfrm>
          <a:prstGeom prst="rect">
            <a:avLst/>
          </a:prstGeom>
          <a:noFill/>
          <a:ln/>
        </p:spPr>
        <p:txBody>
          <a:bodyPr wrap="square" lIns="0" tIns="0" rIns="0" bIns="0" rtlCol="0" anchor="ctr"/>
          <a:lstStyle/>
          <a:p>
            <a:pPr algn="ctr" indent="0" marL="0">
              <a:buNone/>
            </a:pPr>
            <a:r>
              <a:rPr lang="en-US" sz="2600" b="1" dirty="0">
                <a:solidFill>
                  <a:srgbClr val="2E5E4E"/>
                </a:solidFill>
                <a:latin typeface="Cambria" pitchFamily="34" charset="0"/>
                <a:ea typeface="Cambria" pitchFamily="34" charset="-122"/>
                <a:cs typeface="Cambria" pitchFamily="34" charset="-120"/>
              </a:rPr>
              <a:t>60 blocks</a:t>
            </a:r>
            <a:endParaRPr lang="en-US" sz="2600" dirty="0"/>
          </a:p>
        </p:txBody>
      </p:sp>
      <p:sp>
        <p:nvSpPr>
          <p:cNvPr id="12" name="Text 10"/>
          <p:cNvSpPr txBox="1"/>
          <p:nvPr/>
        </p:nvSpPr>
        <p:spPr>
          <a:xfrm>
            <a:off x="2926080" y="2514600"/>
            <a:ext cx="1828800" cy="822960"/>
          </a:xfrm>
          <a:prstGeom prst="rect">
            <a:avLst/>
          </a:prstGeom>
          <a:noFill/>
          <a:ln/>
        </p:spPr>
        <p:txBody>
          <a:bodyPr wrap="square" lIns="0" tIns="0" rIns="0" bIns="0" rtlCol="0" anchor="t"/>
          <a:lstStyle/>
          <a:p>
            <a:pPr algn="ctr" indent="0" marL="0">
              <a:buNone/>
            </a:pPr>
            <a:r>
              <a:rPr lang="en-US" sz="1200" dirty="0">
                <a:solidFill>
                  <a:srgbClr val="5F6F69"/>
                </a:solidFill>
                <a:latin typeface="Calibri" pitchFamily="34" charset="0"/>
                <a:ea typeface="Calibri" pitchFamily="34" charset="-122"/>
                <a:cs typeface="Calibri" pitchFamily="34" charset="-120"/>
              </a:rPr>
              <a:t>× 2.5 kg, spawned with</a:t>
            </a:r>
            <a:endParaRPr lang="en-US" sz="1200" dirty="0"/>
          </a:p>
          <a:p>
            <a:pPr algn="ctr" indent="0" marL="0">
              <a:buNone/>
            </a:pPr>
            <a:r>
              <a:rPr lang="en-US" sz="1200" dirty="0">
                <a:solidFill>
                  <a:srgbClr val="5F6F69"/>
                </a:solidFill>
                <a:latin typeface="Calibri" pitchFamily="34" charset="0"/>
                <a:ea typeface="Calibri" pitchFamily="34" charset="-122"/>
                <a:cs typeface="Calibri" pitchFamily="34" charset="-120"/>
              </a:rPr>
              <a:t>6 kg grain spawn</a:t>
            </a:r>
            <a:endParaRPr lang="en-US" sz="1200" dirty="0"/>
          </a:p>
        </p:txBody>
      </p:sp>
      <p:sp>
        <p:nvSpPr>
          <p:cNvPr id="13" name="Shape 11"/>
          <p:cNvSpPr/>
          <p:nvPr/>
        </p:nvSpPr>
        <p:spPr>
          <a:xfrm>
            <a:off x="4873752" y="2560320"/>
            <a:ext cx="219456" cy="0"/>
          </a:xfrm>
          <a:prstGeom prst="line">
            <a:avLst/>
          </a:prstGeom>
          <a:noFill/>
          <a:ln w="19050">
            <a:solidFill>
              <a:srgbClr val="D9962B"/>
            </a:solidFill>
            <a:prstDash val="solid"/>
            <a:tailEnd type="triangle"/>
          </a:ln>
        </p:spPr>
      </p:sp>
      <p:sp>
        <p:nvSpPr>
          <p:cNvPr id="14" name="Shape 12"/>
          <p:cNvSpPr/>
          <p:nvPr/>
        </p:nvSpPr>
        <p:spPr>
          <a:xfrm>
            <a:off x="5120640" y="1600200"/>
            <a:ext cx="2011680" cy="1920240"/>
          </a:xfrm>
          <a:prstGeom prst="roundRect">
            <a:avLst>
              <a:gd name="adj" fmla="val 3810"/>
            </a:avLst>
          </a:prstGeom>
          <a:solidFill>
            <a:srgbClr val="EEF4F0"/>
          </a:solidFill>
          <a:ln w="9525">
            <a:solidFill>
              <a:srgbClr val="EEF4F0"/>
            </a:solidFill>
            <a:prstDash val="solid"/>
          </a:ln>
        </p:spPr>
      </p:sp>
      <p:sp>
        <p:nvSpPr>
          <p:cNvPr id="15" name="Text 13"/>
          <p:cNvSpPr txBox="1"/>
          <p:nvPr/>
        </p:nvSpPr>
        <p:spPr>
          <a:xfrm>
            <a:off x="5212080" y="1783080"/>
            <a:ext cx="1828800" cy="640080"/>
          </a:xfrm>
          <a:prstGeom prst="rect">
            <a:avLst/>
          </a:prstGeom>
          <a:noFill/>
          <a:ln/>
        </p:spPr>
        <p:txBody>
          <a:bodyPr wrap="square" lIns="0" tIns="0" rIns="0" bIns="0" rtlCol="0" anchor="ctr"/>
          <a:lstStyle/>
          <a:p>
            <a:pPr algn="ctr" indent="0" marL="0">
              <a:buNone/>
            </a:pPr>
            <a:r>
              <a:rPr lang="en-US" sz="2600" b="1" dirty="0">
                <a:solidFill>
                  <a:srgbClr val="2E5E4E"/>
                </a:solidFill>
                <a:latin typeface="Cambria" pitchFamily="34" charset="0"/>
                <a:ea typeface="Cambria" pitchFamily="34" charset="-122"/>
                <a:cs typeface="Cambria" pitchFamily="34" charset="-120"/>
              </a:rPr>
              <a:t>14–21 days</a:t>
            </a:r>
            <a:endParaRPr lang="en-US" sz="2600" dirty="0"/>
          </a:p>
        </p:txBody>
      </p:sp>
      <p:sp>
        <p:nvSpPr>
          <p:cNvPr id="16" name="Text 14"/>
          <p:cNvSpPr txBox="1"/>
          <p:nvPr/>
        </p:nvSpPr>
        <p:spPr>
          <a:xfrm>
            <a:off x="5212080" y="2514600"/>
            <a:ext cx="1828800" cy="822960"/>
          </a:xfrm>
          <a:prstGeom prst="rect">
            <a:avLst/>
          </a:prstGeom>
          <a:noFill/>
          <a:ln/>
        </p:spPr>
        <p:txBody>
          <a:bodyPr wrap="square" lIns="0" tIns="0" rIns="0" bIns="0" rtlCol="0" anchor="t"/>
          <a:lstStyle/>
          <a:p>
            <a:pPr algn="ctr" indent="0" marL="0">
              <a:buNone/>
            </a:pPr>
            <a:r>
              <a:rPr lang="en-US" sz="1200" dirty="0">
                <a:solidFill>
                  <a:srgbClr val="5F6F69"/>
                </a:solidFill>
                <a:latin typeface="Calibri" pitchFamily="34" charset="0"/>
                <a:ea typeface="Calibri" pitchFamily="34" charset="-122"/>
                <a:cs typeface="Calibri" pitchFamily="34" charset="-120"/>
              </a:rPr>
              <a:t>dark incubation</a:t>
            </a:r>
            <a:endParaRPr lang="en-US" sz="1200" dirty="0"/>
          </a:p>
          <a:p>
            <a:pPr algn="ctr" indent="0" marL="0">
              <a:buNone/>
            </a:pPr>
            <a:r>
              <a:rPr lang="en-US" sz="1200" dirty="0">
                <a:solidFill>
                  <a:srgbClr val="5F6F69"/>
                </a:solidFill>
                <a:latin typeface="Calibri" pitchFamily="34" charset="0"/>
                <a:ea typeface="Calibri" pitchFamily="34" charset="-122"/>
                <a:cs typeface="Calibri" pitchFamily="34" charset="-120"/>
              </a:rPr>
              <a:t>at 21–24°C</a:t>
            </a:r>
            <a:endParaRPr lang="en-US" sz="1200" dirty="0"/>
          </a:p>
        </p:txBody>
      </p:sp>
      <p:sp>
        <p:nvSpPr>
          <p:cNvPr id="17" name="Shape 15"/>
          <p:cNvSpPr/>
          <p:nvPr/>
        </p:nvSpPr>
        <p:spPr>
          <a:xfrm>
            <a:off x="7159752" y="2560320"/>
            <a:ext cx="219456" cy="0"/>
          </a:xfrm>
          <a:prstGeom prst="line">
            <a:avLst/>
          </a:prstGeom>
          <a:noFill/>
          <a:ln w="19050">
            <a:solidFill>
              <a:srgbClr val="D9962B"/>
            </a:solidFill>
            <a:prstDash val="solid"/>
            <a:tailEnd type="triangle"/>
          </a:ln>
        </p:spPr>
      </p:sp>
      <p:sp>
        <p:nvSpPr>
          <p:cNvPr id="18" name="Shape 16"/>
          <p:cNvSpPr/>
          <p:nvPr/>
        </p:nvSpPr>
        <p:spPr>
          <a:xfrm>
            <a:off x="7406640" y="1600200"/>
            <a:ext cx="2011680" cy="1920240"/>
          </a:xfrm>
          <a:prstGeom prst="roundRect">
            <a:avLst>
              <a:gd name="adj" fmla="val 3810"/>
            </a:avLst>
          </a:prstGeom>
          <a:solidFill>
            <a:srgbClr val="EEF4F0"/>
          </a:solidFill>
          <a:ln w="9525">
            <a:solidFill>
              <a:srgbClr val="EEF4F0"/>
            </a:solidFill>
            <a:prstDash val="solid"/>
          </a:ln>
        </p:spPr>
      </p:sp>
      <p:sp>
        <p:nvSpPr>
          <p:cNvPr id="19" name="Text 17"/>
          <p:cNvSpPr txBox="1"/>
          <p:nvPr/>
        </p:nvSpPr>
        <p:spPr>
          <a:xfrm>
            <a:off x="7498080" y="1783080"/>
            <a:ext cx="1828800" cy="640080"/>
          </a:xfrm>
          <a:prstGeom prst="rect">
            <a:avLst/>
          </a:prstGeom>
          <a:noFill/>
          <a:ln/>
        </p:spPr>
        <p:txBody>
          <a:bodyPr wrap="square" lIns="0" tIns="0" rIns="0" bIns="0" rtlCol="0" anchor="ctr"/>
          <a:lstStyle/>
          <a:p>
            <a:pPr algn="ctr" indent="0" marL="0">
              <a:buNone/>
            </a:pPr>
            <a:r>
              <a:rPr lang="en-US" sz="2600" b="1" dirty="0">
                <a:solidFill>
                  <a:srgbClr val="2E5E4E"/>
                </a:solidFill>
                <a:latin typeface="Cambria" pitchFamily="34" charset="0"/>
                <a:ea typeface="Cambria" pitchFamily="34" charset="-122"/>
                <a:cs typeface="Cambria" pitchFamily="34" charset="-120"/>
              </a:rPr>
              <a:t>~36 kg</a:t>
            </a:r>
            <a:endParaRPr lang="en-US" sz="2600" dirty="0"/>
          </a:p>
        </p:txBody>
      </p:sp>
      <p:sp>
        <p:nvSpPr>
          <p:cNvPr id="20" name="Text 18"/>
          <p:cNvSpPr txBox="1"/>
          <p:nvPr/>
        </p:nvSpPr>
        <p:spPr>
          <a:xfrm>
            <a:off x="7498080" y="2514600"/>
            <a:ext cx="1828800" cy="822960"/>
          </a:xfrm>
          <a:prstGeom prst="rect">
            <a:avLst/>
          </a:prstGeom>
          <a:noFill/>
          <a:ln/>
        </p:spPr>
        <p:txBody>
          <a:bodyPr wrap="square" lIns="0" tIns="0" rIns="0" bIns="0" rtlCol="0" anchor="t"/>
          <a:lstStyle/>
          <a:p>
            <a:pPr algn="ctr" indent="0" marL="0">
              <a:buNone/>
            </a:pPr>
            <a:r>
              <a:rPr lang="en-US" sz="1200" dirty="0">
                <a:solidFill>
                  <a:srgbClr val="5F6F69"/>
                </a:solidFill>
                <a:latin typeface="Calibri" pitchFamily="34" charset="0"/>
                <a:ea typeface="Calibri" pitchFamily="34" charset="-122"/>
                <a:cs typeface="Calibri" pitchFamily="34" charset="-120"/>
              </a:rPr>
              <a:t>fresh mushrooms</a:t>
            </a:r>
            <a:endParaRPr lang="en-US" sz="1200" dirty="0"/>
          </a:p>
          <a:p>
            <a:pPr algn="ctr" indent="0" marL="0">
              <a:buNone/>
            </a:pPr>
            <a:r>
              <a:rPr lang="en-US" sz="1200" dirty="0">
                <a:solidFill>
                  <a:srgbClr val="5F6F69"/>
                </a:solidFill>
                <a:latin typeface="Calibri" pitchFamily="34" charset="0"/>
                <a:ea typeface="Calibri" pitchFamily="34" charset="-122"/>
                <a:cs typeface="Calibri" pitchFamily="34" charset="-120"/>
              </a:rPr>
              <a:t>(65% BE, 8% loss)</a:t>
            </a:r>
            <a:endParaRPr lang="en-US" sz="1200" dirty="0"/>
          </a:p>
        </p:txBody>
      </p:sp>
      <p:sp>
        <p:nvSpPr>
          <p:cNvPr id="21" name="Shape 19"/>
          <p:cNvSpPr/>
          <p:nvPr/>
        </p:nvSpPr>
        <p:spPr>
          <a:xfrm>
            <a:off x="9445752" y="2560320"/>
            <a:ext cx="219456" cy="0"/>
          </a:xfrm>
          <a:prstGeom prst="line">
            <a:avLst/>
          </a:prstGeom>
          <a:noFill/>
          <a:ln w="19050">
            <a:solidFill>
              <a:srgbClr val="D9962B"/>
            </a:solidFill>
            <a:prstDash val="solid"/>
            <a:tailEnd type="triangle"/>
          </a:ln>
        </p:spPr>
      </p:sp>
      <p:sp>
        <p:nvSpPr>
          <p:cNvPr id="22" name="Shape 20"/>
          <p:cNvSpPr/>
          <p:nvPr/>
        </p:nvSpPr>
        <p:spPr>
          <a:xfrm>
            <a:off x="9692640" y="1600200"/>
            <a:ext cx="2011680" cy="1920240"/>
          </a:xfrm>
          <a:prstGeom prst="roundRect">
            <a:avLst>
              <a:gd name="adj" fmla="val 3810"/>
            </a:avLst>
          </a:prstGeom>
          <a:solidFill>
            <a:srgbClr val="14302A"/>
          </a:solidFill>
          <a:ln w="9525">
            <a:solidFill>
              <a:srgbClr val="14302A"/>
            </a:solidFill>
            <a:prstDash val="solid"/>
          </a:ln>
        </p:spPr>
      </p:sp>
      <p:sp>
        <p:nvSpPr>
          <p:cNvPr id="23" name="Text 21"/>
          <p:cNvSpPr txBox="1"/>
          <p:nvPr/>
        </p:nvSpPr>
        <p:spPr>
          <a:xfrm>
            <a:off x="9784080" y="1783080"/>
            <a:ext cx="182880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~3.6 kg</a:t>
            </a:r>
            <a:endParaRPr lang="en-US" sz="2600" dirty="0"/>
          </a:p>
        </p:txBody>
      </p:sp>
      <p:sp>
        <p:nvSpPr>
          <p:cNvPr id="24" name="Text 22"/>
          <p:cNvSpPr txBox="1"/>
          <p:nvPr/>
        </p:nvSpPr>
        <p:spPr>
          <a:xfrm>
            <a:off x="9784080" y="2514600"/>
            <a:ext cx="1828800" cy="822960"/>
          </a:xfrm>
          <a:prstGeom prst="rect">
            <a:avLst/>
          </a:prstGeom>
          <a:noFill/>
          <a:ln/>
        </p:spPr>
        <p:txBody>
          <a:bodyPr wrap="square" lIns="0" tIns="0" rIns="0" bIns="0" rtlCol="0" anchor="t"/>
          <a:lstStyle/>
          <a:p>
            <a:pPr algn="ctr" indent="0" marL="0">
              <a:buNone/>
            </a:pPr>
            <a:r>
              <a:rPr lang="en-US" sz="1200" dirty="0">
                <a:solidFill>
                  <a:srgbClr val="8DB596"/>
                </a:solidFill>
                <a:latin typeface="Calibri" pitchFamily="34" charset="0"/>
                <a:ea typeface="Calibri" pitchFamily="34" charset="-122"/>
                <a:cs typeface="Calibri" pitchFamily="34" charset="-120"/>
              </a:rPr>
              <a:t>dry powder</a:t>
            </a:r>
            <a:endParaRPr lang="en-US" sz="1200" dirty="0"/>
          </a:p>
          <a:p>
            <a:pPr algn="ctr" indent="0" marL="0">
              <a:buNone/>
            </a:pPr>
            <a:r>
              <a:rPr lang="en-US" sz="1200" dirty="0">
                <a:solidFill>
                  <a:srgbClr val="8DB596"/>
                </a:solidFill>
                <a:latin typeface="Calibri" pitchFamily="34" charset="0"/>
                <a:ea typeface="Calibri" pitchFamily="34" charset="-122"/>
                <a:cs typeface="Calibri" pitchFamily="34" charset="-120"/>
              </a:rPr>
              <a:t>(10:1 fresh-to-dry)</a:t>
            </a:r>
            <a:endParaRPr lang="en-US" sz="1200" dirty="0"/>
          </a:p>
        </p:txBody>
      </p:sp>
      <p:sp>
        <p:nvSpPr>
          <p:cNvPr id="25" name="Shape 23"/>
          <p:cNvSpPr/>
          <p:nvPr/>
        </p:nvSpPr>
        <p:spPr>
          <a:xfrm>
            <a:off x="548640" y="3886200"/>
            <a:ext cx="5486400" cy="2240280"/>
          </a:xfrm>
          <a:prstGeom prst="roundRect">
            <a:avLst>
              <a:gd name="adj" fmla="val 3265"/>
            </a:avLst>
          </a:prstGeom>
          <a:solidFill>
            <a:srgbClr val="FFFFFF"/>
          </a:solidFill>
          <a:ln w="9525">
            <a:solidFill>
              <a:srgbClr val="D3DED8"/>
            </a:solidFill>
            <a:prstDash val="solid"/>
          </a:ln>
        </p:spPr>
      </p:sp>
      <p:sp>
        <p:nvSpPr>
          <p:cNvPr id="26" name="Text 24"/>
          <p:cNvSpPr txBox="1"/>
          <p:nvPr/>
        </p:nvSpPr>
        <p:spPr>
          <a:xfrm>
            <a:off x="777240" y="4023360"/>
            <a:ext cx="5029200" cy="365760"/>
          </a:xfrm>
          <a:prstGeom prst="rect">
            <a:avLst/>
          </a:prstGeom>
          <a:noFill/>
          <a:ln/>
        </p:spPr>
        <p:txBody>
          <a:bodyPr wrap="square" lIns="0" tIns="0" rIns="0" bIns="0" rtlCol="0" anchor="t"/>
          <a:lstStyle/>
          <a:p>
            <a:pPr indent="0" marL="0">
              <a:buNone/>
            </a:pPr>
            <a:r>
              <a:rPr lang="en-US" sz="1500" b="1" dirty="0">
                <a:solidFill>
                  <a:srgbClr val="14302A"/>
                </a:solidFill>
                <a:latin typeface="Cambria" pitchFamily="34" charset="0"/>
                <a:ea typeface="Cambria" pitchFamily="34" charset="-122"/>
                <a:cs typeface="Cambria" pitchFamily="34" charset="-120"/>
              </a:rPr>
              <a:t>Planning assumptions (conservative)</a:t>
            </a:r>
            <a:endParaRPr lang="en-US" sz="1500" dirty="0"/>
          </a:p>
        </p:txBody>
      </p:sp>
      <p:sp>
        <p:nvSpPr>
          <p:cNvPr id="27" name="Text 25"/>
          <p:cNvSpPr txBox="1"/>
          <p:nvPr/>
        </p:nvSpPr>
        <p:spPr>
          <a:xfrm>
            <a:off x="777240" y="4434840"/>
            <a:ext cx="5074920" cy="164592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E2A26"/>
                </a:solidFill>
                <a:latin typeface="Calibri" pitchFamily="34" charset="0"/>
                <a:ea typeface="Calibri" pitchFamily="34" charset="-122"/>
                <a:cs typeface="Calibri" pitchFamily="34" charset="-120"/>
              </a:rPr>
              <a:t>Biological efficiency (BE) 65% across two flushes: fresh weight ÷ dry substrate weight.</a:t>
            </a:r>
            <a:endParaRPr lang="en-US" sz="1250" dirty="0"/>
          </a:p>
          <a:p>
            <a:pPr marL="342900" indent="-342900">
              <a:spcAft>
                <a:spcPts val="500"/>
              </a:spcAft>
              <a:buSzPct val="100000"/>
              <a:buChar char="•"/>
            </a:pPr>
            <a:r>
              <a:rPr lang="en-US" sz="1250" dirty="0">
                <a:solidFill>
                  <a:srgbClr val="1E2A26"/>
                </a:solidFill>
                <a:latin typeface="Calibri" pitchFamily="34" charset="0"/>
                <a:ea typeface="Calibri" pitchFamily="34" charset="-122"/>
                <a:cs typeface="Calibri" pitchFamily="34" charset="-120"/>
              </a:rPr>
              <a:t>Contamination / culling loss 8% of blocks.</a:t>
            </a:r>
            <a:endParaRPr lang="en-US" sz="1250" dirty="0"/>
          </a:p>
          <a:p>
            <a:pPr marL="342900" indent="-342900">
              <a:spcAft>
                <a:spcPts val="500"/>
              </a:spcAft>
              <a:buSzPct val="100000"/>
              <a:buChar char="•"/>
            </a:pPr>
            <a:r>
              <a:rPr lang="en-US" sz="1250" dirty="0">
                <a:solidFill>
                  <a:srgbClr val="1E2A26"/>
                </a:solidFill>
                <a:latin typeface="Calibri" pitchFamily="34" charset="0"/>
                <a:ea typeface="Calibri" pitchFamily="34" charset="-122"/>
                <a:cs typeface="Calibri" pitchFamily="34" charset="-120"/>
              </a:rPr>
              <a:t>Fresh-to-dry ratio 10:1 (Lion's Mane is ~90% water).</a:t>
            </a:r>
            <a:endParaRPr lang="en-US" sz="1250" dirty="0"/>
          </a:p>
          <a:p>
            <a:pPr marL="342900" indent="-342900">
              <a:spcAft>
                <a:spcPts val="500"/>
              </a:spcAft>
              <a:buSzPct val="100000"/>
              <a:buChar char="•"/>
            </a:pPr>
            <a:r>
              <a:rPr lang="en-US" sz="1250" dirty="0">
                <a:solidFill>
                  <a:srgbClr val="1E2A26"/>
                </a:solidFill>
                <a:latin typeface="Calibri" pitchFamily="34" charset="0"/>
                <a:ea typeface="Calibri" pitchFamily="34" charset="-122"/>
                <a:cs typeface="Calibri" pitchFamily="34" charset="-120"/>
              </a:rPr>
              <a:t>26 inoculation days per month → ~93 kg dry powder per month.</a:t>
            </a:r>
            <a:endParaRPr lang="en-US" sz="1250" dirty="0"/>
          </a:p>
        </p:txBody>
      </p:sp>
      <p:sp>
        <p:nvSpPr>
          <p:cNvPr id="28" name="Shape 26"/>
          <p:cNvSpPr/>
          <p:nvPr/>
        </p:nvSpPr>
        <p:spPr>
          <a:xfrm>
            <a:off x="6309360" y="3886200"/>
            <a:ext cx="5349240" cy="2240280"/>
          </a:xfrm>
          <a:prstGeom prst="roundRect">
            <a:avLst>
              <a:gd name="adj" fmla="val 3265"/>
            </a:avLst>
          </a:prstGeom>
          <a:solidFill>
            <a:srgbClr val="FBF1DE"/>
          </a:solidFill>
          <a:ln w="9525">
            <a:solidFill>
              <a:srgbClr val="FBF1DE"/>
            </a:solidFill>
            <a:prstDash val="solid"/>
          </a:ln>
        </p:spPr>
      </p:sp>
      <p:sp>
        <p:nvSpPr>
          <p:cNvPr id="29" name="Text 27"/>
          <p:cNvSpPr txBox="1"/>
          <p:nvPr/>
        </p:nvSpPr>
        <p:spPr>
          <a:xfrm>
            <a:off x="6537960" y="4023360"/>
            <a:ext cx="4937760" cy="365760"/>
          </a:xfrm>
          <a:prstGeom prst="rect">
            <a:avLst/>
          </a:prstGeom>
          <a:noFill/>
          <a:ln/>
        </p:spPr>
        <p:txBody>
          <a:bodyPr wrap="square" lIns="0" tIns="0" rIns="0" bIns="0" rtlCol="0" anchor="t"/>
          <a:lstStyle/>
          <a:p>
            <a:pPr indent="0" marL="0">
              <a:buNone/>
            </a:pPr>
            <a:r>
              <a:rPr lang="en-US" sz="1500" b="1" dirty="0">
                <a:solidFill>
                  <a:srgbClr val="A36A12"/>
                </a:solidFill>
                <a:latin typeface="Cambria" pitchFamily="34" charset="0"/>
                <a:ea typeface="Cambria" pitchFamily="34" charset="-122"/>
                <a:cs typeface="Cambria" pitchFamily="34" charset="-120"/>
              </a:rPr>
              <a:t>Expert note on the 5 kg/day target</a:t>
            </a:r>
            <a:endParaRPr lang="en-US" sz="1500" dirty="0"/>
          </a:p>
        </p:txBody>
      </p:sp>
      <p:sp>
        <p:nvSpPr>
          <p:cNvPr id="30" name="Text 28"/>
          <p:cNvSpPr txBox="1"/>
          <p:nvPr/>
        </p:nvSpPr>
        <p:spPr>
          <a:xfrm>
            <a:off x="6537960" y="4434840"/>
            <a:ext cx="4937760" cy="160020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The notes assume 80–100% BE, which gives 4.4–5.5 kg/day from 60 blocks. That is achievable on Master's Mix with a well-adapted strain, but lenders and buyers should see a plan that works at 65%. At 65% BE, 5 kg/day needs ~90 blocks/day, so we commission at 60 in 750 sq ft and plan a later expansion to 90.</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D9962B"/>
                </a:solidFill>
                <a:latin typeface="Calibri" pitchFamily="34" charset="0"/>
                <a:ea typeface="Calibri" pitchFamily="34" charset="-122"/>
                <a:cs typeface="Calibri" pitchFamily="34" charset="-120"/>
              </a:rPr>
              <a:t>02 · BIOLOGY &amp; OUTPUT</a:t>
            </a:r>
            <a:endParaRPr lang="en-US" sz="11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14302A"/>
                </a:solidFill>
                <a:latin typeface="Cambria" pitchFamily="34" charset="0"/>
                <a:ea typeface="Cambria" pitchFamily="34" charset="-122"/>
                <a:cs typeface="Cambria" pitchFamily="34" charset="-120"/>
              </a:rPr>
              <a:t>Yield sensitivity: what it takes to hit 5 kg/day</a:t>
            </a:r>
            <a:endParaRPr lang="en-US" sz="30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900" dirty="0">
                <a:solidFill>
                  <a:srgbClr val="5F6F69"/>
                </a:solidFill>
                <a:latin typeface="Calibri" pitchFamily="34" charset="0"/>
                <a:ea typeface="Calibri" pitchFamily="34" charset="-122"/>
                <a:cs typeface="Calibri" pitchFamily="34" charset="-120"/>
              </a:rPr>
              <a:t>Lion's Mane Facility  ·  Hamirpur, HP  ·  Project Plan</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900" dirty="0">
                <a:solidFill>
                  <a:srgbClr val="5F6F69"/>
                </a:solidFill>
                <a:latin typeface="Calibri" pitchFamily="34" charset="0"/>
                <a:ea typeface="Calibri" pitchFamily="34" charset="-122"/>
                <a:cs typeface="Calibri" pitchFamily="34" charset="-120"/>
              </a:rPr>
              <a:t>6</a:t>
            </a:r>
            <a:endParaRPr lang="en-US" sz="900" dirty="0"/>
          </a:p>
        </p:txBody>
      </p:sp>
      <p:graphicFrame>
        <p:nvGraphicFramePr>
          <p:cNvPr id="6" name="Chart 0" descr=""/>
          <p:cNvGraphicFramePr/>
          <p:nvPr/>
        </p:nvGraphicFramePr>
        <p:xfrm>
          <a:off x="548640" y="1463040"/>
          <a:ext cx="7315200" cy="475488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8229600" y="1508760"/>
            <a:ext cx="3429000" cy="1417320"/>
          </a:xfrm>
          <a:prstGeom prst="roundRect">
            <a:avLst>
              <a:gd name="adj" fmla="val 5161"/>
            </a:avLst>
          </a:prstGeom>
          <a:solidFill>
            <a:srgbClr val="14302A"/>
          </a:solidFill>
          <a:ln w="9525">
            <a:solidFill>
              <a:srgbClr val="14302A"/>
            </a:solidFill>
            <a:prstDash val="solid"/>
          </a:ln>
        </p:spPr>
      </p:sp>
      <p:sp>
        <p:nvSpPr>
          <p:cNvPr id="8" name="Text 5"/>
          <p:cNvSpPr txBox="1"/>
          <p:nvPr/>
        </p:nvSpPr>
        <p:spPr>
          <a:xfrm>
            <a:off x="8458200" y="1673352"/>
            <a:ext cx="2971800" cy="7086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90 blocks</a:t>
            </a:r>
            <a:endParaRPr lang="en-US" sz="3000" dirty="0"/>
          </a:p>
        </p:txBody>
      </p:sp>
      <p:sp>
        <p:nvSpPr>
          <p:cNvPr id="9" name="Text 6"/>
          <p:cNvSpPr txBox="1"/>
          <p:nvPr/>
        </p:nvSpPr>
        <p:spPr>
          <a:xfrm>
            <a:off x="8458200" y="2288286"/>
            <a:ext cx="2971800" cy="566928"/>
          </a:xfrm>
          <a:prstGeom prst="rect">
            <a:avLst/>
          </a:prstGeom>
          <a:noFill/>
          <a:ln/>
        </p:spPr>
        <p:txBody>
          <a:bodyPr wrap="square" lIns="0" tIns="0" rIns="0" bIns="0" rtlCol="0" anchor="t"/>
          <a:lstStyle/>
          <a:p>
            <a:pPr indent="0" marL="0">
              <a:buNone/>
            </a:pPr>
            <a:r>
              <a:rPr lang="en-US" sz="1150" dirty="0">
                <a:solidFill>
                  <a:srgbClr val="C9D9CF"/>
                </a:solidFill>
                <a:latin typeface="Calibri" pitchFamily="34" charset="0"/>
                <a:ea typeface="Calibri" pitchFamily="34" charset="-122"/>
                <a:cs typeface="Calibri" pitchFamily="34" charset="-120"/>
              </a:rPr>
              <a:t>needed for 5+ kg/day at base 65% BE</a:t>
            </a:r>
            <a:endParaRPr lang="en-US" sz="1150" dirty="0"/>
          </a:p>
        </p:txBody>
      </p:sp>
      <p:sp>
        <p:nvSpPr>
          <p:cNvPr id="10" name="Shape 7"/>
          <p:cNvSpPr/>
          <p:nvPr/>
        </p:nvSpPr>
        <p:spPr>
          <a:xfrm>
            <a:off x="8229600" y="3108960"/>
            <a:ext cx="3429000" cy="1417320"/>
          </a:xfrm>
          <a:prstGeom prst="roundRect">
            <a:avLst>
              <a:gd name="adj" fmla="val 5161"/>
            </a:avLst>
          </a:prstGeom>
          <a:solidFill>
            <a:srgbClr val="EEF4F0"/>
          </a:solidFill>
          <a:ln w="9525">
            <a:solidFill>
              <a:srgbClr val="EEF4F0"/>
            </a:solidFill>
            <a:prstDash val="solid"/>
          </a:ln>
        </p:spPr>
      </p:sp>
      <p:sp>
        <p:nvSpPr>
          <p:cNvPr id="11" name="Text 8"/>
          <p:cNvSpPr txBox="1"/>
          <p:nvPr/>
        </p:nvSpPr>
        <p:spPr>
          <a:xfrm>
            <a:off x="8458200" y="3273552"/>
            <a:ext cx="2971800" cy="708660"/>
          </a:xfrm>
          <a:prstGeom prst="rect">
            <a:avLst/>
          </a:prstGeom>
          <a:noFill/>
          <a:ln/>
        </p:spPr>
        <p:txBody>
          <a:bodyPr wrap="square" lIns="0" tIns="0" rIns="0" bIns="0" rtlCol="0" anchor="ctr"/>
          <a:lstStyle/>
          <a:p>
            <a:pPr indent="0" marL="0">
              <a:buNone/>
            </a:pPr>
            <a:r>
              <a:rPr lang="en-US" sz="3000" b="1" dirty="0">
                <a:solidFill>
                  <a:srgbClr val="2E5E4E"/>
                </a:solidFill>
                <a:latin typeface="Cambria" pitchFamily="34" charset="0"/>
                <a:ea typeface="Cambria" pitchFamily="34" charset="-122"/>
                <a:cs typeface="Cambria" pitchFamily="34" charset="-120"/>
              </a:rPr>
              <a:t>93 → 140 kg</a:t>
            </a:r>
            <a:endParaRPr lang="en-US" sz="3000" dirty="0"/>
          </a:p>
        </p:txBody>
      </p:sp>
      <p:sp>
        <p:nvSpPr>
          <p:cNvPr id="12" name="Text 9"/>
          <p:cNvSpPr txBox="1"/>
          <p:nvPr/>
        </p:nvSpPr>
        <p:spPr>
          <a:xfrm>
            <a:off x="8458200" y="3888486"/>
            <a:ext cx="2971800" cy="566928"/>
          </a:xfrm>
          <a:prstGeom prst="rect">
            <a:avLst/>
          </a:prstGeom>
          <a:noFill/>
          <a:ln/>
        </p:spPr>
        <p:txBody>
          <a:bodyPr wrap="square" lIns="0" tIns="0" rIns="0" bIns="0" rtlCol="0" anchor="t"/>
          <a:lstStyle/>
          <a:p>
            <a:pPr indent="0" marL="0">
              <a:buNone/>
            </a:pPr>
            <a:r>
              <a:rPr lang="en-US" sz="1150" dirty="0">
                <a:solidFill>
                  <a:srgbClr val="5F6F69"/>
                </a:solidFill>
                <a:latin typeface="Calibri" pitchFamily="34" charset="0"/>
                <a:ea typeface="Calibri" pitchFamily="34" charset="-122"/>
                <a:cs typeface="Calibri" pitchFamily="34" charset="-120"/>
              </a:rPr>
              <a:t>dry powder per month, Phase 1 → Phase 2</a:t>
            </a:r>
            <a:endParaRPr lang="en-US" sz="1150" dirty="0"/>
          </a:p>
        </p:txBody>
      </p:sp>
      <p:sp>
        <p:nvSpPr>
          <p:cNvPr id="13" name="Shape 10"/>
          <p:cNvSpPr/>
          <p:nvPr/>
        </p:nvSpPr>
        <p:spPr>
          <a:xfrm>
            <a:off x="8229600" y="4709160"/>
            <a:ext cx="3429000" cy="1508760"/>
          </a:xfrm>
          <a:prstGeom prst="roundRect">
            <a:avLst>
              <a:gd name="adj" fmla="val 4848"/>
            </a:avLst>
          </a:prstGeom>
          <a:solidFill>
            <a:srgbClr val="FBF1DE"/>
          </a:solidFill>
          <a:ln w="9525">
            <a:solidFill>
              <a:srgbClr val="FBF1DE"/>
            </a:solidFill>
            <a:prstDash val="solid"/>
          </a:ln>
        </p:spPr>
      </p:sp>
      <p:sp>
        <p:nvSpPr>
          <p:cNvPr id="14" name="Text 11"/>
          <p:cNvSpPr txBox="1"/>
          <p:nvPr/>
        </p:nvSpPr>
        <p:spPr>
          <a:xfrm>
            <a:off x="8412480" y="4828032"/>
            <a:ext cx="3063240" cy="1325880"/>
          </a:xfrm>
          <a:prstGeom prst="rect">
            <a:avLst/>
          </a:prstGeom>
          <a:noFill/>
          <a:ln/>
        </p:spPr>
        <p:txBody>
          <a:bodyPr wrap="square" lIns="0" tIns="0" rIns="0" bIns="0" rtlCol="0" anchor="ctr"/>
          <a:lstStyle/>
          <a:p>
            <a:pPr indent="0" marL="0">
              <a:buNone/>
            </a:pPr>
            <a:r>
              <a:rPr lang="en-US" sz="1150" dirty="0">
                <a:solidFill>
                  <a:srgbClr val="1E2A26"/>
                </a:solidFill>
                <a:latin typeface="Calibri" pitchFamily="34" charset="0"/>
                <a:ea typeface="Calibri" pitchFamily="34" charset="-122"/>
                <a:cs typeface="Calibri" pitchFamily="34" charset="-120"/>
              </a:rPr>
              <a:t>Every +10 points of BE adds ~0.55 kg/day at 60 blocks. Strain selection and sterilization quality are the cheapest ways to grow output.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D9962B"/>
                </a:solidFill>
                <a:latin typeface="Calibri" pitchFamily="34" charset="0"/>
                <a:ea typeface="Calibri" pitchFamily="34" charset="-122"/>
                <a:cs typeface="Calibri" pitchFamily="34" charset="-120"/>
              </a:rPr>
              <a:t>02 · BIOLOGY &amp; OUTPUT</a:t>
            </a:r>
            <a:endParaRPr lang="en-US" sz="11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14302A"/>
                </a:solidFill>
                <a:latin typeface="Cambria" pitchFamily="34" charset="0"/>
                <a:ea typeface="Cambria" pitchFamily="34" charset="-122"/>
                <a:cs typeface="Cambria" pitchFamily="34" charset="-120"/>
              </a:rPr>
              <a:t>Crop cycle: ~60 days from liquid culture to first harvest</a:t>
            </a:r>
            <a:endParaRPr lang="en-US" sz="30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900" dirty="0">
                <a:solidFill>
                  <a:srgbClr val="5F6F69"/>
                </a:solidFill>
                <a:latin typeface="Calibri" pitchFamily="34" charset="0"/>
                <a:ea typeface="Calibri" pitchFamily="34" charset="-122"/>
                <a:cs typeface="Calibri" pitchFamily="34" charset="-120"/>
              </a:rPr>
              <a:t>Lion's Mane Facility  ·  Hamirpur, HP  ·  Project Plan</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900" dirty="0">
                <a:solidFill>
                  <a:srgbClr val="5F6F69"/>
                </a:solidFill>
                <a:latin typeface="Calibri" pitchFamily="34" charset="0"/>
                <a:ea typeface="Calibri" pitchFamily="34" charset="-122"/>
                <a:cs typeface="Calibri" pitchFamily="34" charset="-120"/>
              </a:rPr>
              <a:t>7</a:t>
            </a:r>
            <a:endParaRPr lang="en-US" sz="900" dirty="0"/>
          </a:p>
        </p:txBody>
      </p:sp>
      <p:sp>
        <p:nvSpPr>
          <p:cNvPr id="6" name="Shape 4"/>
          <p:cNvSpPr/>
          <p:nvPr/>
        </p:nvSpPr>
        <p:spPr>
          <a:xfrm>
            <a:off x="2651760" y="1600200"/>
            <a:ext cx="0" cy="2788920"/>
          </a:xfrm>
          <a:prstGeom prst="line">
            <a:avLst/>
          </a:prstGeom>
          <a:noFill/>
          <a:ln w="9525">
            <a:solidFill>
              <a:srgbClr val="E5ECE8"/>
            </a:solidFill>
            <a:prstDash val="solid"/>
          </a:ln>
        </p:spPr>
      </p:sp>
      <p:sp>
        <p:nvSpPr>
          <p:cNvPr id="7" name="Text 5"/>
          <p:cNvSpPr txBox="1"/>
          <p:nvPr/>
        </p:nvSpPr>
        <p:spPr>
          <a:xfrm>
            <a:off x="2377440" y="4434840"/>
            <a:ext cx="548640" cy="228600"/>
          </a:xfrm>
          <a:prstGeom prst="rect">
            <a:avLst/>
          </a:prstGeom>
          <a:noFill/>
          <a:ln/>
        </p:spPr>
        <p:txBody>
          <a:bodyPr wrap="square" lIns="0" tIns="0" rIns="0" bIns="0" rtlCol="0" anchor="t"/>
          <a:lstStyle/>
          <a:p>
            <a:pPr algn="ctr" indent="0" marL="0">
              <a:buNone/>
            </a:pPr>
            <a:r>
              <a:rPr lang="en-US" sz="950" dirty="0">
                <a:solidFill>
                  <a:srgbClr val="5F6F69"/>
                </a:solidFill>
                <a:latin typeface="Calibri" pitchFamily="34" charset="0"/>
                <a:ea typeface="Calibri" pitchFamily="34" charset="-122"/>
                <a:cs typeface="Calibri" pitchFamily="34" charset="-120"/>
              </a:rPr>
              <a:t>-28</a:t>
            </a:r>
            <a:endParaRPr lang="en-US" sz="950" dirty="0"/>
          </a:p>
        </p:txBody>
      </p:sp>
      <p:sp>
        <p:nvSpPr>
          <p:cNvPr id="8" name="Shape 6"/>
          <p:cNvSpPr/>
          <p:nvPr/>
        </p:nvSpPr>
        <p:spPr>
          <a:xfrm>
            <a:off x="3447757" y="1600200"/>
            <a:ext cx="0" cy="2788920"/>
          </a:xfrm>
          <a:prstGeom prst="line">
            <a:avLst/>
          </a:prstGeom>
          <a:noFill/>
          <a:ln w="9525">
            <a:solidFill>
              <a:srgbClr val="E5ECE8"/>
            </a:solidFill>
            <a:prstDash val="solid"/>
          </a:ln>
        </p:spPr>
      </p:sp>
      <p:sp>
        <p:nvSpPr>
          <p:cNvPr id="9" name="Text 7"/>
          <p:cNvSpPr txBox="1"/>
          <p:nvPr/>
        </p:nvSpPr>
        <p:spPr>
          <a:xfrm>
            <a:off x="3173437" y="4434840"/>
            <a:ext cx="548640" cy="228600"/>
          </a:xfrm>
          <a:prstGeom prst="rect">
            <a:avLst/>
          </a:prstGeom>
          <a:noFill/>
          <a:ln/>
        </p:spPr>
        <p:txBody>
          <a:bodyPr wrap="square" lIns="0" tIns="0" rIns="0" bIns="0" rtlCol="0" anchor="t"/>
          <a:lstStyle/>
          <a:p>
            <a:pPr algn="ctr" indent="0" marL="0">
              <a:buNone/>
            </a:pPr>
            <a:r>
              <a:rPr lang="en-US" sz="950" dirty="0">
                <a:solidFill>
                  <a:srgbClr val="5F6F69"/>
                </a:solidFill>
                <a:latin typeface="Calibri" pitchFamily="34" charset="0"/>
                <a:ea typeface="Calibri" pitchFamily="34" charset="-122"/>
                <a:cs typeface="Calibri" pitchFamily="34" charset="-120"/>
              </a:rPr>
              <a:t>-21</a:t>
            </a:r>
            <a:endParaRPr lang="en-US" sz="950" dirty="0"/>
          </a:p>
        </p:txBody>
      </p:sp>
      <p:sp>
        <p:nvSpPr>
          <p:cNvPr id="10" name="Shape 8"/>
          <p:cNvSpPr/>
          <p:nvPr/>
        </p:nvSpPr>
        <p:spPr>
          <a:xfrm>
            <a:off x="4243754" y="1600200"/>
            <a:ext cx="0" cy="2788920"/>
          </a:xfrm>
          <a:prstGeom prst="line">
            <a:avLst/>
          </a:prstGeom>
          <a:noFill/>
          <a:ln w="9525">
            <a:solidFill>
              <a:srgbClr val="E5ECE8"/>
            </a:solidFill>
            <a:prstDash val="solid"/>
          </a:ln>
        </p:spPr>
      </p:sp>
      <p:sp>
        <p:nvSpPr>
          <p:cNvPr id="11" name="Text 9"/>
          <p:cNvSpPr txBox="1"/>
          <p:nvPr/>
        </p:nvSpPr>
        <p:spPr>
          <a:xfrm>
            <a:off x="3969434" y="4434840"/>
            <a:ext cx="548640" cy="228600"/>
          </a:xfrm>
          <a:prstGeom prst="rect">
            <a:avLst/>
          </a:prstGeom>
          <a:noFill/>
          <a:ln/>
        </p:spPr>
        <p:txBody>
          <a:bodyPr wrap="square" lIns="0" tIns="0" rIns="0" bIns="0" rtlCol="0" anchor="t"/>
          <a:lstStyle/>
          <a:p>
            <a:pPr algn="ctr" indent="0" marL="0">
              <a:buNone/>
            </a:pPr>
            <a:r>
              <a:rPr lang="en-US" sz="950" dirty="0">
                <a:solidFill>
                  <a:srgbClr val="5F6F69"/>
                </a:solidFill>
                <a:latin typeface="Calibri" pitchFamily="34" charset="0"/>
                <a:ea typeface="Calibri" pitchFamily="34" charset="-122"/>
                <a:cs typeface="Calibri" pitchFamily="34" charset="-120"/>
              </a:rPr>
              <a:t>-14</a:t>
            </a:r>
            <a:endParaRPr lang="en-US" sz="950" dirty="0"/>
          </a:p>
        </p:txBody>
      </p:sp>
      <p:sp>
        <p:nvSpPr>
          <p:cNvPr id="12" name="Shape 10"/>
          <p:cNvSpPr/>
          <p:nvPr/>
        </p:nvSpPr>
        <p:spPr>
          <a:xfrm>
            <a:off x="5039751" y="1600200"/>
            <a:ext cx="0" cy="2788920"/>
          </a:xfrm>
          <a:prstGeom prst="line">
            <a:avLst/>
          </a:prstGeom>
          <a:noFill/>
          <a:ln w="9525">
            <a:solidFill>
              <a:srgbClr val="E5ECE8"/>
            </a:solidFill>
            <a:prstDash val="solid"/>
          </a:ln>
        </p:spPr>
      </p:sp>
      <p:sp>
        <p:nvSpPr>
          <p:cNvPr id="13" name="Text 11"/>
          <p:cNvSpPr txBox="1"/>
          <p:nvPr/>
        </p:nvSpPr>
        <p:spPr>
          <a:xfrm>
            <a:off x="4765431" y="4434840"/>
            <a:ext cx="548640" cy="228600"/>
          </a:xfrm>
          <a:prstGeom prst="rect">
            <a:avLst/>
          </a:prstGeom>
          <a:noFill/>
          <a:ln/>
        </p:spPr>
        <p:txBody>
          <a:bodyPr wrap="square" lIns="0" tIns="0" rIns="0" bIns="0" rtlCol="0" anchor="t"/>
          <a:lstStyle/>
          <a:p>
            <a:pPr algn="ctr" indent="0" marL="0">
              <a:buNone/>
            </a:pPr>
            <a:r>
              <a:rPr lang="en-US" sz="950" dirty="0">
                <a:solidFill>
                  <a:srgbClr val="5F6F69"/>
                </a:solidFill>
                <a:latin typeface="Calibri" pitchFamily="34" charset="0"/>
                <a:ea typeface="Calibri" pitchFamily="34" charset="-122"/>
                <a:cs typeface="Calibri" pitchFamily="34" charset="-120"/>
              </a:rPr>
              <a:t>-7</a:t>
            </a:r>
            <a:endParaRPr lang="en-US" sz="950" dirty="0"/>
          </a:p>
        </p:txBody>
      </p:sp>
      <p:sp>
        <p:nvSpPr>
          <p:cNvPr id="14" name="Shape 12"/>
          <p:cNvSpPr/>
          <p:nvPr/>
        </p:nvSpPr>
        <p:spPr>
          <a:xfrm>
            <a:off x="5835748" y="1600200"/>
            <a:ext cx="0" cy="2788920"/>
          </a:xfrm>
          <a:prstGeom prst="line">
            <a:avLst/>
          </a:prstGeom>
          <a:noFill/>
          <a:ln w="9525">
            <a:solidFill>
              <a:srgbClr val="E5ECE8"/>
            </a:solidFill>
            <a:prstDash val="solid"/>
          </a:ln>
        </p:spPr>
      </p:sp>
      <p:sp>
        <p:nvSpPr>
          <p:cNvPr id="15" name="Text 13"/>
          <p:cNvSpPr txBox="1"/>
          <p:nvPr/>
        </p:nvSpPr>
        <p:spPr>
          <a:xfrm>
            <a:off x="5561428" y="4434840"/>
            <a:ext cx="548640" cy="228600"/>
          </a:xfrm>
          <a:prstGeom prst="rect">
            <a:avLst/>
          </a:prstGeom>
          <a:noFill/>
          <a:ln/>
        </p:spPr>
        <p:txBody>
          <a:bodyPr wrap="square" lIns="0" tIns="0" rIns="0" bIns="0" rtlCol="0" anchor="t"/>
          <a:lstStyle/>
          <a:p>
            <a:pPr algn="ctr" indent="0" marL="0">
              <a:buNone/>
            </a:pPr>
            <a:r>
              <a:rPr lang="en-US" sz="950" dirty="0">
                <a:solidFill>
                  <a:srgbClr val="5F6F69"/>
                </a:solidFill>
                <a:latin typeface="Calibri" pitchFamily="34" charset="0"/>
                <a:ea typeface="Calibri" pitchFamily="34" charset="-122"/>
                <a:cs typeface="Calibri" pitchFamily="34" charset="-120"/>
              </a:rPr>
              <a:t>0</a:t>
            </a:r>
            <a:endParaRPr lang="en-US" sz="950" dirty="0"/>
          </a:p>
        </p:txBody>
      </p:sp>
      <p:sp>
        <p:nvSpPr>
          <p:cNvPr id="16" name="Shape 14"/>
          <p:cNvSpPr/>
          <p:nvPr/>
        </p:nvSpPr>
        <p:spPr>
          <a:xfrm>
            <a:off x="6631745" y="1600200"/>
            <a:ext cx="0" cy="2788920"/>
          </a:xfrm>
          <a:prstGeom prst="line">
            <a:avLst/>
          </a:prstGeom>
          <a:noFill/>
          <a:ln w="9525">
            <a:solidFill>
              <a:srgbClr val="E5ECE8"/>
            </a:solidFill>
            <a:prstDash val="solid"/>
          </a:ln>
        </p:spPr>
      </p:sp>
      <p:sp>
        <p:nvSpPr>
          <p:cNvPr id="17" name="Text 15"/>
          <p:cNvSpPr txBox="1"/>
          <p:nvPr/>
        </p:nvSpPr>
        <p:spPr>
          <a:xfrm>
            <a:off x="6357425" y="4434840"/>
            <a:ext cx="548640" cy="228600"/>
          </a:xfrm>
          <a:prstGeom prst="rect">
            <a:avLst/>
          </a:prstGeom>
          <a:noFill/>
          <a:ln/>
        </p:spPr>
        <p:txBody>
          <a:bodyPr wrap="square" lIns="0" tIns="0" rIns="0" bIns="0" rtlCol="0" anchor="t"/>
          <a:lstStyle/>
          <a:p>
            <a:pPr algn="ctr" indent="0" marL="0">
              <a:buNone/>
            </a:pPr>
            <a:r>
              <a:rPr lang="en-US" sz="950" dirty="0">
                <a:solidFill>
                  <a:srgbClr val="5F6F69"/>
                </a:solidFill>
                <a:latin typeface="Calibri" pitchFamily="34" charset="0"/>
                <a:ea typeface="Calibri" pitchFamily="34" charset="-122"/>
                <a:cs typeface="Calibri" pitchFamily="34" charset="-120"/>
              </a:rPr>
              <a:t>+7</a:t>
            </a:r>
            <a:endParaRPr lang="en-US" sz="950" dirty="0"/>
          </a:p>
        </p:txBody>
      </p:sp>
      <p:sp>
        <p:nvSpPr>
          <p:cNvPr id="18" name="Shape 16"/>
          <p:cNvSpPr/>
          <p:nvPr/>
        </p:nvSpPr>
        <p:spPr>
          <a:xfrm>
            <a:off x="7427742" y="1600200"/>
            <a:ext cx="0" cy="2788920"/>
          </a:xfrm>
          <a:prstGeom prst="line">
            <a:avLst/>
          </a:prstGeom>
          <a:noFill/>
          <a:ln w="9525">
            <a:solidFill>
              <a:srgbClr val="E5ECE8"/>
            </a:solidFill>
            <a:prstDash val="solid"/>
          </a:ln>
        </p:spPr>
      </p:sp>
      <p:sp>
        <p:nvSpPr>
          <p:cNvPr id="19" name="Text 17"/>
          <p:cNvSpPr txBox="1"/>
          <p:nvPr/>
        </p:nvSpPr>
        <p:spPr>
          <a:xfrm>
            <a:off x="7153422" y="4434840"/>
            <a:ext cx="548640" cy="228600"/>
          </a:xfrm>
          <a:prstGeom prst="rect">
            <a:avLst/>
          </a:prstGeom>
          <a:noFill/>
          <a:ln/>
        </p:spPr>
        <p:txBody>
          <a:bodyPr wrap="square" lIns="0" tIns="0" rIns="0" bIns="0" rtlCol="0" anchor="t"/>
          <a:lstStyle/>
          <a:p>
            <a:pPr algn="ctr" indent="0" marL="0">
              <a:buNone/>
            </a:pPr>
            <a:r>
              <a:rPr lang="en-US" sz="950" dirty="0">
                <a:solidFill>
                  <a:srgbClr val="5F6F69"/>
                </a:solidFill>
                <a:latin typeface="Calibri" pitchFamily="34" charset="0"/>
                <a:ea typeface="Calibri" pitchFamily="34" charset="-122"/>
                <a:cs typeface="Calibri" pitchFamily="34" charset="-120"/>
              </a:rPr>
              <a:t>+14</a:t>
            </a:r>
            <a:endParaRPr lang="en-US" sz="950" dirty="0"/>
          </a:p>
        </p:txBody>
      </p:sp>
      <p:sp>
        <p:nvSpPr>
          <p:cNvPr id="20" name="Shape 18"/>
          <p:cNvSpPr/>
          <p:nvPr/>
        </p:nvSpPr>
        <p:spPr>
          <a:xfrm>
            <a:off x="8223738" y="1600200"/>
            <a:ext cx="0" cy="2788920"/>
          </a:xfrm>
          <a:prstGeom prst="line">
            <a:avLst/>
          </a:prstGeom>
          <a:noFill/>
          <a:ln w="9525">
            <a:solidFill>
              <a:srgbClr val="E5ECE8"/>
            </a:solidFill>
            <a:prstDash val="solid"/>
          </a:ln>
        </p:spPr>
      </p:sp>
      <p:sp>
        <p:nvSpPr>
          <p:cNvPr id="21" name="Text 19"/>
          <p:cNvSpPr txBox="1"/>
          <p:nvPr/>
        </p:nvSpPr>
        <p:spPr>
          <a:xfrm>
            <a:off x="7949418" y="4434840"/>
            <a:ext cx="548640" cy="228600"/>
          </a:xfrm>
          <a:prstGeom prst="rect">
            <a:avLst/>
          </a:prstGeom>
          <a:noFill/>
          <a:ln/>
        </p:spPr>
        <p:txBody>
          <a:bodyPr wrap="square" lIns="0" tIns="0" rIns="0" bIns="0" rtlCol="0" anchor="t"/>
          <a:lstStyle/>
          <a:p>
            <a:pPr algn="ctr" indent="0" marL="0">
              <a:buNone/>
            </a:pPr>
            <a:r>
              <a:rPr lang="en-US" sz="950" dirty="0">
                <a:solidFill>
                  <a:srgbClr val="5F6F69"/>
                </a:solidFill>
                <a:latin typeface="Calibri" pitchFamily="34" charset="0"/>
                <a:ea typeface="Calibri" pitchFamily="34" charset="-122"/>
                <a:cs typeface="Calibri" pitchFamily="34" charset="-120"/>
              </a:rPr>
              <a:t>+21</a:t>
            </a:r>
            <a:endParaRPr lang="en-US" sz="950" dirty="0"/>
          </a:p>
        </p:txBody>
      </p:sp>
      <p:sp>
        <p:nvSpPr>
          <p:cNvPr id="22" name="Shape 20"/>
          <p:cNvSpPr/>
          <p:nvPr/>
        </p:nvSpPr>
        <p:spPr>
          <a:xfrm>
            <a:off x="9019735" y="1600200"/>
            <a:ext cx="0" cy="2788920"/>
          </a:xfrm>
          <a:prstGeom prst="line">
            <a:avLst/>
          </a:prstGeom>
          <a:noFill/>
          <a:ln w="9525">
            <a:solidFill>
              <a:srgbClr val="E5ECE8"/>
            </a:solidFill>
            <a:prstDash val="solid"/>
          </a:ln>
        </p:spPr>
      </p:sp>
      <p:sp>
        <p:nvSpPr>
          <p:cNvPr id="23" name="Text 21"/>
          <p:cNvSpPr txBox="1"/>
          <p:nvPr/>
        </p:nvSpPr>
        <p:spPr>
          <a:xfrm>
            <a:off x="8745415" y="4434840"/>
            <a:ext cx="548640" cy="228600"/>
          </a:xfrm>
          <a:prstGeom prst="rect">
            <a:avLst/>
          </a:prstGeom>
          <a:noFill/>
          <a:ln/>
        </p:spPr>
        <p:txBody>
          <a:bodyPr wrap="square" lIns="0" tIns="0" rIns="0" bIns="0" rtlCol="0" anchor="t"/>
          <a:lstStyle/>
          <a:p>
            <a:pPr algn="ctr" indent="0" marL="0">
              <a:buNone/>
            </a:pPr>
            <a:r>
              <a:rPr lang="en-US" sz="950" dirty="0">
                <a:solidFill>
                  <a:srgbClr val="5F6F69"/>
                </a:solidFill>
                <a:latin typeface="Calibri" pitchFamily="34" charset="0"/>
                <a:ea typeface="Calibri" pitchFamily="34" charset="-122"/>
                <a:cs typeface="Calibri" pitchFamily="34" charset="-120"/>
              </a:rPr>
              <a:t>+28</a:t>
            </a:r>
            <a:endParaRPr lang="en-US" sz="950" dirty="0"/>
          </a:p>
        </p:txBody>
      </p:sp>
      <p:sp>
        <p:nvSpPr>
          <p:cNvPr id="24" name="Shape 22"/>
          <p:cNvSpPr/>
          <p:nvPr/>
        </p:nvSpPr>
        <p:spPr>
          <a:xfrm>
            <a:off x="9815732" y="1600200"/>
            <a:ext cx="0" cy="2788920"/>
          </a:xfrm>
          <a:prstGeom prst="line">
            <a:avLst/>
          </a:prstGeom>
          <a:noFill/>
          <a:ln w="9525">
            <a:solidFill>
              <a:srgbClr val="E5ECE8"/>
            </a:solidFill>
            <a:prstDash val="solid"/>
          </a:ln>
        </p:spPr>
      </p:sp>
      <p:sp>
        <p:nvSpPr>
          <p:cNvPr id="25" name="Text 23"/>
          <p:cNvSpPr txBox="1"/>
          <p:nvPr/>
        </p:nvSpPr>
        <p:spPr>
          <a:xfrm>
            <a:off x="9541412" y="4434840"/>
            <a:ext cx="548640" cy="228600"/>
          </a:xfrm>
          <a:prstGeom prst="rect">
            <a:avLst/>
          </a:prstGeom>
          <a:noFill/>
          <a:ln/>
        </p:spPr>
        <p:txBody>
          <a:bodyPr wrap="square" lIns="0" tIns="0" rIns="0" bIns="0" rtlCol="0" anchor="t"/>
          <a:lstStyle/>
          <a:p>
            <a:pPr algn="ctr" indent="0" marL="0">
              <a:buNone/>
            </a:pPr>
            <a:r>
              <a:rPr lang="en-US" sz="950" dirty="0">
                <a:solidFill>
                  <a:srgbClr val="5F6F69"/>
                </a:solidFill>
                <a:latin typeface="Calibri" pitchFamily="34" charset="0"/>
                <a:ea typeface="Calibri" pitchFamily="34" charset="-122"/>
                <a:cs typeface="Calibri" pitchFamily="34" charset="-120"/>
              </a:rPr>
              <a:t>+35</a:t>
            </a:r>
            <a:endParaRPr lang="en-US" sz="950" dirty="0"/>
          </a:p>
        </p:txBody>
      </p:sp>
      <p:sp>
        <p:nvSpPr>
          <p:cNvPr id="26" name="Shape 24"/>
          <p:cNvSpPr/>
          <p:nvPr/>
        </p:nvSpPr>
        <p:spPr>
          <a:xfrm>
            <a:off x="10611729" y="1600200"/>
            <a:ext cx="0" cy="2788920"/>
          </a:xfrm>
          <a:prstGeom prst="line">
            <a:avLst/>
          </a:prstGeom>
          <a:noFill/>
          <a:ln w="9525">
            <a:solidFill>
              <a:srgbClr val="E5ECE8"/>
            </a:solidFill>
            <a:prstDash val="solid"/>
          </a:ln>
        </p:spPr>
      </p:sp>
      <p:sp>
        <p:nvSpPr>
          <p:cNvPr id="27" name="Text 25"/>
          <p:cNvSpPr txBox="1"/>
          <p:nvPr/>
        </p:nvSpPr>
        <p:spPr>
          <a:xfrm>
            <a:off x="10337409" y="4434840"/>
            <a:ext cx="548640" cy="228600"/>
          </a:xfrm>
          <a:prstGeom prst="rect">
            <a:avLst/>
          </a:prstGeom>
          <a:noFill/>
          <a:ln/>
        </p:spPr>
        <p:txBody>
          <a:bodyPr wrap="square" lIns="0" tIns="0" rIns="0" bIns="0" rtlCol="0" anchor="t"/>
          <a:lstStyle/>
          <a:p>
            <a:pPr algn="ctr" indent="0" marL="0">
              <a:buNone/>
            </a:pPr>
            <a:r>
              <a:rPr lang="en-US" sz="950" dirty="0">
                <a:solidFill>
                  <a:srgbClr val="5F6F69"/>
                </a:solidFill>
                <a:latin typeface="Calibri" pitchFamily="34" charset="0"/>
                <a:ea typeface="Calibri" pitchFamily="34" charset="-122"/>
                <a:cs typeface="Calibri" pitchFamily="34" charset="-120"/>
              </a:rPr>
              <a:t>+42</a:t>
            </a:r>
            <a:endParaRPr lang="en-US" sz="950" dirty="0"/>
          </a:p>
        </p:txBody>
      </p:sp>
      <p:sp>
        <p:nvSpPr>
          <p:cNvPr id="28" name="Shape 26"/>
          <p:cNvSpPr/>
          <p:nvPr/>
        </p:nvSpPr>
        <p:spPr>
          <a:xfrm>
            <a:off x="11407726" y="1600200"/>
            <a:ext cx="0" cy="2788920"/>
          </a:xfrm>
          <a:prstGeom prst="line">
            <a:avLst/>
          </a:prstGeom>
          <a:noFill/>
          <a:ln w="9525">
            <a:solidFill>
              <a:srgbClr val="E5ECE8"/>
            </a:solidFill>
            <a:prstDash val="solid"/>
          </a:ln>
        </p:spPr>
      </p:sp>
      <p:sp>
        <p:nvSpPr>
          <p:cNvPr id="29" name="Text 27"/>
          <p:cNvSpPr txBox="1"/>
          <p:nvPr/>
        </p:nvSpPr>
        <p:spPr>
          <a:xfrm>
            <a:off x="11133406" y="4434840"/>
            <a:ext cx="548640" cy="228600"/>
          </a:xfrm>
          <a:prstGeom prst="rect">
            <a:avLst/>
          </a:prstGeom>
          <a:noFill/>
          <a:ln/>
        </p:spPr>
        <p:txBody>
          <a:bodyPr wrap="square" lIns="0" tIns="0" rIns="0" bIns="0" rtlCol="0" anchor="t"/>
          <a:lstStyle/>
          <a:p>
            <a:pPr algn="ctr" indent="0" marL="0">
              <a:buNone/>
            </a:pPr>
            <a:r>
              <a:rPr lang="en-US" sz="950" dirty="0">
                <a:solidFill>
                  <a:srgbClr val="5F6F69"/>
                </a:solidFill>
                <a:latin typeface="Calibri" pitchFamily="34" charset="0"/>
                <a:ea typeface="Calibri" pitchFamily="34" charset="-122"/>
                <a:cs typeface="Calibri" pitchFamily="34" charset="-120"/>
              </a:rPr>
              <a:t>+49</a:t>
            </a:r>
            <a:endParaRPr lang="en-US" sz="950" dirty="0"/>
          </a:p>
        </p:txBody>
      </p:sp>
      <p:sp>
        <p:nvSpPr>
          <p:cNvPr id="30" name="Text 28"/>
          <p:cNvSpPr txBox="1"/>
          <p:nvPr/>
        </p:nvSpPr>
        <p:spPr>
          <a:xfrm>
            <a:off x="2651760" y="4663440"/>
            <a:ext cx="8869680" cy="228600"/>
          </a:xfrm>
          <a:prstGeom prst="rect">
            <a:avLst/>
          </a:prstGeom>
          <a:noFill/>
          <a:ln/>
        </p:spPr>
        <p:txBody>
          <a:bodyPr wrap="square" lIns="0" tIns="0" rIns="0" bIns="0" rtlCol="0" anchor="t"/>
          <a:lstStyle/>
          <a:p>
            <a:pPr algn="ctr" indent="0" marL="0">
              <a:buNone/>
            </a:pPr>
            <a:r>
              <a:rPr lang="en-US" sz="1000" dirty="0">
                <a:solidFill>
                  <a:srgbClr val="5F6F69"/>
                </a:solidFill>
                <a:latin typeface="Calibri" pitchFamily="34" charset="0"/>
                <a:ea typeface="Calibri" pitchFamily="34" charset="-122"/>
                <a:cs typeface="Calibri" pitchFamily="34" charset="-120"/>
              </a:rPr>
              <a:t>Days relative to block inoculation (day 0)</a:t>
            </a:r>
            <a:endParaRPr lang="en-US" sz="1000" dirty="0"/>
          </a:p>
        </p:txBody>
      </p:sp>
      <p:sp>
        <p:nvSpPr>
          <p:cNvPr id="31" name="Text 29"/>
          <p:cNvSpPr txBox="1"/>
          <p:nvPr/>
        </p:nvSpPr>
        <p:spPr>
          <a:xfrm>
            <a:off x="548640" y="1691640"/>
            <a:ext cx="2057400" cy="384048"/>
          </a:xfrm>
          <a:prstGeom prst="rect">
            <a:avLst/>
          </a:prstGeom>
          <a:noFill/>
          <a:ln/>
        </p:spPr>
        <p:txBody>
          <a:bodyPr wrap="square" lIns="0" tIns="0" rIns="0" bIns="0" rtlCol="0" anchor="ctr"/>
          <a:lstStyle/>
          <a:p>
            <a:pPr indent="0" marL="0">
              <a:buNone/>
            </a:pPr>
            <a:r>
              <a:rPr lang="en-US" sz="1150" b="1" dirty="0">
                <a:solidFill>
                  <a:srgbClr val="1E2A26"/>
                </a:solidFill>
                <a:latin typeface="Calibri" pitchFamily="34" charset="0"/>
                <a:ea typeface="Calibri" pitchFamily="34" charset="-122"/>
                <a:cs typeface="Calibri" pitchFamily="34" charset="-120"/>
              </a:rPr>
              <a:t>Liquid culture + QC</a:t>
            </a:r>
            <a:endParaRPr lang="en-US" sz="1150" dirty="0"/>
          </a:p>
        </p:txBody>
      </p:sp>
      <p:sp>
        <p:nvSpPr>
          <p:cNvPr id="32" name="Shape 30"/>
          <p:cNvSpPr/>
          <p:nvPr/>
        </p:nvSpPr>
        <p:spPr>
          <a:xfrm>
            <a:off x="2651760" y="1691640"/>
            <a:ext cx="795997" cy="384048"/>
          </a:xfrm>
          <a:prstGeom prst="roundRect">
            <a:avLst>
              <a:gd name="adj" fmla="val 19048"/>
            </a:avLst>
          </a:prstGeom>
          <a:solidFill>
            <a:srgbClr val="8DB596"/>
          </a:solidFill>
          <a:ln w="12700">
            <a:solidFill>
              <a:srgbClr val="8DB596"/>
            </a:solidFill>
            <a:prstDash val="solid"/>
          </a:ln>
        </p:spPr>
      </p:sp>
      <p:sp>
        <p:nvSpPr>
          <p:cNvPr id="33" name="Text 31"/>
          <p:cNvSpPr txBox="1"/>
          <p:nvPr/>
        </p:nvSpPr>
        <p:spPr>
          <a:xfrm>
            <a:off x="2651760" y="1691640"/>
            <a:ext cx="795997"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7 d</a:t>
            </a:r>
            <a:endParaRPr lang="en-US" sz="1050" dirty="0"/>
          </a:p>
        </p:txBody>
      </p:sp>
      <p:sp>
        <p:nvSpPr>
          <p:cNvPr id="34" name="Text 32"/>
          <p:cNvSpPr txBox="1"/>
          <p:nvPr/>
        </p:nvSpPr>
        <p:spPr>
          <a:xfrm>
            <a:off x="548640" y="2221992"/>
            <a:ext cx="2057400" cy="384048"/>
          </a:xfrm>
          <a:prstGeom prst="rect">
            <a:avLst/>
          </a:prstGeom>
          <a:noFill/>
          <a:ln/>
        </p:spPr>
        <p:txBody>
          <a:bodyPr wrap="square" lIns="0" tIns="0" rIns="0" bIns="0" rtlCol="0" anchor="ctr"/>
          <a:lstStyle/>
          <a:p>
            <a:pPr indent="0" marL="0">
              <a:buNone/>
            </a:pPr>
            <a:r>
              <a:rPr lang="en-US" sz="1150" b="1" dirty="0">
                <a:solidFill>
                  <a:srgbClr val="1E2A26"/>
                </a:solidFill>
                <a:latin typeface="Calibri" pitchFamily="34" charset="0"/>
                <a:ea typeface="Calibri" pitchFamily="34" charset="-122"/>
                <a:cs typeface="Calibri" pitchFamily="34" charset="-120"/>
              </a:rPr>
              <a:t>Grain spawn run</a:t>
            </a:r>
            <a:endParaRPr lang="en-US" sz="1150" dirty="0"/>
          </a:p>
        </p:txBody>
      </p:sp>
      <p:sp>
        <p:nvSpPr>
          <p:cNvPr id="35" name="Shape 33"/>
          <p:cNvSpPr/>
          <p:nvPr/>
        </p:nvSpPr>
        <p:spPr>
          <a:xfrm>
            <a:off x="3447757" y="2221992"/>
            <a:ext cx="2387991" cy="384048"/>
          </a:xfrm>
          <a:prstGeom prst="roundRect">
            <a:avLst>
              <a:gd name="adj" fmla="val 19048"/>
            </a:avLst>
          </a:prstGeom>
          <a:solidFill>
            <a:srgbClr val="8DB596"/>
          </a:solidFill>
          <a:ln w="12700">
            <a:solidFill>
              <a:srgbClr val="8DB596"/>
            </a:solidFill>
            <a:prstDash val="solid"/>
          </a:ln>
        </p:spPr>
      </p:sp>
      <p:sp>
        <p:nvSpPr>
          <p:cNvPr id="36" name="Text 34"/>
          <p:cNvSpPr txBox="1"/>
          <p:nvPr/>
        </p:nvSpPr>
        <p:spPr>
          <a:xfrm>
            <a:off x="3447757" y="2221992"/>
            <a:ext cx="2387991"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21 d</a:t>
            </a:r>
            <a:endParaRPr lang="en-US" sz="1050" dirty="0"/>
          </a:p>
        </p:txBody>
      </p:sp>
      <p:sp>
        <p:nvSpPr>
          <p:cNvPr id="37" name="Text 35"/>
          <p:cNvSpPr txBox="1"/>
          <p:nvPr/>
        </p:nvSpPr>
        <p:spPr>
          <a:xfrm>
            <a:off x="548640" y="2752344"/>
            <a:ext cx="2057400" cy="384048"/>
          </a:xfrm>
          <a:prstGeom prst="rect">
            <a:avLst/>
          </a:prstGeom>
          <a:noFill/>
          <a:ln/>
        </p:spPr>
        <p:txBody>
          <a:bodyPr wrap="square" lIns="0" tIns="0" rIns="0" bIns="0" rtlCol="0" anchor="ctr"/>
          <a:lstStyle/>
          <a:p>
            <a:pPr indent="0" marL="0">
              <a:buNone/>
            </a:pPr>
            <a:r>
              <a:rPr lang="en-US" sz="1150" b="1" dirty="0">
                <a:solidFill>
                  <a:srgbClr val="1E2A26"/>
                </a:solidFill>
                <a:latin typeface="Calibri" pitchFamily="34" charset="0"/>
                <a:ea typeface="Calibri" pitchFamily="34" charset="-122"/>
                <a:cs typeface="Calibri" pitchFamily="34" charset="-120"/>
              </a:rPr>
              <a:t>Block incubation (dark)</a:t>
            </a:r>
            <a:endParaRPr lang="en-US" sz="1150" dirty="0"/>
          </a:p>
        </p:txBody>
      </p:sp>
      <p:sp>
        <p:nvSpPr>
          <p:cNvPr id="38" name="Shape 36"/>
          <p:cNvSpPr/>
          <p:nvPr/>
        </p:nvSpPr>
        <p:spPr>
          <a:xfrm>
            <a:off x="5835748" y="2752344"/>
            <a:ext cx="2387991" cy="384048"/>
          </a:xfrm>
          <a:prstGeom prst="roundRect">
            <a:avLst>
              <a:gd name="adj" fmla="val 19048"/>
            </a:avLst>
          </a:prstGeom>
          <a:solidFill>
            <a:srgbClr val="2E5E4E"/>
          </a:solidFill>
          <a:ln w="12700">
            <a:solidFill>
              <a:srgbClr val="2E5E4E"/>
            </a:solidFill>
            <a:prstDash val="solid"/>
          </a:ln>
        </p:spPr>
      </p:sp>
      <p:sp>
        <p:nvSpPr>
          <p:cNvPr id="39" name="Text 37"/>
          <p:cNvSpPr txBox="1"/>
          <p:nvPr/>
        </p:nvSpPr>
        <p:spPr>
          <a:xfrm>
            <a:off x="5835748" y="2752344"/>
            <a:ext cx="2387991"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21 d</a:t>
            </a:r>
            <a:endParaRPr lang="en-US" sz="1050" dirty="0"/>
          </a:p>
        </p:txBody>
      </p:sp>
      <p:sp>
        <p:nvSpPr>
          <p:cNvPr id="40" name="Text 38"/>
          <p:cNvSpPr txBox="1"/>
          <p:nvPr/>
        </p:nvSpPr>
        <p:spPr>
          <a:xfrm>
            <a:off x="548640" y="3282696"/>
            <a:ext cx="2057400" cy="384048"/>
          </a:xfrm>
          <a:prstGeom prst="rect">
            <a:avLst/>
          </a:prstGeom>
          <a:noFill/>
          <a:ln/>
        </p:spPr>
        <p:txBody>
          <a:bodyPr wrap="square" lIns="0" tIns="0" rIns="0" bIns="0" rtlCol="0" anchor="ctr"/>
          <a:lstStyle/>
          <a:p>
            <a:pPr indent="0" marL="0">
              <a:buNone/>
            </a:pPr>
            <a:r>
              <a:rPr lang="en-US" sz="1150" b="1" dirty="0">
                <a:solidFill>
                  <a:srgbClr val="1E2A26"/>
                </a:solidFill>
                <a:latin typeface="Calibri" pitchFamily="34" charset="0"/>
                <a:ea typeface="Calibri" pitchFamily="34" charset="-122"/>
                <a:cs typeface="Calibri" pitchFamily="34" charset="-120"/>
              </a:rPr>
              <a:t>Flush 1: pin → harvest</a:t>
            </a:r>
            <a:endParaRPr lang="en-US" sz="1150" dirty="0"/>
          </a:p>
        </p:txBody>
      </p:sp>
      <p:sp>
        <p:nvSpPr>
          <p:cNvPr id="41" name="Shape 39"/>
          <p:cNvSpPr/>
          <p:nvPr/>
        </p:nvSpPr>
        <p:spPr>
          <a:xfrm>
            <a:off x="8223738" y="3282696"/>
            <a:ext cx="1591994" cy="384048"/>
          </a:xfrm>
          <a:prstGeom prst="roundRect">
            <a:avLst>
              <a:gd name="adj" fmla="val 19048"/>
            </a:avLst>
          </a:prstGeom>
          <a:solidFill>
            <a:srgbClr val="D9962B"/>
          </a:solidFill>
          <a:ln w="12700">
            <a:solidFill>
              <a:srgbClr val="D9962B"/>
            </a:solidFill>
            <a:prstDash val="solid"/>
          </a:ln>
        </p:spPr>
      </p:sp>
      <p:sp>
        <p:nvSpPr>
          <p:cNvPr id="42" name="Text 40"/>
          <p:cNvSpPr txBox="1"/>
          <p:nvPr/>
        </p:nvSpPr>
        <p:spPr>
          <a:xfrm>
            <a:off x="8223738" y="3282696"/>
            <a:ext cx="1591994" cy="384048"/>
          </a:xfrm>
          <a:prstGeom prst="rect">
            <a:avLst/>
          </a:prstGeom>
          <a:noFill/>
          <a:ln/>
        </p:spPr>
        <p:txBody>
          <a:bodyPr wrap="square" lIns="0" tIns="0" rIns="0" bIns="0" rtlCol="0" anchor="ctr"/>
          <a:lstStyle/>
          <a:p>
            <a:pPr algn="ctr" indent="0" marL="0">
              <a:buNone/>
            </a:pPr>
            <a:r>
              <a:rPr lang="en-US" sz="1050" b="1" dirty="0">
                <a:solidFill>
                  <a:srgbClr val="1E2A26"/>
                </a:solidFill>
                <a:latin typeface="Calibri" pitchFamily="34" charset="0"/>
                <a:ea typeface="Calibri" pitchFamily="34" charset="-122"/>
                <a:cs typeface="Calibri" pitchFamily="34" charset="-120"/>
              </a:rPr>
              <a:t>14 d</a:t>
            </a:r>
            <a:endParaRPr lang="en-US" sz="1050" dirty="0"/>
          </a:p>
        </p:txBody>
      </p:sp>
      <p:sp>
        <p:nvSpPr>
          <p:cNvPr id="43" name="Text 41"/>
          <p:cNvSpPr txBox="1"/>
          <p:nvPr/>
        </p:nvSpPr>
        <p:spPr>
          <a:xfrm>
            <a:off x="548640" y="3813048"/>
            <a:ext cx="2057400" cy="384048"/>
          </a:xfrm>
          <a:prstGeom prst="rect">
            <a:avLst/>
          </a:prstGeom>
          <a:noFill/>
          <a:ln/>
        </p:spPr>
        <p:txBody>
          <a:bodyPr wrap="square" lIns="0" tIns="0" rIns="0" bIns="0" rtlCol="0" anchor="ctr"/>
          <a:lstStyle/>
          <a:p>
            <a:pPr indent="0" marL="0">
              <a:buNone/>
            </a:pPr>
            <a:r>
              <a:rPr lang="en-US" sz="1150" b="1" dirty="0">
                <a:solidFill>
                  <a:srgbClr val="1E2A26"/>
                </a:solidFill>
                <a:latin typeface="Calibri" pitchFamily="34" charset="0"/>
                <a:ea typeface="Calibri" pitchFamily="34" charset="-122"/>
                <a:cs typeface="Calibri" pitchFamily="34" charset="-120"/>
              </a:rPr>
              <a:t>Flush 2 → block exit</a:t>
            </a:r>
            <a:endParaRPr lang="en-US" sz="1150" dirty="0"/>
          </a:p>
        </p:txBody>
      </p:sp>
      <p:sp>
        <p:nvSpPr>
          <p:cNvPr id="44" name="Shape 42"/>
          <p:cNvSpPr/>
          <p:nvPr/>
        </p:nvSpPr>
        <p:spPr>
          <a:xfrm>
            <a:off x="9815732" y="3813048"/>
            <a:ext cx="1591994" cy="384048"/>
          </a:xfrm>
          <a:prstGeom prst="roundRect">
            <a:avLst>
              <a:gd name="adj" fmla="val 19048"/>
            </a:avLst>
          </a:prstGeom>
          <a:solidFill>
            <a:srgbClr val="E8C07A"/>
          </a:solidFill>
          <a:ln w="12700">
            <a:solidFill>
              <a:srgbClr val="E8C07A"/>
            </a:solidFill>
            <a:prstDash val="solid"/>
          </a:ln>
        </p:spPr>
      </p:sp>
      <p:sp>
        <p:nvSpPr>
          <p:cNvPr id="45" name="Text 43"/>
          <p:cNvSpPr txBox="1"/>
          <p:nvPr/>
        </p:nvSpPr>
        <p:spPr>
          <a:xfrm>
            <a:off x="9815732" y="3813048"/>
            <a:ext cx="1591994" cy="384048"/>
          </a:xfrm>
          <a:prstGeom prst="rect">
            <a:avLst/>
          </a:prstGeom>
          <a:noFill/>
          <a:ln/>
        </p:spPr>
        <p:txBody>
          <a:bodyPr wrap="square" lIns="0" tIns="0" rIns="0" bIns="0" rtlCol="0" anchor="ctr"/>
          <a:lstStyle/>
          <a:p>
            <a:pPr algn="ctr" indent="0" marL="0">
              <a:buNone/>
            </a:pPr>
            <a:r>
              <a:rPr lang="en-US" sz="1050" b="1" dirty="0">
                <a:solidFill>
                  <a:srgbClr val="1E2A26"/>
                </a:solidFill>
                <a:latin typeface="Calibri" pitchFamily="34" charset="0"/>
                <a:ea typeface="Calibri" pitchFamily="34" charset="-122"/>
                <a:cs typeface="Calibri" pitchFamily="34" charset="-120"/>
              </a:rPr>
              <a:t>14 d</a:t>
            </a:r>
            <a:endParaRPr lang="en-US" sz="1050" dirty="0"/>
          </a:p>
        </p:txBody>
      </p:sp>
      <p:sp>
        <p:nvSpPr>
          <p:cNvPr id="46" name="Text 44"/>
          <p:cNvSpPr txBox="1"/>
          <p:nvPr/>
        </p:nvSpPr>
        <p:spPr>
          <a:xfrm>
            <a:off x="548640" y="4983480"/>
            <a:ext cx="7315200" cy="274320"/>
          </a:xfrm>
          <a:prstGeom prst="rect">
            <a:avLst/>
          </a:prstGeom>
          <a:noFill/>
          <a:ln/>
        </p:spPr>
        <p:txBody>
          <a:bodyPr wrap="square" lIns="0" tIns="0" rIns="0" bIns="0" rtlCol="0" anchor="t"/>
          <a:lstStyle/>
          <a:p>
            <a:pPr indent="0" marL="0">
              <a:buNone/>
            </a:pPr>
            <a:r>
              <a:rPr lang="en-US" sz="1200" b="1" dirty="0">
                <a:solidFill>
                  <a:srgbClr val="14302A"/>
                </a:solidFill>
                <a:latin typeface="Calibri" pitchFamily="34" charset="0"/>
                <a:ea typeface="Calibri" pitchFamily="34" charset="-122"/>
                <a:cs typeface="Calibri" pitchFamily="34" charset="-120"/>
              </a:rPr>
              <a:t>Steady-state pipeline inventory (Phase 1)</a:t>
            </a:r>
            <a:endParaRPr lang="en-US" sz="1200" dirty="0"/>
          </a:p>
        </p:txBody>
      </p:sp>
      <p:sp>
        <p:nvSpPr>
          <p:cNvPr id="47" name="Shape 45"/>
          <p:cNvSpPr/>
          <p:nvPr/>
        </p:nvSpPr>
        <p:spPr>
          <a:xfrm>
            <a:off x="548640" y="5303520"/>
            <a:ext cx="2633472" cy="914400"/>
          </a:xfrm>
          <a:prstGeom prst="roundRect">
            <a:avLst>
              <a:gd name="adj" fmla="val 8000"/>
            </a:avLst>
          </a:prstGeom>
          <a:solidFill>
            <a:srgbClr val="EEF4F0"/>
          </a:solidFill>
          <a:ln w="9525">
            <a:solidFill>
              <a:srgbClr val="EEF4F0"/>
            </a:solidFill>
            <a:prstDash val="solid"/>
          </a:ln>
        </p:spPr>
      </p:sp>
      <p:sp>
        <p:nvSpPr>
          <p:cNvPr id="48" name="Text 46"/>
          <p:cNvSpPr txBox="1"/>
          <p:nvPr/>
        </p:nvSpPr>
        <p:spPr>
          <a:xfrm>
            <a:off x="731520" y="5349240"/>
            <a:ext cx="1097280" cy="822960"/>
          </a:xfrm>
          <a:prstGeom prst="rect">
            <a:avLst/>
          </a:prstGeom>
          <a:noFill/>
          <a:ln/>
        </p:spPr>
        <p:txBody>
          <a:bodyPr wrap="square" lIns="0" tIns="0" rIns="0" bIns="0" rtlCol="0" anchor="ctr"/>
          <a:lstStyle/>
          <a:p>
            <a:pPr indent="0" marL="0">
              <a:buNone/>
            </a:pPr>
            <a:r>
              <a:rPr lang="en-US" sz="2000" b="1" dirty="0">
                <a:solidFill>
                  <a:srgbClr val="2E5E4E"/>
                </a:solidFill>
                <a:latin typeface="Cambria" pitchFamily="34" charset="0"/>
                <a:ea typeface="Cambria" pitchFamily="34" charset="-122"/>
                <a:cs typeface="Cambria" pitchFamily="34" charset="-120"/>
              </a:rPr>
              <a:t>~60</a:t>
            </a:r>
            <a:endParaRPr lang="en-US" sz="2000" dirty="0"/>
          </a:p>
        </p:txBody>
      </p:sp>
      <p:sp>
        <p:nvSpPr>
          <p:cNvPr id="49" name="Text 47"/>
          <p:cNvSpPr txBox="1"/>
          <p:nvPr/>
        </p:nvSpPr>
        <p:spPr>
          <a:xfrm>
            <a:off x="1828800" y="5349240"/>
            <a:ext cx="1280160" cy="822960"/>
          </a:xfrm>
          <a:prstGeom prst="rect">
            <a:avLst/>
          </a:prstGeom>
          <a:noFill/>
          <a:ln/>
        </p:spPr>
        <p:txBody>
          <a:bodyPr wrap="square" lIns="0" tIns="0" rIns="0" bIns="0" rtlCol="0" anchor="ctr"/>
          <a:lstStyle/>
          <a:p>
            <a:pPr indent="0" marL="0">
              <a:buNone/>
            </a:pPr>
            <a:r>
              <a:rPr lang="en-US" sz="1050" dirty="0">
                <a:solidFill>
                  <a:srgbClr val="5F6F69"/>
                </a:solidFill>
                <a:latin typeface="Calibri" pitchFamily="34" charset="0"/>
                <a:ea typeface="Calibri" pitchFamily="34" charset="-122"/>
                <a:cs typeface="Calibri" pitchFamily="34" charset="-120"/>
              </a:rPr>
              <a:t>grain-spawn bags colonizing at any time</a:t>
            </a:r>
            <a:endParaRPr lang="en-US" sz="1050" dirty="0"/>
          </a:p>
        </p:txBody>
      </p:sp>
      <p:sp>
        <p:nvSpPr>
          <p:cNvPr id="50" name="Shape 48"/>
          <p:cNvSpPr/>
          <p:nvPr/>
        </p:nvSpPr>
        <p:spPr>
          <a:xfrm>
            <a:off x="3364992" y="5303520"/>
            <a:ext cx="2633472" cy="914400"/>
          </a:xfrm>
          <a:prstGeom prst="roundRect">
            <a:avLst>
              <a:gd name="adj" fmla="val 8000"/>
            </a:avLst>
          </a:prstGeom>
          <a:solidFill>
            <a:srgbClr val="EEF4F0"/>
          </a:solidFill>
          <a:ln w="9525">
            <a:solidFill>
              <a:srgbClr val="EEF4F0"/>
            </a:solidFill>
            <a:prstDash val="solid"/>
          </a:ln>
        </p:spPr>
      </p:sp>
      <p:sp>
        <p:nvSpPr>
          <p:cNvPr id="51" name="Text 49"/>
          <p:cNvSpPr txBox="1"/>
          <p:nvPr/>
        </p:nvSpPr>
        <p:spPr>
          <a:xfrm>
            <a:off x="3547872" y="5349240"/>
            <a:ext cx="1097280" cy="822960"/>
          </a:xfrm>
          <a:prstGeom prst="rect">
            <a:avLst/>
          </a:prstGeom>
          <a:noFill/>
          <a:ln/>
        </p:spPr>
        <p:txBody>
          <a:bodyPr wrap="square" lIns="0" tIns="0" rIns="0" bIns="0" rtlCol="0" anchor="ctr"/>
          <a:lstStyle/>
          <a:p>
            <a:pPr indent="0" marL="0">
              <a:buNone/>
            </a:pPr>
            <a:r>
              <a:rPr lang="en-US" sz="2000" b="1" dirty="0">
                <a:solidFill>
                  <a:srgbClr val="2E5E4E"/>
                </a:solidFill>
                <a:latin typeface="Cambria" pitchFamily="34" charset="0"/>
                <a:ea typeface="Cambria" pitchFamily="34" charset="-122"/>
                <a:cs typeface="Cambria" pitchFamily="34" charset="-120"/>
              </a:rPr>
              <a:t>~1,260</a:t>
            </a:r>
            <a:endParaRPr lang="en-US" sz="2000" dirty="0"/>
          </a:p>
        </p:txBody>
      </p:sp>
      <p:sp>
        <p:nvSpPr>
          <p:cNvPr id="52" name="Text 50"/>
          <p:cNvSpPr txBox="1"/>
          <p:nvPr/>
        </p:nvSpPr>
        <p:spPr>
          <a:xfrm>
            <a:off x="4645152" y="5349240"/>
            <a:ext cx="1280160" cy="822960"/>
          </a:xfrm>
          <a:prstGeom prst="rect">
            <a:avLst/>
          </a:prstGeom>
          <a:noFill/>
          <a:ln/>
        </p:spPr>
        <p:txBody>
          <a:bodyPr wrap="square" lIns="0" tIns="0" rIns="0" bIns="0" rtlCol="0" anchor="ctr"/>
          <a:lstStyle/>
          <a:p>
            <a:pPr indent="0" marL="0">
              <a:buNone/>
            </a:pPr>
            <a:r>
              <a:rPr lang="en-US" sz="1050" dirty="0">
                <a:solidFill>
                  <a:srgbClr val="5F6F69"/>
                </a:solidFill>
                <a:latin typeface="Calibri" pitchFamily="34" charset="0"/>
                <a:ea typeface="Calibri" pitchFamily="34" charset="-122"/>
                <a:cs typeface="Calibri" pitchFamily="34" charset="-120"/>
              </a:rPr>
              <a:t>blocks in incubation (60 × 21 days)</a:t>
            </a:r>
            <a:endParaRPr lang="en-US" sz="1050" dirty="0"/>
          </a:p>
        </p:txBody>
      </p:sp>
      <p:sp>
        <p:nvSpPr>
          <p:cNvPr id="53" name="Shape 51"/>
          <p:cNvSpPr/>
          <p:nvPr/>
        </p:nvSpPr>
        <p:spPr>
          <a:xfrm>
            <a:off x="6181344" y="5303520"/>
            <a:ext cx="2633472" cy="914400"/>
          </a:xfrm>
          <a:prstGeom prst="roundRect">
            <a:avLst>
              <a:gd name="adj" fmla="val 8000"/>
            </a:avLst>
          </a:prstGeom>
          <a:solidFill>
            <a:srgbClr val="EEF4F0"/>
          </a:solidFill>
          <a:ln w="9525">
            <a:solidFill>
              <a:srgbClr val="EEF4F0"/>
            </a:solidFill>
            <a:prstDash val="solid"/>
          </a:ln>
        </p:spPr>
      </p:sp>
      <p:sp>
        <p:nvSpPr>
          <p:cNvPr id="54" name="Text 52"/>
          <p:cNvSpPr txBox="1"/>
          <p:nvPr/>
        </p:nvSpPr>
        <p:spPr>
          <a:xfrm>
            <a:off x="6364224" y="5349240"/>
            <a:ext cx="1097280" cy="822960"/>
          </a:xfrm>
          <a:prstGeom prst="rect">
            <a:avLst/>
          </a:prstGeom>
          <a:noFill/>
          <a:ln/>
        </p:spPr>
        <p:txBody>
          <a:bodyPr wrap="square" lIns="0" tIns="0" rIns="0" bIns="0" rtlCol="0" anchor="ctr"/>
          <a:lstStyle/>
          <a:p>
            <a:pPr indent="0" marL="0">
              <a:buNone/>
            </a:pPr>
            <a:r>
              <a:rPr lang="en-US" sz="2000" b="1" dirty="0">
                <a:solidFill>
                  <a:srgbClr val="2E5E4E"/>
                </a:solidFill>
                <a:latin typeface="Cambria" pitchFamily="34" charset="0"/>
                <a:ea typeface="Cambria" pitchFamily="34" charset="-122"/>
                <a:cs typeface="Cambria" pitchFamily="34" charset="-120"/>
              </a:rPr>
              <a:t>~1,500</a:t>
            </a:r>
            <a:endParaRPr lang="en-US" sz="2000" dirty="0"/>
          </a:p>
        </p:txBody>
      </p:sp>
      <p:sp>
        <p:nvSpPr>
          <p:cNvPr id="55" name="Text 53"/>
          <p:cNvSpPr txBox="1"/>
          <p:nvPr/>
        </p:nvSpPr>
        <p:spPr>
          <a:xfrm>
            <a:off x="7461504" y="5349240"/>
            <a:ext cx="1280160" cy="822960"/>
          </a:xfrm>
          <a:prstGeom prst="rect">
            <a:avLst/>
          </a:prstGeom>
          <a:noFill/>
          <a:ln/>
        </p:spPr>
        <p:txBody>
          <a:bodyPr wrap="square" lIns="0" tIns="0" rIns="0" bIns="0" rtlCol="0" anchor="ctr"/>
          <a:lstStyle/>
          <a:p>
            <a:pPr indent="0" marL="0">
              <a:buNone/>
            </a:pPr>
            <a:r>
              <a:rPr lang="en-US" sz="1050" dirty="0">
                <a:solidFill>
                  <a:srgbClr val="5F6F69"/>
                </a:solidFill>
                <a:latin typeface="Calibri" pitchFamily="34" charset="0"/>
                <a:ea typeface="Calibri" pitchFamily="34" charset="-122"/>
                <a:cs typeface="Calibri" pitchFamily="34" charset="-120"/>
              </a:rPr>
              <a:t>blocks fruiting (60 × ~25 days)</a:t>
            </a:r>
            <a:endParaRPr lang="en-US" sz="1050" dirty="0"/>
          </a:p>
        </p:txBody>
      </p:sp>
      <p:sp>
        <p:nvSpPr>
          <p:cNvPr id="56" name="Shape 54"/>
          <p:cNvSpPr/>
          <p:nvPr/>
        </p:nvSpPr>
        <p:spPr>
          <a:xfrm>
            <a:off x="8997696" y="5303520"/>
            <a:ext cx="2633472" cy="914400"/>
          </a:xfrm>
          <a:prstGeom prst="roundRect">
            <a:avLst>
              <a:gd name="adj" fmla="val 8000"/>
            </a:avLst>
          </a:prstGeom>
          <a:solidFill>
            <a:srgbClr val="EEF4F0"/>
          </a:solidFill>
          <a:ln w="9525">
            <a:solidFill>
              <a:srgbClr val="EEF4F0"/>
            </a:solidFill>
            <a:prstDash val="solid"/>
          </a:ln>
        </p:spPr>
      </p:sp>
      <p:sp>
        <p:nvSpPr>
          <p:cNvPr id="57" name="Text 55"/>
          <p:cNvSpPr txBox="1"/>
          <p:nvPr/>
        </p:nvSpPr>
        <p:spPr>
          <a:xfrm>
            <a:off x="9180576" y="5349240"/>
            <a:ext cx="1097280" cy="822960"/>
          </a:xfrm>
          <a:prstGeom prst="rect">
            <a:avLst/>
          </a:prstGeom>
          <a:noFill/>
          <a:ln/>
        </p:spPr>
        <p:txBody>
          <a:bodyPr wrap="square" lIns="0" tIns="0" rIns="0" bIns="0" rtlCol="0" anchor="ctr"/>
          <a:lstStyle/>
          <a:p>
            <a:pPr indent="0" marL="0">
              <a:buNone/>
            </a:pPr>
            <a:r>
              <a:rPr lang="en-US" sz="2000" b="1" dirty="0">
                <a:solidFill>
                  <a:srgbClr val="2E5E4E"/>
                </a:solidFill>
                <a:latin typeface="Cambria" pitchFamily="34" charset="0"/>
                <a:ea typeface="Cambria" pitchFamily="34" charset="-122"/>
                <a:cs typeface="Cambria" pitchFamily="34" charset="-120"/>
              </a:rPr>
              <a:t>35–55 kg</a:t>
            </a:r>
            <a:endParaRPr lang="en-US" sz="2000" dirty="0"/>
          </a:p>
        </p:txBody>
      </p:sp>
      <p:sp>
        <p:nvSpPr>
          <p:cNvPr id="58" name="Text 56"/>
          <p:cNvSpPr txBox="1"/>
          <p:nvPr/>
        </p:nvSpPr>
        <p:spPr>
          <a:xfrm>
            <a:off x="10277856" y="5349240"/>
            <a:ext cx="1280160" cy="822960"/>
          </a:xfrm>
          <a:prstGeom prst="rect">
            <a:avLst/>
          </a:prstGeom>
          <a:noFill/>
          <a:ln/>
        </p:spPr>
        <p:txBody>
          <a:bodyPr wrap="square" lIns="0" tIns="0" rIns="0" bIns="0" rtlCol="0" anchor="ctr"/>
          <a:lstStyle/>
          <a:p>
            <a:pPr indent="0" marL="0">
              <a:buNone/>
            </a:pPr>
            <a:r>
              <a:rPr lang="en-US" sz="1050" dirty="0">
                <a:solidFill>
                  <a:srgbClr val="5F6F69"/>
                </a:solidFill>
                <a:latin typeface="Calibri" pitchFamily="34" charset="0"/>
                <a:ea typeface="Calibri" pitchFamily="34" charset="-122"/>
                <a:cs typeface="Calibri" pitchFamily="34" charset="-120"/>
              </a:rPr>
              <a:t>fresh harvest to process daily</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D9962B"/>
                </a:solidFill>
                <a:latin typeface="Calibri" pitchFamily="34" charset="0"/>
                <a:ea typeface="Calibri" pitchFamily="34" charset="-122"/>
                <a:cs typeface="Calibri" pitchFamily="34" charset="-120"/>
              </a:rPr>
              <a:t>03 · GENETICS &amp; SPAWN</a:t>
            </a:r>
            <a:endParaRPr lang="en-US" sz="11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14302A"/>
                </a:solidFill>
                <a:latin typeface="Cambria" pitchFamily="34" charset="0"/>
                <a:ea typeface="Cambria" pitchFamily="34" charset="-122"/>
                <a:cs typeface="Cambria" pitchFamily="34" charset="-120"/>
              </a:rPr>
              <a:t>Culture management: the strain is the business</a:t>
            </a:r>
            <a:endParaRPr lang="en-US" sz="30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900" dirty="0">
                <a:solidFill>
                  <a:srgbClr val="5F6F69"/>
                </a:solidFill>
                <a:latin typeface="Calibri" pitchFamily="34" charset="0"/>
                <a:ea typeface="Calibri" pitchFamily="34" charset="-122"/>
                <a:cs typeface="Calibri" pitchFamily="34" charset="-120"/>
              </a:rPr>
              <a:t>Lion's Mane Facility  ·  Hamirpur, HP  ·  Project Plan</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900" dirty="0">
                <a:solidFill>
                  <a:srgbClr val="5F6F69"/>
                </a:solidFill>
                <a:latin typeface="Calibri" pitchFamily="34" charset="0"/>
                <a:ea typeface="Calibri" pitchFamily="34" charset="-122"/>
                <a:cs typeface="Calibri" pitchFamily="34" charset="-120"/>
              </a:rPr>
              <a:t>8</a:t>
            </a:r>
            <a:endParaRPr lang="en-US" sz="900" dirty="0"/>
          </a:p>
        </p:txBody>
      </p:sp>
      <p:sp>
        <p:nvSpPr>
          <p:cNvPr id="6" name="Shape 4"/>
          <p:cNvSpPr/>
          <p:nvPr/>
        </p:nvSpPr>
        <p:spPr>
          <a:xfrm>
            <a:off x="822960" y="1508760"/>
            <a:ext cx="1143000" cy="1143000"/>
          </a:xfrm>
          <a:prstGeom prst="ellipse">
            <a:avLst/>
          </a:prstGeom>
          <a:solidFill>
            <a:srgbClr val="2E5E4E"/>
          </a:solidFill>
          <a:ln w="12700">
            <a:solidFill>
              <a:srgbClr val="FFFFFF"/>
            </a:solidFill>
            <a:prstDash val="solid"/>
          </a:ln>
        </p:spPr>
      </p:sp>
      <p:sp>
        <p:nvSpPr>
          <p:cNvPr id="7" name="Text 5"/>
          <p:cNvSpPr txBox="1"/>
          <p:nvPr/>
        </p:nvSpPr>
        <p:spPr>
          <a:xfrm>
            <a:off x="822960" y="1508760"/>
            <a:ext cx="1143000" cy="114300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8" name="Text 6"/>
          <p:cNvSpPr txBox="1"/>
          <p:nvPr/>
        </p:nvSpPr>
        <p:spPr>
          <a:xfrm>
            <a:off x="548640" y="2743200"/>
            <a:ext cx="1691640" cy="320040"/>
          </a:xfrm>
          <a:prstGeom prst="rect">
            <a:avLst/>
          </a:prstGeom>
          <a:noFill/>
          <a:ln/>
        </p:spPr>
        <p:txBody>
          <a:bodyPr wrap="square" lIns="0" tIns="0" rIns="0" bIns="0" rtlCol="0" anchor="t"/>
          <a:lstStyle/>
          <a:p>
            <a:pPr algn="ctr" indent="0" marL="0">
              <a:buNone/>
            </a:pPr>
            <a:r>
              <a:rPr lang="en-US" sz="1300" b="1" dirty="0">
                <a:solidFill>
                  <a:srgbClr val="14302A"/>
                </a:solidFill>
                <a:latin typeface="Calibri" pitchFamily="34" charset="0"/>
                <a:ea typeface="Calibri" pitchFamily="34" charset="-122"/>
                <a:cs typeface="Calibri" pitchFamily="34" charset="-120"/>
              </a:rPr>
              <a:t>Master slant</a:t>
            </a:r>
            <a:endParaRPr lang="en-US" sz="1300" dirty="0"/>
          </a:p>
        </p:txBody>
      </p:sp>
      <p:sp>
        <p:nvSpPr>
          <p:cNvPr id="9" name="Text 7"/>
          <p:cNvSpPr txBox="1"/>
          <p:nvPr/>
        </p:nvSpPr>
        <p:spPr>
          <a:xfrm>
            <a:off x="548640" y="3044952"/>
            <a:ext cx="1691640" cy="274320"/>
          </a:xfrm>
          <a:prstGeom prst="rect">
            <a:avLst/>
          </a:prstGeom>
          <a:noFill/>
          <a:ln/>
        </p:spPr>
        <p:txBody>
          <a:bodyPr wrap="square" lIns="0" tIns="0" rIns="0" bIns="0" rtlCol="0" anchor="t"/>
          <a:lstStyle/>
          <a:p>
            <a:pPr algn="ctr" indent="0" marL="0">
              <a:buNone/>
            </a:pPr>
            <a:r>
              <a:rPr lang="en-US" sz="1100" dirty="0">
                <a:solidFill>
                  <a:srgbClr val="5F6F69"/>
                </a:solidFill>
                <a:latin typeface="Calibri" pitchFamily="34" charset="0"/>
                <a:ea typeface="Calibri" pitchFamily="34" charset="-122"/>
                <a:cs typeface="Calibri" pitchFamily="34" charset="-120"/>
              </a:rPr>
              <a:t>4°C culture bank</a:t>
            </a:r>
            <a:endParaRPr lang="en-US" sz="1100" dirty="0"/>
          </a:p>
        </p:txBody>
      </p:sp>
      <p:sp>
        <p:nvSpPr>
          <p:cNvPr id="10" name="Shape 8"/>
          <p:cNvSpPr/>
          <p:nvPr/>
        </p:nvSpPr>
        <p:spPr>
          <a:xfrm>
            <a:off x="1993392" y="2075688"/>
            <a:ext cx="713232" cy="0"/>
          </a:xfrm>
          <a:prstGeom prst="line">
            <a:avLst/>
          </a:prstGeom>
          <a:noFill/>
          <a:ln w="19050">
            <a:solidFill>
              <a:srgbClr val="5F6F69"/>
            </a:solidFill>
            <a:prstDash val="solid"/>
            <a:tailEnd type="triangle"/>
          </a:ln>
        </p:spPr>
      </p:sp>
      <p:sp>
        <p:nvSpPr>
          <p:cNvPr id="11" name="Shape 9"/>
          <p:cNvSpPr/>
          <p:nvPr/>
        </p:nvSpPr>
        <p:spPr>
          <a:xfrm>
            <a:off x="2734056" y="1508760"/>
            <a:ext cx="1143000" cy="1143000"/>
          </a:xfrm>
          <a:prstGeom prst="ellipse">
            <a:avLst/>
          </a:prstGeom>
          <a:solidFill>
            <a:srgbClr val="2E5E4E"/>
          </a:solidFill>
          <a:ln w="12700">
            <a:solidFill>
              <a:srgbClr val="FFFFFF"/>
            </a:solidFill>
            <a:prstDash val="solid"/>
          </a:ln>
        </p:spPr>
      </p:sp>
      <p:sp>
        <p:nvSpPr>
          <p:cNvPr id="12" name="Text 10"/>
          <p:cNvSpPr txBox="1"/>
          <p:nvPr/>
        </p:nvSpPr>
        <p:spPr>
          <a:xfrm>
            <a:off x="2734056" y="1508760"/>
            <a:ext cx="1143000" cy="114300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3" name="Text 11"/>
          <p:cNvSpPr txBox="1"/>
          <p:nvPr/>
        </p:nvSpPr>
        <p:spPr>
          <a:xfrm>
            <a:off x="2459736" y="2743200"/>
            <a:ext cx="1691640" cy="320040"/>
          </a:xfrm>
          <a:prstGeom prst="rect">
            <a:avLst/>
          </a:prstGeom>
          <a:noFill/>
          <a:ln/>
        </p:spPr>
        <p:txBody>
          <a:bodyPr wrap="square" lIns="0" tIns="0" rIns="0" bIns="0" rtlCol="0" anchor="t"/>
          <a:lstStyle/>
          <a:p>
            <a:pPr algn="ctr" indent="0" marL="0">
              <a:buNone/>
            </a:pPr>
            <a:r>
              <a:rPr lang="en-US" sz="1300" b="1" dirty="0">
                <a:solidFill>
                  <a:srgbClr val="14302A"/>
                </a:solidFill>
                <a:latin typeface="Calibri" pitchFamily="34" charset="0"/>
                <a:ea typeface="Calibri" pitchFamily="34" charset="-122"/>
                <a:cs typeface="Calibri" pitchFamily="34" charset="-120"/>
              </a:rPr>
              <a:t>P1 agar plate</a:t>
            </a:r>
            <a:endParaRPr lang="en-US" sz="1300" dirty="0"/>
          </a:p>
        </p:txBody>
      </p:sp>
      <p:sp>
        <p:nvSpPr>
          <p:cNvPr id="14" name="Text 12"/>
          <p:cNvSpPr txBox="1"/>
          <p:nvPr/>
        </p:nvSpPr>
        <p:spPr>
          <a:xfrm>
            <a:off x="2459736" y="3044952"/>
            <a:ext cx="1691640" cy="274320"/>
          </a:xfrm>
          <a:prstGeom prst="rect">
            <a:avLst/>
          </a:prstGeom>
          <a:noFill/>
          <a:ln/>
        </p:spPr>
        <p:txBody>
          <a:bodyPr wrap="square" lIns="0" tIns="0" rIns="0" bIns="0" rtlCol="0" anchor="t"/>
          <a:lstStyle/>
          <a:p>
            <a:pPr algn="ctr" indent="0" marL="0">
              <a:buNone/>
            </a:pPr>
            <a:r>
              <a:rPr lang="en-US" sz="1100" dirty="0">
                <a:solidFill>
                  <a:srgbClr val="5F6F69"/>
                </a:solidFill>
                <a:latin typeface="Calibri" pitchFamily="34" charset="0"/>
                <a:ea typeface="Calibri" pitchFamily="34" charset="-122"/>
                <a:cs typeface="Calibri" pitchFamily="34" charset="-120"/>
              </a:rPr>
              <a:t>clean transfer</a:t>
            </a:r>
            <a:endParaRPr lang="en-US" sz="1100" dirty="0"/>
          </a:p>
        </p:txBody>
      </p:sp>
      <p:sp>
        <p:nvSpPr>
          <p:cNvPr id="15" name="Shape 13"/>
          <p:cNvSpPr/>
          <p:nvPr/>
        </p:nvSpPr>
        <p:spPr>
          <a:xfrm>
            <a:off x="3904488" y="2075688"/>
            <a:ext cx="713232" cy="0"/>
          </a:xfrm>
          <a:prstGeom prst="line">
            <a:avLst/>
          </a:prstGeom>
          <a:noFill/>
          <a:ln w="19050">
            <a:solidFill>
              <a:srgbClr val="5F6F69"/>
            </a:solidFill>
            <a:prstDash val="solid"/>
            <a:tailEnd type="triangle"/>
          </a:ln>
        </p:spPr>
      </p:sp>
      <p:sp>
        <p:nvSpPr>
          <p:cNvPr id="16" name="Shape 14"/>
          <p:cNvSpPr/>
          <p:nvPr/>
        </p:nvSpPr>
        <p:spPr>
          <a:xfrm>
            <a:off x="4645152" y="1508760"/>
            <a:ext cx="1143000" cy="1143000"/>
          </a:xfrm>
          <a:prstGeom prst="ellipse">
            <a:avLst/>
          </a:prstGeom>
          <a:solidFill>
            <a:srgbClr val="2E5E4E"/>
          </a:solidFill>
          <a:ln w="12700">
            <a:solidFill>
              <a:srgbClr val="FFFFFF"/>
            </a:solidFill>
            <a:prstDash val="solid"/>
          </a:ln>
        </p:spPr>
      </p:sp>
      <p:sp>
        <p:nvSpPr>
          <p:cNvPr id="17" name="Text 15"/>
          <p:cNvSpPr txBox="1"/>
          <p:nvPr/>
        </p:nvSpPr>
        <p:spPr>
          <a:xfrm>
            <a:off x="4645152" y="1508760"/>
            <a:ext cx="1143000" cy="114300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3</a:t>
            </a:r>
            <a:endParaRPr lang="en-US" sz="2800" dirty="0"/>
          </a:p>
        </p:txBody>
      </p:sp>
      <p:sp>
        <p:nvSpPr>
          <p:cNvPr id="18" name="Text 16"/>
          <p:cNvSpPr txBox="1"/>
          <p:nvPr/>
        </p:nvSpPr>
        <p:spPr>
          <a:xfrm>
            <a:off x="4370832" y="2743200"/>
            <a:ext cx="1691640" cy="320040"/>
          </a:xfrm>
          <a:prstGeom prst="rect">
            <a:avLst/>
          </a:prstGeom>
          <a:noFill/>
          <a:ln/>
        </p:spPr>
        <p:txBody>
          <a:bodyPr wrap="square" lIns="0" tIns="0" rIns="0" bIns="0" rtlCol="0" anchor="t"/>
          <a:lstStyle/>
          <a:p>
            <a:pPr algn="ctr" indent="0" marL="0">
              <a:buNone/>
            </a:pPr>
            <a:r>
              <a:rPr lang="en-US" sz="1300" b="1" dirty="0">
                <a:solidFill>
                  <a:srgbClr val="14302A"/>
                </a:solidFill>
                <a:latin typeface="Calibri" pitchFamily="34" charset="0"/>
                <a:ea typeface="Calibri" pitchFamily="34" charset="-122"/>
                <a:cs typeface="Calibri" pitchFamily="34" charset="-120"/>
              </a:rPr>
              <a:t>Liquid culture</a:t>
            </a:r>
            <a:endParaRPr lang="en-US" sz="1300" dirty="0"/>
          </a:p>
        </p:txBody>
      </p:sp>
      <p:sp>
        <p:nvSpPr>
          <p:cNvPr id="19" name="Text 17"/>
          <p:cNvSpPr txBox="1"/>
          <p:nvPr/>
        </p:nvSpPr>
        <p:spPr>
          <a:xfrm>
            <a:off x="4370832" y="3044952"/>
            <a:ext cx="1691640" cy="274320"/>
          </a:xfrm>
          <a:prstGeom prst="rect">
            <a:avLst/>
          </a:prstGeom>
          <a:noFill/>
          <a:ln/>
        </p:spPr>
        <p:txBody>
          <a:bodyPr wrap="square" lIns="0" tIns="0" rIns="0" bIns="0" rtlCol="0" anchor="t"/>
          <a:lstStyle/>
          <a:p>
            <a:pPr algn="ctr" indent="0" marL="0">
              <a:buNone/>
            </a:pPr>
            <a:r>
              <a:rPr lang="en-US" sz="1100" dirty="0">
                <a:solidFill>
                  <a:srgbClr val="5F6F69"/>
                </a:solidFill>
                <a:latin typeface="Calibri" pitchFamily="34" charset="0"/>
                <a:ea typeface="Calibri" pitchFamily="34" charset="-122"/>
                <a:cs typeface="Calibri" pitchFamily="34" charset="-120"/>
              </a:rPr>
              <a:t>streak-tested 72 h</a:t>
            </a:r>
            <a:endParaRPr lang="en-US" sz="1100" dirty="0"/>
          </a:p>
        </p:txBody>
      </p:sp>
      <p:sp>
        <p:nvSpPr>
          <p:cNvPr id="20" name="Shape 18"/>
          <p:cNvSpPr/>
          <p:nvPr/>
        </p:nvSpPr>
        <p:spPr>
          <a:xfrm>
            <a:off x="5815584" y="2075688"/>
            <a:ext cx="713232" cy="0"/>
          </a:xfrm>
          <a:prstGeom prst="line">
            <a:avLst/>
          </a:prstGeom>
          <a:noFill/>
          <a:ln w="19050">
            <a:solidFill>
              <a:srgbClr val="5F6F69"/>
            </a:solidFill>
            <a:prstDash val="solid"/>
            <a:tailEnd type="triangle"/>
          </a:ln>
        </p:spPr>
      </p:sp>
      <p:sp>
        <p:nvSpPr>
          <p:cNvPr id="21" name="Shape 19"/>
          <p:cNvSpPr/>
          <p:nvPr/>
        </p:nvSpPr>
        <p:spPr>
          <a:xfrm>
            <a:off x="6556248" y="1508760"/>
            <a:ext cx="1143000" cy="1143000"/>
          </a:xfrm>
          <a:prstGeom prst="ellipse">
            <a:avLst/>
          </a:prstGeom>
          <a:solidFill>
            <a:srgbClr val="2E5E4E"/>
          </a:solidFill>
          <a:ln w="12700">
            <a:solidFill>
              <a:srgbClr val="FFFFFF"/>
            </a:solidFill>
            <a:prstDash val="solid"/>
          </a:ln>
        </p:spPr>
      </p:sp>
      <p:sp>
        <p:nvSpPr>
          <p:cNvPr id="22" name="Text 20"/>
          <p:cNvSpPr txBox="1"/>
          <p:nvPr/>
        </p:nvSpPr>
        <p:spPr>
          <a:xfrm>
            <a:off x="6556248" y="1508760"/>
            <a:ext cx="1143000" cy="114300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4</a:t>
            </a:r>
            <a:endParaRPr lang="en-US" sz="2800" dirty="0"/>
          </a:p>
        </p:txBody>
      </p:sp>
      <p:sp>
        <p:nvSpPr>
          <p:cNvPr id="23" name="Text 21"/>
          <p:cNvSpPr txBox="1"/>
          <p:nvPr/>
        </p:nvSpPr>
        <p:spPr>
          <a:xfrm>
            <a:off x="6281928" y="2743200"/>
            <a:ext cx="1691640" cy="320040"/>
          </a:xfrm>
          <a:prstGeom prst="rect">
            <a:avLst/>
          </a:prstGeom>
          <a:noFill/>
          <a:ln/>
        </p:spPr>
        <p:txBody>
          <a:bodyPr wrap="square" lIns="0" tIns="0" rIns="0" bIns="0" rtlCol="0" anchor="t"/>
          <a:lstStyle/>
          <a:p>
            <a:pPr algn="ctr" indent="0" marL="0">
              <a:buNone/>
            </a:pPr>
            <a:r>
              <a:rPr lang="en-US" sz="1300" b="1" dirty="0">
                <a:solidFill>
                  <a:srgbClr val="14302A"/>
                </a:solidFill>
                <a:latin typeface="Calibri" pitchFamily="34" charset="0"/>
                <a:ea typeface="Calibri" pitchFamily="34" charset="-122"/>
                <a:cs typeface="Calibri" pitchFamily="34" charset="-120"/>
              </a:rPr>
              <a:t>G1 grain spawn</a:t>
            </a:r>
            <a:endParaRPr lang="en-US" sz="1300" dirty="0"/>
          </a:p>
        </p:txBody>
      </p:sp>
      <p:sp>
        <p:nvSpPr>
          <p:cNvPr id="24" name="Text 22"/>
          <p:cNvSpPr txBox="1"/>
          <p:nvPr/>
        </p:nvSpPr>
        <p:spPr>
          <a:xfrm>
            <a:off x="6281928" y="3044952"/>
            <a:ext cx="1691640" cy="274320"/>
          </a:xfrm>
          <a:prstGeom prst="rect">
            <a:avLst/>
          </a:prstGeom>
          <a:noFill/>
          <a:ln/>
        </p:spPr>
        <p:txBody>
          <a:bodyPr wrap="square" lIns="0" tIns="0" rIns="0" bIns="0" rtlCol="0" anchor="t"/>
          <a:lstStyle/>
          <a:p>
            <a:pPr algn="ctr" indent="0" marL="0">
              <a:buNone/>
            </a:pPr>
            <a:r>
              <a:rPr lang="en-US" sz="1100" dirty="0">
                <a:solidFill>
                  <a:srgbClr val="5F6F69"/>
                </a:solidFill>
                <a:latin typeface="Calibri" pitchFamily="34" charset="0"/>
                <a:ea typeface="Calibri" pitchFamily="34" charset="-122"/>
                <a:cs typeface="Calibri" pitchFamily="34" charset="-120"/>
              </a:rPr>
              <a:t>mother spawn</a:t>
            </a:r>
            <a:endParaRPr lang="en-US" sz="1100" dirty="0"/>
          </a:p>
        </p:txBody>
      </p:sp>
      <p:sp>
        <p:nvSpPr>
          <p:cNvPr id="25" name="Shape 23"/>
          <p:cNvSpPr/>
          <p:nvPr/>
        </p:nvSpPr>
        <p:spPr>
          <a:xfrm>
            <a:off x="7726680" y="2075688"/>
            <a:ext cx="713232" cy="0"/>
          </a:xfrm>
          <a:prstGeom prst="line">
            <a:avLst/>
          </a:prstGeom>
          <a:noFill/>
          <a:ln w="19050">
            <a:solidFill>
              <a:srgbClr val="5F6F69"/>
            </a:solidFill>
            <a:prstDash val="solid"/>
            <a:tailEnd type="triangle"/>
          </a:ln>
        </p:spPr>
      </p:sp>
      <p:sp>
        <p:nvSpPr>
          <p:cNvPr id="26" name="Shape 24"/>
          <p:cNvSpPr/>
          <p:nvPr/>
        </p:nvSpPr>
        <p:spPr>
          <a:xfrm>
            <a:off x="8467344" y="1508760"/>
            <a:ext cx="1143000" cy="1143000"/>
          </a:xfrm>
          <a:prstGeom prst="ellipse">
            <a:avLst/>
          </a:prstGeom>
          <a:solidFill>
            <a:srgbClr val="D9962B"/>
          </a:solidFill>
          <a:ln w="12700">
            <a:solidFill>
              <a:srgbClr val="FFFFFF"/>
            </a:solidFill>
            <a:prstDash val="solid"/>
          </a:ln>
        </p:spPr>
      </p:sp>
      <p:sp>
        <p:nvSpPr>
          <p:cNvPr id="27" name="Text 25"/>
          <p:cNvSpPr txBox="1"/>
          <p:nvPr/>
        </p:nvSpPr>
        <p:spPr>
          <a:xfrm>
            <a:off x="8467344" y="1508760"/>
            <a:ext cx="1143000" cy="114300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5</a:t>
            </a:r>
            <a:endParaRPr lang="en-US" sz="2800" dirty="0"/>
          </a:p>
        </p:txBody>
      </p:sp>
      <p:sp>
        <p:nvSpPr>
          <p:cNvPr id="28" name="Text 26"/>
          <p:cNvSpPr txBox="1"/>
          <p:nvPr/>
        </p:nvSpPr>
        <p:spPr>
          <a:xfrm>
            <a:off x="8193024" y="2743200"/>
            <a:ext cx="1691640" cy="320040"/>
          </a:xfrm>
          <a:prstGeom prst="rect">
            <a:avLst/>
          </a:prstGeom>
          <a:noFill/>
          <a:ln/>
        </p:spPr>
        <p:txBody>
          <a:bodyPr wrap="square" lIns="0" tIns="0" rIns="0" bIns="0" rtlCol="0" anchor="t"/>
          <a:lstStyle/>
          <a:p>
            <a:pPr algn="ctr" indent="0" marL="0">
              <a:buNone/>
            </a:pPr>
            <a:r>
              <a:rPr lang="en-US" sz="1300" b="1" dirty="0">
                <a:solidFill>
                  <a:srgbClr val="14302A"/>
                </a:solidFill>
                <a:latin typeface="Calibri" pitchFamily="34" charset="0"/>
                <a:ea typeface="Calibri" pitchFamily="34" charset="-122"/>
                <a:cs typeface="Calibri" pitchFamily="34" charset="-120"/>
              </a:rPr>
              <a:t>G2 grain spawn</a:t>
            </a:r>
            <a:endParaRPr lang="en-US" sz="1300" dirty="0"/>
          </a:p>
        </p:txBody>
      </p:sp>
      <p:sp>
        <p:nvSpPr>
          <p:cNvPr id="29" name="Text 27"/>
          <p:cNvSpPr txBox="1"/>
          <p:nvPr/>
        </p:nvSpPr>
        <p:spPr>
          <a:xfrm>
            <a:off x="8193024" y="3044952"/>
            <a:ext cx="1691640" cy="274320"/>
          </a:xfrm>
          <a:prstGeom prst="rect">
            <a:avLst/>
          </a:prstGeom>
          <a:noFill/>
          <a:ln/>
        </p:spPr>
        <p:txBody>
          <a:bodyPr wrap="square" lIns="0" tIns="0" rIns="0" bIns="0" rtlCol="0" anchor="t"/>
          <a:lstStyle/>
          <a:p>
            <a:pPr algn="ctr" indent="0" marL="0">
              <a:buNone/>
            </a:pPr>
            <a:r>
              <a:rPr lang="en-US" sz="1100" dirty="0">
                <a:solidFill>
                  <a:srgbClr val="5F6F69"/>
                </a:solidFill>
                <a:latin typeface="Calibri" pitchFamily="34" charset="0"/>
                <a:ea typeface="Calibri" pitchFamily="34" charset="-122"/>
                <a:cs typeface="Calibri" pitchFamily="34" charset="-120"/>
              </a:rPr>
              <a:t>hard stop</a:t>
            </a:r>
            <a:endParaRPr lang="en-US" sz="1100" dirty="0"/>
          </a:p>
        </p:txBody>
      </p:sp>
      <p:sp>
        <p:nvSpPr>
          <p:cNvPr id="30" name="Shape 28"/>
          <p:cNvSpPr/>
          <p:nvPr/>
        </p:nvSpPr>
        <p:spPr>
          <a:xfrm>
            <a:off x="9637776" y="2075688"/>
            <a:ext cx="713232" cy="0"/>
          </a:xfrm>
          <a:prstGeom prst="line">
            <a:avLst/>
          </a:prstGeom>
          <a:noFill/>
          <a:ln w="19050">
            <a:solidFill>
              <a:srgbClr val="5F6F69"/>
            </a:solidFill>
            <a:prstDash val="solid"/>
            <a:tailEnd type="triangle"/>
          </a:ln>
        </p:spPr>
      </p:sp>
      <p:sp>
        <p:nvSpPr>
          <p:cNvPr id="31" name="Shape 29"/>
          <p:cNvSpPr/>
          <p:nvPr/>
        </p:nvSpPr>
        <p:spPr>
          <a:xfrm>
            <a:off x="10378440" y="1508760"/>
            <a:ext cx="1143000" cy="1143000"/>
          </a:xfrm>
          <a:prstGeom prst="ellipse">
            <a:avLst/>
          </a:prstGeom>
          <a:solidFill>
            <a:srgbClr val="14302A"/>
          </a:solidFill>
          <a:ln w="12700">
            <a:solidFill>
              <a:srgbClr val="FFFFFF"/>
            </a:solidFill>
            <a:prstDash val="solid"/>
          </a:ln>
        </p:spPr>
      </p:sp>
      <p:sp>
        <p:nvSpPr>
          <p:cNvPr id="32" name="Text 30"/>
          <p:cNvSpPr txBox="1"/>
          <p:nvPr/>
        </p:nvSpPr>
        <p:spPr>
          <a:xfrm>
            <a:off x="10378440" y="1508760"/>
            <a:ext cx="1143000" cy="114300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6</a:t>
            </a:r>
            <a:endParaRPr lang="en-US" sz="2800" dirty="0"/>
          </a:p>
        </p:txBody>
      </p:sp>
      <p:sp>
        <p:nvSpPr>
          <p:cNvPr id="33" name="Text 31"/>
          <p:cNvSpPr txBox="1"/>
          <p:nvPr/>
        </p:nvSpPr>
        <p:spPr>
          <a:xfrm>
            <a:off x="10104120" y="2743200"/>
            <a:ext cx="1691640" cy="320040"/>
          </a:xfrm>
          <a:prstGeom prst="rect">
            <a:avLst/>
          </a:prstGeom>
          <a:noFill/>
          <a:ln/>
        </p:spPr>
        <p:txBody>
          <a:bodyPr wrap="square" lIns="0" tIns="0" rIns="0" bIns="0" rtlCol="0" anchor="t"/>
          <a:lstStyle/>
          <a:p>
            <a:pPr algn="ctr" indent="0" marL="0">
              <a:buNone/>
            </a:pPr>
            <a:r>
              <a:rPr lang="en-US" sz="1300" b="1" dirty="0">
                <a:solidFill>
                  <a:srgbClr val="14302A"/>
                </a:solidFill>
                <a:latin typeface="Calibri" pitchFamily="34" charset="0"/>
                <a:ea typeface="Calibri" pitchFamily="34" charset="-122"/>
                <a:cs typeface="Calibri" pitchFamily="34" charset="-120"/>
              </a:rPr>
              <a:t>Fruiting blocks</a:t>
            </a:r>
            <a:endParaRPr lang="en-US" sz="1300" dirty="0"/>
          </a:p>
        </p:txBody>
      </p:sp>
      <p:sp>
        <p:nvSpPr>
          <p:cNvPr id="34" name="Text 32"/>
          <p:cNvSpPr txBox="1"/>
          <p:nvPr/>
        </p:nvSpPr>
        <p:spPr>
          <a:xfrm>
            <a:off x="10104120" y="3044952"/>
            <a:ext cx="1691640" cy="274320"/>
          </a:xfrm>
          <a:prstGeom prst="rect">
            <a:avLst/>
          </a:prstGeom>
          <a:noFill/>
          <a:ln/>
        </p:spPr>
        <p:txBody>
          <a:bodyPr wrap="square" lIns="0" tIns="0" rIns="0" bIns="0" rtlCol="0" anchor="t"/>
          <a:lstStyle/>
          <a:p>
            <a:pPr algn="ctr" indent="0" marL="0">
              <a:buNone/>
            </a:pPr>
            <a:r>
              <a:rPr lang="en-US" sz="1100" dirty="0">
                <a:solidFill>
                  <a:srgbClr val="5F6F69"/>
                </a:solidFill>
                <a:latin typeface="Calibri" pitchFamily="34" charset="0"/>
                <a:ea typeface="Calibri" pitchFamily="34" charset="-122"/>
                <a:cs typeface="Calibri" pitchFamily="34" charset="-120"/>
              </a:rPr>
              <a:t>1:10 onward</a:t>
            </a:r>
            <a:endParaRPr lang="en-US" sz="1100" dirty="0"/>
          </a:p>
        </p:txBody>
      </p:sp>
      <p:sp>
        <p:nvSpPr>
          <p:cNvPr id="35" name="Shape 33"/>
          <p:cNvSpPr/>
          <p:nvPr/>
        </p:nvSpPr>
        <p:spPr>
          <a:xfrm>
            <a:off x="548640" y="3611880"/>
            <a:ext cx="5486400" cy="2606040"/>
          </a:xfrm>
          <a:prstGeom prst="roundRect">
            <a:avLst>
              <a:gd name="adj" fmla="val 2807"/>
            </a:avLst>
          </a:prstGeom>
          <a:solidFill>
            <a:srgbClr val="EEF4F0"/>
          </a:solidFill>
          <a:ln w="9525">
            <a:solidFill>
              <a:srgbClr val="EEF4F0"/>
            </a:solidFill>
            <a:prstDash val="solid"/>
          </a:ln>
        </p:spPr>
      </p:sp>
      <p:sp>
        <p:nvSpPr>
          <p:cNvPr id="36" name="Text 34"/>
          <p:cNvSpPr txBox="1"/>
          <p:nvPr/>
        </p:nvSpPr>
        <p:spPr>
          <a:xfrm>
            <a:off x="777240" y="3749040"/>
            <a:ext cx="5029200" cy="365760"/>
          </a:xfrm>
          <a:prstGeom prst="rect">
            <a:avLst/>
          </a:prstGeom>
          <a:noFill/>
          <a:ln/>
        </p:spPr>
        <p:txBody>
          <a:bodyPr wrap="square" lIns="0" tIns="0" rIns="0" bIns="0" rtlCol="0" anchor="t"/>
          <a:lstStyle/>
          <a:p>
            <a:pPr indent="0" marL="0">
              <a:buNone/>
            </a:pPr>
            <a:r>
              <a:rPr lang="en-US" sz="1500" b="1" dirty="0">
                <a:solidFill>
                  <a:srgbClr val="14302A"/>
                </a:solidFill>
                <a:latin typeface="Cambria" pitchFamily="34" charset="0"/>
                <a:ea typeface="Cambria" pitchFamily="34" charset="-122"/>
                <a:cs typeface="Cambria" pitchFamily="34" charset="-120"/>
              </a:rPr>
              <a:t>Non-negotiable rules</a:t>
            </a:r>
            <a:endParaRPr lang="en-US" sz="1500" dirty="0"/>
          </a:p>
        </p:txBody>
      </p:sp>
      <p:sp>
        <p:nvSpPr>
          <p:cNvPr id="37" name="Text 35"/>
          <p:cNvSpPr txBox="1"/>
          <p:nvPr/>
        </p:nvSpPr>
        <p:spPr>
          <a:xfrm>
            <a:off x="777240" y="4160520"/>
            <a:ext cx="5074920" cy="201168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E2A26"/>
                </a:solidFill>
                <a:latin typeface="Calibri" pitchFamily="34" charset="0"/>
                <a:ea typeface="Calibri" pitchFamily="34" charset="-122"/>
                <a:cs typeface="Calibri" pitchFamily="34" charset="-120"/>
              </a:rPr>
              <a:t>Never expand beyond G2: each extra generation risks senescence (slow runs, weak, deformed fruit).</a:t>
            </a:r>
            <a:endParaRPr lang="en-US" sz="1200" dirty="0"/>
          </a:p>
          <a:p>
            <a:pPr marL="342900" indent="-342900">
              <a:spcAft>
                <a:spcPts val="500"/>
              </a:spcAft>
              <a:buSzPct val="100000"/>
              <a:buChar char="•"/>
            </a:pPr>
            <a:r>
              <a:rPr lang="en-US" sz="1200" dirty="0">
                <a:solidFill>
                  <a:srgbClr val="1E2A26"/>
                </a:solidFill>
                <a:latin typeface="Calibri" pitchFamily="34" charset="0"/>
                <a:ea typeface="Calibri" pitchFamily="34" charset="-122"/>
                <a:cs typeface="Calibri" pitchFamily="34" charset="-120"/>
              </a:rPr>
              <a:t>Every liquid-culture batch is streaked on agar and held 72 h before use; bacteria in LC are invisible.</a:t>
            </a:r>
            <a:endParaRPr lang="en-US" sz="1200" dirty="0"/>
          </a:p>
          <a:p>
            <a:pPr marL="342900" indent="-342900">
              <a:spcAft>
                <a:spcPts val="500"/>
              </a:spcAft>
              <a:buSzPct val="100000"/>
              <a:buChar char="•"/>
            </a:pPr>
            <a:r>
              <a:rPr lang="en-US" sz="1200" dirty="0">
                <a:solidFill>
                  <a:srgbClr val="1E2A26"/>
                </a:solidFill>
                <a:latin typeface="Calibri" pitchFamily="34" charset="0"/>
                <a:ea typeface="Calibri" pitchFamily="34" charset="-122"/>
                <a:cs typeface="Calibri" pitchFamily="34" charset="-120"/>
              </a:rPr>
              <a:t>Culture bank: 3 backup slants per strain, sub-cultured every 3–6 months; one set held off-site.</a:t>
            </a:r>
            <a:endParaRPr lang="en-US" sz="1200" dirty="0"/>
          </a:p>
          <a:p>
            <a:pPr marL="342900" indent="-342900">
              <a:spcAft>
                <a:spcPts val="500"/>
              </a:spcAft>
              <a:buSzPct val="100000"/>
              <a:buChar char="•"/>
            </a:pPr>
            <a:r>
              <a:rPr lang="en-US" sz="1200" dirty="0">
                <a:solidFill>
                  <a:srgbClr val="1E2A26"/>
                </a:solidFill>
                <a:latin typeface="Calibri" pitchFamily="34" charset="0"/>
                <a:ea typeface="Calibri" pitchFamily="34" charset="-122"/>
                <a:cs typeface="Calibri" pitchFamily="34" charset="-120"/>
              </a:rPr>
              <a:t>Re-isolate by tissue culture from the best fruit bodies; re-validate before commercial use.</a:t>
            </a:r>
            <a:endParaRPr lang="en-US" sz="1200" dirty="0"/>
          </a:p>
        </p:txBody>
      </p:sp>
      <p:sp>
        <p:nvSpPr>
          <p:cNvPr id="38" name="Shape 36"/>
          <p:cNvSpPr/>
          <p:nvPr/>
        </p:nvSpPr>
        <p:spPr>
          <a:xfrm>
            <a:off x="6309360" y="3611880"/>
            <a:ext cx="5349240" cy="2606040"/>
          </a:xfrm>
          <a:prstGeom prst="roundRect">
            <a:avLst>
              <a:gd name="adj" fmla="val 2807"/>
            </a:avLst>
          </a:prstGeom>
          <a:solidFill>
            <a:srgbClr val="FFFFFF"/>
          </a:solidFill>
          <a:ln w="9525">
            <a:solidFill>
              <a:srgbClr val="D3DED8"/>
            </a:solidFill>
            <a:prstDash val="solid"/>
          </a:ln>
        </p:spPr>
      </p:sp>
      <p:sp>
        <p:nvSpPr>
          <p:cNvPr id="39" name="Text 37"/>
          <p:cNvSpPr txBox="1"/>
          <p:nvPr/>
        </p:nvSpPr>
        <p:spPr>
          <a:xfrm>
            <a:off x="6537960" y="3749040"/>
            <a:ext cx="4937760" cy="365760"/>
          </a:xfrm>
          <a:prstGeom prst="rect">
            <a:avLst/>
          </a:prstGeom>
          <a:noFill/>
          <a:ln/>
        </p:spPr>
        <p:txBody>
          <a:bodyPr wrap="square" lIns="0" tIns="0" rIns="0" bIns="0" rtlCol="0" anchor="t"/>
          <a:lstStyle/>
          <a:p>
            <a:pPr indent="0" marL="0">
              <a:buNone/>
            </a:pPr>
            <a:r>
              <a:rPr lang="en-US" sz="1500" b="1" dirty="0">
                <a:solidFill>
                  <a:srgbClr val="14302A"/>
                </a:solidFill>
                <a:latin typeface="Cambria" pitchFamily="34" charset="0"/>
                <a:ea typeface="Cambria" pitchFamily="34" charset="-122"/>
                <a:cs typeface="Cambria" pitchFamily="34" charset="-120"/>
              </a:rPr>
              <a:t>Sourcing &amp; strain selection</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537960" y="4160520"/>
          <a:ext cx="4937760" cy="914400"/>
        </p:xfrm>
        <a:graphic>
          <a:graphicData uri="http://schemas.openxmlformats.org/drawingml/2006/table">
            <a:tbl>
              <a:tblPr/>
              <a:tblGrid>
                <a:gridCol w="1920240"/>
                <a:gridCol w="1554480"/>
                <a:gridCol w="1463040"/>
              </a:tblGrid>
              <a:tr h="329184">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Source</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Lead time</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Use</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r>
              <a:tr h="329184">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ICAR-DMR, Solan (Govt.)</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~2 months, in-person pickup</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Primary certified strain</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Private labs (e.g., Nuvedo, BM Mushroom)</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Days, courier</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Backup / comparison strain</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r>
            </a:tbl>
          </a:graphicData>
        </a:graphic>
      </p:graphicFrame>
      <p:sp>
        <p:nvSpPr>
          <p:cNvPr id="41" name="Text 38"/>
          <p:cNvSpPr txBox="1"/>
          <p:nvPr/>
        </p:nvSpPr>
        <p:spPr>
          <a:xfrm>
            <a:off x="6537960" y="5349240"/>
            <a:ext cx="4937760" cy="777240"/>
          </a:xfrm>
          <a:prstGeom prst="rect">
            <a:avLst/>
          </a:prstGeom>
          <a:noFill/>
          <a:ln/>
        </p:spPr>
        <p:txBody>
          <a:bodyPr wrap="square" lIns="0" tIns="0" rIns="0" bIns="0" rtlCol="0" anchor="t"/>
          <a:lstStyle/>
          <a:p>
            <a:pPr indent="0" marL="0">
              <a:buNone/>
            </a:pPr>
            <a:r>
              <a:rPr lang="en-US" sz="1100" dirty="0">
                <a:solidFill>
                  <a:srgbClr val="1E2A26"/>
                </a:solidFill>
                <a:latin typeface="Calibri" pitchFamily="34" charset="0"/>
                <a:ea typeface="Calibri" pitchFamily="34" charset="-122"/>
                <a:cs typeface="Calibri" pitchFamily="34" charset="-120"/>
              </a:rPr>
              <a:t>Month-5 strain trial: 2–3 strains × 30 blocks each, scored on colonization days, BE, fruit density and β-glucan. Winner becomes the production strain.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D9962B"/>
                </a:solidFill>
                <a:latin typeface="Calibri" pitchFamily="34" charset="0"/>
                <a:ea typeface="Calibri" pitchFamily="34" charset="-122"/>
                <a:cs typeface="Calibri" pitchFamily="34" charset="-120"/>
              </a:rPr>
              <a:t>03 · GENETICS &amp; SPAWN</a:t>
            </a:r>
            <a:endParaRPr lang="en-US" sz="11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14302A"/>
                </a:solidFill>
                <a:latin typeface="Cambria" pitchFamily="34" charset="0"/>
                <a:ea typeface="Cambria" pitchFamily="34" charset="-122"/>
                <a:cs typeface="Cambria" pitchFamily="34" charset="-120"/>
              </a:rPr>
              <a:t>Grain spawn SOP: daily batch for 60 blocks</a:t>
            </a:r>
            <a:endParaRPr lang="en-US" sz="30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900" dirty="0">
                <a:solidFill>
                  <a:srgbClr val="5F6F69"/>
                </a:solidFill>
                <a:latin typeface="Calibri" pitchFamily="34" charset="0"/>
                <a:ea typeface="Calibri" pitchFamily="34" charset="-122"/>
                <a:cs typeface="Calibri" pitchFamily="34" charset="-120"/>
              </a:rPr>
              <a:t>Lion's Mane Facility  ·  Hamirpur, HP  ·  Project Plan</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900" dirty="0">
                <a:solidFill>
                  <a:srgbClr val="5F6F69"/>
                </a:solidFill>
                <a:latin typeface="Calibri" pitchFamily="34" charset="0"/>
                <a:ea typeface="Calibri" pitchFamily="34" charset="-122"/>
                <a:cs typeface="Calibri" pitchFamily="34" charset="-120"/>
              </a:rPr>
              <a:t>9</a:t>
            </a:r>
            <a:endParaRPr lang="en-US" sz="900" dirty="0"/>
          </a:p>
        </p:txBody>
      </p:sp>
      <p:sp>
        <p:nvSpPr>
          <p:cNvPr id="6" name="Shape 4"/>
          <p:cNvSpPr/>
          <p:nvPr/>
        </p:nvSpPr>
        <p:spPr>
          <a:xfrm>
            <a:off x="548640" y="1463040"/>
            <a:ext cx="2103120" cy="868680"/>
          </a:xfrm>
          <a:prstGeom prst="roundRect">
            <a:avLst>
              <a:gd name="adj" fmla="val 8421"/>
            </a:avLst>
          </a:prstGeom>
          <a:solidFill>
            <a:srgbClr val="EEF4F0"/>
          </a:solidFill>
          <a:ln w="9525">
            <a:solidFill>
              <a:srgbClr val="EEF4F0"/>
            </a:solidFill>
            <a:prstDash val="solid"/>
          </a:ln>
        </p:spPr>
      </p:sp>
      <p:sp>
        <p:nvSpPr>
          <p:cNvPr id="7" name="Text 5"/>
          <p:cNvSpPr txBox="1"/>
          <p:nvPr/>
        </p:nvSpPr>
        <p:spPr>
          <a:xfrm>
            <a:off x="685800" y="1490472"/>
            <a:ext cx="1828800" cy="457200"/>
          </a:xfrm>
          <a:prstGeom prst="rect">
            <a:avLst/>
          </a:prstGeom>
          <a:noFill/>
          <a:ln/>
        </p:spPr>
        <p:txBody>
          <a:bodyPr wrap="square" lIns="0" tIns="0" rIns="0" bIns="0" rtlCol="0" anchor="ctr"/>
          <a:lstStyle/>
          <a:p>
            <a:pPr algn="ctr" indent="0" marL="0">
              <a:buNone/>
            </a:pPr>
            <a:r>
              <a:rPr lang="en-US" sz="1900" b="1" dirty="0">
                <a:solidFill>
                  <a:srgbClr val="2E5E4E"/>
                </a:solidFill>
                <a:latin typeface="Cambria" pitchFamily="34" charset="0"/>
                <a:ea typeface="Cambria" pitchFamily="34" charset="-122"/>
                <a:cs typeface="Cambria" pitchFamily="34" charset="-120"/>
              </a:rPr>
              <a:t>3.15 kg</a:t>
            </a:r>
            <a:endParaRPr lang="en-US" sz="1900" dirty="0"/>
          </a:p>
        </p:txBody>
      </p:sp>
      <p:sp>
        <p:nvSpPr>
          <p:cNvPr id="8" name="Text 6"/>
          <p:cNvSpPr txBox="1"/>
          <p:nvPr/>
        </p:nvSpPr>
        <p:spPr>
          <a:xfrm>
            <a:off x="640080" y="1920240"/>
            <a:ext cx="1920240" cy="320040"/>
          </a:xfrm>
          <a:prstGeom prst="rect">
            <a:avLst/>
          </a:prstGeom>
          <a:noFill/>
          <a:ln/>
        </p:spPr>
        <p:txBody>
          <a:bodyPr wrap="square" lIns="0" tIns="0" rIns="0" bIns="0" rtlCol="0" anchor="t"/>
          <a:lstStyle/>
          <a:p>
            <a:pPr algn="ctr" indent="0" marL="0">
              <a:buNone/>
            </a:pPr>
            <a:r>
              <a:rPr lang="en-US" sz="1050" dirty="0">
                <a:solidFill>
                  <a:srgbClr val="5F6F69"/>
                </a:solidFill>
                <a:latin typeface="Calibri" pitchFamily="34" charset="0"/>
                <a:ea typeface="Calibri" pitchFamily="34" charset="-122"/>
                <a:cs typeface="Calibri" pitchFamily="34" charset="-120"/>
              </a:rPr>
              <a:t>dry millet / sorghum</a:t>
            </a:r>
            <a:endParaRPr lang="en-US" sz="1050" dirty="0"/>
          </a:p>
        </p:txBody>
      </p:sp>
      <p:sp>
        <p:nvSpPr>
          <p:cNvPr id="9" name="Shape 7"/>
          <p:cNvSpPr/>
          <p:nvPr/>
        </p:nvSpPr>
        <p:spPr>
          <a:xfrm>
            <a:off x="2807208" y="1463040"/>
            <a:ext cx="2103120" cy="868680"/>
          </a:xfrm>
          <a:prstGeom prst="roundRect">
            <a:avLst>
              <a:gd name="adj" fmla="val 8421"/>
            </a:avLst>
          </a:prstGeom>
          <a:solidFill>
            <a:srgbClr val="EEF4F0"/>
          </a:solidFill>
          <a:ln w="9525">
            <a:solidFill>
              <a:srgbClr val="EEF4F0"/>
            </a:solidFill>
            <a:prstDash val="solid"/>
          </a:ln>
        </p:spPr>
      </p:sp>
      <p:sp>
        <p:nvSpPr>
          <p:cNvPr id="10" name="Text 8"/>
          <p:cNvSpPr txBox="1"/>
          <p:nvPr/>
        </p:nvSpPr>
        <p:spPr>
          <a:xfrm>
            <a:off x="2944368" y="1490472"/>
            <a:ext cx="1828800" cy="457200"/>
          </a:xfrm>
          <a:prstGeom prst="rect">
            <a:avLst/>
          </a:prstGeom>
          <a:noFill/>
          <a:ln/>
        </p:spPr>
        <p:txBody>
          <a:bodyPr wrap="square" lIns="0" tIns="0" rIns="0" bIns="0" rtlCol="0" anchor="ctr"/>
          <a:lstStyle/>
          <a:p>
            <a:pPr algn="ctr" indent="0" marL="0">
              <a:buNone/>
            </a:pPr>
            <a:r>
              <a:rPr lang="en-US" sz="1900" b="1" dirty="0">
                <a:solidFill>
                  <a:srgbClr val="2E5E4E"/>
                </a:solidFill>
                <a:latin typeface="Cambria" pitchFamily="34" charset="0"/>
                <a:ea typeface="Cambria" pitchFamily="34" charset="-122"/>
                <a:cs typeface="Cambria" pitchFamily="34" charset="-120"/>
              </a:rPr>
              <a:t>3 L</a:t>
            </a:r>
            <a:endParaRPr lang="en-US" sz="1900" dirty="0"/>
          </a:p>
        </p:txBody>
      </p:sp>
      <p:sp>
        <p:nvSpPr>
          <p:cNvPr id="11" name="Text 9"/>
          <p:cNvSpPr txBox="1"/>
          <p:nvPr/>
        </p:nvSpPr>
        <p:spPr>
          <a:xfrm>
            <a:off x="2898648" y="1920240"/>
            <a:ext cx="1920240" cy="320040"/>
          </a:xfrm>
          <a:prstGeom prst="rect">
            <a:avLst/>
          </a:prstGeom>
          <a:noFill/>
          <a:ln/>
        </p:spPr>
        <p:txBody>
          <a:bodyPr wrap="square" lIns="0" tIns="0" rIns="0" bIns="0" rtlCol="0" anchor="t"/>
          <a:lstStyle/>
          <a:p>
            <a:pPr algn="ctr" indent="0" marL="0">
              <a:buNone/>
            </a:pPr>
            <a:r>
              <a:rPr lang="en-US" sz="1050" dirty="0">
                <a:solidFill>
                  <a:srgbClr val="5F6F69"/>
                </a:solidFill>
                <a:latin typeface="Calibri" pitchFamily="34" charset="0"/>
                <a:ea typeface="Calibri" pitchFamily="34" charset="-122"/>
                <a:cs typeface="Calibri" pitchFamily="34" charset="-120"/>
              </a:rPr>
              <a:t>water for soak</a:t>
            </a:r>
            <a:endParaRPr lang="en-US" sz="1050" dirty="0"/>
          </a:p>
        </p:txBody>
      </p:sp>
      <p:sp>
        <p:nvSpPr>
          <p:cNvPr id="12" name="Shape 10"/>
          <p:cNvSpPr/>
          <p:nvPr/>
        </p:nvSpPr>
        <p:spPr>
          <a:xfrm>
            <a:off x="5065776" y="1463040"/>
            <a:ext cx="2103120" cy="868680"/>
          </a:xfrm>
          <a:prstGeom prst="roundRect">
            <a:avLst>
              <a:gd name="adj" fmla="val 8421"/>
            </a:avLst>
          </a:prstGeom>
          <a:solidFill>
            <a:srgbClr val="EEF4F0"/>
          </a:solidFill>
          <a:ln w="9525">
            <a:solidFill>
              <a:srgbClr val="EEF4F0"/>
            </a:solidFill>
            <a:prstDash val="solid"/>
          </a:ln>
        </p:spPr>
      </p:sp>
      <p:sp>
        <p:nvSpPr>
          <p:cNvPr id="13" name="Text 11"/>
          <p:cNvSpPr txBox="1"/>
          <p:nvPr/>
        </p:nvSpPr>
        <p:spPr>
          <a:xfrm>
            <a:off x="5202936" y="1490472"/>
            <a:ext cx="1828800" cy="457200"/>
          </a:xfrm>
          <a:prstGeom prst="rect">
            <a:avLst/>
          </a:prstGeom>
          <a:noFill/>
          <a:ln/>
        </p:spPr>
        <p:txBody>
          <a:bodyPr wrap="square" lIns="0" tIns="0" rIns="0" bIns="0" rtlCol="0" anchor="ctr"/>
          <a:lstStyle/>
          <a:p>
            <a:pPr algn="ctr" indent="0" marL="0">
              <a:buNone/>
            </a:pPr>
            <a:r>
              <a:rPr lang="en-US" sz="1900" b="1" dirty="0">
                <a:solidFill>
                  <a:srgbClr val="2E5E4E"/>
                </a:solidFill>
                <a:latin typeface="Cambria" pitchFamily="34" charset="0"/>
                <a:ea typeface="Cambria" pitchFamily="34" charset="-122"/>
                <a:cs typeface="Cambria" pitchFamily="34" charset="-120"/>
              </a:rPr>
              <a:t>31.5 g</a:t>
            </a:r>
            <a:endParaRPr lang="en-US" sz="1900" dirty="0"/>
          </a:p>
        </p:txBody>
      </p:sp>
      <p:sp>
        <p:nvSpPr>
          <p:cNvPr id="14" name="Text 12"/>
          <p:cNvSpPr txBox="1"/>
          <p:nvPr/>
        </p:nvSpPr>
        <p:spPr>
          <a:xfrm>
            <a:off x="5157216" y="1920240"/>
            <a:ext cx="1920240" cy="320040"/>
          </a:xfrm>
          <a:prstGeom prst="rect">
            <a:avLst/>
          </a:prstGeom>
          <a:noFill/>
          <a:ln/>
        </p:spPr>
        <p:txBody>
          <a:bodyPr wrap="square" lIns="0" tIns="0" rIns="0" bIns="0" rtlCol="0" anchor="t"/>
          <a:lstStyle/>
          <a:p>
            <a:pPr algn="ctr" indent="0" marL="0">
              <a:buNone/>
            </a:pPr>
            <a:r>
              <a:rPr lang="en-US" sz="1050" dirty="0">
                <a:solidFill>
                  <a:srgbClr val="5F6F69"/>
                </a:solidFill>
                <a:latin typeface="Calibri" pitchFamily="34" charset="0"/>
                <a:ea typeface="Calibri" pitchFamily="34" charset="-122"/>
                <a:cs typeface="Calibri" pitchFamily="34" charset="-120"/>
              </a:rPr>
              <a:t>gypsum (CaSO₄), 1%</a:t>
            </a:r>
            <a:endParaRPr lang="en-US" sz="1050" dirty="0"/>
          </a:p>
        </p:txBody>
      </p:sp>
      <p:sp>
        <p:nvSpPr>
          <p:cNvPr id="15" name="Shape 13"/>
          <p:cNvSpPr/>
          <p:nvPr/>
        </p:nvSpPr>
        <p:spPr>
          <a:xfrm>
            <a:off x="7324344" y="1463040"/>
            <a:ext cx="2103120" cy="868680"/>
          </a:xfrm>
          <a:prstGeom prst="roundRect">
            <a:avLst>
              <a:gd name="adj" fmla="val 8421"/>
            </a:avLst>
          </a:prstGeom>
          <a:solidFill>
            <a:srgbClr val="EEF4F0"/>
          </a:solidFill>
          <a:ln w="9525">
            <a:solidFill>
              <a:srgbClr val="EEF4F0"/>
            </a:solidFill>
            <a:prstDash val="solid"/>
          </a:ln>
        </p:spPr>
      </p:sp>
      <p:sp>
        <p:nvSpPr>
          <p:cNvPr id="16" name="Text 14"/>
          <p:cNvSpPr txBox="1"/>
          <p:nvPr/>
        </p:nvSpPr>
        <p:spPr>
          <a:xfrm>
            <a:off x="7461504" y="1490472"/>
            <a:ext cx="1828800" cy="457200"/>
          </a:xfrm>
          <a:prstGeom prst="rect">
            <a:avLst/>
          </a:prstGeom>
          <a:noFill/>
          <a:ln/>
        </p:spPr>
        <p:txBody>
          <a:bodyPr wrap="square" lIns="0" tIns="0" rIns="0" bIns="0" rtlCol="0" anchor="ctr"/>
          <a:lstStyle/>
          <a:p>
            <a:pPr algn="ctr" indent="0" marL="0">
              <a:buNone/>
            </a:pPr>
            <a:r>
              <a:rPr lang="en-US" sz="1900" b="1" dirty="0">
                <a:solidFill>
                  <a:srgbClr val="2E5E4E"/>
                </a:solidFill>
                <a:latin typeface="Cambria" pitchFamily="34" charset="0"/>
                <a:ea typeface="Cambria" pitchFamily="34" charset="-122"/>
                <a:cs typeface="Cambria" pitchFamily="34" charset="-120"/>
              </a:rPr>
              <a:t>30 ml</a:t>
            </a:r>
            <a:endParaRPr lang="en-US" sz="1900" dirty="0"/>
          </a:p>
        </p:txBody>
      </p:sp>
      <p:sp>
        <p:nvSpPr>
          <p:cNvPr id="17" name="Text 15"/>
          <p:cNvSpPr txBox="1"/>
          <p:nvPr/>
        </p:nvSpPr>
        <p:spPr>
          <a:xfrm>
            <a:off x="7415784" y="1920240"/>
            <a:ext cx="1920240" cy="320040"/>
          </a:xfrm>
          <a:prstGeom prst="rect">
            <a:avLst/>
          </a:prstGeom>
          <a:noFill/>
          <a:ln/>
        </p:spPr>
        <p:txBody>
          <a:bodyPr wrap="square" lIns="0" tIns="0" rIns="0" bIns="0" rtlCol="0" anchor="t"/>
          <a:lstStyle/>
          <a:p>
            <a:pPr algn="ctr" indent="0" marL="0">
              <a:buNone/>
            </a:pPr>
            <a:r>
              <a:rPr lang="en-US" sz="1050" dirty="0">
                <a:solidFill>
                  <a:srgbClr val="5F6F69"/>
                </a:solidFill>
                <a:latin typeface="Calibri" pitchFamily="34" charset="0"/>
                <a:ea typeface="Calibri" pitchFamily="34" charset="-122"/>
                <a:cs typeface="Calibri" pitchFamily="34" charset="-120"/>
              </a:rPr>
              <a:t>liquid culture</a:t>
            </a:r>
            <a:endParaRPr lang="en-US" sz="1050" dirty="0"/>
          </a:p>
        </p:txBody>
      </p:sp>
      <p:sp>
        <p:nvSpPr>
          <p:cNvPr id="18" name="Shape 16"/>
          <p:cNvSpPr/>
          <p:nvPr/>
        </p:nvSpPr>
        <p:spPr>
          <a:xfrm>
            <a:off x="9582912" y="1463040"/>
            <a:ext cx="2103120" cy="868680"/>
          </a:xfrm>
          <a:prstGeom prst="roundRect">
            <a:avLst>
              <a:gd name="adj" fmla="val 8421"/>
            </a:avLst>
          </a:prstGeom>
          <a:solidFill>
            <a:srgbClr val="14302A"/>
          </a:solidFill>
          <a:ln w="9525">
            <a:solidFill>
              <a:srgbClr val="14302A"/>
            </a:solidFill>
            <a:prstDash val="solid"/>
          </a:ln>
        </p:spPr>
      </p:sp>
      <p:sp>
        <p:nvSpPr>
          <p:cNvPr id="19" name="Text 17"/>
          <p:cNvSpPr txBox="1"/>
          <p:nvPr/>
        </p:nvSpPr>
        <p:spPr>
          <a:xfrm>
            <a:off x="9720072" y="1490472"/>
            <a:ext cx="18288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6 kg</a:t>
            </a:r>
            <a:endParaRPr lang="en-US" sz="1900" dirty="0"/>
          </a:p>
        </p:txBody>
      </p:sp>
      <p:sp>
        <p:nvSpPr>
          <p:cNvPr id="20" name="Text 18"/>
          <p:cNvSpPr txBox="1"/>
          <p:nvPr/>
        </p:nvSpPr>
        <p:spPr>
          <a:xfrm>
            <a:off x="9674352" y="1920240"/>
            <a:ext cx="1920240" cy="320040"/>
          </a:xfrm>
          <a:prstGeom prst="rect">
            <a:avLst/>
          </a:prstGeom>
          <a:noFill/>
          <a:ln/>
        </p:spPr>
        <p:txBody>
          <a:bodyPr wrap="square" lIns="0" tIns="0" rIns="0" bIns="0" rtlCol="0" anchor="t"/>
          <a:lstStyle/>
          <a:p>
            <a:pPr algn="ctr" indent="0" marL="0">
              <a:buNone/>
            </a:pPr>
            <a:r>
              <a:rPr lang="en-US" sz="1050" dirty="0">
                <a:solidFill>
                  <a:srgbClr val="8DB596"/>
                </a:solidFill>
                <a:latin typeface="Calibri" pitchFamily="34" charset="0"/>
                <a:ea typeface="Calibri" pitchFamily="34" charset="-122"/>
                <a:cs typeface="Calibri" pitchFamily="34" charset="-120"/>
              </a:rPr>
              <a:t>spawn = 3 × 2 kg bags</a:t>
            </a:r>
            <a:endParaRPr lang="en-US" sz="1050" dirty="0"/>
          </a:p>
        </p:txBody>
      </p:sp>
      <p:sp>
        <p:nvSpPr>
          <p:cNvPr id="21" name="Shape 19"/>
          <p:cNvSpPr/>
          <p:nvPr/>
        </p:nvSpPr>
        <p:spPr>
          <a:xfrm>
            <a:off x="548640" y="2606040"/>
            <a:ext cx="2633472" cy="3611880"/>
          </a:xfrm>
          <a:prstGeom prst="roundRect">
            <a:avLst>
              <a:gd name="adj" fmla="val 2778"/>
            </a:avLst>
          </a:prstGeom>
          <a:solidFill>
            <a:srgbClr val="FFFFFF"/>
          </a:solidFill>
          <a:ln w="9525">
            <a:solidFill>
              <a:srgbClr val="D3DED8"/>
            </a:solidFill>
            <a:prstDash val="solid"/>
          </a:ln>
        </p:spPr>
      </p:sp>
      <p:sp>
        <p:nvSpPr>
          <p:cNvPr id="22" name="Text 20"/>
          <p:cNvSpPr txBox="1"/>
          <p:nvPr/>
        </p:nvSpPr>
        <p:spPr>
          <a:xfrm>
            <a:off x="731520" y="2743200"/>
            <a:ext cx="2286000" cy="274320"/>
          </a:xfrm>
          <a:prstGeom prst="rect">
            <a:avLst/>
          </a:prstGeom>
          <a:noFill/>
          <a:ln/>
        </p:spPr>
        <p:txBody>
          <a:bodyPr wrap="square" lIns="0" tIns="0" rIns="0" bIns="0" rtlCol="0" anchor="t"/>
          <a:lstStyle/>
          <a:p>
            <a:pPr indent="0" marL="0">
              <a:buNone/>
            </a:pPr>
            <a:r>
              <a:rPr lang="en-US" sz="1000" b="1" spc="100" kern="0" dirty="0">
                <a:solidFill>
                  <a:srgbClr val="D9962B"/>
                </a:solidFill>
                <a:latin typeface="Calibri" pitchFamily="34" charset="0"/>
                <a:ea typeface="Calibri" pitchFamily="34" charset="-122"/>
                <a:cs typeface="Calibri" pitchFamily="34" charset="-120"/>
              </a:rPr>
              <a:t>PHASE 1 · DAY 0</a:t>
            </a:r>
            <a:endParaRPr lang="en-US" sz="1000" dirty="0"/>
          </a:p>
        </p:txBody>
      </p:sp>
      <p:sp>
        <p:nvSpPr>
          <p:cNvPr id="23" name="Text 21"/>
          <p:cNvSpPr txBox="1"/>
          <p:nvPr/>
        </p:nvSpPr>
        <p:spPr>
          <a:xfrm>
            <a:off x="731520" y="2999232"/>
            <a:ext cx="2286000" cy="411480"/>
          </a:xfrm>
          <a:prstGeom prst="rect">
            <a:avLst/>
          </a:prstGeom>
          <a:noFill/>
          <a:ln/>
        </p:spPr>
        <p:txBody>
          <a:bodyPr wrap="square" lIns="0" tIns="0" rIns="0" bIns="0" rtlCol="0" anchor="t"/>
          <a:lstStyle/>
          <a:p>
            <a:pPr indent="0" marL="0">
              <a:buNone/>
            </a:pPr>
            <a:r>
              <a:rPr lang="en-US" sz="1600" b="1" dirty="0">
                <a:solidFill>
                  <a:srgbClr val="14302A"/>
                </a:solidFill>
                <a:latin typeface="Cambria" pitchFamily="34" charset="0"/>
                <a:ea typeface="Cambria" pitchFamily="34" charset="-122"/>
                <a:cs typeface="Cambria" pitchFamily="34" charset="-120"/>
              </a:rPr>
              <a:t>Hydrate</a:t>
            </a:r>
            <a:endParaRPr lang="en-US" sz="1600" dirty="0"/>
          </a:p>
        </p:txBody>
      </p:sp>
      <p:sp>
        <p:nvSpPr>
          <p:cNvPr id="24" name="Text 22"/>
          <p:cNvSpPr txBox="1"/>
          <p:nvPr/>
        </p:nvSpPr>
        <p:spPr>
          <a:xfrm>
            <a:off x="731520" y="3474720"/>
            <a:ext cx="2304288" cy="265176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E2A26"/>
                </a:solidFill>
                <a:latin typeface="Calibri" pitchFamily="34" charset="0"/>
                <a:ea typeface="Calibri" pitchFamily="34" charset="-122"/>
                <a:cs typeface="Calibri" pitchFamily="34" charset="-120"/>
              </a:rPr>
              <a:t>Rinse grain in cold water until it runs clear.</a:t>
            </a:r>
            <a:endParaRPr lang="en-US" sz="1250" dirty="0"/>
          </a:p>
          <a:p>
            <a:pPr marL="342900" indent="-342900">
              <a:spcAft>
                <a:spcPts val="500"/>
              </a:spcAft>
              <a:buSzPct val="100000"/>
              <a:buChar char="•"/>
            </a:pPr>
            <a:r>
              <a:rPr lang="en-US" sz="1250" dirty="0">
                <a:solidFill>
                  <a:srgbClr val="1E2A26"/>
                </a:solidFill>
                <a:latin typeface="Calibri" pitchFamily="34" charset="0"/>
                <a:ea typeface="Calibri" pitchFamily="34" charset="-122"/>
                <a:cs typeface="Calibri" pitchFamily="34" charset="-120"/>
              </a:rPr>
              <a:t>Cold-soak 12–16 h under 5 cm of water with the gypsum, to germinate Bacillus endospores so heat can kill them.</a:t>
            </a:r>
            <a:endParaRPr lang="en-US" sz="1250" dirty="0"/>
          </a:p>
          <a:p>
            <a:pPr marL="342900" indent="-342900">
              <a:spcAft>
                <a:spcPts val="500"/>
              </a:spcAft>
              <a:buSzPct val="100000"/>
              <a:buChar char="•"/>
            </a:pPr>
            <a:r>
              <a:rPr lang="en-US" sz="1250" dirty="0">
                <a:solidFill>
                  <a:srgbClr val="1E2A26"/>
                </a:solidFill>
                <a:latin typeface="Calibri" pitchFamily="34" charset="0"/>
                <a:ea typeface="Calibri" pitchFamily="34" charset="-122"/>
                <a:cs typeface="Calibri" pitchFamily="34" charset="-120"/>
              </a:rPr>
              <a:t>Simmer 15 min: chalky centre gone, hulls intact.</a:t>
            </a:r>
            <a:endParaRPr lang="en-US" sz="1250" dirty="0"/>
          </a:p>
        </p:txBody>
      </p:sp>
      <p:sp>
        <p:nvSpPr>
          <p:cNvPr id="25" name="Shape 23"/>
          <p:cNvSpPr/>
          <p:nvPr/>
        </p:nvSpPr>
        <p:spPr>
          <a:xfrm>
            <a:off x="3364992" y="2606040"/>
            <a:ext cx="2633472" cy="3611880"/>
          </a:xfrm>
          <a:prstGeom prst="roundRect">
            <a:avLst>
              <a:gd name="adj" fmla="val 2778"/>
            </a:avLst>
          </a:prstGeom>
          <a:solidFill>
            <a:srgbClr val="FFFFFF"/>
          </a:solidFill>
          <a:ln w="9525">
            <a:solidFill>
              <a:srgbClr val="D3DED8"/>
            </a:solidFill>
            <a:prstDash val="solid"/>
          </a:ln>
        </p:spPr>
      </p:sp>
      <p:sp>
        <p:nvSpPr>
          <p:cNvPr id="26" name="Text 24"/>
          <p:cNvSpPr txBox="1"/>
          <p:nvPr/>
        </p:nvSpPr>
        <p:spPr>
          <a:xfrm>
            <a:off x="3547872" y="2743200"/>
            <a:ext cx="2286000" cy="274320"/>
          </a:xfrm>
          <a:prstGeom prst="rect">
            <a:avLst/>
          </a:prstGeom>
          <a:noFill/>
          <a:ln/>
        </p:spPr>
        <p:txBody>
          <a:bodyPr wrap="square" lIns="0" tIns="0" rIns="0" bIns="0" rtlCol="0" anchor="t"/>
          <a:lstStyle/>
          <a:p>
            <a:pPr indent="0" marL="0">
              <a:buNone/>
            </a:pPr>
            <a:r>
              <a:rPr lang="en-US" sz="1000" b="1" spc="100" kern="0" dirty="0">
                <a:solidFill>
                  <a:srgbClr val="D9962B"/>
                </a:solidFill>
                <a:latin typeface="Calibri" pitchFamily="34" charset="0"/>
                <a:ea typeface="Calibri" pitchFamily="34" charset="-122"/>
                <a:cs typeface="Calibri" pitchFamily="34" charset="-120"/>
              </a:rPr>
              <a:t>PHASE 2 · DAY 1</a:t>
            </a:r>
            <a:endParaRPr lang="en-US" sz="1000" dirty="0"/>
          </a:p>
        </p:txBody>
      </p:sp>
      <p:sp>
        <p:nvSpPr>
          <p:cNvPr id="27" name="Text 25"/>
          <p:cNvSpPr txBox="1"/>
          <p:nvPr/>
        </p:nvSpPr>
        <p:spPr>
          <a:xfrm>
            <a:off x="3547872" y="2999232"/>
            <a:ext cx="2286000" cy="411480"/>
          </a:xfrm>
          <a:prstGeom prst="rect">
            <a:avLst/>
          </a:prstGeom>
          <a:noFill/>
          <a:ln/>
        </p:spPr>
        <p:txBody>
          <a:bodyPr wrap="square" lIns="0" tIns="0" rIns="0" bIns="0" rtlCol="0" anchor="t"/>
          <a:lstStyle/>
          <a:p>
            <a:pPr indent="0" marL="0">
              <a:buNone/>
            </a:pPr>
            <a:r>
              <a:rPr lang="en-US" sz="1600" b="1" dirty="0">
                <a:solidFill>
                  <a:srgbClr val="14302A"/>
                </a:solidFill>
                <a:latin typeface="Cambria" pitchFamily="34" charset="0"/>
                <a:ea typeface="Cambria" pitchFamily="34" charset="-122"/>
                <a:cs typeface="Cambria" pitchFamily="34" charset="-120"/>
              </a:rPr>
              <a:t>Dry, bag, sterilize</a:t>
            </a:r>
            <a:endParaRPr lang="en-US" sz="1600" dirty="0"/>
          </a:p>
        </p:txBody>
      </p:sp>
      <p:sp>
        <p:nvSpPr>
          <p:cNvPr id="28" name="Text 26"/>
          <p:cNvSpPr txBox="1"/>
          <p:nvPr/>
        </p:nvSpPr>
        <p:spPr>
          <a:xfrm>
            <a:off x="3547872" y="3474720"/>
            <a:ext cx="2304288" cy="265176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E2A26"/>
                </a:solidFill>
                <a:latin typeface="Calibri" pitchFamily="34" charset="0"/>
                <a:ea typeface="Calibri" pitchFamily="34" charset="-122"/>
                <a:cs typeface="Calibri" pitchFamily="34" charset="-120"/>
              </a:rPr>
              <a:t>Drain; surface-dry on mesh with a fan 45–60 min. Grain must not stick to the hand.</a:t>
            </a:r>
            <a:endParaRPr lang="en-US" sz="1250" dirty="0"/>
          </a:p>
          <a:p>
            <a:pPr marL="342900" indent="-342900">
              <a:spcAft>
                <a:spcPts val="500"/>
              </a:spcAft>
              <a:buSzPct val="100000"/>
              <a:buChar char="•"/>
            </a:pPr>
            <a:r>
              <a:rPr lang="en-US" sz="1250" dirty="0">
                <a:solidFill>
                  <a:srgbClr val="1E2A26"/>
                </a:solidFill>
                <a:latin typeface="Calibri" pitchFamily="34" charset="0"/>
                <a:ea typeface="Calibri" pitchFamily="34" charset="-122"/>
                <a:cs typeface="Calibri" pitchFamily="34" charset="-120"/>
              </a:rPr>
              <a:t>Fill 2 kg per filter-patch bag with injection port.</a:t>
            </a:r>
            <a:endParaRPr lang="en-US" sz="1250" dirty="0"/>
          </a:p>
          <a:p>
            <a:pPr marL="342900" indent="-342900">
              <a:spcAft>
                <a:spcPts val="500"/>
              </a:spcAft>
              <a:buSzPct val="100000"/>
              <a:buChar char="•"/>
            </a:pPr>
            <a:r>
              <a:rPr lang="en-US" sz="1250" dirty="0">
                <a:solidFill>
                  <a:srgbClr val="1E2A26"/>
                </a:solidFill>
                <a:latin typeface="Calibri" pitchFamily="34" charset="0"/>
                <a:ea typeface="Calibri" pitchFamily="34" charset="-122"/>
                <a:cs typeface="Calibri" pitchFamily="34" charset="-120"/>
              </a:rPr>
              <a:t>121°C / 15 PSI for 120 min; let pressure fall naturally.</a:t>
            </a:r>
            <a:endParaRPr lang="en-US" sz="1250" dirty="0"/>
          </a:p>
        </p:txBody>
      </p:sp>
      <p:sp>
        <p:nvSpPr>
          <p:cNvPr id="29" name="Shape 27"/>
          <p:cNvSpPr/>
          <p:nvPr/>
        </p:nvSpPr>
        <p:spPr>
          <a:xfrm>
            <a:off x="6181344" y="2606040"/>
            <a:ext cx="2633472" cy="3611880"/>
          </a:xfrm>
          <a:prstGeom prst="roundRect">
            <a:avLst>
              <a:gd name="adj" fmla="val 2778"/>
            </a:avLst>
          </a:prstGeom>
          <a:solidFill>
            <a:srgbClr val="FFFFFF"/>
          </a:solidFill>
          <a:ln w="9525">
            <a:solidFill>
              <a:srgbClr val="D3DED8"/>
            </a:solidFill>
            <a:prstDash val="solid"/>
          </a:ln>
        </p:spPr>
      </p:sp>
      <p:sp>
        <p:nvSpPr>
          <p:cNvPr id="30" name="Text 28"/>
          <p:cNvSpPr txBox="1"/>
          <p:nvPr/>
        </p:nvSpPr>
        <p:spPr>
          <a:xfrm>
            <a:off x="6364224" y="2743200"/>
            <a:ext cx="2286000" cy="274320"/>
          </a:xfrm>
          <a:prstGeom prst="rect">
            <a:avLst/>
          </a:prstGeom>
          <a:noFill/>
          <a:ln/>
        </p:spPr>
        <p:txBody>
          <a:bodyPr wrap="square" lIns="0" tIns="0" rIns="0" bIns="0" rtlCol="0" anchor="t"/>
          <a:lstStyle/>
          <a:p>
            <a:pPr indent="0" marL="0">
              <a:buNone/>
            </a:pPr>
            <a:r>
              <a:rPr lang="en-US" sz="1000" b="1" spc="100" kern="0" dirty="0">
                <a:solidFill>
                  <a:srgbClr val="D9962B"/>
                </a:solidFill>
                <a:latin typeface="Calibri" pitchFamily="34" charset="0"/>
                <a:ea typeface="Calibri" pitchFamily="34" charset="-122"/>
                <a:cs typeface="Calibri" pitchFamily="34" charset="-120"/>
              </a:rPr>
              <a:t>PHASE 3 · DAY 2</a:t>
            </a:r>
            <a:endParaRPr lang="en-US" sz="1000" dirty="0"/>
          </a:p>
        </p:txBody>
      </p:sp>
      <p:sp>
        <p:nvSpPr>
          <p:cNvPr id="31" name="Text 29"/>
          <p:cNvSpPr txBox="1"/>
          <p:nvPr/>
        </p:nvSpPr>
        <p:spPr>
          <a:xfrm>
            <a:off x="6364224" y="2999232"/>
            <a:ext cx="2286000" cy="411480"/>
          </a:xfrm>
          <a:prstGeom prst="rect">
            <a:avLst/>
          </a:prstGeom>
          <a:noFill/>
          <a:ln/>
        </p:spPr>
        <p:txBody>
          <a:bodyPr wrap="square" lIns="0" tIns="0" rIns="0" bIns="0" rtlCol="0" anchor="t"/>
          <a:lstStyle/>
          <a:p>
            <a:pPr indent="0" marL="0">
              <a:buNone/>
            </a:pPr>
            <a:r>
              <a:rPr lang="en-US" sz="1600" b="1" dirty="0">
                <a:solidFill>
                  <a:srgbClr val="14302A"/>
                </a:solidFill>
                <a:latin typeface="Cambria" pitchFamily="34" charset="0"/>
                <a:ea typeface="Cambria" pitchFamily="34" charset="-122"/>
                <a:cs typeface="Cambria" pitchFamily="34" charset="-120"/>
              </a:rPr>
              <a:t>Inoculate</a:t>
            </a:r>
            <a:endParaRPr lang="en-US" sz="1600" dirty="0"/>
          </a:p>
        </p:txBody>
      </p:sp>
      <p:sp>
        <p:nvSpPr>
          <p:cNvPr id="32" name="Text 30"/>
          <p:cNvSpPr txBox="1"/>
          <p:nvPr/>
        </p:nvSpPr>
        <p:spPr>
          <a:xfrm>
            <a:off x="6364224" y="3474720"/>
            <a:ext cx="2304288" cy="265176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E2A26"/>
                </a:solidFill>
                <a:latin typeface="Calibri" pitchFamily="34" charset="0"/>
                <a:ea typeface="Calibri" pitchFamily="34" charset="-122"/>
                <a:cs typeface="Calibri" pitchFamily="34" charset="-120"/>
              </a:rPr>
              <a:t>Cool 12 h in the positive-pressure lab to &lt;25°C.</a:t>
            </a:r>
            <a:endParaRPr lang="en-US" sz="1250" dirty="0"/>
          </a:p>
          <a:p>
            <a:pPr marL="342900" indent="-342900">
              <a:spcAft>
                <a:spcPts val="500"/>
              </a:spcAft>
              <a:buSzPct val="100000"/>
              <a:buChar char="•"/>
            </a:pPr>
            <a:r>
              <a:rPr lang="en-US" sz="1250" dirty="0">
                <a:solidFill>
                  <a:srgbClr val="1E2A26"/>
                </a:solidFill>
                <a:latin typeface="Calibri" pitchFamily="34" charset="0"/>
                <a:ea typeface="Calibri" pitchFamily="34" charset="-122"/>
                <a:cs typeface="Calibri" pitchFamily="34" charset="-120"/>
              </a:rPr>
              <a:t>LAF on 30 min; wipe bags, gloves and syringe with 70% IPA.</a:t>
            </a:r>
            <a:endParaRPr lang="en-US" sz="1250" dirty="0"/>
          </a:p>
          <a:p>
            <a:pPr marL="342900" indent="-342900">
              <a:spcAft>
                <a:spcPts val="500"/>
              </a:spcAft>
              <a:buSzPct val="100000"/>
              <a:buChar char="•"/>
            </a:pPr>
            <a:r>
              <a:rPr lang="en-US" sz="1250" dirty="0">
                <a:solidFill>
                  <a:srgbClr val="1E2A26"/>
                </a:solidFill>
                <a:latin typeface="Calibri" pitchFamily="34" charset="0"/>
                <a:ea typeface="Calibri" pitchFamily="34" charset="-122"/>
                <a:cs typeface="Calibri" pitchFamily="34" charset="-120"/>
              </a:rPr>
              <a:t>Flame needle, cool, inject 10 ml LC per bag; seal, shake 30 s.</a:t>
            </a:r>
            <a:endParaRPr lang="en-US" sz="1250" dirty="0"/>
          </a:p>
        </p:txBody>
      </p:sp>
      <p:sp>
        <p:nvSpPr>
          <p:cNvPr id="33" name="Shape 31"/>
          <p:cNvSpPr/>
          <p:nvPr/>
        </p:nvSpPr>
        <p:spPr>
          <a:xfrm>
            <a:off x="8997696" y="2606040"/>
            <a:ext cx="2633472" cy="3611880"/>
          </a:xfrm>
          <a:prstGeom prst="roundRect">
            <a:avLst>
              <a:gd name="adj" fmla="val 2778"/>
            </a:avLst>
          </a:prstGeom>
          <a:solidFill>
            <a:srgbClr val="FBF1DE"/>
          </a:solidFill>
          <a:ln w="9525">
            <a:solidFill>
              <a:srgbClr val="FBF1DE"/>
            </a:solidFill>
            <a:prstDash val="solid"/>
          </a:ln>
        </p:spPr>
      </p:sp>
      <p:sp>
        <p:nvSpPr>
          <p:cNvPr id="34" name="Text 32"/>
          <p:cNvSpPr txBox="1"/>
          <p:nvPr/>
        </p:nvSpPr>
        <p:spPr>
          <a:xfrm>
            <a:off x="9180576" y="2743200"/>
            <a:ext cx="2286000" cy="274320"/>
          </a:xfrm>
          <a:prstGeom prst="rect">
            <a:avLst/>
          </a:prstGeom>
          <a:noFill/>
          <a:ln/>
        </p:spPr>
        <p:txBody>
          <a:bodyPr wrap="square" lIns="0" tIns="0" rIns="0" bIns="0" rtlCol="0" anchor="t"/>
          <a:lstStyle/>
          <a:p>
            <a:pPr indent="0" marL="0">
              <a:buNone/>
            </a:pPr>
            <a:r>
              <a:rPr lang="en-US" sz="1000" b="1" spc="100" kern="0" dirty="0">
                <a:solidFill>
                  <a:srgbClr val="D9962B"/>
                </a:solidFill>
                <a:latin typeface="Calibri" pitchFamily="34" charset="0"/>
                <a:ea typeface="Calibri" pitchFamily="34" charset="-122"/>
                <a:cs typeface="Calibri" pitchFamily="34" charset="-120"/>
              </a:rPr>
              <a:t>PHASE 4 · DAY 8–21</a:t>
            </a:r>
            <a:endParaRPr lang="en-US" sz="1000" dirty="0"/>
          </a:p>
        </p:txBody>
      </p:sp>
      <p:sp>
        <p:nvSpPr>
          <p:cNvPr id="35" name="Text 33"/>
          <p:cNvSpPr txBox="1"/>
          <p:nvPr/>
        </p:nvSpPr>
        <p:spPr>
          <a:xfrm>
            <a:off x="9180576" y="2999232"/>
            <a:ext cx="2286000" cy="411480"/>
          </a:xfrm>
          <a:prstGeom prst="rect">
            <a:avLst/>
          </a:prstGeom>
          <a:noFill/>
          <a:ln/>
        </p:spPr>
        <p:txBody>
          <a:bodyPr wrap="square" lIns="0" tIns="0" rIns="0" bIns="0" rtlCol="0" anchor="t"/>
          <a:lstStyle/>
          <a:p>
            <a:pPr indent="0" marL="0">
              <a:buNone/>
            </a:pPr>
            <a:r>
              <a:rPr lang="en-US" sz="1600" b="1" dirty="0">
                <a:solidFill>
                  <a:srgbClr val="14302A"/>
                </a:solidFill>
                <a:latin typeface="Cambria" pitchFamily="34" charset="0"/>
                <a:ea typeface="Cambria" pitchFamily="34" charset="-122"/>
                <a:cs typeface="Cambria" pitchFamily="34" charset="-120"/>
              </a:rPr>
              <a:t>Break &amp; mature</a:t>
            </a:r>
            <a:endParaRPr lang="en-US" sz="1600" dirty="0"/>
          </a:p>
        </p:txBody>
      </p:sp>
      <p:sp>
        <p:nvSpPr>
          <p:cNvPr id="36" name="Text 34"/>
          <p:cNvSpPr txBox="1"/>
          <p:nvPr/>
        </p:nvSpPr>
        <p:spPr>
          <a:xfrm>
            <a:off x="9180576" y="3474720"/>
            <a:ext cx="2304288" cy="265176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E2A26"/>
                </a:solidFill>
                <a:latin typeface="Calibri" pitchFamily="34" charset="0"/>
                <a:ea typeface="Calibri" pitchFamily="34" charset="-122"/>
                <a:cs typeface="Calibri" pitchFamily="34" charset="-120"/>
              </a:rPr>
              <a:t>Incubate dark at 21–23°C.</a:t>
            </a:r>
            <a:endParaRPr lang="en-US" sz="1250" dirty="0"/>
          </a:p>
          <a:p>
            <a:pPr marL="342900" indent="-342900">
              <a:spcAft>
                <a:spcPts val="500"/>
              </a:spcAft>
              <a:buSzPct val="100000"/>
              <a:buChar char="•"/>
            </a:pPr>
            <a:r>
              <a:rPr lang="en-US" sz="1250" dirty="0">
                <a:solidFill>
                  <a:srgbClr val="1E2A26"/>
                </a:solidFill>
                <a:latin typeface="Calibri" pitchFamily="34" charset="0"/>
                <a:ea typeface="Calibri" pitchFamily="34" charset="-122"/>
                <a:cs typeface="Calibri" pitchFamily="34" charset="-120"/>
              </a:rPr>
              <a:t>At ~30% coverage (day 8–10) break and shake to redistribute.</a:t>
            </a:r>
            <a:endParaRPr lang="en-US" sz="1250" dirty="0"/>
          </a:p>
          <a:p>
            <a:pPr marL="342900" indent="-342900">
              <a:spcAft>
                <a:spcPts val="500"/>
              </a:spcAft>
              <a:buSzPct val="100000"/>
              <a:buChar char="•"/>
            </a:pPr>
            <a:r>
              <a:rPr lang="en-US" sz="1250" dirty="0">
                <a:solidFill>
                  <a:srgbClr val="1E2A26"/>
                </a:solidFill>
                <a:latin typeface="Calibri" pitchFamily="34" charset="0"/>
                <a:ea typeface="Calibri" pitchFamily="34" charset="-122"/>
                <a:cs typeface="Calibri" pitchFamily="34" charset="-120"/>
              </a:rPr>
              <a:t>Use when fully white (day 14–21). Discard any bag with wet, sour or discoloured patches.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D9962B"/>
                </a:solidFill>
                <a:latin typeface="Calibri" pitchFamily="34" charset="0"/>
                <a:ea typeface="Calibri" pitchFamily="34" charset="-122"/>
                <a:cs typeface="Calibri" pitchFamily="34" charset="-120"/>
              </a:rPr>
              <a:t>04 · SUBSTRATE</a:t>
            </a:r>
            <a:endParaRPr lang="en-US" sz="11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14302A"/>
                </a:solidFill>
                <a:latin typeface="Cambria" pitchFamily="34" charset="0"/>
                <a:ea typeface="Cambria" pitchFamily="34" charset="-122"/>
                <a:cs typeface="Cambria" pitchFamily="34" charset="-120"/>
              </a:rPr>
              <a:t>Master's Mix: formulation, sourcing and handling</a:t>
            </a:r>
            <a:endParaRPr lang="en-US" sz="30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900" dirty="0">
                <a:solidFill>
                  <a:srgbClr val="5F6F69"/>
                </a:solidFill>
                <a:latin typeface="Calibri" pitchFamily="34" charset="0"/>
                <a:ea typeface="Calibri" pitchFamily="34" charset="-122"/>
                <a:cs typeface="Calibri" pitchFamily="34" charset="-120"/>
              </a:rPr>
              <a:t>Lion's Mane Facility  ·  Hamirpur, HP  ·  Project Plan</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900" dirty="0">
                <a:solidFill>
                  <a:srgbClr val="5F6F69"/>
                </a:solidFill>
                <a:latin typeface="Calibri" pitchFamily="34" charset="0"/>
                <a:ea typeface="Calibri" pitchFamily="34" charset="-122"/>
                <a:cs typeface="Calibri" pitchFamily="34" charset="-120"/>
              </a:rPr>
              <a:t>10</a:t>
            </a:r>
            <a:endParaRPr lang="en-US" sz="900" dirty="0"/>
          </a:p>
        </p:txBody>
      </p:sp>
      <p:graphicFrame>
        <p:nvGraphicFramePr>
          <p:cNvPr id="6" name="Chart 0" descr=""/>
          <p:cNvGraphicFramePr/>
          <p:nvPr/>
        </p:nvGraphicFramePr>
        <p:xfrm>
          <a:off x="457200" y="1417320"/>
          <a:ext cx="3840480" cy="35661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48640" y="5120640"/>
            <a:ext cx="3657600" cy="1097280"/>
          </a:xfrm>
          <a:prstGeom prst="roundRect">
            <a:avLst>
              <a:gd name="adj" fmla="val 6667"/>
            </a:avLst>
          </a:prstGeom>
          <a:solidFill>
            <a:srgbClr val="EEF4F0"/>
          </a:solidFill>
          <a:ln w="9525">
            <a:solidFill>
              <a:srgbClr val="EEF4F0"/>
            </a:solidFill>
            <a:prstDash val="solid"/>
          </a:ln>
        </p:spPr>
      </p:sp>
      <p:sp>
        <p:nvSpPr>
          <p:cNvPr id="8" name="Text 5"/>
          <p:cNvSpPr txBox="1"/>
          <p:nvPr/>
        </p:nvSpPr>
        <p:spPr>
          <a:xfrm>
            <a:off x="731520" y="5212080"/>
            <a:ext cx="3291840" cy="914400"/>
          </a:xfrm>
          <a:prstGeom prst="rect">
            <a:avLst/>
          </a:prstGeom>
          <a:noFill/>
          <a:ln/>
        </p:spPr>
        <p:txBody>
          <a:bodyPr wrap="square" lIns="0" tIns="0" rIns="0" bIns="0" rtlCol="0" anchor="ctr"/>
          <a:lstStyle/>
          <a:p>
            <a:pPr indent="0" marL="0">
              <a:buNone/>
            </a:pPr>
            <a:r>
              <a:rPr lang="en-US" sz="1150" dirty="0">
                <a:solidFill>
                  <a:srgbClr val="1E2A26"/>
                </a:solidFill>
                <a:latin typeface="Calibri" pitchFamily="34" charset="0"/>
                <a:ea typeface="Calibri" pitchFamily="34" charset="-122"/>
                <a:cs typeface="Calibri" pitchFamily="34" charset="-120"/>
              </a:rPr>
              <a:t>50 : 50 hardwood : soy hull (dry basis), hydrated to 60–62%. Squeeze test: a few drops, never a stream.</a:t>
            </a:r>
            <a:endParaRPr lang="en-US" sz="1150" dirty="0"/>
          </a:p>
        </p:txBody>
      </p:sp>
      <p:sp>
        <p:nvSpPr>
          <p:cNvPr id="9" name="Shape 6"/>
          <p:cNvSpPr/>
          <p:nvPr/>
        </p:nvSpPr>
        <p:spPr>
          <a:xfrm>
            <a:off x="4526280" y="1508760"/>
            <a:ext cx="3383280" cy="2194560"/>
          </a:xfrm>
          <a:prstGeom prst="roundRect">
            <a:avLst>
              <a:gd name="adj" fmla="val 3333"/>
            </a:avLst>
          </a:prstGeom>
          <a:solidFill>
            <a:srgbClr val="FFFFFF"/>
          </a:solidFill>
          <a:ln w="9525">
            <a:solidFill>
              <a:srgbClr val="D3DED8"/>
            </a:solidFill>
            <a:prstDash val="solid"/>
          </a:ln>
        </p:spPr>
      </p:sp>
      <p:sp>
        <p:nvSpPr>
          <p:cNvPr id="10" name="Text 7"/>
          <p:cNvSpPr txBox="1"/>
          <p:nvPr/>
        </p:nvSpPr>
        <p:spPr>
          <a:xfrm>
            <a:off x="4709160" y="1627632"/>
            <a:ext cx="3017520" cy="320040"/>
          </a:xfrm>
          <a:prstGeom prst="rect">
            <a:avLst/>
          </a:prstGeom>
          <a:noFill/>
          <a:ln/>
        </p:spPr>
        <p:txBody>
          <a:bodyPr wrap="square" lIns="0" tIns="0" rIns="0" bIns="0" rtlCol="0" anchor="t"/>
          <a:lstStyle/>
          <a:p>
            <a:pPr indent="0" marL="0">
              <a:buNone/>
            </a:pPr>
            <a:r>
              <a:rPr lang="en-US" sz="1500" b="1" dirty="0">
                <a:solidFill>
                  <a:srgbClr val="14302A"/>
                </a:solidFill>
                <a:latin typeface="Cambria" pitchFamily="34" charset="0"/>
                <a:ea typeface="Cambria" pitchFamily="34" charset="-122"/>
                <a:cs typeface="Cambria" pitchFamily="34" charset="-120"/>
              </a:rPr>
              <a:t>Wood selection</a:t>
            </a:r>
            <a:endParaRPr lang="en-US" sz="1500" dirty="0"/>
          </a:p>
        </p:txBody>
      </p:sp>
      <p:pic>
        <p:nvPicPr>
          <p:cNvPr id="11" name="Image 0" descr="preencoded.png">    </p:cNvPr>
          <p:cNvPicPr>
            <a:picLocks noChangeAspect="1"/>
          </p:cNvPicPr>
          <p:nvPr/>
        </p:nvPicPr>
        <p:blipFill>
          <a:blip r:embed="rId2"/>
          <a:stretch>
            <a:fillRect/>
          </a:stretch>
        </p:blipFill>
        <p:spPr>
          <a:xfrm>
            <a:off x="4709160" y="2057400"/>
            <a:ext cx="237744" cy="237744"/>
          </a:xfrm>
          <a:prstGeom prst="rect">
            <a:avLst/>
          </a:prstGeom>
        </p:spPr>
      </p:pic>
      <p:sp>
        <p:nvSpPr>
          <p:cNvPr id="12" name="Text 8"/>
          <p:cNvSpPr txBox="1"/>
          <p:nvPr/>
        </p:nvSpPr>
        <p:spPr>
          <a:xfrm>
            <a:off x="5029200" y="2011680"/>
            <a:ext cx="2743200" cy="502920"/>
          </a:xfrm>
          <a:prstGeom prst="rect">
            <a:avLst/>
          </a:prstGeom>
          <a:noFill/>
          <a:ln/>
        </p:spPr>
        <p:txBody>
          <a:bodyPr wrap="square" lIns="0" tIns="0" rIns="0" bIns="0" rtlCol="0" anchor="t"/>
          <a:lstStyle/>
          <a:p>
            <a:pPr indent="0" marL="0">
              <a:buNone/>
            </a:pPr>
            <a:r>
              <a:rPr lang="en-US" sz="1150" dirty="0">
                <a:solidFill>
                  <a:srgbClr val="1E2A26"/>
                </a:solidFill>
                <a:latin typeface="Calibri" pitchFamily="34" charset="0"/>
                <a:ea typeface="Calibri" pitchFamily="34" charset="-122"/>
                <a:cs typeface="Calibri" pitchFamily="34" charset="-120"/>
              </a:rPr>
              <a:t>Approved: Mango, Poplar, Safeda/Eucalyptus, Oak</a:t>
            </a:r>
            <a:endParaRPr lang="en-US" sz="1150" dirty="0"/>
          </a:p>
        </p:txBody>
      </p:sp>
      <p:pic>
        <p:nvPicPr>
          <p:cNvPr id="13" name="Image 1" descr="preencoded.png">    </p:cNvPr>
          <p:cNvPicPr>
            <a:picLocks noChangeAspect="1"/>
          </p:cNvPicPr>
          <p:nvPr/>
        </p:nvPicPr>
        <p:blipFill>
          <a:blip r:embed="rId3"/>
          <a:stretch>
            <a:fillRect/>
          </a:stretch>
        </p:blipFill>
        <p:spPr>
          <a:xfrm>
            <a:off x="4709160" y="2651760"/>
            <a:ext cx="237744" cy="237744"/>
          </a:xfrm>
          <a:prstGeom prst="rect">
            <a:avLst/>
          </a:prstGeom>
        </p:spPr>
      </p:pic>
      <p:sp>
        <p:nvSpPr>
          <p:cNvPr id="14" name="Text 9"/>
          <p:cNvSpPr txBox="1"/>
          <p:nvPr/>
        </p:nvSpPr>
        <p:spPr>
          <a:xfrm>
            <a:off x="5029200" y="2606040"/>
            <a:ext cx="2743200" cy="822960"/>
          </a:xfrm>
          <a:prstGeom prst="rect">
            <a:avLst/>
          </a:prstGeom>
          <a:noFill/>
          <a:ln/>
        </p:spPr>
        <p:txBody>
          <a:bodyPr wrap="square" lIns="0" tIns="0" rIns="0" bIns="0" rtlCol="0" anchor="t"/>
          <a:lstStyle/>
          <a:p>
            <a:pPr indent="0" marL="0">
              <a:buNone/>
            </a:pPr>
            <a:r>
              <a:rPr lang="en-US" sz="1150" dirty="0">
                <a:solidFill>
                  <a:srgbClr val="1E2A26"/>
                </a:solidFill>
                <a:latin typeface="Calibri" pitchFamily="34" charset="0"/>
                <a:ea typeface="Calibri" pitchFamily="34" charset="-122"/>
                <a:cs typeface="Calibri" pitchFamily="34" charset="-120"/>
              </a:rPr>
              <a:t>Excluded: softwoods (Pine, Deodar) and resinous or anti-fungal hardwoods (Teak, Sal, Hollock)</a:t>
            </a:r>
            <a:endParaRPr lang="en-US" sz="1150" dirty="0"/>
          </a:p>
        </p:txBody>
      </p:sp>
      <p:sp>
        <p:nvSpPr>
          <p:cNvPr id="15" name="Shape 10"/>
          <p:cNvSpPr/>
          <p:nvPr/>
        </p:nvSpPr>
        <p:spPr>
          <a:xfrm>
            <a:off x="4526280" y="3931920"/>
            <a:ext cx="3383280" cy="2286000"/>
          </a:xfrm>
          <a:prstGeom prst="roundRect">
            <a:avLst>
              <a:gd name="adj" fmla="val 3200"/>
            </a:avLst>
          </a:prstGeom>
          <a:solidFill>
            <a:srgbClr val="FFFFFF"/>
          </a:solidFill>
          <a:ln w="9525">
            <a:solidFill>
              <a:srgbClr val="D3DED8"/>
            </a:solidFill>
            <a:prstDash val="solid"/>
          </a:ln>
        </p:spPr>
      </p:sp>
      <p:sp>
        <p:nvSpPr>
          <p:cNvPr id="16" name="Text 11"/>
          <p:cNvSpPr txBox="1"/>
          <p:nvPr/>
        </p:nvSpPr>
        <p:spPr>
          <a:xfrm>
            <a:off x="4709160" y="4050792"/>
            <a:ext cx="3017520" cy="320040"/>
          </a:xfrm>
          <a:prstGeom prst="rect">
            <a:avLst/>
          </a:prstGeom>
          <a:noFill/>
          <a:ln/>
        </p:spPr>
        <p:txBody>
          <a:bodyPr wrap="square" lIns="0" tIns="0" rIns="0" bIns="0" rtlCol="0" anchor="t"/>
          <a:lstStyle/>
          <a:p>
            <a:pPr indent="0" marL="0">
              <a:buNone/>
            </a:pPr>
            <a:r>
              <a:rPr lang="en-US" sz="1500" b="1" dirty="0">
                <a:solidFill>
                  <a:srgbClr val="14302A"/>
                </a:solidFill>
                <a:latin typeface="Cambria" pitchFamily="34" charset="0"/>
                <a:ea typeface="Cambria" pitchFamily="34" charset="-122"/>
                <a:cs typeface="Cambria" pitchFamily="34" charset="-120"/>
              </a:rPr>
              <a:t>Suppliers (from site notes)</a:t>
            </a:r>
            <a:endParaRPr lang="en-US"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709160" y="4434840"/>
          <a:ext cx="3017520" cy="914400"/>
        </p:xfrm>
        <a:graphic>
          <a:graphicData uri="http://schemas.openxmlformats.org/drawingml/2006/table">
            <a:tbl>
              <a:tblPr/>
              <a:tblGrid>
                <a:gridCol w="731520"/>
                <a:gridCol w="1737360"/>
                <a:gridCol w="548640"/>
              </a:tblGrid>
              <a:tr h="329184">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Input</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Supplier</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₹/kg</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r>
              <a:tr h="329184">
                <a:tc>
                  <a:txBody>
                    <a:bodyPr/>
                    <a:lstStyle/>
                    <a:p>
                      <a:pPr indent="0" marL="0">
                        <a:buNone/>
                      </a:pPr>
                      <a:r>
                        <a:rPr lang="en-US" sz="1000" dirty="0">
                          <a:solidFill>
                            <a:srgbClr val="1E2A26"/>
                          </a:solidFill>
                          <a:latin typeface="Calibri" pitchFamily="34" charset="0"/>
                          <a:ea typeface="Calibri" pitchFamily="34" charset="-122"/>
                          <a:cs typeface="Calibri" pitchFamily="34" charset="-120"/>
                        </a:rPr>
                        <a:t>Sawdust</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000" dirty="0">
                          <a:solidFill>
                            <a:srgbClr val="1E2A26"/>
                          </a:solidFill>
                          <a:latin typeface="Calibri" pitchFamily="34" charset="0"/>
                          <a:ea typeface="Calibri" pitchFamily="34" charset="-122"/>
                          <a:cs typeface="Calibri" pitchFamily="34" charset="-120"/>
                        </a:rPr>
                        <a:t>Rajinder Singh &amp; Bros, Zirakpur</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000" dirty="0">
                          <a:solidFill>
                            <a:srgbClr val="1E2A26"/>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E2A26"/>
                          </a:solidFill>
                          <a:latin typeface="Calibri" pitchFamily="34" charset="0"/>
                          <a:ea typeface="Calibri" pitchFamily="34" charset="-122"/>
                          <a:cs typeface="Calibri" pitchFamily="34" charset="-120"/>
                        </a:rPr>
                        <a:t>Soy hull</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000" dirty="0">
                          <a:solidFill>
                            <a:srgbClr val="1E2A26"/>
                          </a:solidFill>
                          <a:latin typeface="Calibri" pitchFamily="34" charset="0"/>
                          <a:ea typeface="Calibri" pitchFamily="34" charset="-122"/>
                          <a:cs typeface="Calibri" pitchFamily="34" charset="-120"/>
                        </a:rPr>
                        <a:t>Shri Kulkanda Feeds</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000" dirty="0">
                          <a:solidFill>
                            <a:srgbClr val="1E2A26"/>
                          </a:solidFill>
                          <a:latin typeface="Calibri" pitchFamily="34" charset="0"/>
                          <a:ea typeface="Calibri" pitchFamily="34" charset="-122"/>
                          <a:cs typeface="Calibri" pitchFamily="34" charset="-120"/>
                        </a:rPr>
                        <a:t>20</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r>
            </a:tbl>
          </a:graphicData>
        </a:graphic>
      </p:graphicFrame>
      <p:sp>
        <p:nvSpPr>
          <p:cNvPr id="18" name="Text 12"/>
          <p:cNvSpPr txBox="1"/>
          <p:nvPr/>
        </p:nvSpPr>
        <p:spPr>
          <a:xfrm>
            <a:off x="4709160" y="5532120"/>
            <a:ext cx="3017520" cy="457200"/>
          </a:xfrm>
          <a:prstGeom prst="rect">
            <a:avLst/>
          </a:prstGeom>
          <a:noFill/>
          <a:ln/>
        </p:spPr>
        <p:txBody>
          <a:bodyPr wrap="square" lIns="0" tIns="0" rIns="0" bIns="0" rtlCol="0" anchor="t"/>
          <a:lstStyle/>
          <a:p>
            <a:pPr indent="0" marL="0">
              <a:buNone/>
            </a:pPr>
            <a:r>
              <a:rPr lang="en-US" sz="1100" b="1" dirty="0">
                <a:solidFill>
                  <a:srgbClr val="2E5E4E"/>
                </a:solidFill>
                <a:latin typeface="Calibri" pitchFamily="34" charset="0"/>
                <a:ea typeface="Calibri" pitchFamily="34" charset="-122"/>
                <a:cs typeface="Calibri" pitchFamily="34" charset="-120"/>
              </a:rPr>
              <a:t>Budget ~₹45,000/month incl. freight</a:t>
            </a:r>
            <a:endParaRPr lang="en-US" sz="1100" dirty="0"/>
          </a:p>
        </p:txBody>
      </p:sp>
      <p:sp>
        <p:nvSpPr>
          <p:cNvPr id="19" name="Shape 13"/>
          <p:cNvSpPr/>
          <p:nvPr/>
        </p:nvSpPr>
        <p:spPr>
          <a:xfrm>
            <a:off x="8183880" y="1508760"/>
            <a:ext cx="3474720" cy="4709160"/>
          </a:xfrm>
          <a:prstGeom prst="roundRect">
            <a:avLst>
              <a:gd name="adj" fmla="val 2105"/>
            </a:avLst>
          </a:prstGeom>
          <a:solidFill>
            <a:srgbClr val="FBF1DE"/>
          </a:solidFill>
          <a:ln w="9525">
            <a:solidFill>
              <a:srgbClr val="FBF1DE"/>
            </a:solidFill>
            <a:prstDash val="solid"/>
          </a:ln>
        </p:spPr>
      </p:sp>
      <p:sp>
        <p:nvSpPr>
          <p:cNvPr id="20" name="Text 14"/>
          <p:cNvSpPr txBox="1"/>
          <p:nvPr/>
        </p:nvSpPr>
        <p:spPr>
          <a:xfrm>
            <a:off x="8366760" y="1645920"/>
            <a:ext cx="3108960" cy="548640"/>
          </a:xfrm>
          <a:prstGeom prst="rect">
            <a:avLst/>
          </a:prstGeom>
          <a:noFill/>
          <a:ln/>
        </p:spPr>
        <p:txBody>
          <a:bodyPr wrap="square" lIns="0" tIns="0" rIns="0" bIns="0" rtlCol="0" anchor="t"/>
          <a:lstStyle/>
          <a:p>
            <a:pPr indent="0" marL="0">
              <a:buNone/>
            </a:pPr>
            <a:r>
              <a:rPr lang="en-US" sz="1500" b="1" dirty="0">
                <a:solidFill>
                  <a:srgbClr val="A36A12"/>
                </a:solidFill>
                <a:latin typeface="Cambria" pitchFamily="34" charset="0"/>
                <a:ea typeface="Cambria" pitchFamily="34" charset="-122"/>
                <a:cs typeface="Cambria" pitchFamily="34" charset="-120"/>
              </a:rPr>
              <a:t>Handling rules for a "hot" substrate</a:t>
            </a:r>
            <a:endParaRPr lang="en-US" sz="1500" dirty="0"/>
          </a:p>
        </p:txBody>
      </p:sp>
      <p:sp>
        <p:nvSpPr>
          <p:cNvPr id="21" name="Text 15"/>
          <p:cNvSpPr txBox="1"/>
          <p:nvPr/>
        </p:nvSpPr>
        <p:spPr>
          <a:xfrm>
            <a:off x="8366760" y="2240280"/>
            <a:ext cx="3154680" cy="388620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E2A26"/>
                </a:solidFill>
                <a:latin typeface="Calibri" pitchFamily="34" charset="0"/>
                <a:ea typeface="Calibri" pitchFamily="34" charset="-122"/>
                <a:cs typeface="Calibri" pitchFamily="34" charset="-120"/>
              </a:rPr>
              <a:t>Master's Mix is very nutritious, so contaminants love it as much as Lion's Mane does.</a:t>
            </a:r>
            <a:endParaRPr lang="en-US" sz="1200" dirty="0"/>
          </a:p>
          <a:p>
            <a:pPr marL="342900" indent="-342900">
              <a:spcAft>
                <a:spcPts val="500"/>
              </a:spcAft>
              <a:buSzPct val="100000"/>
              <a:buChar char="•"/>
            </a:pPr>
            <a:r>
              <a:rPr lang="en-US" sz="1200" dirty="0">
                <a:solidFill>
                  <a:srgbClr val="1E2A26"/>
                </a:solidFill>
                <a:latin typeface="Calibri" pitchFamily="34" charset="0"/>
                <a:ea typeface="Calibri" pitchFamily="34" charset="-122"/>
                <a:cs typeface="Calibri" pitchFamily="34" charset="-120"/>
              </a:rPr>
              <a:t>Mix, bag and start sterilizing within 4 h of hydration; a wet mix left overnight sours (bacterial load rises).</a:t>
            </a:r>
            <a:endParaRPr lang="en-US" sz="1200" dirty="0"/>
          </a:p>
          <a:p>
            <a:pPr marL="342900" indent="-342900">
              <a:spcAft>
                <a:spcPts val="500"/>
              </a:spcAft>
              <a:buSzPct val="100000"/>
              <a:buChar char="•"/>
            </a:pPr>
            <a:r>
              <a:rPr lang="en-US" sz="1200" dirty="0">
                <a:solidFill>
                  <a:srgbClr val="1E2A26"/>
                </a:solidFill>
                <a:latin typeface="Calibri" pitchFamily="34" charset="0"/>
                <a:ea typeface="Calibri" pitchFamily="34" charset="-122"/>
                <a:cs typeface="Calibri" pitchFamily="34" charset="-120"/>
              </a:rPr>
              <a:t>Screen sawdust to 2–5 mm with some fines; avoid pure dust, which packs and goes anaerobic.</a:t>
            </a:r>
            <a:endParaRPr lang="en-US" sz="1200" dirty="0"/>
          </a:p>
          <a:p>
            <a:pPr marL="342900" indent="-342900">
              <a:spcAft>
                <a:spcPts val="500"/>
              </a:spcAft>
              <a:buSzPct val="100000"/>
              <a:buChar char="•"/>
            </a:pPr>
            <a:r>
              <a:rPr lang="en-US" sz="1200" dirty="0">
                <a:solidFill>
                  <a:srgbClr val="1E2A26"/>
                </a:solidFill>
                <a:latin typeface="Calibri" pitchFamily="34" charset="0"/>
                <a:ea typeface="Calibri" pitchFamily="34" charset="-122"/>
                <a:cs typeface="Calibri" pitchFamily="34" charset="-120"/>
              </a:rPr>
              <a:t>Buy hulls fresh, store dry off-site (Zone 0); reject mouldy or damp lots.</a:t>
            </a:r>
            <a:endParaRPr lang="en-US" sz="1200" dirty="0"/>
          </a:p>
          <a:p>
            <a:pPr marL="342900" indent="-342900">
              <a:spcAft>
                <a:spcPts val="500"/>
              </a:spcAft>
              <a:buSzPct val="100000"/>
              <a:buChar char="•"/>
            </a:pPr>
            <a:r>
              <a:rPr lang="en-US" sz="1200" dirty="0">
                <a:solidFill>
                  <a:srgbClr val="1E2A26"/>
                </a:solidFill>
                <a:latin typeface="Calibri" pitchFamily="34" charset="0"/>
                <a:ea typeface="Calibri" pitchFamily="34" charset="-122"/>
                <a:cs typeface="Calibri" pitchFamily="34" charset="-120"/>
              </a:rPr>
              <a:t>Record lot numbers of every input batch for traceability.</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D9962B"/>
                </a:solidFill>
                <a:latin typeface="Calibri" pitchFamily="34" charset="0"/>
                <a:ea typeface="Calibri" pitchFamily="34" charset="-122"/>
                <a:cs typeface="Calibri" pitchFamily="34" charset="-120"/>
              </a:rPr>
              <a:t>04 · SUBSTRATE</a:t>
            </a:r>
            <a:endParaRPr lang="en-US" sz="11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14302A"/>
                </a:solidFill>
                <a:latin typeface="Cambria" pitchFamily="34" charset="0"/>
                <a:ea typeface="Cambria" pitchFamily="34" charset="-122"/>
                <a:cs typeface="Cambria" pitchFamily="34" charset="-120"/>
              </a:rPr>
              <a:t>Sterilization: the #1 determinant of contamination rate</a:t>
            </a:r>
            <a:endParaRPr lang="en-US" sz="30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900" dirty="0">
                <a:solidFill>
                  <a:srgbClr val="5F6F69"/>
                </a:solidFill>
                <a:latin typeface="Calibri" pitchFamily="34" charset="0"/>
                <a:ea typeface="Calibri" pitchFamily="34" charset="-122"/>
                <a:cs typeface="Calibri" pitchFamily="34" charset="-120"/>
              </a:rPr>
              <a:t>Lion's Mane Facility  ·  Hamirpur, HP  ·  Project Plan</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900" dirty="0">
                <a:solidFill>
                  <a:srgbClr val="5F6F69"/>
                </a:solidFill>
                <a:latin typeface="Calibri" pitchFamily="34" charset="0"/>
                <a:ea typeface="Calibri" pitchFamily="34" charset="-122"/>
                <a:cs typeface="Calibri" pitchFamily="34" charset="-120"/>
              </a:rPr>
              <a:t>11</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6675120" cy="914400"/>
        </p:xfrm>
        <a:graphic>
          <a:graphicData uri="http://schemas.openxmlformats.org/drawingml/2006/table">
            <a:tbl>
              <a:tblPr/>
              <a:tblGrid>
                <a:gridCol w="2103120"/>
                <a:gridCol w="2011680"/>
                <a:gridCol w="2560320"/>
              </a:tblGrid>
              <a:tr h="47548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Parameter</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Grain spawn</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Substrate blocks</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r>
              <a:tr h="475488">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Temperature / pressure</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121°C @ 15 PSI</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121°C @ 15 PSI</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475488">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Hold time at temperature</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120 min</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150–180 min (dense 2.5 kg blocks)</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r>
              <a:tr h="475488">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Load per cycle</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3 × 2 kg bags (with blocks)</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30 × 2.5 kg blocks</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475488">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Cycles per day</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2 (Phase 1) · 3 (Phase 2)</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r>
              <a:tr h="475488">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Total cycle time</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~4.5 h</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~5.5–6 h incl. heat-up &amp; cool-down</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475488">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Cooling before inoculation</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12 h, &lt;25°C</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12 h, &lt;25–28°C core</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r>
              <a:tr h="475488">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Validation</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BI + core thermocouple</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BI in densest block, weekly</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bl>
          </a:graphicData>
        </a:graphic>
      </p:graphicFrame>
      <p:sp>
        <p:nvSpPr>
          <p:cNvPr id="7" name="Shape 4"/>
          <p:cNvSpPr/>
          <p:nvPr/>
        </p:nvSpPr>
        <p:spPr>
          <a:xfrm>
            <a:off x="7498080" y="1508760"/>
            <a:ext cx="4160520" cy="2148840"/>
          </a:xfrm>
          <a:prstGeom prst="roundRect">
            <a:avLst>
              <a:gd name="adj" fmla="val 3404"/>
            </a:avLst>
          </a:prstGeom>
          <a:solidFill>
            <a:srgbClr val="14302A"/>
          </a:solidFill>
          <a:ln w="9525">
            <a:solidFill>
              <a:srgbClr val="14302A"/>
            </a:solidFill>
            <a:prstDash val="solid"/>
          </a:ln>
        </p:spPr>
      </p:sp>
      <p:sp>
        <p:nvSpPr>
          <p:cNvPr id="8" name="Text 5"/>
          <p:cNvSpPr txBox="1"/>
          <p:nvPr/>
        </p:nvSpPr>
        <p:spPr>
          <a:xfrm>
            <a:off x="7726680" y="1645920"/>
            <a:ext cx="374904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Autoclave sizing</a:t>
            </a:r>
            <a:endParaRPr lang="en-US" sz="1600" dirty="0"/>
          </a:p>
        </p:txBody>
      </p:sp>
      <p:sp>
        <p:nvSpPr>
          <p:cNvPr id="9" name="Text 6"/>
          <p:cNvSpPr txBox="1"/>
          <p:nvPr/>
        </p:nvSpPr>
        <p:spPr>
          <a:xfrm>
            <a:off x="7726680" y="2057400"/>
            <a:ext cx="3749040" cy="150876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30 blocks × ~5 L each = ~150 L of load, plus racking and steam circulation space. Specify a 400–500 L horizontal SS-304 autoclave, ideally double-door pass-through into the clean lab. A 150–200 L vertical unit cannot hold 30 blocks.</a:t>
            </a:r>
            <a:endParaRPr lang="en-US" sz="1150" dirty="0"/>
          </a:p>
        </p:txBody>
      </p:sp>
      <p:sp>
        <p:nvSpPr>
          <p:cNvPr id="10" name="Shape 7"/>
          <p:cNvSpPr/>
          <p:nvPr/>
        </p:nvSpPr>
        <p:spPr>
          <a:xfrm>
            <a:off x="7498080" y="3840480"/>
            <a:ext cx="4160520" cy="2377440"/>
          </a:xfrm>
          <a:prstGeom prst="roundRect">
            <a:avLst>
              <a:gd name="adj" fmla="val 3077"/>
            </a:avLst>
          </a:prstGeom>
          <a:solidFill>
            <a:srgbClr val="FBF1DE"/>
          </a:solidFill>
          <a:ln w="9525">
            <a:solidFill>
              <a:srgbClr val="FBF1DE"/>
            </a:solidFill>
            <a:prstDash val="solid"/>
          </a:ln>
        </p:spPr>
      </p:sp>
      <p:sp>
        <p:nvSpPr>
          <p:cNvPr id="11" name="Text 8"/>
          <p:cNvSpPr txBox="1"/>
          <p:nvPr/>
        </p:nvSpPr>
        <p:spPr>
          <a:xfrm>
            <a:off x="7726680" y="3959352"/>
            <a:ext cx="3749040" cy="365760"/>
          </a:xfrm>
          <a:prstGeom prst="rect">
            <a:avLst/>
          </a:prstGeom>
          <a:noFill/>
          <a:ln/>
        </p:spPr>
        <p:txBody>
          <a:bodyPr wrap="square" lIns="0" tIns="0" rIns="0" bIns="0" rtlCol="0" anchor="t"/>
          <a:lstStyle/>
          <a:p>
            <a:pPr indent="0" marL="0">
              <a:buNone/>
            </a:pPr>
            <a:r>
              <a:rPr lang="en-US" sz="1600" b="1" dirty="0">
                <a:solidFill>
                  <a:srgbClr val="A36A12"/>
                </a:solidFill>
                <a:latin typeface="Cambria" pitchFamily="34" charset="0"/>
                <a:ea typeface="Cambria" pitchFamily="34" charset="-122"/>
                <a:cs typeface="Cambria" pitchFamily="34" charset="-120"/>
              </a:rPr>
              <a:t>Golden rules</a:t>
            </a:r>
            <a:endParaRPr lang="en-US" sz="1600" dirty="0"/>
          </a:p>
        </p:txBody>
      </p:sp>
      <p:sp>
        <p:nvSpPr>
          <p:cNvPr id="12" name="Text 9"/>
          <p:cNvSpPr txBox="1"/>
          <p:nvPr/>
        </p:nvSpPr>
        <p:spPr>
          <a:xfrm>
            <a:off x="7726680" y="4370832"/>
            <a:ext cx="3794760" cy="178308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1E2A26"/>
                </a:solidFill>
                <a:latin typeface="Calibri" pitchFamily="34" charset="0"/>
                <a:ea typeface="Calibri" pitchFamily="34" charset="-122"/>
                <a:cs typeface="Calibri" pitchFamily="34" charset="-120"/>
              </a:rPr>
              <a:t>An interrupted cycle is a failed cycle: restart from zero, never inoculate.</a:t>
            </a:r>
            <a:endParaRPr lang="en-US" sz="1100" dirty="0"/>
          </a:p>
          <a:p>
            <a:pPr marL="342900" indent="-342900">
              <a:spcAft>
                <a:spcPts val="500"/>
              </a:spcAft>
              <a:buSzPct val="100000"/>
              <a:buChar char="•"/>
            </a:pPr>
            <a:r>
              <a:rPr lang="en-US" sz="1100" dirty="0">
                <a:solidFill>
                  <a:srgbClr val="1E2A26"/>
                </a:solidFill>
                <a:latin typeface="Calibri" pitchFamily="34" charset="0"/>
                <a:ea typeface="Calibri" pitchFamily="34" charset="-122"/>
                <a:cs typeface="Calibri" pitchFamily="34" charset="-120"/>
              </a:rPr>
              <a:t>Unload straight to the clean side; blocks never re-enter the dirty room.</a:t>
            </a:r>
            <a:endParaRPr lang="en-US" sz="1100" dirty="0"/>
          </a:p>
          <a:p>
            <a:pPr marL="342900" indent="-342900">
              <a:spcAft>
                <a:spcPts val="500"/>
              </a:spcAft>
              <a:buSzPct val="100000"/>
              <a:buChar char="•"/>
            </a:pPr>
            <a:r>
              <a:rPr lang="en-US" sz="1100" dirty="0">
                <a:solidFill>
                  <a:srgbClr val="1E2A26"/>
                </a:solidFill>
                <a:latin typeface="Calibri" pitchFamily="34" charset="0"/>
                <a:ea typeface="Calibri" pitchFamily="34" charset="-122"/>
                <a:cs typeface="Calibri" pitchFamily="34" charset="-120"/>
              </a:rPr>
              <a:t>Log time, temperature and pressure for every cycle, with lot codes.</a:t>
            </a:r>
            <a:endParaRPr lang="en-US" sz="1100" dirty="0"/>
          </a:p>
          <a:p>
            <a:pPr marL="342900" indent="-342900">
              <a:spcAft>
                <a:spcPts val="500"/>
              </a:spcAft>
              <a:buSzPct val="100000"/>
              <a:buChar char="•"/>
            </a:pPr>
            <a:r>
              <a:rPr lang="en-US" sz="1100" dirty="0">
                <a:solidFill>
                  <a:srgbClr val="1E2A26"/>
                </a:solidFill>
                <a:latin typeface="Calibri" pitchFamily="34" charset="0"/>
                <a:ea typeface="Calibri" pitchFamily="34" charset="-122"/>
                <a:cs typeface="Calibri" pitchFamily="34" charset="-120"/>
              </a:rPr>
              <a:t>Geobacillus stearothermophilus biological indicators weekly and after any repair.</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D9962B"/>
                </a:solidFill>
                <a:latin typeface="Calibri" pitchFamily="34" charset="0"/>
                <a:ea typeface="Calibri" pitchFamily="34" charset="-122"/>
                <a:cs typeface="Calibri" pitchFamily="34" charset="-120"/>
              </a:rPr>
              <a:t>05 · FACILITY DESIGN</a:t>
            </a:r>
            <a:endParaRPr lang="en-US" sz="11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14302A"/>
                </a:solidFill>
                <a:latin typeface="Cambria" pitchFamily="34" charset="0"/>
                <a:ea typeface="Cambria" pitchFamily="34" charset="-122"/>
                <a:cs typeface="Cambria" pitchFamily="34" charset="-120"/>
              </a:rPr>
              <a:t>Unidirectional biosecure zoning: dirty → clean → spore-wet</a:t>
            </a:r>
            <a:endParaRPr lang="en-US" sz="30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900" dirty="0">
                <a:solidFill>
                  <a:srgbClr val="5F6F69"/>
                </a:solidFill>
                <a:latin typeface="Calibri" pitchFamily="34" charset="0"/>
                <a:ea typeface="Calibri" pitchFamily="34" charset="-122"/>
                <a:cs typeface="Calibri" pitchFamily="34" charset="-120"/>
              </a:rPr>
              <a:t>Lion's Mane Facility  ·  Hamirpur, HP  ·  Project Plan</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900" dirty="0">
                <a:solidFill>
                  <a:srgbClr val="5F6F69"/>
                </a:solidFill>
                <a:latin typeface="Calibri" pitchFamily="34" charset="0"/>
                <a:ea typeface="Calibri" pitchFamily="34" charset="-122"/>
                <a:cs typeface="Calibri" pitchFamily="34" charset="-120"/>
              </a:rPr>
              <a:t>12</a:t>
            </a:r>
            <a:endParaRPr lang="en-US" sz="900" dirty="0"/>
          </a:p>
        </p:txBody>
      </p:sp>
      <p:sp>
        <p:nvSpPr>
          <p:cNvPr id="6" name="Shape 4"/>
          <p:cNvSpPr/>
          <p:nvPr/>
        </p:nvSpPr>
        <p:spPr>
          <a:xfrm>
            <a:off x="548640" y="1554480"/>
            <a:ext cx="1719072" cy="2011680"/>
          </a:xfrm>
          <a:prstGeom prst="roundRect">
            <a:avLst>
              <a:gd name="adj" fmla="val 4255"/>
            </a:avLst>
          </a:prstGeom>
          <a:solidFill>
            <a:srgbClr val="D9D9D9"/>
          </a:solidFill>
          <a:ln w="9525">
            <a:solidFill>
              <a:srgbClr val="D9D9D9"/>
            </a:solidFill>
            <a:prstDash val="solid"/>
          </a:ln>
        </p:spPr>
      </p:sp>
      <p:sp>
        <p:nvSpPr>
          <p:cNvPr id="7" name="Text 5"/>
          <p:cNvSpPr txBox="1"/>
          <p:nvPr/>
        </p:nvSpPr>
        <p:spPr>
          <a:xfrm>
            <a:off x="658368" y="1645920"/>
            <a:ext cx="1499616" cy="274320"/>
          </a:xfrm>
          <a:prstGeom prst="rect">
            <a:avLst/>
          </a:prstGeom>
          <a:noFill/>
          <a:ln/>
        </p:spPr>
        <p:txBody>
          <a:bodyPr wrap="square" lIns="0" tIns="0" rIns="0" bIns="0" rtlCol="0" anchor="t"/>
          <a:lstStyle/>
          <a:p>
            <a:pPr indent="0" marL="0">
              <a:buNone/>
            </a:pPr>
            <a:r>
              <a:rPr lang="en-US" sz="1000" b="1" spc="200" kern="0" dirty="0">
                <a:solidFill>
                  <a:srgbClr val="1E2A26"/>
                </a:solidFill>
                <a:latin typeface="Calibri" pitchFamily="34" charset="0"/>
                <a:ea typeface="Calibri" pitchFamily="34" charset="-122"/>
                <a:cs typeface="Calibri" pitchFamily="34" charset="-120"/>
              </a:rPr>
              <a:t>ZONE 0</a:t>
            </a:r>
            <a:endParaRPr lang="en-US" sz="1000" dirty="0"/>
          </a:p>
        </p:txBody>
      </p:sp>
      <p:sp>
        <p:nvSpPr>
          <p:cNvPr id="8" name="Text 6"/>
          <p:cNvSpPr txBox="1"/>
          <p:nvPr/>
        </p:nvSpPr>
        <p:spPr>
          <a:xfrm>
            <a:off x="658368" y="1920240"/>
            <a:ext cx="1499616" cy="640080"/>
          </a:xfrm>
          <a:prstGeom prst="rect">
            <a:avLst/>
          </a:prstGeom>
          <a:noFill/>
          <a:ln/>
        </p:spPr>
        <p:txBody>
          <a:bodyPr wrap="square" lIns="0" tIns="0" rIns="0" bIns="0" rtlCol="0" anchor="t"/>
          <a:lstStyle/>
          <a:p>
            <a:pPr indent="0" marL="0">
              <a:buNone/>
            </a:pPr>
            <a:r>
              <a:rPr lang="en-US" sz="1400" b="1" dirty="0">
                <a:solidFill>
                  <a:srgbClr val="1E2A26"/>
                </a:solidFill>
                <a:latin typeface="Cambria" pitchFamily="34" charset="0"/>
                <a:ea typeface="Cambria" pitchFamily="34" charset="-122"/>
                <a:cs typeface="Cambria" pitchFamily="34" charset="-120"/>
              </a:rPr>
              <a:t>Bulk store</a:t>
            </a:r>
            <a:endParaRPr lang="en-US" sz="1400" dirty="0"/>
          </a:p>
        </p:txBody>
      </p:sp>
      <p:sp>
        <p:nvSpPr>
          <p:cNvPr id="9" name="Text 7"/>
          <p:cNvSpPr txBox="1"/>
          <p:nvPr/>
        </p:nvSpPr>
        <p:spPr>
          <a:xfrm>
            <a:off x="658368" y="2560320"/>
            <a:ext cx="1499616" cy="457200"/>
          </a:xfrm>
          <a:prstGeom prst="rect">
            <a:avLst/>
          </a:prstGeom>
          <a:noFill/>
          <a:ln/>
        </p:spPr>
        <p:txBody>
          <a:bodyPr wrap="square" lIns="0" tIns="0" rIns="0" bIns="0" rtlCol="0" anchor="t"/>
          <a:lstStyle/>
          <a:p>
            <a:pPr indent="0" marL="0">
              <a:buNone/>
            </a:pPr>
            <a:r>
              <a:rPr lang="en-US" sz="1050" dirty="0">
                <a:solidFill>
                  <a:srgbClr val="1E2A26"/>
                </a:solidFill>
                <a:latin typeface="Calibri" pitchFamily="34" charset="0"/>
                <a:ea typeface="Calibri" pitchFamily="34" charset="-122"/>
                <a:cs typeface="Calibri" pitchFamily="34" charset="-120"/>
              </a:rPr>
              <a:t>Off-site, 1 km</a:t>
            </a:r>
            <a:endParaRPr lang="en-US" sz="1050" dirty="0"/>
          </a:p>
        </p:txBody>
      </p:sp>
      <p:sp>
        <p:nvSpPr>
          <p:cNvPr id="10" name="Shape 8"/>
          <p:cNvSpPr/>
          <p:nvPr/>
        </p:nvSpPr>
        <p:spPr>
          <a:xfrm>
            <a:off x="658368" y="3090672"/>
            <a:ext cx="1499616" cy="310896"/>
          </a:xfrm>
          <a:prstGeom prst="roundRect">
            <a:avLst>
              <a:gd name="adj" fmla="val 44118"/>
            </a:avLst>
          </a:prstGeom>
          <a:solidFill>
            <a:srgbClr val="FFFFFF"/>
          </a:solidFill>
          <a:ln w="12700">
            <a:solidFill>
              <a:srgbClr val="FFFFFF"/>
            </a:solidFill>
            <a:prstDash val="solid"/>
          </a:ln>
        </p:spPr>
      </p:sp>
      <p:sp>
        <p:nvSpPr>
          <p:cNvPr id="11" name="Text 9"/>
          <p:cNvSpPr txBox="1"/>
          <p:nvPr/>
        </p:nvSpPr>
        <p:spPr>
          <a:xfrm>
            <a:off x="658368" y="3090672"/>
            <a:ext cx="1499616" cy="310896"/>
          </a:xfrm>
          <a:prstGeom prst="rect">
            <a:avLst/>
          </a:prstGeom>
          <a:noFill/>
          <a:ln/>
        </p:spPr>
        <p:txBody>
          <a:bodyPr wrap="square" lIns="0" tIns="0" rIns="0" bIns="0" rtlCol="0" anchor="ctr"/>
          <a:lstStyle/>
          <a:p>
            <a:pPr algn="ctr" indent="0" marL="0">
              <a:buNone/>
            </a:pPr>
            <a:r>
              <a:rPr lang="en-US" sz="1000" b="1" dirty="0">
                <a:solidFill>
                  <a:srgbClr val="1E2A26"/>
                </a:solidFill>
                <a:latin typeface="Calibri" pitchFamily="34" charset="0"/>
                <a:ea typeface="Calibri" pitchFamily="34" charset="-122"/>
                <a:cs typeface="Calibri" pitchFamily="34" charset="-120"/>
              </a:rPr>
              <a:t>Isolated</a:t>
            </a:r>
            <a:endParaRPr lang="en-US" sz="1000" dirty="0"/>
          </a:p>
        </p:txBody>
      </p:sp>
      <p:sp>
        <p:nvSpPr>
          <p:cNvPr id="12" name="Shape 10"/>
          <p:cNvSpPr/>
          <p:nvPr/>
        </p:nvSpPr>
        <p:spPr>
          <a:xfrm>
            <a:off x="2276856" y="2560320"/>
            <a:ext cx="164592" cy="0"/>
          </a:xfrm>
          <a:prstGeom prst="line">
            <a:avLst/>
          </a:prstGeom>
          <a:noFill/>
          <a:ln w="19050">
            <a:solidFill>
              <a:srgbClr val="1E2A26"/>
            </a:solidFill>
            <a:prstDash val="solid"/>
            <a:tailEnd type="triangle"/>
          </a:ln>
        </p:spPr>
      </p:sp>
      <p:sp>
        <p:nvSpPr>
          <p:cNvPr id="13" name="Shape 11"/>
          <p:cNvSpPr/>
          <p:nvPr/>
        </p:nvSpPr>
        <p:spPr>
          <a:xfrm>
            <a:off x="2450592" y="1554480"/>
            <a:ext cx="1719072" cy="2011680"/>
          </a:xfrm>
          <a:prstGeom prst="roundRect">
            <a:avLst>
              <a:gd name="adj" fmla="val 4255"/>
            </a:avLst>
          </a:prstGeom>
          <a:solidFill>
            <a:srgbClr val="E8C07A"/>
          </a:solidFill>
          <a:ln w="9525">
            <a:solidFill>
              <a:srgbClr val="E8C07A"/>
            </a:solidFill>
            <a:prstDash val="solid"/>
          </a:ln>
        </p:spPr>
      </p:sp>
      <p:sp>
        <p:nvSpPr>
          <p:cNvPr id="14" name="Text 12"/>
          <p:cNvSpPr txBox="1"/>
          <p:nvPr/>
        </p:nvSpPr>
        <p:spPr>
          <a:xfrm>
            <a:off x="2560320" y="1645920"/>
            <a:ext cx="1499616" cy="274320"/>
          </a:xfrm>
          <a:prstGeom prst="rect">
            <a:avLst/>
          </a:prstGeom>
          <a:noFill/>
          <a:ln/>
        </p:spPr>
        <p:txBody>
          <a:bodyPr wrap="square" lIns="0" tIns="0" rIns="0" bIns="0" rtlCol="0" anchor="t"/>
          <a:lstStyle/>
          <a:p>
            <a:pPr indent="0" marL="0">
              <a:buNone/>
            </a:pPr>
            <a:r>
              <a:rPr lang="en-US" sz="1000" b="1" spc="200" kern="0" dirty="0">
                <a:solidFill>
                  <a:srgbClr val="1E2A26"/>
                </a:solidFill>
                <a:latin typeface="Calibri" pitchFamily="34" charset="0"/>
                <a:ea typeface="Calibri" pitchFamily="34" charset="-122"/>
                <a:cs typeface="Calibri" pitchFamily="34" charset="-120"/>
              </a:rPr>
              <a:t>ZONE 1</a:t>
            </a:r>
            <a:endParaRPr lang="en-US" sz="1000" dirty="0"/>
          </a:p>
        </p:txBody>
      </p:sp>
      <p:sp>
        <p:nvSpPr>
          <p:cNvPr id="15" name="Text 13"/>
          <p:cNvSpPr txBox="1"/>
          <p:nvPr/>
        </p:nvSpPr>
        <p:spPr>
          <a:xfrm>
            <a:off x="2560320" y="1920240"/>
            <a:ext cx="1499616" cy="640080"/>
          </a:xfrm>
          <a:prstGeom prst="rect">
            <a:avLst/>
          </a:prstGeom>
          <a:noFill/>
          <a:ln/>
        </p:spPr>
        <p:txBody>
          <a:bodyPr wrap="square" lIns="0" tIns="0" rIns="0" bIns="0" rtlCol="0" anchor="t"/>
          <a:lstStyle/>
          <a:p>
            <a:pPr indent="0" marL="0">
              <a:buNone/>
            </a:pPr>
            <a:r>
              <a:rPr lang="en-US" sz="1400" b="1" dirty="0">
                <a:solidFill>
                  <a:srgbClr val="1E2A26"/>
                </a:solidFill>
                <a:latin typeface="Cambria" pitchFamily="34" charset="0"/>
                <a:ea typeface="Cambria" pitchFamily="34" charset="-122"/>
                <a:cs typeface="Cambria" pitchFamily="34" charset="-120"/>
              </a:rPr>
              <a:t>Prep &amp; sterilization</a:t>
            </a:r>
            <a:endParaRPr lang="en-US" sz="1400" dirty="0"/>
          </a:p>
        </p:txBody>
      </p:sp>
      <p:sp>
        <p:nvSpPr>
          <p:cNvPr id="16" name="Text 14"/>
          <p:cNvSpPr txBox="1"/>
          <p:nvPr/>
        </p:nvSpPr>
        <p:spPr>
          <a:xfrm>
            <a:off x="2560320" y="2560320"/>
            <a:ext cx="1499616" cy="457200"/>
          </a:xfrm>
          <a:prstGeom prst="rect">
            <a:avLst/>
          </a:prstGeom>
          <a:noFill/>
          <a:ln/>
        </p:spPr>
        <p:txBody>
          <a:bodyPr wrap="square" lIns="0" tIns="0" rIns="0" bIns="0" rtlCol="0" anchor="t"/>
          <a:lstStyle/>
          <a:p>
            <a:pPr indent="0" marL="0">
              <a:buNone/>
            </a:pPr>
            <a:r>
              <a:rPr lang="en-US" sz="1050" dirty="0">
                <a:solidFill>
                  <a:srgbClr val="1E2A26"/>
                </a:solidFill>
                <a:latin typeface="Calibri" pitchFamily="34" charset="0"/>
                <a:ea typeface="Calibri" pitchFamily="34" charset="-122"/>
                <a:cs typeface="Calibri" pitchFamily="34" charset="-120"/>
              </a:rPr>
              <a:t>Mix · bag · autoclave</a:t>
            </a:r>
            <a:endParaRPr lang="en-US" sz="1050" dirty="0"/>
          </a:p>
        </p:txBody>
      </p:sp>
      <p:sp>
        <p:nvSpPr>
          <p:cNvPr id="17" name="Shape 15"/>
          <p:cNvSpPr/>
          <p:nvPr/>
        </p:nvSpPr>
        <p:spPr>
          <a:xfrm>
            <a:off x="2560320" y="3090672"/>
            <a:ext cx="1499616" cy="310896"/>
          </a:xfrm>
          <a:prstGeom prst="roundRect">
            <a:avLst>
              <a:gd name="adj" fmla="val 44118"/>
            </a:avLst>
          </a:prstGeom>
          <a:solidFill>
            <a:srgbClr val="FFFFFF"/>
          </a:solidFill>
          <a:ln w="12700">
            <a:solidFill>
              <a:srgbClr val="FFFFFF"/>
            </a:solidFill>
            <a:prstDash val="solid"/>
          </a:ln>
        </p:spPr>
      </p:sp>
      <p:sp>
        <p:nvSpPr>
          <p:cNvPr id="18" name="Text 16"/>
          <p:cNvSpPr txBox="1"/>
          <p:nvPr/>
        </p:nvSpPr>
        <p:spPr>
          <a:xfrm>
            <a:off x="2560320" y="3090672"/>
            <a:ext cx="1499616" cy="310896"/>
          </a:xfrm>
          <a:prstGeom prst="rect">
            <a:avLst/>
          </a:prstGeom>
          <a:noFill/>
          <a:ln/>
        </p:spPr>
        <p:txBody>
          <a:bodyPr wrap="square" lIns="0" tIns="0" rIns="0" bIns="0" rtlCol="0" anchor="ctr"/>
          <a:lstStyle/>
          <a:p>
            <a:pPr algn="ctr" indent="0" marL="0">
              <a:buNone/>
            </a:pPr>
            <a:r>
              <a:rPr lang="en-US" sz="1000" b="1" dirty="0">
                <a:solidFill>
                  <a:srgbClr val="1E2A26"/>
                </a:solidFill>
                <a:latin typeface="Calibri" pitchFamily="34" charset="0"/>
                <a:ea typeface="Calibri" pitchFamily="34" charset="-122"/>
                <a:cs typeface="Calibri" pitchFamily="34" charset="-120"/>
              </a:rPr>
              <a:t>Negative</a:t>
            </a:r>
            <a:endParaRPr lang="en-US" sz="1000" dirty="0"/>
          </a:p>
        </p:txBody>
      </p:sp>
      <p:sp>
        <p:nvSpPr>
          <p:cNvPr id="19" name="Shape 17"/>
          <p:cNvSpPr/>
          <p:nvPr/>
        </p:nvSpPr>
        <p:spPr>
          <a:xfrm>
            <a:off x="4178808" y="2560320"/>
            <a:ext cx="164592" cy="0"/>
          </a:xfrm>
          <a:prstGeom prst="line">
            <a:avLst/>
          </a:prstGeom>
          <a:noFill/>
          <a:ln w="19050">
            <a:solidFill>
              <a:srgbClr val="1E2A26"/>
            </a:solidFill>
            <a:prstDash val="solid"/>
            <a:tailEnd type="triangle"/>
          </a:ln>
        </p:spPr>
      </p:sp>
      <p:sp>
        <p:nvSpPr>
          <p:cNvPr id="20" name="Shape 18"/>
          <p:cNvSpPr/>
          <p:nvPr/>
        </p:nvSpPr>
        <p:spPr>
          <a:xfrm>
            <a:off x="4352544" y="1554480"/>
            <a:ext cx="1719072" cy="2011680"/>
          </a:xfrm>
          <a:prstGeom prst="roundRect">
            <a:avLst>
              <a:gd name="adj" fmla="val 4255"/>
            </a:avLst>
          </a:prstGeom>
          <a:solidFill>
            <a:srgbClr val="2E5E4E"/>
          </a:solidFill>
          <a:ln w="9525">
            <a:solidFill>
              <a:srgbClr val="2E5E4E"/>
            </a:solidFill>
            <a:prstDash val="solid"/>
          </a:ln>
        </p:spPr>
      </p:sp>
      <p:sp>
        <p:nvSpPr>
          <p:cNvPr id="21" name="Text 19"/>
          <p:cNvSpPr txBox="1"/>
          <p:nvPr/>
        </p:nvSpPr>
        <p:spPr>
          <a:xfrm>
            <a:off x="4462272" y="1645920"/>
            <a:ext cx="1499616" cy="274320"/>
          </a:xfrm>
          <a:prstGeom prst="rect">
            <a:avLst/>
          </a:prstGeom>
          <a:noFill/>
          <a:ln/>
        </p:spPr>
        <p:txBody>
          <a:bodyPr wrap="square" lIns="0" tIns="0" rIns="0" bIns="0" rtlCol="0" anchor="t"/>
          <a:lstStyle/>
          <a:p>
            <a:pPr indent="0" marL="0">
              <a:buNone/>
            </a:pPr>
            <a:r>
              <a:rPr lang="en-US" sz="1000" b="1" spc="200" kern="0" dirty="0">
                <a:solidFill>
                  <a:srgbClr val="FFFFFF"/>
                </a:solidFill>
                <a:latin typeface="Calibri" pitchFamily="34" charset="0"/>
                <a:ea typeface="Calibri" pitchFamily="34" charset="-122"/>
                <a:cs typeface="Calibri" pitchFamily="34" charset="-120"/>
              </a:rPr>
              <a:t>ZONE 2</a:t>
            </a:r>
            <a:endParaRPr lang="en-US" sz="1000" dirty="0"/>
          </a:p>
        </p:txBody>
      </p:sp>
      <p:sp>
        <p:nvSpPr>
          <p:cNvPr id="22" name="Text 20"/>
          <p:cNvSpPr txBox="1"/>
          <p:nvPr/>
        </p:nvSpPr>
        <p:spPr>
          <a:xfrm>
            <a:off x="4462272" y="1920240"/>
            <a:ext cx="1499616" cy="640080"/>
          </a:xfrm>
          <a:prstGeom prst="rect">
            <a:avLst/>
          </a:prstGeom>
          <a:noFill/>
          <a:ln/>
        </p:spPr>
        <p:txBody>
          <a:bodyPr wrap="square" lIns="0" tIns="0" rIns="0" bIns="0"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Anteroom + clean lab</a:t>
            </a:r>
            <a:endParaRPr lang="en-US" sz="1400" dirty="0"/>
          </a:p>
        </p:txBody>
      </p:sp>
      <p:sp>
        <p:nvSpPr>
          <p:cNvPr id="23" name="Text 21"/>
          <p:cNvSpPr txBox="1"/>
          <p:nvPr/>
        </p:nvSpPr>
        <p:spPr>
          <a:xfrm>
            <a:off x="4462272" y="2560320"/>
            <a:ext cx="1499616" cy="457200"/>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Gown · cool · inoculate</a:t>
            </a:r>
            <a:endParaRPr lang="en-US" sz="1050" dirty="0"/>
          </a:p>
        </p:txBody>
      </p:sp>
      <p:sp>
        <p:nvSpPr>
          <p:cNvPr id="24" name="Shape 22"/>
          <p:cNvSpPr/>
          <p:nvPr/>
        </p:nvSpPr>
        <p:spPr>
          <a:xfrm>
            <a:off x="4462272" y="3090672"/>
            <a:ext cx="1499616" cy="310896"/>
          </a:xfrm>
          <a:prstGeom prst="roundRect">
            <a:avLst>
              <a:gd name="adj" fmla="val 44118"/>
            </a:avLst>
          </a:prstGeom>
          <a:solidFill>
            <a:srgbClr val="FFFFFF"/>
          </a:solidFill>
          <a:ln w="12700">
            <a:solidFill>
              <a:srgbClr val="FFFFFF"/>
            </a:solidFill>
            <a:prstDash val="solid"/>
          </a:ln>
        </p:spPr>
      </p:sp>
      <p:sp>
        <p:nvSpPr>
          <p:cNvPr id="25" name="Text 23"/>
          <p:cNvSpPr txBox="1"/>
          <p:nvPr/>
        </p:nvSpPr>
        <p:spPr>
          <a:xfrm>
            <a:off x="4462272" y="3090672"/>
            <a:ext cx="1499616" cy="310896"/>
          </a:xfrm>
          <a:prstGeom prst="rect">
            <a:avLst/>
          </a:prstGeom>
          <a:noFill/>
          <a:ln/>
        </p:spPr>
        <p:txBody>
          <a:bodyPr wrap="square" lIns="0" tIns="0" rIns="0" bIns="0" rtlCol="0" anchor="ctr"/>
          <a:lstStyle/>
          <a:p>
            <a:pPr algn="ctr" indent="0" marL="0">
              <a:buNone/>
            </a:pPr>
            <a:r>
              <a:rPr lang="en-US" sz="1000" b="1" dirty="0">
                <a:solidFill>
                  <a:srgbClr val="1E2A26"/>
                </a:solidFill>
                <a:latin typeface="Calibri" pitchFamily="34" charset="0"/>
                <a:ea typeface="Calibri" pitchFamily="34" charset="-122"/>
                <a:cs typeface="Calibri" pitchFamily="34" charset="-120"/>
              </a:rPr>
              <a:t>Positive ++</a:t>
            </a:r>
            <a:endParaRPr lang="en-US" sz="1000" dirty="0"/>
          </a:p>
        </p:txBody>
      </p:sp>
      <p:sp>
        <p:nvSpPr>
          <p:cNvPr id="26" name="Shape 24"/>
          <p:cNvSpPr/>
          <p:nvPr/>
        </p:nvSpPr>
        <p:spPr>
          <a:xfrm>
            <a:off x="6080760" y="2560320"/>
            <a:ext cx="164592" cy="0"/>
          </a:xfrm>
          <a:prstGeom prst="line">
            <a:avLst/>
          </a:prstGeom>
          <a:noFill/>
          <a:ln w="19050">
            <a:solidFill>
              <a:srgbClr val="1E2A26"/>
            </a:solidFill>
            <a:prstDash val="solid"/>
            <a:tailEnd type="triangle"/>
          </a:ln>
        </p:spPr>
      </p:sp>
      <p:sp>
        <p:nvSpPr>
          <p:cNvPr id="27" name="Shape 25"/>
          <p:cNvSpPr/>
          <p:nvPr/>
        </p:nvSpPr>
        <p:spPr>
          <a:xfrm>
            <a:off x="6254496" y="1554480"/>
            <a:ext cx="1719072" cy="2011680"/>
          </a:xfrm>
          <a:prstGeom prst="roundRect">
            <a:avLst>
              <a:gd name="adj" fmla="val 4255"/>
            </a:avLst>
          </a:prstGeom>
          <a:solidFill>
            <a:srgbClr val="4E7D6B"/>
          </a:solidFill>
          <a:ln w="9525">
            <a:solidFill>
              <a:srgbClr val="4E7D6B"/>
            </a:solidFill>
            <a:prstDash val="solid"/>
          </a:ln>
        </p:spPr>
      </p:sp>
      <p:sp>
        <p:nvSpPr>
          <p:cNvPr id="28" name="Text 26"/>
          <p:cNvSpPr txBox="1"/>
          <p:nvPr/>
        </p:nvSpPr>
        <p:spPr>
          <a:xfrm>
            <a:off x="6364224" y="1645920"/>
            <a:ext cx="1499616" cy="274320"/>
          </a:xfrm>
          <a:prstGeom prst="rect">
            <a:avLst/>
          </a:prstGeom>
          <a:noFill/>
          <a:ln/>
        </p:spPr>
        <p:txBody>
          <a:bodyPr wrap="square" lIns="0" tIns="0" rIns="0" bIns="0" rtlCol="0" anchor="t"/>
          <a:lstStyle/>
          <a:p>
            <a:pPr indent="0" marL="0">
              <a:buNone/>
            </a:pPr>
            <a:r>
              <a:rPr lang="en-US" sz="1000" b="1" spc="200" kern="0" dirty="0">
                <a:solidFill>
                  <a:srgbClr val="FFFFFF"/>
                </a:solidFill>
                <a:latin typeface="Calibri" pitchFamily="34" charset="0"/>
                <a:ea typeface="Calibri" pitchFamily="34" charset="-122"/>
                <a:cs typeface="Calibri" pitchFamily="34" charset="-120"/>
              </a:rPr>
              <a:t>ZONE 3</a:t>
            </a:r>
            <a:endParaRPr lang="en-US" sz="1000" dirty="0"/>
          </a:p>
        </p:txBody>
      </p:sp>
      <p:sp>
        <p:nvSpPr>
          <p:cNvPr id="29" name="Text 27"/>
          <p:cNvSpPr txBox="1"/>
          <p:nvPr/>
        </p:nvSpPr>
        <p:spPr>
          <a:xfrm>
            <a:off x="6364224" y="1920240"/>
            <a:ext cx="1499616" cy="640080"/>
          </a:xfrm>
          <a:prstGeom prst="rect">
            <a:avLst/>
          </a:prstGeom>
          <a:noFill/>
          <a:ln/>
        </p:spPr>
        <p:txBody>
          <a:bodyPr wrap="square" lIns="0" tIns="0" rIns="0" bIns="0"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Incubation</a:t>
            </a:r>
            <a:endParaRPr lang="en-US" sz="1400" dirty="0"/>
          </a:p>
        </p:txBody>
      </p:sp>
      <p:sp>
        <p:nvSpPr>
          <p:cNvPr id="30" name="Text 28"/>
          <p:cNvSpPr txBox="1"/>
          <p:nvPr/>
        </p:nvSpPr>
        <p:spPr>
          <a:xfrm>
            <a:off x="6364224" y="2560320"/>
            <a:ext cx="1499616" cy="457200"/>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Dark · 21–24°C</a:t>
            </a:r>
            <a:endParaRPr lang="en-US" sz="1050" dirty="0"/>
          </a:p>
        </p:txBody>
      </p:sp>
      <p:sp>
        <p:nvSpPr>
          <p:cNvPr id="31" name="Shape 29"/>
          <p:cNvSpPr/>
          <p:nvPr/>
        </p:nvSpPr>
        <p:spPr>
          <a:xfrm>
            <a:off x="6364224" y="3090672"/>
            <a:ext cx="1499616" cy="310896"/>
          </a:xfrm>
          <a:prstGeom prst="roundRect">
            <a:avLst>
              <a:gd name="adj" fmla="val 44118"/>
            </a:avLst>
          </a:prstGeom>
          <a:solidFill>
            <a:srgbClr val="FFFFFF"/>
          </a:solidFill>
          <a:ln w="12700">
            <a:solidFill>
              <a:srgbClr val="FFFFFF"/>
            </a:solidFill>
            <a:prstDash val="solid"/>
          </a:ln>
        </p:spPr>
      </p:sp>
      <p:sp>
        <p:nvSpPr>
          <p:cNvPr id="32" name="Text 30"/>
          <p:cNvSpPr txBox="1"/>
          <p:nvPr/>
        </p:nvSpPr>
        <p:spPr>
          <a:xfrm>
            <a:off x="6364224" y="3090672"/>
            <a:ext cx="1499616" cy="310896"/>
          </a:xfrm>
          <a:prstGeom prst="rect">
            <a:avLst/>
          </a:prstGeom>
          <a:noFill/>
          <a:ln/>
        </p:spPr>
        <p:txBody>
          <a:bodyPr wrap="square" lIns="0" tIns="0" rIns="0" bIns="0" rtlCol="0" anchor="ctr"/>
          <a:lstStyle/>
          <a:p>
            <a:pPr algn="ctr" indent="0" marL="0">
              <a:buNone/>
            </a:pPr>
            <a:r>
              <a:rPr lang="en-US" sz="1000" b="1" dirty="0">
                <a:solidFill>
                  <a:srgbClr val="1E2A26"/>
                </a:solidFill>
                <a:latin typeface="Calibri" pitchFamily="34" charset="0"/>
                <a:ea typeface="Calibri" pitchFamily="34" charset="-122"/>
                <a:cs typeface="Calibri" pitchFamily="34" charset="-120"/>
              </a:rPr>
              <a:t>Neutral</a:t>
            </a:r>
            <a:endParaRPr lang="en-US" sz="1000" dirty="0"/>
          </a:p>
        </p:txBody>
      </p:sp>
      <p:sp>
        <p:nvSpPr>
          <p:cNvPr id="33" name="Shape 31"/>
          <p:cNvSpPr/>
          <p:nvPr/>
        </p:nvSpPr>
        <p:spPr>
          <a:xfrm>
            <a:off x="7982712" y="2560320"/>
            <a:ext cx="164592" cy="0"/>
          </a:xfrm>
          <a:prstGeom prst="line">
            <a:avLst/>
          </a:prstGeom>
          <a:noFill/>
          <a:ln w="19050">
            <a:solidFill>
              <a:srgbClr val="1E2A26"/>
            </a:solidFill>
            <a:prstDash val="solid"/>
            <a:tailEnd type="triangle"/>
          </a:ln>
        </p:spPr>
      </p:sp>
      <p:sp>
        <p:nvSpPr>
          <p:cNvPr id="34" name="Shape 32"/>
          <p:cNvSpPr/>
          <p:nvPr/>
        </p:nvSpPr>
        <p:spPr>
          <a:xfrm>
            <a:off x="8156448" y="1554480"/>
            <a:ext cx="1719072" cy="2011680"/>
          </a:xfrm>
          <a:prstGeom prst="roundRect">
            <a:avLst>
              <a:gd name="adj" fmla="val 4255"/>
            </a:avLst>
          </a:prstGeom>
          <a:solidFill>
            <a:srgbClr val="D9962B"/>
          </a:solidFill>
          <a:ln w="9525">
            <a:solidFill>
              <a:srgbClr val="D9962B"/>
            </a:solidFill>
            <a:prstDash val="solid"/>
          </a:ln>
        </p:spPr>
      </p:sp>
      <p:sp>
        <p:nvSpPr>
          <p:cNvPr id="35" name="Text 33"/>
          <p:cNvSpPr txBox="1"/>
          <p:nvPr/>
        </p:nvSpPr>
        <p:spPr>
          <a:xfrm>
            <a:off x="8266176" y="1645920"/>
            <a:ext cx="1499616" cy="274320"/>
          </a:xfrm>
          <a:prstGeom prst="rect">
            <a:avLst/>
          </a:prstGeom>
          <a:noFill/>
          <a:ln/>
        </p:spPr>
        <p:txBody>
          <a:bodyPr wrap="square" lIns="0" tIns="0" rIns="0" bIns="0" rtlCol="0" anchor="t"/>
          <a:lstStyle/>
          <a:p>
            <a:pPr indent="0" marL="0">
              <a:buNone/>
            </a:pPr>
            <a:r>
              <a:rPr lang="en-US" sz="1000" b="1" spc="200" kern="0" dirty="0">
                <a:solidFill>
                  <a:srgbClr val="FFFFFF"/>
                </a:solidFill>
                <a:latin typeface="Calibri" pitchFamily="34" charset="0"/>
                <a:ea typeface="Calibri" pitchFamily="34" charset="-122"/>
                <a:cs typeface="Calibri" pitchFamily="34" charset="-120"/>
              </a:rPr>
              <a:t>ZONE 4</a:t>
            </a:r>
            <a:endParaRPr lang="en-US" sz="1000" dirty="0"/>
          </a:p>
        </p:txBody>
      </p:sp>
      <p:sp>
        <p:nvSpPr>
          <p:cNvPr id="36" name="Text 34"/>
          <p:cNvSpPr txBox="1"/>
          <p:nvPr/>
        </p:nvSpPr>
        <p:spPr>
          <a:xfrm>
            <a:off x="8266176" y="1920240"/>
            <a:ext cx="1499616" cy="640080"/>
          </a:xfrm>
          <a:prstGeom prst="rect">
            <a:avLst/>
          </a:prstGeom>
          <a:noFill/>
          <a:ln/>
        </p:spPr>
        <p:txBody>
          <a:bodyPr wrap="square" lIns="0" tIns="0" rIns="0" bIns="0"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Fruiting A / B</a:t>
            </a:r>
            <a:endParaRPr lang="en-US" sz="1400" dirty="0"/>
          </a:p>
        </p:txBody>
      </p:sp>
      <p:sp>
        <p:nvSpPr>
          <p:cNvPr id="37" name="Text 35"/>
          <p:cNvSpPr txBox="1"/>
          <p:nvPr/>
        </p:nvSpPr>
        <p:spPr>
          <a:xfrm>
            <a:off x="8266176" y="2560320"/>
            <a:ext cx="1499616" cy="457200"/>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Spore-wet · 85–95% RH</a:t>
            </a:r>
            <a:endParaRPr lang="en-US" sz="1050" dirty="0"/>
          </a:p>
        </p:txBody>
      </p:sp>
      <p:sp>
        <p:nvSpPr>
          <p:cNvPr id="38" name="Shape 36"/>
          <p:cNvSpPr/>
          <p:nvPr/>
        </p:nvSpPr>
        <p:spPr>
          <a:xfrm>
            <a:off x="8266176" y="3090672"/>
            <a:ext cx="1499616" cy="310896"/>
          </a:xfrm>
          <a:prstGeom prst="roundRect">
            <a:avLst>
              <a:gd name="adj" fmla="val 44118"/>
            </a:avLst>
          </a:prstGeom>
          <a:solidFill>
            <a:srgbClr val="FFFFFF"/>
          </a:solidFill>
          <a:ln w="12700">
            <a:solidFill>
              <a:srgbClr val="FFFFFF"/>
            </a:solidFill>
            <a:prstDash val="solid"/>
          </a:ln>
        </p:spPr>
      </p:sp>
      <p:sp>
        <p:nvSpPr>
          <p:cNvPr id="39" name="Text 37"/>
          <p:cNvSpPr txBox="1"/>
          <p:nvPr/>
        </p:nvSpPr>
        <p:spPr>
          <a:xfrm>
            <a:off x="8266176" y="3090672"/>
            <a:ext cx="1499616" cy="310896"/>
          </a:xfrm>
          <a:prstGeom prst="rect">
            <a:avLst/>
          </a:prstGeom>
          <a:noFill/>
          <a:ln/>
        </p:spPr>
        <p:txBody>
          <a:bodyPr wrap="square" lIns="0" tIns="0" rIns="0" bIns="0" rtlCol="0" anchor="ctr"/>
          <a:lstStyle/>
          <a:p>
            <a:pPr algn="ctr" indent="0" marL="0">
              <a:buNone/>
            </a:pPr>
            <a:r>
              <a:rPr lang="en-US" sz="1000" b="1" dirty="0">
                <a:solidFill>
                  <a:srgbClr val="1E2A26"/>
                </a:solidFill>
                <a:latin typeface="Calibri" pitchFamily="34" charset="0"/>
                <a:ea typeface="Calibri" pitchFamily="34" charset="-122"/>
                <a:cs typeface="Calibri" pitchFamily="34" charset="-120"/>
              </a:rPr>
              <a:t>Negative</a:t>
            </a:r>
            <a:endParaRPr lang="en-US" sz="1000" dirty="0"/>
          </a:p>
        </p:txBody>
      </p:sp>
      <p:sp>
        <p:nvSpPr>
          <p:cNvPr id="40" name="Shape 38"/>
          <p:cNvSpPr/>
          <p:nvPr/>
        </p:nvSpPr>
        <p:spPr>
          <a:xfrm>
            <a:off x="9884664" y="2560320"/>
            <a:ext cx="164592" cy="0"/>
          </a:xfrm>
          <a:prstGeom prst="line">
            <a:avLst/>
          </a:prstGeom>
          <a:noFill/>
          <a:ln w="19050">
            <a:solidFill>
              <a:srgbClr val="1E2A26"/>
            </a:solidFill>
            <a:prstDash val="solid"/>
            <a:tailEnd type="triangle"/>
          </a:ln>
        </p:spPr>
      </p:sp>
      <p:sp>
        <p:nvSpPr>
          <p:cNvPr id="41" name="Shape 39"/>
          <p:cNvSpPr/>
          <p:nvPr/>
        </p:nvSpPr>
        <p:spPr>
          <a:xfrm>
            <a:off x="10058400" y="1554480"/>
            <a:ext cx="1719072" cy="2011680"/>
          </a:xfrm>
          <a:prstGeom prst="roundRect">
            <a:avLst>
              <a:gd name="adj" fmla="val 4255"/>
            </a:avLst>
          </a:prstGeom>
          <a:solidFill>
            <a:srgbClr val="14302A"/>
          </a:solidFill>
          <a:ln w="9525">
            <a:solidFill>
              <a:srgbClr val="14302A"/>
            </a:solidFill>
            <a:prstDash val="solid"/>
          </a:ln>
        </p:spPr>
      </p:sp>
      <p:sp>
        <p:nvSpPr>
          <p:cNvPr id="42" name="Text 40"/>
          <p:cNvSpPr txBox="1"/>
          <p:nvPr/>
        </p:nvSpPr>
        <p:spPr>
          <a:xfrm>
            <a:off x="10168128" y="1645920"/>
            <a:ext cx="1499616" cy="274320"/>
          </a:xfrm>
          <a:prstGeom prst="rect">
            <a:avLst/>
          </a:prstGeom>
          <a:noFill/>
          <a:ln/>
        </p:spPr>
        <p:txBody>
          <a:bodyPr wrap="square" lIns="0" tIns="0" rIns="0" bIns="0" rtlCol="0" anchor="t"/>
          <a:lstStyle/>
          <a:p>
            <a:pPr indent="0" marL="0">
              <a:buNone/>
            </a:pPr>
            <a:r>
              <a:rPr lang="en-US" sz="1000" b="1" spc="200" kern="0" dirty="0">
                <a:solidFill>
                  <a:srgbClr val="FFFFFF"/>
                </a:solidFill>
                <a:latin typeface="Calibri" pitchFamily="34" charset="0"/>
                <a:ea typeface="Calibri" pitchFamily="34" charset="-122"/>
                <a:cs typeface="Calibri" pitchFamily="34" charset="-120"/>
              </a:rPr>
              <a:t>ZONE 5</a:t>
            </a:r>
            <a:endParaRPr lang="en-US" sz="1000" dirty="0"/>
          </a:p>
        </p:txBody>
      </p:sp>
      <p:sp>
        <p:nvSpPr>
          <p:cNvPr id="43" name="Text 41"/>
          <p:cNvSpPr txBox="1"/>
          <p:nvPr/>
        </p:nvSpPr>
        <p:spPr>
          <a:xfrm>
            <a:off x="10168128" y="1920240"/>
            <a:ext cx="1499616" cy="640080"/>
          </a:xfrm>
          <a:prstGeom prst="rect">
            <a:avLst/>
          </a:prstGeom>
          <a:noFill/>
          <a:ln/>
        </p:spPr>
        <p:txBody>
          <a:bodyPr wrap="square" lIns="0" tIns="0" rIns="0" bIns="0"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Processing &amp; pack</a:t>
            </a:r>
            <a:endParaRPr lang="en-US" sz="1400" dirty="0"/>
          </a:p>
        </p:txBody>
      </p:sp>
      <p:sp>
        <p:nvSpPr>
          <p:cNvPr id="44" name="Text 42"/>
          <p:cNvSpPr txBox="1"/>
          <p:nvPr/>
        </p:nvSpPr>
        <p:spPr>
          <a:xfrm>
            <a:off x="10168128" y="2560320"/>
            <a:ext cx="1499616" cy="457200"/>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Dry · mill · pack</a:t>
            </a:r>
            <a:endParaRPr lang="en-US" sz="1050" dirty="0"/>
          </a:p>
        </p:txBody>
      </p:sp>
      <p:sp>
        <p:nvSpPr>
          <p:cNvPr id="45" name="Shape 43"/>
          <p:cNvSpPr/>
          <p:nvPr/>
        </p:nvSpPr>
        <p:spPr>
          <a:xfrm>
            <a:off x="10168128" y="3090672"/>
            <a:ext cx="1499616" cy="310896"/>
          </a:xfrm>
          <a:prstGeom prst="roundRect">
            <a:avLst>
              <a:gd name="adj" fmla="val 44118"/>
            </a:avLst>
          </a:prstGeom>
          <a:solidFill>
            <a:srgbClr val="FFFFFF"/>
          </a:solidFill>
          <a:ln w="12700">
            <a:solidFill>
              <a:srgbClr val="FFFFFF"/>
            </a:solidFill>
            <a:prstDash val="solid"/>
          </a:ln>
        </p:spPr>
      </p:sp>
      <p:sp>
        <p:nvSpPr>
          <p:cNvPr id="46" name="Text 44"/>
          <p:cNvSpPr txBox="1"/>
          <p:nvPr/>
        </p:nvSpPr>
        <p:spPr>
          <a:xfrm>
            <a:off x="10168128" y="3090672"/>
            <a:ext cx="1499616" cy="310896"/>
          </a:xfrm>
          <a:prstGeom prst="rect">
            <a:avLst/>
          </a:prstGeom>
          <a:noFill/>
          <a:ln/>
        </p:spPr>
        <p:txBody>
          <a:bodyPr wrap="square" lIns="0" tIns="0" rIns="0" bIns="0" rtlCol="0" anchor="ctr"/>
          <a:lstStyle/>
          <a:p>
            <a:pPr algn="ctr" indent="0" marL="0">
              <a:buNone/>
            </a:pPr>
            <a:r>
              <a:rPr lang="en-US" sz="1000" b="1" dirty="0">
                <a:solidFill>
                  <a:srgbClr val="1E2A26"/>
                </a:solidFill>
                <a:latin typeface="Calibri" pitchFamily="34" charset="0"/>
                <a:ea typeface="Calibri" pitchFamily="34" charset="-122"/>
                <a:cs typeface="Calibri" pitchFamily="34" charset="-120"/>
              </a:rPr>
              <a:t>Positive, dry</a:t>
            </a:r>
            <a:endParaRPr lang="en-US" sz="1000" dirty="0"/>
          </a:p>
        </p:txBody>
      </p:sp>
      <p:sp>
        <p:nvSpPr>
          <p:cNvPr id="47" name="Text 45"/>
          <p:cNvSpPr txBox="1"/>
          <p:nvPr/>
        </p:nvSpPr>
        <p:spPr>
          <a:xfrm>
            <a:off x="548640" y="3703320"/>
            <a:ext cx="11064240" cy="411480"/>
          </a:xfrm>
          <a:prstGeom prst="rect">
            <a:avLst/>
          </a:prstGeom>
          <a:noFill/>
          <a:ln/>
        </p:spPr>
        <p:txBody>
          <a:bodyPr wrap="square" lIns="0" tIns="0" rIns="0" bIns="0" rtlCol="0" anchor="t"/>
          <a:lstStyle/>
          <a:p>
            <a:pPr indent="0" marL="0">
              <a:buNone/>
            </a:pPr>
            <a:r>
              <a:rPr lang="en-US" sz="1050" i="1" dirty="0">
                <a:solidFill>
                  <a:srgbClr val="5F6F69"/>
                </a:solidFill>
                <a:latin typeface="Calibri" pitchFamily="34" charset="0"/>
                <a:ea typeface="Calibri" pitchFamily="34" charset="-122"/>
                <a:cs typeface="Calibri" pitchFamily="34" charset="-120"/>
              </a:rPr>
              <a:t>Transfer points: sealed bags by van (0→1) · double-door autoclave or UV SS-304 pass box (1→2) · pass-through hatch (2→3) · stairs/lift, closed crates (3→4) · harvest crates via dedicated door (4→5)</a:t>
            </a:r>
            <a:endParaRPr lang="en-US" sz="1050" dirty="0"/>
          </a:p>
        </p:txBody>
      </p:sp>
      <p:sp>
        <p:nvSpPr>
          <p:cNvPr id="48" name="Shape 46"/>
          <p:cNvSpPr/>
          <p:nvPr/>
        </p:nvSpPr>
        <p:spPr>
          <a:xfrm>
            <a:off x="548640" y="4251960"/>
            <a:ext cx="3520440" cy="1965960"/>
          </a:xfrm>
          <a:prstGeom prst="roundRect">
            <a:avLst>
              <a:gd name="adj" fmla="val 3721"/>
            </a:avLst>
          </a:prstGeom>
          <a:solidFill>
            <a:srgbClr val="EEF4F0"/>
          </a:solidFill>
          <a:ln w="9525">
            <a:solidFill>
              <a:srgbClr val="EEF4F0"/>
            </a:solidFill>
            <a:prstDash val="solid"/>
          </a:ln>
        </p:spPr>
      </p:sp>
      <p:sp>
        <p:nvSpPr>
          <p:cNvPr id="49" name="Shape 47"/>
          <p:cNvSpPr/>
          <p:nvPr/>
        </p:nvSpPr>
        <p:spPr>
          <a:xfrm>
            <a:off x="749808" y="4434840"/>
            <a:ext cx="548640" cy="548640"/>
          </a:xfrm>
          <a:prstGeom prst="ellipse">
            <a:avLst/>
          </a:prstGeom>
          <a:solidFill>
            <a:srgbClr val="2E5E4E"/>
          </a:solidFill>
          <a:ln w="12700">
            <a:solidFill>
              <a:srgbClr val="2E5E4E"/>
            </a:solidFill>
            <a:prstDash val="solid"/>
          </a:ln>
        </p:spPr>
      </p:sp>
      <p:pic>
        <p:nvPicPr>
          <p:cNvPr id="50" name="Image 0" descr="preencoded.png">    </p:cNvPr>
          <p:cNvPicPr>
            <a:picLocks noChangeAspect="1"/>
          </p:cNvPicPr>
          <p:nvPr/>
        </p:nvPicPr>
        <p:blipFill>
          <a:blip r:embed="rId1"/>
          <a:stretch>
            <a:fillRect/>
          </a:stretch>
        </p:blipFill>
        <p:spPr>
          <a:xfrm>
            <a:off x="892454" y="4577486"/>
            <a:ext cx="263347" cy="263347"/>
          </a:xfrm>
          <a:prstGeom prst="rect">
            <a:avLst/>
          </a:prstGeom>
        </p:spPr>
      </p:pic>
      <p:sp>
        <p:nvSpPr>
          <p:cNvPr id="51" name="Text 48"/>
          <p:cNvSpPr txBox="1"/>
          <p:nvPr/>
        </p:nvSpPr>
        <p:spPr>
          <a:xfrm>
            <a:off x="1417320" y="4453128"/>
            <a:ext cx="2468880" cy="502920"/>
          </a:xfrm>
          <a:prstGeom prst="rect">
            <a:avLst/>
          </a:prstGeom>
          <a:noFill/>
          <a:ln/>
        </p:spPr>
        <p:txBody>
          <a:bodyPr wrap="square" lIns="0" tIns="0" rIns="0" bIns="0" rtlCol="0" anchor="ctr"/>
          <a:lstStyle/>
          <a:p>
            <a:pPr indent="0" marL="0">
              <a:buNone/>
            </a:pPr>
            <a:r>
              <a:rPr lang="en-US" sz="1500" b="1" dirty="0">
                <a:solidFill>
                  <a:srgbClr val="14302A"/>
                </a:solidFill>
                <a:latin typeface="Cambria" pitchFamily="34" charset="0"/>
                <a:ea typeface="Cambria" pitchFamily="34" charset="-122"/>
                <a:cs typeface="Cambria" pitchFamily="34" charset="-120"/>
              </a:rPr>
              <a:t>Material flow</a:t>
            </a:r>
            <a:endParaRPr lang="en-US" sz="1500" dirty="0"/>
          </a:p>
        </p:txBody>
      </p:sp>
      <p:sp>
        <p:nvSpPr>
          <p:cNvPr id="52" name="Text 49"/>
          <p:cNvSpPr txBox="1"/>
          <p:nvPr/>
        </p:nvSpPr>
        <p:spPr>
          <a:xfrm>
            <a:off x="749808" y="5074920"/>
            <a:ext cx="3154680" cy="1097280"/>
          </a:xfrm>
          <a:prstGeom prst="rect">
            <a:avLst/>
          </a:prstGeom>
          <a:noFill/>
          <a:ln/>
        </p:spPr>
        <p:txBody>
          <a:bodyPr wrap="square" lIns="0" tIns="0" rIns="0" bIns="0" rtlCol="0" anchor="t"/>
          <a:lstStyle/>
          <a:p>
            <a:pPr indent="0" marL="0">
              <a:buNone/>
            </a:pPr>
            <a:r>
              <a:rPr lang="en-US" sz="1100" dirty="0">
                <a:solidFill>
                  <a:srgbClr val="1E2A26"/>
                </a:solidFill>
                <a:latin typeface="Calibri" pitchFamily="34" charset="0"/>
                <a:ea typeface="Calibri" pitchFamily="34" charset="-122"/>
                <a:cs typeface="Calibri" pitchFamily="34" charset="-120"/>
              </a:rPr>
              <a:t>Forward only. Nothing returns upstream. Spent and contaminated blocks exit Zone 4 by the back door, never through clean zones.</a:t>
            </a:r>
            <a:endParaRPr lang="en-US" sz="1100" dirty="0"/>
          </a:p>
        </p:txBody>
      </p:sp>
      <p:sp>
        <p:nvSpPr>
          <p:cNvPr id="53" name="Shape 50"/>
          <p:cNvSpPr/>
          <p:nvPr/>
        </p:nvSpPr>
        <p:spPr>
          <a:xfrm>
            <a:off x="4297680" y="4251960"/>
            <a:ext cx="3520440" cy="1965960"/>
          </a:xfrm>
          <a:prstGeom prst="roundRect">
            <a:avLst>
              <a:gd name="adj" fmla="val 3721"/>
            </a:avLst>
          </a:prstGeom>
          <a:solidFill>
            <a:srgbClr val="EEF4F0"/>
          </a:solidFill>
          <a:ln w="9525">
            <a:solidFill>
              <a:srgbClr val="EEF4F0"/>
            </a:solidFill>
            <a:prstDash val="solid"/>
          </a:ln>
        </p:spPr>
      </p:sp>
      <p:sp>
        <p:nvSpPr>
          <p:cNvPr id="54" name="Shape 51"/>
          <p:cNvSpPr/>
          <p:nvPr/>
        </p:nvSpPr>
        <p:spPr>
          <a:xfrm>
            <a:off x="4498848" y="4434840"/>
            <a:ext cx="548640" cy="548640"/>
          </a:xfrm>
          <a:prstGeom prst="ellipse">
            <a:avLst/>
          </a:prstGeom>
          <a:solidFill>
            <a:srgbClr val="D9962B"/>
          </a:solidFill>
          <a:ln w="12700">
            <a:solidFill>
              <a:srgbClr val="D9962B"/>
            </a:solidFill>
            <a:prstDash val="solid"/>
          </a:ln>
        </p:spPr>
      </p:sp>
      <p:pic>
        <p:nvPicPr>
          <p:cNvPr id="55" name="Image 1" descr="preencoded.png">    </p:cNvPr>
          <p:cNvPicPr>
            <a:picLocks noChangeAspect="1"/>
          </p:cNvPicPr>
          <p:nvPr/>
        </p:nvPicPr>
        <p:blipFill>
          <a:blip r:embed="rId2"/>
          <a:stretch>
            <a:fillRect/>
          </a:stretch>
        </p:blipFill>
        <p:spPr>
          <a:xfrm>
            <a:off x="4641494" y="4577486"/>
            <a:ext cx="263347" cy="263347"/>
          </a:xfrm>
          <a:prstGeom prst="rect">
            <a:avLst/>
          </a:prstGeom>
        </p:spPr>
      </p:pic>
      <p:sp>
        <p:nvSpPr>
          <p:cNvPr id="56" name="Text 52"/>
          <p:cNvSpPr txBox="1"/>
          <p:nvPr/>
        </p:nvSpPr>
        <p:spPr>
          <a:xfrm>
            <a:off x="5166360" y="4453128"/>
            <a:ext cx="2468880" cy="502920"/>
          </a:xfrm>
          <a:prstGeom prst="rect">
            <a:avLst/>
          </a:prstGeom>
          <a:noFill/>
          <a:ln/>
        </p:spPr>
        <p:txBody>
          <a:bodyPr wrap="square" lIns="0" tIns="0" rIns="0" bIns="0" rtlCol="0" anchor="ctr"/>
          <a:lstStyle/>
          <a:p>
            <a:pPr indent="0" marL="0">
              <a:buNone/>
            </a:pPr>
            <a:r>
              <a:rPr lang="en-US" sz="1500" b="1" dirty="0">
                <a:solidFill>
                  <a:srgbClr val="14302A"/>
                </a:solidFill>
                <a:latin typeface="Cambria" pitchFamily="34" charset="0"/>
                <a:ea typeface="Cambria" pitchFamily="34" charset="-122"/>
                <a:cs typeface="Cambria" pitchFamily="34" charset="-120"/>
              </a:rPr>
              <a:t>People flow</a:t>
            </a:r>
            <a:endParaRPr lang="en-US" sz="1500" dirty="0"/>
          </a:p>
        </p:txBody>
      </p:sp>
      <p:sp>
        <p:nvSpPr>
          <p:cNvPr id="57" name="Text 53"/>
          <p:cNvSpPr txBox="1"/>
          <p:nvPr/>
        </p:nvSpPr>
        <p:spPr>
          <a:xfrm>
            <a:off x="4498848" y="5074920"/>
            <a:ext cx="3154680" cy="1097280"/>
          </a:xfrm>
          <a:prstGeom prst="rect">
            <a:avLst/>
          </a:prstGeom>
          <a:noFill/>
          <a:ln/>
        </p:spPr>
        <p:txBody>
          <a:bodyPr wrap="square" lIns="0" tIns="0" rIns="0" bIns="0" rtlCol="0" anchor="t"/>
          <a:lstStyle/>
          <a:p>
            <a:pPr indent="0" marL="0">
              <a:buNone/>
            </a:pPr>
            <a:r>
              <a:rPr lang="en-US" sz="1100" dirty="0">
                <a:solidFill>
                  <a:srgbClr val="1E2A26"/>
                </a:solidFill>
                <a:latin typeface="Calibri" pitchFamily="34" charset="0"/>
                <a:ea typeface="Calibri" pitchFamily="34" charset="-122"/>
                <a:cs typeface="Calibri" pitchFamily="34" charset="-120"/>
              </a:rPr>
              <a:t>Clean → dirty within a day. The lab technician inoculates first, freshly gowned, and never enters fruiting or prep before sterile work.</a:t>
            </a:r>
            <a:endParaRPr lang="en-US" sz="1100" dirty="0"/>
          </a:p>
        </p:txBody>
      </p:sp>
      <p:sp>
        <p:nvSpPr>
          <p:cNvPr id="58" name="Shape 54"/>
          <p:cNvSpPr/>
          <p:nvPr/>
        </p:nvSpPr>
        <p:spPr>
          <a:xfrm>
            <a:off x="8046720" y="4251960"/>
            <a:ext cx="3520440" cy="1965960"/>
          </a:xfrm>
          <a:prstGeom prst="roundRect">
            <a:avLst>
              <a:gd name="adj" fmla="val 3721"/>
            </a:avLst>
          </a:prstGeom>
          <a:solidFill>
            <a:srgbClr val="EEF4F0"/>
          </a:solidFill>
          <a:ln w="9525">
            <a:solidFill>
              <a:srgbClr val="EEF4F0"/>
            </a:solidFill>
            <a:prstDash val="solid"/>
          </a:ln>
        </p:spPr>
      </p:sp>
      <p:sp>
        <p:nvSpPr>
          <p:cNvPr id="59" name="Shape 55"/>
          <p:cNvSpPr/>
          <p:nvPr/>
        </p:nvSpPr>
        <p:spPr>
          <a:xfrm>
            <a:off x="8247888" y="4434840"/>
            <a:ext cx="548640" cy="548640"/>
          </a:xfrm>
          <a:prstGeom prst="ellipse">
            <a:avLst/>
          </a:prstGeom>
          <a:solidFill>
            <a:srgbClr val="4E7D6B"/>
          </a:solidFill>
          <a:ln w="12700">
            <a:solidFill>
              <a:srgbClr val="4E7D6B"/>
            </a:solidFill>
            <a:prstDash val="solid"/>
          </a:ln>
        </p:spPr>
      </p:sp>
      <p:pic>
        <p:nvPicPr>
          <p:cNvPr id="60" name="Image 2" descr="preencoded.png">    </p:cNvPr>
          <p:cNvPicPr>
            <a:picLocks noChangeAspect="1"/>
          </p:cNvPicPr>
          <p:nvPr/>
        </p:nvPicPr>
        <p:blipFill>
          <a:blip r:embed="rId3"/>
          <a:stretch>
            <a:fillRect/>
          </a:stretch>
        </p:blipFill>
        <p:spPr>
          <a:xfrm>
            <a:off x="8390534" y="4577486"/>
            <a:ext cx="263347" cy="263347"/>
          </a:xfrm>
          <a:prstGeom prst="rect">
            <a:avLst/>
          </a:prstGeom>
        </p:spPr>
      </p:pic>
      <p:sp>
        <p:nvSpPr>
          <p:cNvPr id="61" name="Text 56"/>
          <p:cNvSpPr txBox="1"/>
          <p:nvPr/>
        </p:nvSpPr>
        <p:spPr>
          <a:xfrm>
            <a:off x="8915400" y="4453128"/>
            <a:ext cx="2468880" cy="502920"/>
          </a:xfrm>
          <a:prstGeom prst="rect">
            <a:avLst/>
          </a:prstGeom>
          <a:noFill/>
          <a:ln/>
        </p:spPr>
        <p:txBody>
          <a:bodyPr wrap="square" lIns="0" tIns="0" rIns="0" bIns="0" rtlCol="0" anchor="ctr"/>
          <a:lstStyle/>
          <a:p>
            <a:pPr indent="0" marL="0">
              <a:buNone/>
            </a:pPr>
            <a:r>
              <a:rPr lang="en-US" sz="1500" b="1" dirty="0">
                <a:solidFill>
                  <a:srgbClr val="14302A"/>
                </a:solidFill>
                <a:latin typeface="Cambria" pitchFamily="34" charset="0"/>
                <a:ea typeface="Cambria" pitchFamily="34" charset="-122"/>
                <a:cs typeface="Cambria" pitchFamily="34" charset="-120"/>
              </a:rPr>
              <a:t>Air flow</a:t>
            </a:r>
            <a:endParaRPr lang="en-US" sz="1500" dirty="0"/>
          </a:p>
        </p:txBody>
      </p:sp>
      <p:sp>
        <p:nvSpPr>
          <p:cNvPr id="62" name="Text 57"/>
          <p:cNvSpPr txBox="1"/>
          <p:nvPr/>
        </p:nvSpPr>
        <p:spPr>
          <a:xfrm>
            <a:off x="8247888" y="5074920"/>
            <a:ext cx="3154680" cy="1097280"/>
          </a:xfrm>
          <a:prstGeom prst="rect">
            <a:avLst/>
          </a:prstGeom>
          <a:noFill/>
          <a:ln/>
        </p:spPr>
        <p:txBody>
          <a:bodyPr wrap="square" lIns="0" tIns="0" rIns="0" bIns="0" rtlCol="0" anchor="t"/>
          <a:lstStyle/>
          <a:p>
            <a:pPr indent="0" marL="0">
              <a:buNone/>
            </a:pPr>
            <a:r>
              <a:rPr lang="en-US" sz="1100" dirty="0">
                <a:solidFill>
                  <a:srgbClr val="1E2A26"/>
                </a:solidFill>
                <a:latin typeface="Calibri" pitchFamily="34" charset="0"/>
                <a:ea typeface="Calibri" pitchFamily="34" charset="-122"/>
                <a:cs typeface="Calibri" pitchFamily="34" charset="-120"/>
              </a:rPr>
              <a:t>Pressure cascades from clean to dirty: clean lab +10–15 Pa over anteroom; prep and fruiting exhaust outdoors so spores leave the building.</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D9962B"/>
                </a:solidFill>
                <a:latin typeface="Calibri" pitchFamily="34" charset="0"/>
                <a:ea typeface="Calibri" pitchFamily="34" charset="-122"/>
                <a:cs typeface="Calibri" pitchFamily="34" charset="-120"/>
              </a:rPr>
              <a:t>05 · FACILITY DESIGN</a:t>
            </a:r>
            <a:endParaRPr lang="en-US" sz="11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14302A"/>
                </a:solidFill>
                <a:latin typeface="Cambria" pitchFamily="34" charset="0"/>
                <a:ea typeface="Cambria" pitchFamily="34" charset="-122"/>
                <a:cs typeface="Cambria" pitchFamily="34" charset="-120"/>
              </a:rPr>
              <a:t>Room-by-room environmental specification</a:t>
            </a:r>
            <a:endParaRPr lang="en-US" sz="30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900" dirty="0">
                <a:solidFill>
                  <a:srgbClr val="5F6F69"/>
                </a:solidFill>
                <a:latin typeface="Calibri" pitchFamily="34" charset="0"/>
                <a:ea typeface="Calibri" pitchFamily="34" charset="-122"/>
                <a:cs typeface="Calibri" pitchFamily="34" charset="-120"/>
              </a:rPr>
              <a:t>Lion's Mane Facility  ·  Hamirpur, HP  ·  Project Plan</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900" dirty="0">
                <a:solidFill>
                  <a:srgbClr val="5F6F69"/>
                </a:solidFill>
                <a:latin typeface="Calibri" pitchFamily="34" charset="0"/>
                <a:ea typeface="Calibri" pitchFamily="34" charset="-122"/>
                <a:cs typeface="Calibri" pitchFamily="34" charset="-120"/>
              </a:rPr>
              <a:t>13</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109960" cy="914400"/>
        </p:xfrm>
        <a:graphic>
          <a:graphicData uri="http://schemas.openxmlformats.org/drawingml/2006/table">
            <a:tbl>
              <a:tblPr/>
              <a:tblGrid>
                <a:gridCol w="1600200"/>
                <a:gridCol w="1188720"/>
                <a:gridCol w="960120"/>
                <a:gridCol w="960120"/>
                <a:gridCol w="1371600"/>
                <a:gridCol w="2377440"/>
                <a:gridCol w="2651760"/>
              </a:tblGrid>
              <a:tr h="36576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Zone</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Temp</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RH</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CO₂</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Light</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Pressure &amp; air</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Key equipment</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r>
              <a:tr h="713232">
                <a:tc>
                  <a:txBody>
                    <a:bodyPr/>
                    <a:lstStyle/>
                    <a:p>
                      <a:pPr indent="0" marL="0">
                        <a:buNone/>
                      </a:pPr>
                      <a:r>
                        <a:rPr lang="en-US" sz="1000" b="1" dirty="0">
                          <a:solidFill>
                            <a:srgbClr val="14302A"/>
                          </a:solidFill>
                          <a:latin typeface="Calibri" pitchFamily="34" charset="0"/>
                          <a:ea typeface="Calibri" pitchFamily="34" charset="-122"/>
                          <a:cs typeface="Calibri" pitchFamily="34" charset="-120"/>
                        </a:rPr>
                        <a:t>1 · Prep &amp; sterilization</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000" dirty="0">
                          <a:solidFill>
                            <a:srgbClr val="1E2A26"/>
                          </a:solidFill>
                          <a:latin typeface="Calibri" pitchFamily="34" charset="0"/>
                          <a:ea typeface="Calibri" pitchFamily="34" charset="-122"/>
                          <a:cs typeface="Calibri" pitchFamily="34" charset="-120"/>
                        </a:rPr>
                        <a:t>Ambient</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000" dirty="0">
                          <a:solidFill>
                            <a:srgbClr val="1E2A26"/>
                          </a:solidFill>
                          <a:latin typeface="Calibri" pitchFamily="34" charset="0"/>
                          <a:ea typeface="Calibri" pitchFamily="34" charset="-122"/>
                          <a:cs typeface="Calibri" pitchFamily="34" charset="-120"/>
                        </a:rPr>
                        <a:t>Ambient (steam)</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000" dirty="0">
                          <a:solidFill>
                            <a:srgbClr val="1E2A2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000" dirty="0">
                          <a:solidFill>
                            <a:srgbClr val="1E2A26"/>
                          </a:solidFill>
                          <a:latin typeface="Calibri" pitchFamily="34" charset="0"/>
                          <a:ea typeface="Calibri" pitchFamily="34" charset="-122"/>
                          <a:cs typeface="Calibri" pitchFamily="34" charset="-120"/>
                        </a:rPr>
                        <a:t>Work light</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000" dirty="0">
                          <a:solidFill>
                            <a:srgbClr val="1E2A26"/>
                          </a:solidFill>
                          <a:latin typeface="Calibri" pitchFamily="34" charset="0"/>
                          <a:ea typeface="Calibri" pitchFamily="34" charset="-122"/>
                          <a:cs typeface="Calibri" pitchFamily="34" charset="-120"/>
                        </a:rPr>
                        <a:t>Negative; louvre exhaust outdoors</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000" dirty="0">
                          <a:solidFill>
                            <a:srgbClr val="1E2A26"/>
                          </a:solidFill>
                          <a:latin typeface="Calibri" pitchFamily="34" charset="0"/>
                          <a:ea typeface="Calibri" pitchFamily="34" charset="-122"/>
                          <a:cs typeface="Calibri" pitchFamily="34" charset="-120"/>
                        </a:rPr>
                        <a:t>200 L ribbon mixer, bag filler, impulse sealer (≥5 mm seal), 400–500 L autoclave</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713232">
                <a:tc>
                  <a:txBody>
                    <a:bodyPr/>
                    <a:lstStyle/>
                    <a:p>
                      <a:pPr indent="0" marL="0">
                        <a:buNone/>
                      </a:pPr>
                      <a:r>
                        <a:rPr lang="en-US" sz="1000" b="1" dirty="0">
                          <a:solidFill>
                            <a:srgbClr val="14302A"/>
                          </a:solidFill>
                          <a:latin typeface="Calibri" pitchFamily="34" charset="0"/>
                          <a:ea typeface="Calibri" pitchFamily="34" charset="-122"/>
                          <a:cs typeface="Calibri" pitchFamily="34" charset="-120"/>
                        </a:rPr>
                        <a:t>2 · Anteroom + clean lab</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000" dirty="0">
                          <a:solidFill>
                            <a:srgbClr val="1E2A26"/>
                          </a:solidFill>
                          <a:latin typeface="Calibri" pitchFamily="34" charset="0"/>
                          <a:ea typeface="Calibri" pitchFamily="34" charset="-122"/>
                          <a:cs typeface="Calibri" pitchFamily="34" charset="-120"/>
                        </a:rPr>
                        <a:t>20–22°C</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000" dirty="0">
                          <a:solidFill>
                            <a:srgbClr val="1E2A26"/>
                          </a:solidFill>
                          <a:latin typeface="Calibri" pitchFamily="34" charset="0"/>
                          <a:ea typeface="Calibri" pitchFamily="34" charset="-122"/>
                          <a:cs typeface="Calibri" pitchFamily="34" charset="-120"/>
                        </a:rPr>
                        <a:t>45–50%</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000" dirty="0">
                          <a:solidFill>
                            <a:srgbClr val="1E2A2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000" dirty="0">
                          <a:solidFill>
                            <a:srgbClr val="1E2A26"/>
                          </a:solidFill>
                          <a:latin typeface="Calibri" pitchFamily="34" charset="0"/>
                          <a:ea typeface="Calibri" pitchFamily="34" charset="-122"/>
                          <a:cs typeface="Calibri" pitchFamily="34" charset="-120"/>
                        </a:rPr>
                        <a:t>Work light; UV-C when empty</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000" dirty="0">
                          <a:solidFill>
                            <a:srgbClr val="1E2A26"/>
                          </a:solidFill>
                          <a:latin typeface="Calibri" pitchFamily="34" charset="0"/>
                          <a:ea typeface="Calibri" pitchFamily="34" charset="-122"/>
                          <a:cs typeface="Calibri" pitchFamily="34" charset="-120"/>
                        </a:rPr>
                        <a:t>+10–15 Pa vs anteroom; H14 HEPA intake; ISO 5 at hood, ISO 7/8 room</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000" dirty="0">
                          <a:solidFill>
                            <a:srgbClr val="1E2A26"/>
                          </a:solidFill>
                          <a:latin typeface="Calibri" pitchFamily="34" charset="0"/>
                          <a:ea typeface="Calibri" pitchFamily="34" charset="-122"/>
                          <a:cs typeface="Calibri" pitchFamily="34" charset="-120"/>
                        </a:rPr>
                        <a:t>2 × LAF hoods (H14, ~0.45 m/s), SS cooling racks, sealer, UV pass box</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r>
              <a:tr h="713232">
                <a:tc>
                  <a:txBody>
                    <a:bodyPr/>
                    <a:lstStyle/>
                    <a:p>
                      <a:pPr indent="0" marL="0">
                        <a:buNone/>
                      </a:pPr>
                      <a:r>
                        <a:rPr lang="en-US" sz="1000" b="1" dirty="0">
                          <a:solidFill>
                            <a:srgbClr val="14302A"/>
                          </a:solidFill>
                          <a:latin typeface="Calibri" pitchFamily="34" charset="0"/>
                          <a:ea typeface="Calibri" pitchFamily="34" charset="-122"/>
                          <a:cs typeface="Calibri" pitchFamily="34" charset="-120"/>
                        </a:rPr>
                        <a:t>3 · Incubation</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000" dirty="0">
                          <a:solidFill>
                            <a:srgbClr val="1E2A26"/>
                          </a:solidFill>
                          <a:latin typeface="Calibri" pitchFamily="34" charset="0"/>
                          <a:ea typeface="Calibri" pitchFamily="34" charset="-122"/>
                          <a:cs typeface="Calibri" pitchFamily="34" charset="-120"/>
                        </a:rPr>
                        <a:t>21–24°C air; core &lt;27°C</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000" dirty="0">
                          <a:solidFill>
                            <a:srgbClr val="1E2A26"/>
                          </a:solidFill>
                          <a:latin typeface="Calibri" pitchFamily="34" charset="0"/>
                          <a:ea typeface="Calibri" pitchFamily="34" charset="-122"/>
                          <a:cs typeface="Calibri" pitchFamily="34" charset="-120"/>
                        </a:rPr>
                        <a:t>60–70%</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000" dirty="0">
                          <a:solidFill>
                            <a:srgbClr val="1E2A26"/>
                          </a:solidFill>
                          <a:latin typeface="Calibri" pitchFamily="34" charset="0"/>
                          <a:ea typeface="Calibri" pitchFamily="34" charset="-122"/>
                          <a:cs typeface="Calibri" pitchFamily="34" charset="-120"/>
                        </a:rPr>
                        <a:t>&gt;2,000 ppm is fine</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000" dirty="0">
                          <a:solidFill>
                            <a:srgbClr val="1E2A26"/>
                          </a:solidFill>
                          <a:latin typeface="Calibri" pitchFamily="34" charset="0"/>
                          <a:ea typeface="Calibri" pitchFamily="34" charset="-122"/>
                          <a:cs typeface="Calibri" pitchFamily="34" charset="-120"/>
                        </a:rPr>
                        <a:t>Dark</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000" dirty="0">
                          <a:solidFill>
                            <a:srgbClr val="1E2A26"/>
                          </a:solidFill>
                          <a:latin typeface="Calibri" pitchFamily="34" charset="0"/>
                          <a:ea typeface="Calibri" pitchFamily="34" charset="-122"/>
                          <a:cs typeface="Calibri" pitchFamily="34" charset="-120"/>
                        </a:rPr>
                        <a:t>Neutral; recirculation fans</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000" dirty="0">
                          <a:solidFill>
                            <a:srgbClr val="1E2A26"/>
                          </a:solidFill>
                          <a:latin typeface="Calibri" pitchFamily="34" charset="0"/>
                          <a:ea typeface="Calibri" pitchFamily="34" charset="-122"/>
                          <a:cs typeface="Calibri" pitchFamily="34" charset="-120"/>
                        </a:rPr>
                        <a:t>9-ft epoxy racks, core-temp probes, T/CO₂ controller, inverter AC</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713232">
                <a:tc>
                  <a:txBody>
                    <a:bodyPr/>
                    <a:lstStyle/>
                    <a:p>
                      <a:pPr indent="0" marL="0">
                        <a:buNone/>
                      </a:pPr>
                      <a:r>
                        <a:rPr lang="en-US" sz="1000" b="1" dirty="0">
                          <a:solidFill>
                            <a:srgbClr val="14302A"/>
                          </a:solidFill>
                          <a:latin typeface="Calibri" pitchFamily="34" charset="0"/>
                          <a:ea typeface="Calibri" pitchFamily="34" charset="-122"/>
                          <a:cs typeface="Calibri" pitchFamily="34" charset="-120"/>
                        </a:rPr>
                        <a:t>4 · Fruiting A / B</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000" dirty="0">
                          <a:solidFill>
                            <a:srgbClr val="1E2A26"/>
                          </a:solidFill>
                          <a:latin typeface="Calibri" pitchFamily="34" charset="0"/>
                          <a:ea typeface="Calibri" pitchFamily="34" charset="-122"/>
                          <a:cs typeface="Calibri" pitchFamily="34" charset="-120"/>
                        </a:rPr>
                        <a:t>15–18°C (max 20°C)</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000" dirty="0">
                          <a:solidFill>
                            <a:srgbClr val="1E2A26"/>
                          </a:solidFill>
                          <a:latin typeface="Calibri" pitchFamily="34" charset="0"/>
                          <a:ea typeface="Calibri" pitchFamily="34" charset="-122"/>
                          <a:cs typeface="Calibri" pitchFamily="34" charset="-120"/>
                        </a:rPr>
                        <a:t>85–95%</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000" dirty="0">
                          <a:solidFill>
                            <a:srgbClr val="1E2A26"/>
                          </a:solidFill>
                          <a:latin typeface="Calibri" pitchFamily="34" charset="0"/>
                          <a:ea typeface="Calibri" pitchFamily="34" charset="-122"/>
                          <a:cs typeface="Calibri" pitchFamily="34" charset="-120"/>
                        </a:rPr>
                        <a:t>&lt;800 ppm</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000" dirty="0">
                          <a:solidFill>
                            <a:srgbClr val="1E2A26"/>
                          </a:solidFill>
                          <a:latin typeface="Calibri" pitchFamily="34" charset="0"/>
                          <a:ea typeface="Calibri" pitchFamily="34" charset="-122"/>
                          <a:cs typeface="Calibri" pitchFamily="34" charset="-120"/>
                        </a:rPr>
                        <a:t>12 h, 500–1,000 lux, 6500 K</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000" dirty="0">
                          <a:solidFill>
                            <a:srgbClr val="1E2A26"/>
                          </a:solidFill>
                          <a:latin typeface="Calibri" pitchFamily="34" charset="0"/>
                          <a:ea typeface="Calibri" pitchFamily="34" charset="-122"/>
                          <a:cs typeface="Calibri" pitchFamily="34" charset="-120"/>
                        </a:rPr>
                        <a:t>Negative; MERV 13 intake high, exhaust 6" off floor; 6–8 ACH</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000" dirty="0">
                          <a:solidFill>
                            <a:srgbClr val="1E2A26"/>
                          </a:solidFill>
                          <a:latin typeface="Calibri" pitchFamily="34" charset="0"/>
                          <a:ea typeface="Calibri" pitchFamily="34" charset="-122"/>
                          <a:cs typeface="Calibri" pitchFamily="34" charset="-120"/>
                        </a:rPr>
                        <a:t>10-head ultrasonic humidifier + humidistat, CO₂-controlled FAE fans, waterproof LED</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r>
              <a:tr h="713232">
                <a:tc>
                  <a:txBody>
                    <a:bodyPr/>
                    <a:lstStyle/>
                    <a:p>
                      <a:pPr indent="0" marL="0">
                        <a:buNone/>
                      </a:pPr>
                      <a:r>
                        <a:rPr lang="en-US" sz="1000" b="1" dirty="0">
                          <a:solidFill>
                            <a:srgbClr val="14302A"/>
                          </a:solidFill>
                          <a:latin typeface="Calibri" pitchFamily="34" charset="0"/>
                          <a:ea typeface="Calibri" pitchFamily="34" charset="-122"/>
                          <a:cs typeface="Calibri" pitchFamily="34" charset="-120"/>
                        </a:rPr>
                        <a:t>5 · Processing &amp; pack</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000" dirty="0">
                          <a:solidFill>
                            <a:srgbClr val="1E2A26"/>
                          </a:solidFill>
                          <a:latin typeface="Calibri" pitchFamily="34" charset="0"/>
                          <a:ea typeface="Calibri" pitchFamily="34" charset="-122"/>
                          <a:cs typeface="Calibri" pitchFamily="34" charset="-120"/>
                        </a:rPr>
                        <a:t>&lt;25°C</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000" dirty="0">
                          <a:solidFill>
                            <a:srgbClr val="1E2A26"/>
                          </a:solidFill>
                          <a:latin typeface="Calibri" pitchFamily="34" charset="0"/>
                          <a:ea typeface="Calibri" pitchFamily="34" charset="-122"/>
                          <a:cs typeface="Calibri" pitchFamily="34" charset="-120"/>
                        </a:rPr>
                        <a:t>&lt;40%</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000" dirty="0">
                          <a:solidFill>
                            <a:srgbClr val="1E2A2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000" dirty="0">
                          <a:solidFill>
                            <a:srgbClr val="1E2A26"/>
                          </a:solidFill>
                          <a:latin typeface="Calibri" pitchFamily="34" charset="0"/>
                          <a:ea typeface="Calibri" pitchFamily="34" charset="-122"/>
                          <a:cs typeface="Calibri" pitchFamily="34" charset="-120"/>
                        </a:rPr>
                        <a:t>Normal</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000" dirty="0">
                          <a:solidFill>
                            <a:srgbClr val="1E2A26"/>
                          </a:solidFill>
                          <a:latin typeface="Calibri" pitchFamily="34" charset="0"/>
                          <a:ea typeface="Calibri" pitchFamily="34" charset="-122"/>
                          <a:cs typeface="Calibri" pitchFamily="34" charset="-120"/>
                        </a:rPr>
                        <a:t>Slight positive; dehumidified</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000" dirty="0">
                          <a:solidFill>
                            <a:srgbClr val="1E2A26"/>
                          </a:solidFill>
                          <a:latin typeface="Calibri" pitchFamily="34" charset="0"/>
                          <a:ea typeface="Calibri" pitchFamily="34" charset="-122"/>
                          <a:cs typeface="Calibri" pitchFamily="34" charset="-120"/>
                        </a:rPr>
                        <a:t>Slicer, 96-tray dehydrator (45–50°C), 3 HP pulverizer, sifter, vacuum sealer</a:t>
                      </a:r>
                      <a:endParaRPr lang="en-US" sz="10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852160"/>
            <a:ext cx="11109960" cy="457200"/>
          </a:xfrm>
          <a:prstGeom prst="roundRect">
            <a:avLst>
              <a:gd name="adj" fmla="val 16000"/>
            </a:avLst>
          </a:prstGeom>
          <a:solidFill>
            <a:srgbClr val="FBF1DE"/>
          </a:solidFill>
          <a:ln w="9525">
            <a:solidFill>
              <a:srgbClr val="FBF1DE"/>
            </a:solidFill>
            <a:prstDash val="solid"/>
          </a:ln>
        </p:spPr>
      </p:sp>
      <p:sp>
        <p:nvSpPr>
          <p:cNvPr id="8" name="Text 5"/>
          <p:cNvSpPr txBox="1"/>
          <p:nvPr/>
        </p:nvSpPr>
        <p:spPr>
          <a:xfrm>
            <a:off x="731520" y="5852160"/>
            <a:ext cx="10789920" cy="457200"/>
          </a:xfrm>
          <a:prstGeom prst="rect">
            <a:avLst/>
          </a:prstGeom>
          <a:noFill/>
          <a:ln/>
        </p:spPr>
        <p:txBody>
          <a:bodyPr wrap="square" lIns="0" tIns="0" rIns="0" bIns="0" rtlCol="0" anchor="ctr"/>
          <a:lstStyle/>
          <a:p>
            <a:pPr indent="0" marL="0">
              <a:buNone/>
            </a:pPr>
            <a:r>
              <a:rPr lang="en-US" sz="1150" dirty="0">
                <a:solidFill>
                  <a:srgbClr val="1E2A26"/>
                </a:solidFill>
                <a:latin typeface="Calibri" pitchFamily="34" charset="0"/>
                <a:ea typeface="Calibri" pitchFamily="34" charset="-122"/>
                <a:cs typeface="Calibri" pitchFamily="34" charset="-120"/>
              </a:rPr>
              <a:t>Reconciled from site notes: incubation air is held at 21–24°C (setpoint 22°C) because Lion's Mane blocks run 3–5°C hotter at the core through thermogenesis.</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D9962B"/>
                </a:solidFill>
                <a:latin typeface="Calibri" pitchFamily="34" charset="0"/>
                <a:ea typeface="Calibri" pitchFamily="34" charset="-122"/>
                <a:cs typeface="Calibri" pitchFamily="34" charset="-120"/>
              </a:rPr>
              <a:t>05 · FACILITY DESIGN</a:t>
            </a:r>
            <a:endParaRPr lang="en-US" sz="11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14302A"/>
                </a:solidFill>
                <a:latin typeface="Cambria" pitchFamily="34" charset="0"/>
                <a:ea typeface="Cambria" pitchFamily="34" charset="-122"/>
                <a:cs typeface="Cambria" pitchFamily="34" charset="-120"/>
              </a:rPr>
              <a:t>Clean-room civil &amp; HVAC engineering</a:t>
            </a:r>
            <a:endParaRPr lang="en-US" sz="30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900" dirty="0">
                <a:solidFill>
                  <a:srgbClr val="5F6F69"/>
                </a:solidFill>
                <a:latin typeface="Calibri" pitchFamily="34" charset="0"/>
                <a:ea typeface="Calibri" pitchFamily="34" charset="-122"/>
                <a:cs typeface="Calibri" pitchFamily="34" charset="-120"/>
              </a:rPr>
              <a:t>Lion's Mane Facility  ·  Hamirpur, HP  ·  Project Plan</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900" dirty="0">
                <a:solidFill>
                  <a:srgbClr val="5F6F69"/>
                </a:solidFill>
                <a:latin typeface="Calibri" pitchFamily="34" charset="0"/>
                <a:ea typeface="Calibri" pitchFamily="34" charset="-122"/>
                <a:cs typeface="Calibri" pitchFamily="34" charset="-120"/>
              </a:rPr>
              <a:t>14</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5760720" cy="914400"/>
        </p:xfrm>
        <a:graphic>
          <a:graphicData uri="http://schemas.openxmlformats.org/drawingml/2006/table">
            <a:tbl>
              <a:tblPr/>
              <a:tblGrid>
                <a:gridCol w="1463040"/>
                <a:gridCol w="4297680"/>
              </a:tblGrid>
              <a:tr h="51206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Element</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Specification</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r>
              <a:tr h="512064">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Walls &amp; ceiling</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50–80 mm PUF sandwich panels, 40 kg/m³, PPGI finish, RTV silicone joints</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512064">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Floor</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2–3 mm seamless epoxy resin; no tiles or grout lines</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r>
              <a:tr h="512064">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Corners</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50R–75R extruded aluminium coving; no 90° dead zones</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512064">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Airlock</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Two-door interlocked anteroom for gowning; door closers</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r>
              <a:tr h="512064">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Transfer</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Double-door autoclave or SS-304 UV pass box with interlock</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512064">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Fixtures</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Flush sealed LED; SS-304 tables; no wood or bare steel</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r>
            </a:tbl>
          </a:graphicData>
        </a:graphic>
      </p:graphicFrame>
      <p:sp>
        <p:nvSpPr>
          <p:cNvPr id="7" name="Text 4"/>
          <p:cNvSpPr txBox="1"/>
          <p:nvPr/>
        </p:nvSpPr>
        <p:spPr>
          <a:xfrm>
            <a:off x="6675120" y="1463040"/>
            <a:ext cx="4937760" cy="365760"/>
          </a:xfrm>
          <a:prstGeom prst="rect">
            <a:avLst/>
          </a:prstGeom>
          <a:noFill/>
          <a:ln/>
        </p:spPr>
        <p:txBody>
          <a:bodyPr wrap="square" lIns="0" tIns="0" rIns="0" bIns="0" rtlCol="0" anchor="t"/>
          <a:lstStyle/>
          <a:p>
            <a:pPr indent="0" marL="0">
              <a:buNone/>
            </a:pPr>
            <a:r>
              <a:rPr lang="en-US" sz="1500" b="1" dirty="0">
                <a:solidFill>
                  <a:srgbClr val="14302A"/>
                </a:solidFill>
                <a:latin typeface="Cambria" pitchFamily="34" charset="0"/>
                <a:ea typeface="Cambria" pitchFamily="34" charset="-122"/>
                <a:cs typeface="Cambria" pitchFamily="34" charset="-120"/>
              </a:rPr>
              <a:t>Pressure cascade</a:t>
            </a:r>
            <a:endParaRPr lang="en-US" sz="1500" dirty="0"/>
          </a:p>
        </p:txBody>
      </p:sp>
      <p:sp>
        <p:nvSpPr>
          <p:cNvPr id="8" name="Shape 5"/>
          <p:cNvSpPr/>
          <p:nvPr/>
        </p:nvSpPr>
        <p:spPr>
          <a:xfrm>
            <a:off x="6675120" y="2514600"/>
            <a:ext cx="1143000" cy="731520"/>
          </a:xfrm>
          <a:prstGeom prst="roundRect">
            <a:avLst>
              <a:gd name="adj" fmla="val 7500"/>
            </a:avLst>
          </a:prstGeom>
          <a:solidFill>
            <a:srgbClr val="D9D9D9"/>
          </a:solidFill>
          <a:ln w="12700">
            <a:solidFill>
              <a:srgbClr val="D9D9D9"/>
            </a:solidFill>
            <a:prstDash val="solid"/>
          </a:ln>
        </p:spPr>
      </p:sp>
      <p:sp>
        <p:nvSpPr>
          <p:cNvPr id="9" name="Text 6"/>
          <p:cNvSpPr txBox="1"/>
          <p:nvPr/>
        </p:nvSpPr>
        <p:spPr>
          <a:xfrm>
            <a:off x="6675120" y="2587752"/>
            <a:ext cx="1143000" cy="274320"/>
          </a:xfrm>
          <a:prstGeom prst="rect">
            <a:avLst/>
          </a:prstGeom>
          <a:noFill/>
          <a:ln/>
        </p:spPr>
        <p:txBody>
          <a:bodyPr wrap="square" lIns="0" tIns="0" rIns="0" bIns="0" rtlCol="0" anchor="t"/>
          <a:lstStyle/>
          <a:p>
            <a:pPr algn="ctr" indent="0" marL="0">
              <a:buNone/>
            </a:pPr>
            <a:r>
              <a:rPr lang="en-US" sz="1050" b="1" dirty="0">
                <a:solidFill>
                  <a:srgbClr val="1E2A26"/>
                </a:solidFill>
                <a:latin typeface="Calibri" pitchFamily="34" charset="0"/>
                <a:ea typeface="Calibri" pitchFamily="34" charset="-122"/>
                <a:cs typeface="Calibri" pitchFamily="34" charset="-120"/>
              </a:rPr>
              <a:t>Outdoors</a:t>
            </a:r>
            <a:endParaRPr lang="en-US" sz="1050" dirty="0"/>
          </a:p>
        </p:txBody>
      </p:sp>
      <p:sp>
        <p:nvSpPr>
          <p:cNvPr id="10" name="Text 7"/>
          <p:cNvSpPr txBox="1"/>
          <p:nvPr/>
        </p:nvSpPr>
        <p:spPr>
          <a:xfrm>
            <a:off x="6675120" y="2862072"/>
            <a:ext cx="1143000" cy="274320"/>
          </a:xfrm>
          <a:prstGeom prst="rect">
            <a:avLst/>
          </a:prstGeom>
          <a:noFill/>
          <a:ln/>
        </p:spPr>
        <p:txBody>
          <a:bodyPr wrap="square" lIns="0" tIns="0" rIns="0" bIns="0" rtlCol="0" anchor="t"/>
          <a:lstStyle/>
          <a:p>
            <a:pPr algn="ctr" indent="0" marL="0">
              <a:buNone/>
            </a:pPr>
            <a:r>
              <a:rPr lang="en-US" sz="1050" dirty="0">
                <a:solidFill>
                  <a:srgbClr val="1E2A26"/>
                </a:solidFill>
                <a:latin typeface="Calibri" pitchFamily="34" charset="0"/>
                <a:ea typeface="Calibri" pitchFamily="34" charset="-122"/>
                <a:cs typeface="Calibri" pitchFamily="34" charset="-120"/>
              </a:rPr>
              <a:t>0 Pa</a:t>
            </a:r>
            <a:endParaRPr lang="en-US" sz="1050" dirty="0"/>
          </a:p>
        </p:txBody>
      </p:sp>
      <p:sp>
        <p:nvSpPr>
          <p:cNvPr id="11" name="Shape 8"/>
          <p:cNvSpPr/>
          <p:nvPr/>
        </p:nvSpPr>
        <p:spPr>
          <a:xfrm>
            <a:off x="7927848" y="2194560"/>
            <a:ext cx="1143000" cy="1051560"/>
          </a:xfrm>
          <a:prstGeom prst="roundRect">
            <a:avLst>
              <a:gd name="adj" fmla="val 5217"/>
            </a:avLst>
          </a:prstGeom>
          <a:solidFill>
            <a:srgbClr val="8DB596"/>
          </a:solidFill>
          <a:ln w="12700">
            <a:solidFill>
              <a:srgbClr val="8DB596"/>
            </a:solidFill>
            <a:prstDash val="solid"/>
          </a:ln>
        </p:spPr>
      </p:sp>
      <p:sp>
        <p:nvSpPr>
          <p:cNvPr id="12" name="Text 9"/>
          <p:cNvSpPr txBox="1"/>
          <p:nvPr/>
        </p:nvSpPr>
        <p:spPr>
          <a:xfrm>
            <a:off x="7927848" y="2267712"/>
            <a:ext cx="1143000" cy="274320"/>
          </a:xfrm>
          <a:prstGeom prst="rect">
            <a:avLst/>
          </a:prstGeom>
          <a:noFill/>
          <a:ln/>
        </p:spPr>
        <p:txBody>
          <a:bodyPr wrap="square" lIns="0" tIns="0" rIns="0" bIns="0" rtlCol="0" anchor="t"/>
          <a:lstStyle/>
          <a:p>
            <a:pPr algn="ctr" indent="0" marL="0">
              <a:buNone/>
            </a:pPr>
            <a:r>
              <a:rPr lang="en-US" sz="1050" b="1" dirty="0">
                <a:solidFill>
                  <a:srgbClr val="1E2A26"/>
                </a:solidFill>
                <a:latin typeface="Calibri" pitchFamily="34" charset="0"/>
                <a:ea typeface="Calibri" pitchFamily="34" charset="-122"/>
                <a:cs typeface="Calibri" pitchFamily="34" charset="-120"/>
              </a:rPr>
              <a:t>Anteroom</a:t>
            </a:r>
            <a:endParaRPr lang="en-US" sz="1050" dirty="0"/>
          </a:p>
        </p:txBody>
      </p:sp>
      <p:sp>
        <p:nvSpPr>
          <p:cNvPr id="13" name="Text 10"/>
          <p:cNvSpPr txBox="1"/>
          <p:nvPr/>
        </p:nvSpPr>
        <p:spPr>
          <a:xfrm>
            <a:off x="7927848" y="2542032"/>
            <a:ext cx="1143000" cy="274320"/>
          </a:xfrm>
          <a:prstGeom prst="rect">
            <a:avLst/>
          </a:prstGeom>
          <a:noFill/>
          <a:ln/>
        </p:spPr>
        <p:txBody>
          <a:bodyPr wrap="square" lIns="0" tIns="0" rIns="0" bIns="0" rtlCol="0" anchor="t"/>
          <a:lstStyle/>
          <a:p>
            <a:pPr algn="ctr" indent="0" marL="0">
              <a:buNone/>
            </a:pPr>
            <a:r>
              <a:rPr lang="en-US" sz="1050" dirty="0">
                <a:solidFill>
                  <a:srgbClr val="1E2A26"/>
                </a:solidFill>
                <a:latin typeface="Calibri" pitchFamily="34" charset="0"/>
                <a:ea typeface="Calibri" pitchFamily="34" charset="-122"/>
                <a:cs typeface="Calibri" pitchFamily="34" charset="-120"/>
              </a:rPr>
              <a:t>+5–10 Pa</a:t>
            </a:r>
            <a:endParaRPr lang="en-US" sz="1050" dirty="0"/>
          </a:p>
        </p:txBody>
      </p:sp>
      <p:sp>
        <p:nvSpPr>
          <p:cNvPr id="14" name="Shape 11"/>
          <p:cNvSpPr/>
          <p:nvPr/>
        </p:nvSpPr>
        <p:spPr>
          <a:xfrm>
            <a:off x="9180576" y="1874520"/>
            <a:ext cx="1143000" cy="1371600"/>
          </a:xfrm>
          <a:prstGeom prst="roundRect">
            <a:avLst>
              <a:gd name="adj" fmla="val 4800"/>
            </a:avLst>
          </a:prstGeom>
          <a:solidFill>
            <a:srgbClr val="2E5E4E"/>
          </a:solidFill>
          <a:ln w="12700">
            <a:solidFill>
              <a:srgbClr val="2E5E4E"/>
            </a:solidFill>
            <a:prstDash val="solid"/>
          </a:ln>
        </p:spPr>
      </p:sp>
      <p:sp>
        <p:nvSpPr>
          <p:cNvPr id="15" name="Text 12"/>
          <p:cNvSpPr txBox="1"/>
          <p:nvPr/>
        </p:nvSpPr>
        <p:spPr>
          <a:xfrm>
            <a:off x="9180576" y="1947672"/>
            <a:ext cx="1143000" cy="274320"/>
          </a:xfrm>
          <a:prstGeom prst="rect">
            <a:avLst/>
          </a:prstGeom>
          <a:noFill/>
          <a:ln/>
        </p:spPr>
        <p:txBody>
          <a:bodyPr wrap="square" lIns="0" tIns="0" rIns="0" bIns="0" rtlCol="0" anchor="t"/>
          <a:lstStyle/>
          <a:p>
            <a:pPr algn="ctr" indent="0" marL="0">
              <a:buNone/>
            </a:pPr>
            <a:r>
              <a:rPr lang="en-US" sz="1050" b="1" dirty="0">
                <a:solidFill>
                  <a:srgbClr val="FFFFFF"/>
                </a:solidFill>
                <a:latin typeface="Calibri" pitchFamily="34" charset="0"/>
                <a:ea typeface="Calibri" pitchFamily="34" charset="-122"/>
                <a:cs typeface="Calibri" pitchFamily="34" charset="-120"/>
              </a:rPr>
              <a:t>Clean lab</a:t>
            </a:r>
            <a:endParaRPr lang="en-US" sz="1050" dirty="0"/>
          </a:p>
        </p:txBody>
      </p:sp>
      <p:sp>
        <p:nvSpPr>
          <p:cNvPr id="16" name="Text 13"/>
          <p:cNvSpPr txBox="1"/>
          <p:nvPr/>
        </p:nvSpPr>
        <p:spPr>
          <a:xfrm>
            <a:off x="9180576" y="2221992"/>
            <a:ext cx="1143000" cy="274320"/>
          </a:xfrm>
          <a:prstGeom prst="rect">
            <a:avLst/>
          </a:prstGeom>
          <a:noFill/>
          <a:ln/>
        </p:spPr>
        <p:txBody>
          <a:bodyPr wrap="square" lIns="0" tIns="0" rIns="0" bIns="0" rtlCol="0" anchor="t"/>
          <a:lstStyle/>
          <a:p>
            <a:pPr algn="ctr" indent="0" marL="0">
              <a:buNone/>
            </a:pPr>
            <a:r>
              <a:rPr lang="en-US" sz="1050" dirty="0">
                <a:solidFill>
                  <a:srgbClr val="FFFFFF"/>
                </a:solidFill>
                <a:latin typeface="Calibri" pitchFamily="34" charset="0"/>
                <a:ea typeface="Calibri" pitchFamily="34" charset="-122"/>
                <a:cs typeface="Calibri" pitchFamily="34" charset="-120"/>
              </a:rPr>
              <a:t>+15–25 Pa</a:t>
            </a:r>
            <a:endParaRPr lang="en-US" sz="1050" dirty="0"/>
          </a:p>
        </p:txBody>
      </p:sp>
      <p:sp>
        <p:nvSpPr>
          <p:cNvPr id="17" name="Shape 14"/>
          <p:cNvSpPr/>
          <p:nvPr/>
        </p:nvSpPr>
        <p:spPr>
          <a:xfrm>
            <a:off x="10433304" y="1554480"/>
            <a:ext cx="1143000" cy="1691640"/>
          </a:xfrm>
          <a:prstGeom prst="roundRect">
            <a:avLst>
              <a:gd name="adj" fmla="val 4800"/>
            </a:avLst>
          </a:prstGeom>
          <a:solidFill>
            <a:srgbClr val="14302A"/>
          </a:solidFill>
          <a:ln w="12700">
            <a:solidFill>
              <a:srgbClr val="14302A"/>
            </a:solidFill>
            <a:prstDash val="solid"/>
          </a:ln>
        </p:spPr>
      </p:sp>
      <p:sp>
        <p:nvSpPr>
          <p:cNvPr id="18" name="Text 15"/>
          <p:cNvSpPr txBox="1"/>
          <p:nvPr/>
        </p:nvSpPr>
        <p:spPr>
          <a:xfrm>
            <a:off x="10433304" y="1627632"/>
            <a:ext cx="1143000" cy="274320"/>
          </a:xfrm>
          <a:prstGeom prst="rect">
            <a:avLst/>
          </a:prstGeom>
          <a:noFill/>
          <a:ln/>
        </p:spPr>
        <p:txBody>
          <a:bodyPr wrap="square" lIns="0" tIns="0" rIns="0" bIns="0" rtlCol="0" anchor="t"/>
          <a:lstStyle/>
          <a:p>
            <a:pPr algn="ctr" indent="0" marL="0">
              <a:buNone/>
            </a:pPr>
            <a:r>
              <a:rPr lang="en-US" sz="1050" b="1" dirty="0">
                <a:solidFill>
                  <a:srgbClr val="FFFFFF"/>
                </a:solidFill>
                <a:latin typeface="Calibri" pitchFamily="34" charset="0"/>
                <a:ea typeface="Calibri" pitchFamily="34" charset="-122"/>
                <a:cs typeface="Calibri" pitchFamily="34" charset="-120"/>
              </a:rPr>
              <a:t>LAF zone</a:t>
            </a:r>
            <a:endParaRPr lang="en-US" sz="1050" dirty="0"/>
          </a:p>
        </p:txBody>
      </p:sp>
      <p:sp>
        <p:nvSpPr>
          <p:cNvPr id="19" name="Text 16"/>
          <p:cNvSpPr txBox="1"/>
          <p:nvPr/>
        </p:nvSpPr>
        <p:spPr>
          <a:xfrm>
            <a:off x="10433304" y="1901952"/>
            <a:ext cx="1143000" cy="274320"/>
          </a:xfrm>
          <a:prstGeom prst="rect">
            <a:avLst/>
          </a:prstGeom>
          <a:noFill/>
          <a:ln/>
        </p:spPr>
        <p:txBody>
          <a:bodyPr wrap="square" lIns="0" tIns="0" rIns="0" bIns="0" rtlCol="0" anchor="t"/>
          <a:lstStyle/>
          <a:p>
            <a:pPr algn="ctr" indent="0" marL="0">
              <a:buNone/>
            </a:pPr>
            <a:r>
              <a:rPr lang="en-US" sz="1050" dirty="0">
                <a:solidFill>
                  <a:srgbClr val="FFFFFF"/>
                </a:solidFill>
                <a:latin typeface="Calibri" pitchFamily="34" charset="0"/>
                <a:ea typeface="Calibri" pitchFamily="34" charset="-122"/>
                <a:cs typeface="Calibri" pitchFamily="34" charset="-120"/>
              </a:rPr>
              <a:t>ISO 5</a:t>
            </a:r>
            <a:endParaRPr lang="en-US" sz="1050" dirty="0"/>
          </a:p>
        </p:txBody>
      </p:sp>
      <p:sp>
        <p:nvSpPr>
          <p:cNvPr id="20" name="Text 17"/>
          <p:cNvSpPr txBox="1"/>
          <p:nvPr/>
        </p:nvSpPr>
        <p:spPr>
          <a:xfrm>
            <a:off x="6675120" y="3337560"/>
            <a:ext cx="4983480" cy="274320"/>
          </a:xfrm>
          <a:prstGeom prst="rect">
            <a:avLst/>
          </a:prstGeom>
          <a:noFill/>
          <a:ln/>
        </p:spPr>
        <p:txBody>
          <a:bodyPr wrap="square" lIns="0" tIns="0" rIns="0" bIns="0" rtlCol="0" anchor="t"/>
          <a:lstStyle/>
          <a:p>
            <a:pPr indent="0" marL="0">
              <a:buNone/>
            </a:pPr>
            <a:r>
              <a:rPr lang="en-US" sz="1050" i="1" dirty="0">
                <a:solidFill>
                  <a:srgbClr val="5F6F69"/>
                </a:solidFill>
                <a:latin typeface="Calibri" pitchFamily="34" charset="0"/>
                <a:ea typeface="Calibri" pitchFamily="34" charset="-122"/>
                <a:cs typeface="Calibri" pitchFamily="34" charset="-120"/>
              </a:rPr>
              <a:t>Air always leaks from clean to dirty, never the reverse.</a:t>
            </a:r>
            <a:endParaRPr lang="en-US" sz="1050" dirty="0"/>
          </a:p>
        </p:txBody>
      </p:sp>
      <p:sp>
        <p:nvSpPr>
          <p:cNvPr id="21" name="Shape 18"/>
          <p:cNvSpPr/>
          <p:nvPr/>
        </p:nvSpPr>
        <p:spPr>
          <a:xfrm>
            <a:off x="6675120" y="3749040"/>
            <a:ext cx="4983480" cy="2514600"/>
          </a:xfrm>
          <a:prstGeom prst="roundRect">
            <a:avLst>
              <a:gd name="adj" fmla="val 2909"/>
            </a:avLst>
          </a:prstGeom>
          <a:solidFill>
            <a:srgbClr val="EEF4F0"/>
          </a:solidFill>
          <a:ln w="9525">
            <a:solidFill>
              <a:srgbClr val="EEF4F0"/>
            </a:solidFill>
            <a:prstDash val="solid"/>
          </a:ln>
        </p:spPr>
      </p:sp>
      <p:sp>
        <p:nvSpPr>
          <p:cNvPr id="22" name="Text 19"/>
          <p:cNvSpPr txBox="1"/>
          <p:nvPr/>
        </p:nvSpPr>
        <p:spPr>
          <a:xfrm>
            <a:off x="6903720" y="3858768"/>
            <a:ext cx="4572000" cy="365760"/>
          </a:xfrm>
          <a:prstGeom prst="rect">
            <a:avLst/>
          </a:prstGeom>
          <a:noFill/>
          <a:ln/>
        </p:spPr>
        <p:txBody>
          <a:bodyPr wrap="square" lIns="0" tIns="0" rIns="0" bIns="0" rtlCol="0" anchor="t"/>
          <a:lstStyle/>
          <a:p>
            <a:pPr indent="0" marL="0">
              <a:buNone/>
            </a:pPr>
            <a:r>
              <a:rPr lang="en-US" sz="1500" b="1" dirty="0">
                <a:solidFill>
                  <a:srgbClr val="14302A"/>
                </a:solidFill>
                <a:latin typeface="Cambria" pitchFamily="34" charset="0"/>
                <a:ea typeface="Cambria" pitchFamily="34" charset="-122"/>
                <a:cs typeface="Cambria" pitchFamily="34" charset="-120"/>
              </a:rPr>
              <a:t>Hybrid start-up HVAC</a:t>
            </a:r>
            <a:endParaRPr lang="en-US" sz="1500" dirty="0"/>
          </a:p>
        </p:txBody>
      </p:sp>
      <p:sp>
        <p:nvSpPr>
          <p:cNvPr id="23" name="Text 20"/>
          <p:cNvSpPr txBox="1"/>
          <p:nvPr/>
        </p:nvSpPr>
        <p:spPr>
          <a:xfrm>
            <a:off x="6903720" y="4251960"/>
            <a:ext cx="4617720" cy="196596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1E2A26"/>
                </a:solidFill>
                <a:latin typeface="Calibri" pitchFamily="34" charset="0"/>
                <a:ea typeface="Calibri" pitchFamily="34" charset="-122"/>
                <a:cs typeface="Calibri" pitchFamily="34" charset="-120"/>
              </a:rPr>
              <a:t>Inverter split ACs for cooling: copper coils only, as humidity and spores corrode aluminium fins.</a:t>
            </a:r>
            <a:endParaRPr lang="en-US" sz="1100" dirty="0"/>
          </a:p>
          <a:p>
            <a:pPr marL="342900" indent="-342900">
              <a:spcAft>
                <a:spcPts val="500"/>
              </a:spcAft>
              <a:buSzPct val="100000"/>
              <a:buChar char="•"/>
            </a:pPr>
            <a:r>
              <a:rPr lang="en-US" sz="1100" dirty="0">
                <a:solidFill>
                  <a:srgbClr val="1E2A26"/>
                </a:solidFill>
                <a:latin typeface="Calibri" pitchFamily="34" charset="0"/>
                <a:ea typeface="Calibri" pitchFamily="34" charset="-122"/>
                <a:cs typeface="Calibri" pitchFamily="34" charset="-120"/>
              </a:rPr>
              <a:t>Inline centrifugal blower → G4 pre-filter → MERV 13 → H14 HEPA terminal box pressurizes the lab.</a:t>
            </a:r>
            <a:endParaRPr lang="en-US" sz="1100" dirty="0"/>
          </a:p>
          <a:p>
            <a:pPr marL="342900" indent="-342900">
              <a:spcAft>
                <a:spcPts val="500"/>
              </a:spcAft>
              <a:buSzPct val="100000"/>
              <a:buChar char="•"/>
            </a:pPr>
            <a:r>
              <a:rPr lang="en-US" sz="1100" dirty="0">
                <a:solidFill>
                  <a:srgbClr val="1E2A26"/>
                </a:solidFill>
                <a:latin typeface="Calibri" pitchFamily="34" charset="0"/>
                <a:ea typeface="Calibri" pitchFamily="34" charset="-122"/>
                <a:cs typeface="Calibri" pitchFamily="34" charset="-120"/>
              </a:rPr>
              <a:t>Gravity relief dampers bleed excess air to the anteroom to hold the differential.</a:t>
            </a:r>
            <a:endParaRPr lang="en-US" sz="1100" dirty="0"/>
          </a:p>
          <a:p>
            <a:pPr marL="342900" indent="-342900">
              <a:spcAft>
                <a:spcPts val="500"/>
              </a:spcAft>
              <a:buSzPct val="100000"/>
              <a:buChar char="•"/>
            </a:pPr>
            <a:r>
              <a:rPr lang="en-US" sz="1100" dirty="0">
                <a:solidFill>
                  <a:srgbClr val="1E2A26"/>
                </a:solidFill>
                <a:latin typeface="Calibri" pitchFamily="34" charset="0"/>
                <a:ea typeface="Calibri" pitchFamily="34" charset="-122"/>
                <a:cs typeface="Calibri" pitchFamily="34" charset="-120"/>
              </a:rPr>
              <a:t>Magnehelic gauge at each door, logged twice daily; PAO HEPA-integrity test at commissioning, then annually.</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D9962B"/>
                </a:solidFill>
                <a:latin typeface="Calibri" pitchFamily="34" charset="0"/>
                <a:ea typeface="Calibri" pitchFamily="34" charset="-122"/>
                <a:cs typeface="Calibri" pitchFamily="34" charset="-120"/>
              </a:rPr>
              <a:t>05 · FACILITY DESIGN</a:t>
            </a:r>
            <a:endParaRPr lang="en-US" sz="11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14302A"/>
                </a:solidFill>
                <a:latin typeface="Cambria" pitchFamily="34" charset="0"/>
                <a:ea typeface="Cambria" pitchFamily="34" charset="-122"/>
                <a:cs typeface="Cambria" pitchFamily="34" charset="-120"/>
              </a:rPr>
              <a:t>Incubation room: 1,260 blocks in the dark, heat under control</a:t>
            </a:r>
            <a:endParaRPr lang="en-US" sz="30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900" dirty="0">
                <a:solidFill>
                  <a:srgbClr val="5F6F69"/>
                </a:solidFill>
                <a:latin typeface="Calibri" pitchFamily="34" charset="0"/>
                <a:ea typeface="Calibri" pitchFamily="34" charset="-122"/>
                <a:cs typeface="Calibri" pitchFamily="34" charset="-120"/>
              </a:rPr>
              <a:t>Lion's Mane Facility  ·  Hamirpur, HP  ·  Project Plan</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900" dirty="0">
                <a:solidFill>
                  <a:srgbClr val="5F6F69"/>
                </a:solidFill>
                <a:latin typeface="Calibri" pitchFamily="34" charset="0"/>
                <a:ea typeface="Calibri" pitchFamily="34" charset="-122"/>
                <a:cs typeface="Calibri" pitchFamily="34" charset="-120"/>
              </a:rPr>
              <a:t>15</a:t>
            </a:r>
            <a:endParaRPr lang="en-US" sz="900" dirty="0"/>
          </a:p>
        </p:txBody>
      </p:sp>
      <p:sp>
        <p:nvSpPr>
          <p:cNvPr id="6" name="Shape 4"/>
          <p:cNvSpPr/>
          <p:nvPr/>
        </p:nvSpPr>
        <p:spPr>
          <a:xfrm>
            <a:off x="731520" y="1828800"/>
            <a:ext cx="5266944" cy="3291840"/>
          </a:xfrm>
          <a:prstGeom prst="rect">
            <a:avLst/>
          </a:prstGeom>
          <a:solidFill>
            <a:srgbClr val="F7F9F8"/>
          </a:solidFill>
          <a:ln w="25400">
            <a:solidFill>
              <a:srgbClr val="1E2A26"/>
            </a:solidFill>
            <a:prstDash val="solid"/>
          </a:ln>
        </p:spPr>
      </p:sp>
      <p:sp>
        <p:nvSpPr>
          <p:cNvPr id="7" name="Shape 5"/>
          <p:cNvSpPr/>
          <p:nvPr/>
        </p:nvSpPr>
        <p:spPr>
          <a:xfrm>
            <a:off x="749808" y="1993392"/>
            <a:ext cx="1280160" cy="658368"/>
          </a:xfrm>
          <a:prstGeom prst="rect">
            <a:avLst/>
          </a:prstGeom>
          <a:solidFill>
            <a:srgbClr val="2E5E4E"/>
          </a:solidFill>
          <a:ln w="12700">
            <a:solidFill>
              <a:srgbClr val="FFFFFF"/>
            </a:solidFill>
            <a:prstDash val="solid"/>
          </a:ln>
        </p:spPr>
      </p:sp>
      <p:sp>
        <p:nvSpPr>
          <p:cNvPr id="8" name="Text 6"/>
          <p:cNvSpPr txBox="1"/>
          <p:nvPr/>
        </p:nvSpPr>
        <p:spPr>
          <a:xfrm>
            <a:off x="749808" y="1993392"/>
            <a:ext cx="1280160" cy="65836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R1</a:t>
            </a:r>
            <a:endParaRPr lang="en-US" sz="1000" dirty="0"/>
          </a:p>
        </p:txBody>
      </p:sp>
      <p:sp>
        <p:nvSpPr>
          <p:cNvPr id="9" name="Shape 7"/>
          <p:cNvSpPr/>
          <p:nvPr/>
        </p:nvSpPr>
        <p:spPr>
          <a:xfrm>
            <a:off x="2066544" y="1993392"/>
            <a:ext cx="1280160" cy="658368"/>
          </a:xfrm>
          <a:prstGeom prst="rect">
            <a:avLst/>
          </a:prstGeom>
          <a:solidFill>
            <a:srgbClr val="2E5E4E"/>
          </a:solidFill>
          <a:ln w="12700">
            <a:solidFill>
              <a:srgbClr val="FFFFFF"/>
            </a:solidFill>
            <a:prstDash val="solid"/>
          </a:ln>
        </p:spPr>
      </p:sp>
      <p:sp>
        <p:nvSpPr>
          <p:cNvPr id="10" name="Text 8"/>
          <p:cNvSpPr txBox="1"/>
          <p:nvPr/>
        </p:nvSpPr>
        <p:spPr>
          <a:xfrm>
            <a:off x="2066544" y="1993392"/>
            <a:ext cx="1280160" cy="65836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R2</a:t>
            </a:r>
            <a:endParaRPr lang="en-US" sz="1000" dirty="0"/>
          </a:p>
        </p:txBody>
      </p:sp>
      <p:sp>
        <p:nvSpPr>
          <p:cNvPr id="11" name="Shape 9"/>
          <p:cNvSpPr/>
          <p:nvPr/>
        </p:nvSpPr>
        <p:spPr>
          <a:xfrm>
            <a:off x="3383280" y="1993392"/>
            <a:ext cx="1280160" cy="658368"/>
          </a:xfrm>
          <a:prstGeom prst="rect">
            <a:avLst/>
          </a:prstGeom>
          <a:solidFill>
            <a:srgbClr val="2E5E4E"/>
          </a:solidFill>
          <a:ln w="12700">
            <a:solidFill>
              <a:srgbClr val="FFFFFF"/>
            </a:solidFill>
            <a:prstDash val="solid"/>
          </a:ln>
        </p:spPr>
      </p:sp>
      <p:sp>
        <p:nvSpPr>
          <p:cNvPr id="12" name="Text 10"/>
          <p:cNvSpPr txBox="1"/>
          <p:nvPr/>
        </p:nvSpPr>
        <p:spPr>
          <a:xfrm>
            <a:off x="3383280" y="1993392"/>
            <a:ext cx="1280160" cy="65836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R3</a:t>
            </a:r>
            <a:endParaRPr lang="en-US" sz="1000" dirty="0"/>
          </a:p>
        </p:txBody>
      </p:sp>
      <p:sp>
        <p:nvSpPr>
          <p:cNvPr id="13" name="Shape 11"/>
          <p:cNvSpPr/>
          <p:nvPr/>
        </p:nvSpPr>
        <p:spPr>
          <a:xfrm>
            <a:off x="4700016" y="1993392"/>
            <a:ext cx="1280160" cy="658368"/>
          </a:xfrm>
          <a:prstGeom prst="rect">
            <a:avLst/>
          </a:prstGeom>
          <a:solidFill>
            <a:srgbClr val="2E5E4E"/>
          </a:solidFill>
          <a:ln w="12700">
            <a:solidFill>
              <a:srgbClr val="FFFFFF"/>
            </a:solidFill>
            <a:prstDash val="solid"/>
          </a:ln>
        </p:spPr>
      </p:sp>
      <p:sp>
        <p:nvSpPr>
          <p:cNvPr id="14" name="Text 12"/>
          <p:cNvSpPr txBox="1"/>
          <p:nvPr/>
        </p:nvSpPr>
        <p:spPr>
          <a:xfrm>
            <a:off x="4700016" y="1993392"/>
            <a:ext cx="1280160" cy="65836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R4</a:t>
            </a:r>
            <a:endParaRPr lang="en-US" sz="1000" dirty="0"/>
          </a:p>
        </p:txBody>
      </p:sp>
      <p:sp>
        <p:nvSpPr>
          <p:cNvPr id="15" name="Shape 13"/>
          <p:cNvSpPr/>
          <p:nvPr/>
        </p:nvSpPr>
        <p:spPr>
          <a:xfrm>
            <a:off x="749808" y="4297680"/>
            <a:ext cx="1280160" cy="658368"/>
          </a:xfrm>
          <a:prstGeom prst="rect">
            <a:avLst/>
          </a:prstGeom>
          <a:solidFill>
            <a:srgbClr val="2E5E4E"/>
          </a:solidFill>
          <a:ln w="12700">
            <a:solidFill>
              <a:srgbClr val="FFFFFF"/>
            </a:solidFill>
            <a:prstDash val="solid"/>
          </a:ln>
        </p:spPr>
      </p:sp>
      <p:sp>
        <p:nvSpPr>
          <p:cNvPr id="16" name="Text 14"/>
          <p:cNvSpPr txBox="1"/>
          <p:nvPr/>
        </p:nvSpPr>
        <p:spPr>
          <a:xfrm>
            <a:off x="749808" y="4297680"/>
            <a:ext cx="1280160" cy="65836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R5</a:t>
            </a:r>
            <a:endParaRPr lang="en-US" sz="1000" dirty="0"/>
          </a:p>
        </p:txBody>
      </p:sp>
      <p:sp>
        <p:nvSpPr>
          <p:cNvPr id="17" name="Shape 15"/>
          <p:cNvSpPr/>
          <p:nvPr/>
        </p:nvSpPr>
        <p:spPr>
          <a:xfrm>
            <a:off x="2066544" y="4297680"/>
            <a:ext cx="1280160" cy="658368"/>
          </a:xfrm>
          <a:prstGeom prst="rect">
            <a:avLst/>
          </a:prstGeom>
          <a:solidFill>
            <a:srgbClr val="2E5E4E"/>
          </a:solidFill>
          <a:ln w="12700">
            <a:solidFill>
              <a:srgbClr val="FFFFFF"/>
            </a:solidFill>
            <a:prstDash val="solid"/>
          </a:ln>
        </p:spPr>
      </p:sp>
      <p:sp>
        <p:nvSpPr>
          <p:cNvPr id="18" name="Text 16"/>
          <p:cNvSpPr txBox="1"/>
          <p:nvPr/>
        </p:nvSpPr>
        <p:spPr>
          <a:xfrm>
            <a:off x="2066544" y="4297680"/>
            <a:ext cx="1280160" cy="65836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R6</a:t>
            </a:r>
            <a:endParaRPr lang="en-US" sz="1000" dirty="0"/>
          </a:p>
        </p:txBody>
      </p:sp>
      <p:sp>
        <p:nvSpPr>
          <p:cNvPr id="19" name="Shape 17"/>
          <p:cNvSpPr/>
          <p:nvPr/>
        </p:nvSpPr>
        <p:spPr>
          <a:xfrm>
            <a:off x="3383280" y="4297680"/>
            <a:ext cx="1280160" cy="658368"/>
          </a:xfrm>
          <a:prstGeom prst="rect">
            <a:avLst/>
          </a:prstGeom>
          <a:solidFill>
            <a:srgbClr val="2E5E4E"/>
          </a:solidFill>
          <a:ln w="12700">
            <a:solidFill>
              <a:srgbClr val="FFFFFF"/>
            </a:solidFill>
            <a:prstDash val="solid"/>
          </a:ln>
        </p:spPr>
      </p:sp>
      <p:sp>
        <p:nvSpPr>
          <p:cNvPr id="20" name="Text 18"/>
          <p:cNvSpPr txBox="1"/>
          <p:nvPr/>
        </p:nvSpPr>
        <p:spPr>
          <a:xfrm>
            <a:off x="3383280" y="4297680"/>
            <a:ext cx="1280160" cy="65836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R7</a:t>
            </a:r>
            <a:endParaRPr lang="en-US" sz="1000" dirty="0"/>
          </a:p>
        </p:txBody>
      </p:sp>
      <p:sp>
        <p:nvSpPr>
          <p:cNvPr id="21" name="Shape 19"/>
          <p:cNvSpPr/>
          <p:nvPr/>
        </p:nvSpPr>
        <p:spPr>
          <a:xfrm>
            <a:off x="4700016" y="4297680"/>
            <a:ext cx="1280160" cy="658368"/>
          </a:xfrm>
          <a:prstGeom prst="rect">
            <a:avLst/>
          </a:prstGeom>
          <a:solidFill>
            <a:srgbClr val="2E5E4E"/>
          </a:solidFill>
          <a:ln w="12700">
            <a:solidFill>
              <a:srgbClr val="FFFFFF"/>
            </a:solidFill>
            <a:prstDash val="solid"/>
          </a:ln>
        </p:spPr>
      </p:sp>
      <p:sp>
        <p:nvSpPr>
          <p:cNvPr id="22" name="Text 20"/>
          <p:cNvSpPr txBox="1"/>
          <p:nvPr/>
        </p:nvSpPr>
        <p:spPr>
          <a:xfrm>
            <a:off x="4700016" y="4297680"/>
            <a:ext cx="1280160" cy="65836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R8</a:t>
            </a:r>
            <a:endParaRPr lang="en-US" sz="1000" dirty="0"/>
          </a:p>
        </p:txBody>
      </p:sp>
      <p:sp>
        <p:nvSpPr>
          <p:cNvPr id="23" name="Text 21"/>
          <p:cNvSpPr txBox="1"/>
          <p:nvPr/>
        </p:nvSpPr>
        <p:spPr>
          <a:xfrm>
            <a:off x="1463040" y="3337560"/>
            <a:ext cx="3657600" cy="274320"/>
          </a:xfrm>
          <a:prstGeom prst="rect">
            <a:avLst/>
          </a:prstGeom>
          <a:noFill/>
          <a:ln/>
        </p:spPr>
        <p:txBody>
          <a:bodyPr wrap="square" lIns="0" tIns="0" rIns="0" bIns="0" rtlCol="0" anchor="t"/>
          <a:lstStyle/>
          <a:p>
            <a:pPr algn="ctr" indent="0" marL="0">
              <a:buNone/>
            </a:pPr>
            <a:r>
              <a:rPr lang="en-US" sz="1050" i="1" dirty="0">
                <a:solidFill>
                  <a:srgbClr val="5F6F69"/>
                </a:solidFill>
                <a:latin typeface="Calibri" pitchFamily="34" charset="0"/>
                <a:ea typeface="Calibri" pitchFamily="34" charset="-122"/>
                <a:cs typeface="Calibri" pitchFamily="34" charset="-120"/>
              </a:rPr>
              <a:t>5 ft working aisle</a:t>
            </a:r>
            <a:endParaRPr lang="en-US" sz="1050" dirty="0"/>
          </a:p>
        </p:txBody>
      </p:sp>
      <p:sp>
        <p:nvSpPr>
          <p:cNvPr id="24" name="Shape 22"/>
          <p:cNvSpPr/>
          <p:nvPr/>
        </p:nvSpPr>
        <p:spPr>
          <a:xfrm>
            <a:off x="685800" y="3200400"/>
            <a:ext cx="91440" cy="548640"/>
          </a:xfrm>
          <a:prstGeom prst="rect">
            <a:avLst/>
          </a:prstGeom>
          <a:solidFill>
            <a:srgbClr val="FFFFFF"/>
          </a:solidFill>
          <a:ln w="12700">
            <a:solidFill>
              <a:srgbClr val="FFFFFF"/>
            </a:solidFill>
            <a:prstDash val="solid"/>
          </a:ln>
        </p:spPr>
      </p:sp>
      <p:sp>
        <p:nvSpPr>
          <p:cNvPr id="25" name="Text 23"/>
          <p:cNvSpPr txBox="1"/>
          <p:nvPr/>
        </p:nvSpPr>
        <p:spPr>
          <a:xfrm>
            <a:off x="45720" y="3200400"/>
            <a:ext cx="640080" cy="548640"/>
          </a:xfrm>
          <a:prstGeom prst="rect">
            <a:avLst/>
          </a:prstGeom>
          <a:noFill/>
          <a:ln/>
        </p:spPr>
        <p:txBody>
          <a:bodyPr wrap="square" lIns="0" tIns="0" rIns="0" bIns="0" rtlCol="0" anchor="ctr"/>
          <a:lstStyle/>
          <a:p>
            <a:pPr algn="ctr" indent="0" marL="0">
              <a:buNone/>
            </a:pPr>
            <a:r>
              <a:rPr lang="en-US" sz="850" dirty="0">
                <a:solidFill>
                  <a:srgbClr val="5F6F69"/>
                </a:solidFill>
                <a:latin typeface="Calibri" pitchFamily="34" charset="0"/>
                <a:ea typeface="Calibri" pitchFamily="34" charset="-122"/>
                <a:cs typeface="Calibri" pitchFamily="34" charset="-120"/>
              </a:rPr>
              <a:t>Hatch</a:t>
            </a:r>
            <a:endParaRPr lang="en-US" sz="850" dirty="0"/>
          </a:p>
          <a:p>
            <a:pPr algn="ctr" indent="0" marL="0">
              <a:buNone/>
            </a:pPr>
            <a:r>
              <a:rPr lang="en-US" sz="850" dirty="0">
                <a:solidFill>
                  <a:srgbClr val="5F6F69"/>
                </a:solidFill>
                <a:latin typeface="Calibri" pitchFamily="34" charset="0"/>
                <a:ea typeface="Calibri" pitchFamily="34" charset="-122"/>
                <a:cs typeface="Calibri" pitchFamily="34" charset="-120"/>
              </a:rPr>
              <a:t>from lab</a:t>
            </a:r>
            <a:endParaRPr lang="en-US" sz="850" dirty="0"/>
          </a:p>
        </p:txBody>
      </p:sp>
      <p:sp>
        <p:nvSpPr>
          <p:cNvPr id="26" name="Text 24"/>
          <p:cNvSpPr txBox="1"/>
          <p:nvPr/>
        </p:nvSpPr>
        <p:spPr>
          <a:xfrm>
            <a:off x="731520" y="1463040"/>
            <a:ext cx="5266944" cy="274320"/>
          </a:xfrm>
          <a:prstGeom prst="rect">
            <a:avLst/>
          </a:prstGeom>
          <a:noFill/>
          <a:ln/>
        </p:spPr>
        <p:txBody>
          <a:bodyPr wrap="square" lIns="0" tIns="0" rIns="0" bIns="0" rtlCol="0" anchor="t"/>
          <a:lstStyle/>
          <a:p>
            <a:pPr indent="0" marL="0">
              <a:buNone/>
            </a:pPr>
            <a:r>
              <a:rPr lang="en-US" sz="1100" b="1" dirty="0">
                <a:solidFill>
                  <a:srgbClr val="14302A"/>
                </a:solidFill>
                <a:latin typeface="Calibri" pitchFamily="34" charset="0"/>
                <a:ea typeface="Calibri" pitchFamily="34" charset="-122"/>
                <a:cs typeface="Calibri" pitchFamily="34" charset="-120"/>
              </a:rPr>
              <a:t>Plan view · 16 × 10 ft (160 sq ft) · 8 racks, door on the short wall</a:t>
            </a:r>
            <a:endParaRPr lang="en-US" sz="1100" dirty="0"/>
          </a:p>
        </p:txBody>
      </p:sp>
      <p:sp>
        <p:nvSpPr>
          <p:cNvPr id="27" name="Text 25"/>
          <p:cNvSpPr txBox="1"/>
          <p:nvPr/>
        </p:nvSpPr>
        <p:spPr>
          <a:xfrm>
            <a:off x="731520" y="5257800"/>
            <a:ext cx="5760720" cy="640080"/>
          </a:xfrm>
          <a:prstGeom prst="rect">
            <a:avLst/>
          </a:prstGeom>
          <a:noFill/>
          <a:ln/>
        </p:spPr>
        <p:txBody>
          <a:bodyPr wrap="square" lIns="0" tIns="0" rIns="0" bIns="0" rtlCol="0" anchor="t"/>
          <a:lstStyle/>
          <a:p>
            <a:pPr indent="0" marL="0">
              <a:buNone/>
            </a:pPr>
            <a:r>
              <a:rPr lang="en-US" sz="1100" dirty="0">
                <a:solidFill>
                  <a:srgbClr val="5F6F69"/>
                </a:solidFill>
                <a:latin typeface="Calibri" pitchFamily="34" charset="0"/>
                <a:ea typeface="Calibri" pitchFamily="34" charset="-122"/>
                <a:cs typeface="Calibri" pitchFamily="34" charset="-120"/>
              </a:rPr>
              <a:t>Each rack: 4 ft × 2 ft × 9 ft, 8 tiers × ~20 blocks = ~160 blocks → 8 racks ≈ 1,280 blocks. Grain-spawn bags colonize on a wire shelf in the clean lab.</a:t>
            </a:r>
            <a:endParaRPr lang="en-US" sz="1100" dirty="0"/>
          </a:p>
        </p:txBody>
      </p:sp>
      <p:sp>
        <p:nvSpPr>
          <p:cNvPr id="28" name="Shape 26"/>
          <p:cNvSpPr/>
          <p:nvPr/>
        </p:nvSpPr>
        <p:spPr>
          <a:xfrm>
            <a:off x="6812280" y="1463040"/>
            <a:ext cx="4846320" cy="1417320"/>
          </a:xfrm>
          <a:prstGeom prst="roundRect">
            <a:avLst>
              <a:gd name="adj" fmla="val 5161"/>
            </a:avLst>
          </a:prstGeom>
          <a:solidFill>
            <a:srgbClr val="FBF1DE"/>
          </a:solidFill>
          <a:ln w="9525">
            <a:solidFill>
              <a:srgbClr val="FBF1DE"/>
            </a:solidFill>
            <a:prstDash val="solid"/>
          </a:ln>
        </p:spPr>
      </p:sp>
      <p:sp>
        <p:nvSpPr>
          <p:cNvPr id="29" name="Shape 27"/>
          <p:cNvSpPr/>
          <p:nvPr/>
        </p:nvSpPr>
        <p:spPr>
          <a:xfrm>
            <a:off x="6995160" y="1645920"/>
            <a:ext cx="502920" cy="502920"/>
          </a:xfrm>
          <a:prstGeom prst="ellipse">
            <a:avLst/>
          </a:prstGeom>
          <a:solidFill>
            <a:srgbClr val="D9962B"/>
          </a:solidFill>
          <a:ln w="12700">
            <a:solidFill>
              <a:srgbClr val="D9962B"/>
            </a:solidFill>
            <a:prstDash val="solid"/>
          </a:ln>
        </p:spPr>
      </p:sp>
      <p:pic>
        <p:nvPicPr>
          <p:cNvPr id="30" name="Image 0" descr="preencoded.png">    </p:cNvPr>
          <p:cNvPicPr>
            <a:picLocks noChangeAspect="1"/>
          </p:cNvPicPr>
          <p:nvPr/>
        </p:nvPicPr>
        <p:blipFill>
          <a:blip r:embed="rId1"/>
          <a:stretch>
            <a:fillRect/>
          </a:stretch>
        </p:blipFill>
        <p:spPr>
          <a:xfrm>
            <a:off x="7125919" y="1776679"/>
            <a:ext cx="241402" cy="241402"/>
          </a:xfrm>
          <a:prstGeom prst="rect">
            <a:avLst/>
          </a:prstGeom>
        </p:spPr>
      </p:pic>
      <p:sp>
        <p:nvSpPr>
          <p:cNvPr id="31" name="Text 28"/>
          <p:cNvSpPr txBox="1"/>
          <p:nvPr/>
        </p:nvSpPr>
        <p:spPr>
          <a:xfrm>
            <a:off x="7680960" y="1600200"/>
            <a:ext cx="3840480" cy="365760"/>
          </a:xfrm>
          <a:prstGeom prst="rect">
            <a:avLst/>
          </a:prstGeom>
          <a:noFill/>
          <a:ln/>
        </p:spPr>
        <p:txBody>
          <a:bodyPr wrap="square" lIns="0" tIns="0" rIns="0" bIns="0" rtlCol="0" anchor="t"/>
          <a:lstStyle/>
          <a:p>
            <a:pPr indent="0" marL="0">
              <a:buNone/>
            </a:pPr>
            <a:r>
              <a:rPr lang="en-US" sz="1400" b="1" dirty="0">
                <a:solidFill>
                  <a:srgbClr val="14302A"/>
                </a:solidFill>
                <a:latin typeface="Cambria" pitchFamily="34" charset="0"/>
                <a:ea typeface="Cambria" pitchFamily="34" charset="-122"/>
                <a:cs typeface="Cambria" pitchFamily="34" charset="-120"/>
              </a:rPr>
              <a:t>Manage thermogenesis</a:t>
            </a:r>
            <a:endParaRPr lang="en-US" sz="1400" dirty="0"/>
          </a:p>
        </p:txBody>
      </p:sp>
      <p:sp>
        <p:nvSpPr>
          <p:cNvPr id="32" name="Text 29"/>
          <p:cNvSpPr txBox="1"/>
          <p:nvPr/>
        </p:nvSpPr>
        <p:spPr>
          <a:xfrm>
            <a:off x="7680960" y="1938528"/>
            <a:ext cx="3840480" cy="914400"/>
          </a:xfrm>
          <a:prstGeom prst="rect">
            <a:avLst/>
          </a:prstGeom>
          <a:noFill/>
          <a:ln/>
        </p:spPr>
        <p:txBody>
          <a:bodyPr wrap="square" lIns="0" tIns="0" rIns="0" bIns="0" rtlCol="0" anchor="t"/>
          <a:lstStyle/>
          <a:p>
            <a:pPr indent="0" marL="0">
              <a:buNone/>
            </a:pPr>
            <a:r>
              <a:rPr lang="en-US" sz="1050" dirty="0">
                <a:solidFill>
                  <a:srgbClr val="1E2A26"/>
                </a:solidFill>
                <a:latin typeface="Calibri" pitchFamily="34" charset="0"/>
                <a:ea typeface="Calibri" pitchFamily="34" charset="-122"/>
                <a:cs typeface="Calibri" pitchFamily="34" charset="-120"/>
              </a:rPr>
              <a:t>Colonizing mycelium generates its own heat. Hold air at 22°C; probe 5 block cores per rack daily and act above 27°C. Leave 2–3 cm between blocks and run ceiling circulation fans.</a:t>
            </a:r>
            <a:endParaRPr lang="en-US" sz="1050" dirty="0"/>
          </a:p>
        </p:txBody>
      </p:sp>
      <p:sp>
        <p:nvSpPr>
          <p:cNvPr id="33" name="Shape 30"/>
          <p:cNvSpPr/>
          <p:nvPr/>
        </p:nvSpPr>
        <p:spPr>
          <a:xfrm>
            <a:off x="6812280" y="3063240"/>
            <a:ext cx="4846320" cy="1417320"/>
          </a:xfrm>
          <a:prstGeom prst="roundRect">
            <a:avLst>
              <a:gd name="adj" fmla="val 5161"/>
            </a:avLst>
          </a:prstGeom>
          <a:solidFill>
            <a:srgbClr val="EEF4F0"/>
          </a:solidFill>
          <a:ln w="9525">
            <a:solidFill>
              <a:srgbClr val="EEF4F0"/>
            </a:solidFill>
            <a:prstDash val="solid"/>
          </a:ln>
        </p:spPr>
      </p:sp>
      <p:sp>
        <p:nvSpPr>
          <p:cNvPr id="34" name="Shape 31"/>
          <p:cNvSpPr/>
          <p:nvPr/>
        </p:nvSpPr>
        <p:spPr>
          <a:xfrm>
            <a:off x="6995160" y="3246120"/>
            <a:ext cx="502920" cy="502920"/>
          </a:xfrm>
          <a:prstGeom prst="ellipse">
            <a:avLst/>
          </a:prstGeom>
          <a:solidFill>
            <a:srgbClr val="2E5E4E"/>
          </a:solidFill>
          <a:ln w="12700">
            <a:solidFill>
              <a:srgbClr val="2E5E4E"/>
            </a:solidFill>
            <a:prstDash val="solid"/>
          </a:ln>
        </p:spPr>
      </p:sp>
      <p:pic>
        <p:nvPicPr>
          <p:cNvPr id="35" name="Image 1" descr="preencoded.png">    </p:cNvPr>
          <p:cNvPicPr>
            <a:picLocks noChangeAspect="1"/>
          </p:cNvPicPr>
          <p:nvPr/>
        </p:nvPicPr>
        <p:blipFill>
          <a:blip r:embed="rId2"/>
          <a:stretch>
            <a:fillRect/>
          </a:stretch>
        </p:blipFill>
        <p:spPr>
          <a:xfrm>
            <a:off x="7125919" y="3376879"/>
            <a:ext cx="241402" cy="241402"/>
          </a:xfrm>
          <a:prstGeom prst="rect">
            <a:avLst/>
          </a:prstGeom>
        </p:spPr>
      </p:pic>
      <p:sp>
        <p:nvSpPr>
          <p:cNvPr id="36" name="Text 32"/>
          <p:cNvSpPr txBox="1"/>
          <p:nvPr/>
        </p:nvSpPr>
        <p:spPr>
          <a:xfrm>
            <a:off x="7680960" y="3200400"/>
            <a:ext cx="3840480" cy="365760"/>
          </a:xfrm>
          <a:prstGeom prst="rect">
            <a:avLst/>
          </a:prstGeom>
          <a:noFill/>
          <a:ln/>
        </p:spPr>
        <p:txBody>
          <a:bodyPr wrap="square" lIns="0" tIns="0" rIns="0" bIns="0" rtlCol="0" anchor="t"/>
          <a:lstStyle/>
          <a:p>
            <a:pPr indent="0" marL="0">
              <a:buNone/>
            </a:pPr>
            <a:r>
              <a:rPr lang="en-US" sz="1400" b="1" dirty="0">
                <a:solidFill>
                  <a:srgbClr val="14302A"/>
                </a:solidFill>
                <a:latin typeface="Cambria" pitchFamily="34" charset="0"/>
                <a:ea typeface="Cambria" pitchFamily="34" charset="-122"/>
                <a:cs typeface="Cambria" pitchFamily="34" charset="-120"/>
              </a:rPr>
              <a:t>Minimal fresh air</a:t>
            </a:r>
            <a:endParaRPr lang="en-US" sz="1400" dirty="0"/>
          </a:p>
        </p:txBody>
      </p:sp>
      <p:sp>
        <p:nvSpPr>
          <p:cNvPr id="37" name="Text 33"/>
          <p:cNvSpPr txBox="1"/>
          <p:nvPr/>
        </p:nvSpPr>
        <p:spPr>
          <a:xfrm>
            <a:off x="7680960" y="3538728"/>
            <a:ext cx="3840480" cy="914400"/>
          </a:xfrm>
          <a:prstGeom prst="rect">
            <a:avLst/>
          </a:prstGeom>
          <a:noFill/>
          <a:ln/>
        </p:spPr>
        <p:txBody>
          <a:bodyPr wrap="square" lIns="0" tIns="0" rIns="0" bIns="0" rtlCol="0" anchor="t"/>
          <a:lstStyle/>
          <a:p>
            <a:pPr indent="0" marL="0">
              <a:buNone/>
            </a:pPr>
            <a:r>
              <a:rPr lang="en-US" sz="1050" dirty="0">
                <a:solidFill>
                  <a:srgbClr val="1E2A26"/>
                </a:solidFill>
                <a:latin typeface="Calibri" pitchFamily="34" charset="0"/>
                <a:ea typeface="Calibri" pitchFamily="34" charset="-122"/>
                <a:cs typeface="Calibri" pitchFamily="34" charset="-120"/>
              </a:rPr>
              <a:t>High CO₂ (&gt;2,000 ppm) actually favours vegetative growth. Only enough exchange for worker safety; no misting; RH 60–70%.</a:t>
            </a:r>
            <a:endParaRPr lang="en-US" sz="1050" dirty="0"/>
          </a:p>
        </p:txBody>
      </p:sp>
      <p:sp>
        <p:nvSpPr>
          <p:cNvPr id="38" name="Shape 34"/>
          <p:cNvSpPr/>
          <p:nvPr/>
        </p:nvSpPr>
        <p:spPr>
          <a:xfrm>
            <a:off x="6812280" y="4663440"/>
            <a:ext cx="4846320" cy="1417320"/>
          </a:xfrm>
          <a:prstGeom prst="roundRect">
            <a:avLst>
              <a:gd name="adj" fmla="val 5161"/>
            </a:avLst>
          </a:prstGeom>
          <a:solidFill>
            <a:srgbClr val="EEF4F0"/>
          </a:solidFill>
          <a:ln w="9525">
            <a:solidFill>
              <a:srgbClr val="EEF4F0"/>
            </a:solidFill>
            <a:prstDash val="solid"/>
          </a:ln>
        </p:spPr>
      </p:sp>
      <p:sp>
        <p:nvSpPr>
          <p:cNvPr id="39" name="Shape 35"/>
          <p:cNvSpPr/>
          <p:nvPr/>
        </p:nvSpPr>
        <p:spPr>
          <a:xfrm>
            <a:off x="6995160" y="4846320"/>
            <a:ext cx="502920" cy="502920"/>
          </a:xfrm>
          <a:prstGeom prst="ellipse">
            <a:avLst/>
          </a:prstGeom>
          <a:solidFill>
            <a:srgbClr val="2E5E4E"/>
          </a:solidFill>
          <a:ln w="12700">
            <a:solidFill>
              <a:srgbClr val="2E5E4E"/>
            </a:solidFill>
            <a:prstDash val="solid"/>
          </a:ln>
        </p:spPr>
      </p:sp>
      <p:pic>
        <p:nvPicPr>
          <p:cNvPr id="40" name="Image 2" descr="preencoded.png">    </p:cNvPr>
          <p:cNvPicPr>
            <a:picLocks noChangeAspect="1"/>
          </p:cNvPicPr>
          <p:nvPr/>
        </p:nvPicPr>
        <p:blipFill>
          <a:blip r:embed="rId3"/>
          <a:stretch>
            <a:fillRect/>
          </a:stretch>
        </p:blipFill>
        <p:spPr>
          <a:xfrm>
            <a:off x="7125919" y="4977079"/>
            <a:ext cx="241402" cy="241402"/>
          </a:xfrm>
          <a:prstGeom prst="rect">
            <a:avLst/>
          </a:prstGeom>
        </p:spPr>
      </p:pic>
      <p:sp>
        <p:nvSpPr>
          <p:cNvPr id="41" name="Text 36"/>
          <p:cNvSpPr txBox="1"/>
          <p:nvPr/>
        </p:nvSpPr>
        <p:spPr>
          <a:xfrm>
            <a:off x="7680960" y="4800600"/>
            <a:ext cx="3840480" cy="365760"/>
          </a:xfrm>
          <a:prstGeom prst="rect">
            <a:avLst/>
          </a:prstGeom>
          <a:noFill/>
          <a:ln/>
        </p:spPr>
        <p:txBody>
          <a:bodyPr wrap="square" lIns="0" tIns="0" rIns="0" bIns="0" rtlCol="0" anchor="t"/>
          <a:lstStyle/>
          <a:p>
            <a:pPr indent="0" marL="0">
              <a:buNone/>
            </a:pPr>
            <a:r>
              <a:rPr lang="en-US" sz="1400" b="1" dirty="0">
                <a:solidFill>
                  <a:srgbClr val="14302A"/>
                </a:solidFill>
                <a:latin typeface="Cambria" pitchFamily="34" charset="0"/>
                <a:ea typeface="Cambria" pitchFamily="34" charset="-122"/>
                <a:cs typeface="Cambria" pitchFamily="34" charset="-120"/>
              </a:rPr>
              <a:t>Exit criteria</a:t>
            </a:r>
            <a:endParaRPr lang="en-US" sz="1400" dirty="0"/>
          </a:p>
        </p:txBody>
      </p:sp>
      <p:sp>
        <p:nvSpPr>
          <p:cNvPr id="42" name="Text 37"/>
          <p:cNvSpPr txBox="1"/>
          <p:nvPr/>
        </p:nvSpPr>
        <p:spPr>
          <a:xfrm>
            <a:off x="7680960" y="5138928"/>
            <a:ext cx="3840480" cy="914400"/>
          </a:xfrm>
          <a:prstGeom prst="rect">
            <a:avLst/>
          </a:prstGeom>
          <a:noFill/>
          <a:ln/>
        </p:spPr>
        <p:txBody>
          <a:bodyPr wrap="square" lIns="0" tIns="0" rIns="0" bIns="0" rtlCol="0" anchor="t"/>
          <a:lstStyle/>
          <a:p>
            <a:pPr indent="0" marL="0">
              <a:buNone/>
            </a:pPr>
            <a:r>
              <a:rPr lang="en-US" sz="1050" dirty="0">
                <a:solidFill>
                  <a:srgbClr val="1E2A26"/>
                </a:solidFill>
                <a:latin typeface="Calibri" pitchFamily="34" charset="0"/>
                <a:ea typeface="Calibri" pitchFamily="34" charset="-122"/>
                <a:cs typeface="Calibri" pitchFamily="34" charset="-120"/>
              </a:rPr>
              <a:t>Move to fruiting at full colonization (14–21 days) or when pins start inside the bag, whichever is first. Trapped pins deform.</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D9962B"/>
                </a:solidFill>
                <a:latin typeface="Calibri" pitchFamily="34" charset="0"/>
                <a:ea typeface="Calibri" pitchFamily="34" charset="-122"/>
                <a:cs typeface="Calibri" pitchFamily="34" charset="-120"/>
              </a:rPr>
              <a:t>05 · FACILITY DESIGN</a:t>
            </a:r>
            <a:endParaRPr lang="en-US" sz="11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14302A"/>
                </a:solidFill>
                <a:latin typeface="Cambria" pitchFamily="34" charset="0"/>
                <a:ea typeface="Cambria" pitchFamily="34" charset="-122"/>
                <a:cs typeface="Cambria" pitchFamily="34" charset="-120"/>
              </a:rPr>
              <a:t>Fruiting rooms: space for fruit bodies, air for pom-poms</a:t>
            </a:r>
            <a:endParaRPr lang="en-US" sz="30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900" dirty="0">
                <a:solidFill>
                  <a:srgbClr val="5F6F69"/>
                </a:solidFill>
                <a:latin typeface="Calibri" pitchFamily="34" charset="0"/>
                <a:ea typeface="Calibri" pitchFamily="34" charset="-122"/>
                <a:cs typeface="Calibri" pitchFamily="34" charset="-120"/>
              </a:rPr>
              <a:t>Lion's Mane Facility  ·  Hamirpur, HP  ·  Project Plan</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900" dirty="0">
                <a:solidFill>
                  <a:srgbClr val="5F6F69"/>
                </a:solidFill>
                <a:latin typeface="Calibri" pitchFamily="34" charset="0"/>
                <a:ea typeface="Calibri" pitchFamily="34" charset="-122"/>
                <a:cs typeface="Calibri" pitchFamily="34" charset="-120"/>
              </a:rPr>
              <a:t>16</a:t>
            </a:r>
            <a:endParaRPr lang="en-US" sz="900" dirty="0"/>
          </a:p>
        </p:txBody>
      </p:sp>
      <p:sp>
        <p:nvSpPr>
          <p:cNvPr id="6" name="Shape 4"/>
          <p:cNvSpPr/>
          <p:nvPr/>
        </p:nvSpPr>
        <p:spPr>
          <a:xfrm>
            <a:off x="594360" y="1783080"/>
            <a:ext cx="91440" cy="1325880"/>
          </a:xfrm>
          <a:prstGeom prst="rect">
            <a:avLst/>
          </a:prstGeom>
          <a:solidFill>
            <a:srgbClr val="1E2A26"/>
          </a:solidFill>
          <a:ln w="12700">
            <a:solidFill>
              <a:srgbClr val="1E2A26"/>
            </a:solidFill>
            <a:prstDash val="solid"/>
          </a:ln>
        </p:spPr>
      </p:sp>
      <p:sp>
        <p:nvSpPr>
          <p:cNvPr id="7" name="Text 5"/>
          <p:cNvSpPr txBox="1"/>
          <p:nvPr/>
        </p:nvSpPr>
        <p:spPr>
          <a:xfrm>
            <a:off x="685800" y="3182112"/>
            <a:ext cx="365760" cy="228600"/>
          </a:xfrm>
          <a:prstGeom prst="rect">
            <a:avLst/>
          </a:prstGeom>
          <a:noFill/>
          <a:ln/>
        </p:spPr>
        <p:txBody>
          <a:bodyPr wrap="square" lIns="0" tIns="0" rIns="0" bIns="0" rtlCol="0" anchor="t"/>
          <a:lstStyle/>
          <a:p>
            <a:pPr algn="ctr" indent="0" marL="0">
              <a:buNone/>
            </a:pPr>
            <a:r>
              <a:rPr lang="en-US" sz="1000" dirty="0">
                <a:solidFill>
                  <a:srgbClr val="5F6F69"/>
                </a:solidFill>
                <a:latin typeface="Calibri" pitchFamily="34" charset="0"/>
                <a:ea typeface="Calibri" pitchFamily="34" charset="-122"/>
                <a:cs typeface="Calibri" pitchFamily="34" charset="-120"/>
              </a:rPr>
              <a:t>6"</a:t>
            </a:r>
            <a:endParaRPr lang="en-US" sz="1000" dirty="0"/>
          </a:p>
        </p:txBody>
      </p:sp>
      <p:sp>
        <p:nvSpPr>
          <p:cNvPr id="8" name="Shape 6"/>
          <p:cNvSpPr/>
          <p:nvPr/>
        </p:nvSpPr>
        <p:spPr>
          <a:xfrm>
            <a:off x="1051560" y="1783080"/>
            <a:ext cx="1463040" cy="1325880"/>
          </a:xfrm>
          <a:prstGeom prst="rect">
            <a:avLst/>
          </a:prstGeom>
          <a:solidFill>
            <a:srgbClr val="2E5E4E"/>
          </a:solidFill>
          <a:ln w="12700">
            <a:solidFill>
              <a:srgbClr val="FFFFFF"/>
            </a:solidFill>
            <a:prstDash val="solid"/>
          </a:ln>
        </p:spPr>
      </p:sp>
      <p:sp>
        <p:nvSpPr>
          <p:cNvPr id="9" name="Shape 7"/>
          <p:cNvSpPr/>
          <p:nvPr/>
        </p:nvSpPr>
        <p:spPr>
          <a:xfrm>
            <a:off x="1051560" y="2004060"/>
            <a:ext cx="1463040" cy="0"/>
          </a:xfrm>
          <a:prstGeom prst="line">
            <a:avLst/>
          </a:prstGeom>
          <a:noFill/>
          <a:ln w="9525">
            <a:solidFill>
              <a:srgbClr val="8DB596"/>
            </a:solidFill>
            <a:prstDash val="solid"/>
          </a:ln>
        </p:spPr>
      </p:sp>
      <p:sp>
        <p:nvSpPr>
          <p:cNvPr id="10" name="Shape 8"/>
          <p:cNvSpPr/>
          <p:nvPr/>
        </p:nvSpPr>
        <p:spPr>
          <a:xfrm>
            <a:off x="1051560" y="2225040"/>
            <a:ext cx="1463040" cy="0"/>
          </a:xfrm>
          <a:prstGeom prst="line">
            <a:avLst/>
          </a:prstGeom>
          <a:noFill/>
          <a:ln w="9525">
            <a:solidFill>
              <a:srgbClr val="8DB596"/>
            </a:solidFill>
            <a:prstDash val="solid"/>
          </a:ln>
        </p:spPr>
      </p:sp>
      <p:sp>
        <p:nvSpPr>
          <p:cNvPr id="11" name="Shape 9"/>
          <p:cNvSpPr/>
          <p:nvPr/>
        </p:nvSpPr>
        <p:spPr>
          <a:xfrm>
            <a:off x="1051560" y="2446020"/>
            <a:ext cx="1463040" cy="0"/>
          </a:xfrm>
          <a:prstGeom prst="line">
            <a:avLst/>
          </a:prstGeom>
          <a:noFill/>
          <a:ln w="9525">
            <a:solidFill>
              <a:srgbClr val="8DB596"/>
            </a:solidFill>
            <a:prstDash val="solid"/>
          </a:ln>
        </p:spPr>
      </p:sp>
      <p:sp>
        <p:nvSpPr>
          <p:cNvPr id="12" name="Shape 10"/>
          <p:cNvSpPr/>
          <p:nvPr/>
        </p:nvSpPr>
        <p:spPr>
          <a:xfrm>
            <a:off x="1051560" y="2667000"/>
            <a:ext cx="1463040" cy="0"/>
          </a:xfrm>
          <a:prstGeom prst="line">
            <a:avLst/>
          </a:prstGeom>
          <a:noFill/>
          <a:ln w="9525">
            <a:solidFill>
              <a:srgbClr val="8DB596"/>
            </a:solidFill>
            <a:prstDash val="solid"/>
          </a:ln>
        </p:spPr>
      </p:sp>
      <p:sp>
        <p:nvSpPr>
          <p:cNvPr id="13" name="Shape 11"/>
          <p:cNvSpPr/>
          <p:nvPr/>
        </p:nvSpPr>
        <p:spPr>
          <a:xfrm>
            <a:off x="1051560" y="2887980"/>
            <a:ext cx="1463040" cy="0"/>
          </a:xfrm>
          <a:prstGeom prst="line">
            <a:avLst/>
          </a:prstGeom>
          <a:noFill/>
          <a:ln w="9525">
            <a:solidFill>
              <a:srgbClr val="8DB596"/>
            </a:solidFill>
            <a:prstDash val="solid"/>
          </a:ln>
        </p:spPr>
      </p:sp>
      <p:sp>
        <p:nvSpPr>
          <p:cNvPr id="14" name="Text 12"/>
          <p:cNvSpPr txBox="1"/>
          <p:nvPr/>
        </p:nvSpPr>
        <p:spPr>
          <a:xfrm>
            <a:off x="1051560" y="2263140"/>
            <a:ext cx="1463040" cy="365760"/>
          </a:xfrm>
          <a:prstGeom prst="rect">
            <a:avLst/>
          </a:prstGeom>
          <a:solidFill>
            <a:srgbClr val="2E5E4E"/>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Row A · 24" racks</a:t>
            </a:r>
            <a:endParaRPr lang="en-US" sz="1000" dirty="0"/>
          </a:p>
        </p:txBody>
      </p:sp>
      <p:sp>
        <p:nvSpPr>
          <p:cNvPr id="15" name="Text 13"/>
          <p:cNvSpPr txBox="1"/>
          <p:nvPr/>
        </p:nvSpPr>
        <p:spPr>
          <a:xfrm>
            <a:off x="1051560" y="3182112"/>
            <a:ext cx="1463040" cy="228600"/>
          </a:xfrm>
          <a:prstGeom prst="rect">
            <a:avLst/>
          </a:prstGeom>
          <a:noFill/>
          <a:ln/>
        </p:spPr>
        <p:txBody>
          <a:bodyPr wrap="square" lIns="0" tIns="0" rIns="0" bIns="0" rtlCol="0" anchor="t"/>
          <a:lstStyle/>
          <a:p>
            <a:pPr algn="ctr" indent="0" marL="0">
              <a:buNone/>
            </a:pPr>
            <a:r>
              <a:rPr lang="en-US" sz="1000" dirty="0">
                <a:solidFill>
                  <a:srgbClr val="5F6F69"/>
                </a:solidFill>
                <a:latin typeface="Calibri" pitchFamily="34" charset="0"/>
                <a:ea typeface="Calibri" pitchFamily="34" charset="-122"/>
                <a:cs typeface="Calibri" pitchFamily="34" charset="-120"/>
              </a:rPr>
              <a:t>24"</a:t>
            </a:r>
            <a:endParaRPr lang="en-US" sz="1000" dirty="0"/>
          </a:p>
        </p:txBody>
      </p:sp>
      <p:sp>
        <p:nvSpPr>
          <p:cNvPr id="16" name="Shape 14"/>
          <p:cNvSpPr/>
          <p:nvPr/>
        </p:nvSpPr>
        <p:spPr>
          <a:xfrm>
            <a:off x="2514600" y="1783080"/>
            <a:ext cx="2194560" cy="1325880"/>
          </a:xfrm>
          <a:prstGeom prst="rect">
            <a:avLst/>
          </a:prstGeom>
          <a:solidFill>
            <a:srgbClr val="FBF1DE"/>
          </a:solidFill>
          <a:ln w="12700">
            <a:solidFill>
              <a:srgbClr val="D9962B"/>
            </a:solidFill>
            <a:prstDash val="dash"/>
          </a:ln>
        </p:spPr>
      </p:sp>
      <p:sp>
        <p:nvSpPr>
          <p:cNvPr id="17" name="Text 15"/>
          <p:cNvSpPr txBox="1"/>
          <p:nvPr/>
        </p:nvSpPr>
        <p:spPr>
          <a:xfrm>
            <a:off x="2514600" y="1874520"/>
            <a:ext cx="2194560" cy="274320"/>
          </a:xfrm>
          <a:prstGeom prst="rect">
            <a:avLst/>
          </a:prstGeom>
          <a:noFill/>
          <a:ln/>
        </p:spPr>
        <p:txBody>
          <a:bodyPr wrap="square" lIns="0" tIns="0" rIns="0" bIns="0" rtlCol="0" anchor="t"/>
          <a:lstStyle/>
          <a:p>
            <a:pPr algn="ctr" indent="0" marL="0">
              <a:buNone/>
            </a:pPr>
            <a:r>
              <a:rPr lang="en-US" sz="1000" b="1" dirty="0">
                <a:solidFill>
                  <a:srgbClr val="A36A12"/>
                </a:solidFill>
                <a:latin typeface="Calibri" pitchFamily="34" charset="0"/>
                <a:ea typeface="Calibri" pitchFamily="34" charset="-122"/>
                <a:cs typeface="Calibri" pitchFamily="34" charset="-120"/>
              </a:rPr>
              <a:t>36" harvest aisle</a:t>
            </a:r>
            <a:endParaRPr lang="en-US" sz="1000" dirty="0"/>
          </a:p>
        </p:txBody>
      </p:sp>
      <p:sp>
        <p:nvSpPr>
          <p:cNvPr id="18" name="Shape 16"/>
          <p:cNvSpPr/>
          <p:nvPr/>
        </p:nvSpPr>
        <p:spPr>
          <a:xfrm>
            <a:off x="2880360" y="2286000"/>
            <a:ext cx="1463040" cy="502920"/>
          </a:xfrm>
          <a:prstGeom prst="roundRect">
            <a:avLst>
              <a:gd name="adj" fmla="val 10909"/>
            </a:avLst>
          </a:prstGeom>
          <a:solidFill>
            <a:srgbClr val="FFFFFF"/>
          </a:solidFill>
          <a:ln w="12700">
            <a:solidFill>
              <a:srgbClr val="D9962B"/>
            </a:solidFill>
            <a:prstDash val="solid"/>
          </a:ln>
        </p:spPr>
      </p:sp>
      <p:sp>
        <p:nvSpPr>
          <p:cNvPr id="19" name="Text 17"/>
          <p:cNvSpPr txBox="1"/>
          <p:nvPr/>
        </p:nvSpPr>
        <p:spPr>
          <a:xfrm>
            <a:off x="2880360" y="2286000"/>
            <a:ext cx="1463040" cy="502920"/>
          </a:xfrm>
          <a:prstGeom prst="rect">
            <a:avLst/>
          </a:prstGeom>
          <a:noFill/>
          <a:ln/>
        </p:spPr>
        <p:txBody>
          <a:bodyPr wrap="square" lIns="0" tIns="0" rIns="0" bIns="0" rtlCol="0" anchor="ctr"/>
          <a:lstStyle/>
          <a:p>
            <a:pPr algn="ctr" indent="0" marL="0">
              <a:buNone/>
            </a:pPr>
            <a:r>
              <a:rPr lang="en-US" sz="1000" dirty="0">
                <a:solidFill>
                  <a:srgbClr val="1E2A26"/>
                </a:solidFill>
                <a:latin typeface="Calibri" pitchFamily="34" charset="0"/>
                <a:ea typeface="Calibri" pitchFamily="34" charset="-122"/>
                <a:cs typeface="Calibri" pitchFamily="34" charset="-120"/>
              </a:rPr>
              <a:t>24" cart</a:t>
            </a:r>
            <a:endParaRPr lang="en-US" sz="1000" dirty="0"/>
          </a:p>
        </p:txBody>
      </p:sp>
      <p:sp>
        <p:nvSpPr>
          <p:cNvPr id="20" name="Text 18"/>
          <p:cNvSpPr txBox="1"/>
          <p:nvPr/>
        </p:nvSpPr>
        <p:spPr>
          <a:xfrm>
            <a:off x="2514600" y="3182112"/>
            <a:ext cx="2194560" cy="228600"/>
          </a:xfrm>
          <a:prstGeom prst="rect">
            <a:avLst/>
          </a:prstGeom>
          <a:noFill/>
          <a:ln/>
        </p:spPr>
        <p:txBody>
          <a:bodyPr wrap="square" lIns="0" tIns="0" rIns="0" bIns="0" rtlCol="0" anchor="t"/>
          <a:lstStyle/>
          <a:p>
            <a:pPr algn="ctr" indent="0" marL="0">
              <a:buNone/>
            </a:pPr>
            <a:r>
              <a:rPr lang="en-US" sz="1000" dirty="0">
                <a:solidFill>
                  <a:srgbClr val="5F6F69"/>
                </a:solidFill>
                <a:latin typeface="Calibri" pitchFamily="34" charset="0"/>
                <a:ea typeface="Calibri" pitchFamily="34" charset="-122"/>
                <a:cs typeface="Calibri" pitchFamily="34" charset="-120"/>
              </a:rPr>
              <a:t>36"</a:t>
            </a:r>
            <a:endParaRPr lang="en-US" sz="1000" dirty="0"/>
          </a:p>
        </p:txBody>
      </p:sp>
      <p:sp>
        <p:nvSpPr>
          <p:cNvPr id="21" name="Shape 19"/>
          <p:cNvSpPr/>
          <p:nvPr/>
        </p:nvSpPr>
        <p:spPr>
          <a:xfrm>
            <a:off x="4709160" y="1783080"/>
            <a:ext cx="1463040" cy="1325880"/>
          </a:xfrm>
          <a:prstGeom prst="rect">
            <a:avLst/>
          </a:prstGeom>
          <a:solidFill>
            <a:srgbClr val="2E5E4E"/>
          </a:solidFill>
          <a:ln w="12700">
            <a:solidFill>
              <a:srgbClr val="FFFFFF"/>
            </a:solidFill>
            <a:prstDash val="solid"/>
          </a:ln>
        </p:spPr>
      </p:sp>
      <p:sp>
        <p:nvSpPr>
          <p:cNvPr id="22" name="Shape 20"/>
          <p:cNvSpPr/>
          <p:nvPr/>
        </p:nvSpPr>
        <p:spPr>
          <a:xfrm>
            <a:off x="4709160" y="2004060"/>
            <a:ext cx="1463040" cy="0"/>
          </a:xfrm>
          <a:prstGeom prst="line">
            <a:avLst/>
          </a:prstGeom>
          <a:noFill/>
          <a:ln w="9525">
            <a:solidFill>
              <a:srgbClr val="8DB596"/>
            </a:solidFill>
            <a:prstDash val="solid"/>
          </a:ln>
        </p:spPr>
      </p:sp>
      <p:sp>
        <p:nvSpPr>
          <p:cNvPr id="23" name="Shape 21"/>
          <p:cNvSpPr/>
          <p:nvPr/>
        </p:nvSpPr>
        <p:spPr>
          <a:xfrm>
            <a:off x="4709160" y="2225040"/>
            <a:ext cx="1463040" cy="0"/>
          </a:xfrm>
          <a:prstGeom prst="line">
            <a:avLst/>
          </a:prstGeom>
          <a:noFill/>
          <a:ln w="9525">
            <a:solidFill>
              <a:srgbClr val="8DB596"/>
            </a:solidFill>
            <a:prstDash val="solid"/>
          </a:ln>
        </p:spPr>
      </p:sp>
      <p:sp>
        <p:nvSpPr>
          <p:cNvPr id="24" name="Shape 22"/>
          <p:cNvSpPr/>
          <p:nvPr/>
        </p:nvSpPr>
        <p:spPr>
          <a:xfrm>
            <a:off x="4709160" y="2446020"/>
            <a:ext cx="1463040" cy="0"/>
          </a:xfrm>
          <a:prstGeom prst="line">
            <a:avLst/>
          </a:prstGeom>
          <a:noFill/>
          <a:ln w="9525">
            <a:solidFill>
              <a:srgbClr val="8DB596"/>
            </a:solidFill>
            <a:prstDash val="solid"/>
          </a:ln>
        </p:spPr>
      </p:sp>
      <p:sp>
        <p:nvSpPr>
          <p:cNvPr id="25" name="Shape 23"/>
          <p:cNvSpPr/>
          <p:nvPr/>
        </p:nvSpPr>
        <p:spPr>
          <a:xfrm>
            <a:off x="4709160" y="2667000"/>
            <a:ext cx="1463040" cy="0"/>
          </a:xfrm>
          <a:prstGeom prst="line">
            <a:avLst/>
          </a:prstGeom>
          <a:noFill/>
          <a:ln w="9525">
            <a:solidFill>
              <a:srgbClr val="8DB596"/>
            </a:solidFill>
            <a:prstDash val="solid"/>
          </a:ln>
        </p:spPr>
      </p:sp>
      <p:sp>
        <p:nvSpPr>
          <p:cNvPr id="26" name="Shape 24"/>
          <p:cNvSpPr/>
          <p:nvPr/>
        </p:nvSpPr>
        <p:spPr>
          <a:xfrm>
            <a:off x="4709160" y="2887980"/>
            <a:ext cx="1463040" cy="0"/>
          </a:xfrm>
          <a:prstGeom prst="line">
            <a:avLst/>
          </a:prstGeom>
          <a:noFill/>
          <a:ln w="9525">
            <a:solidFill>
              <a:srgbClr val="8DB596"/>
            </a:solidFill>
            <a:prstDash val="solid"/>
          </a:ln>
        </p:spPr>
      </p:sp>
      <p:sp>
        <p:nvSpPr>
          <p:cNvPr id="27" name="Text 25"/>
          <p:cNvSpPr txBox="1"/>
          <p:nvPr/>
        </p:nvSpPr>
        <p:spPr>
          <a:xfrm>
            <a:off x="4709160" y="2263140"/>
            <a:ext cx="1463040" cy="365760"/>
          </a:xfrm>
          <a:prstGeom prst="rect">
            <a:avLst/>
          </a:prstGeom>
          <a:solidFill>
            <a:srgbClr val="2E5E4E"/>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Row B · 24" racks</a:t>
            </a:r>
            <a:endParaRPr lang="en-US" sz="1000" dirty="0"/>
          </a:p>
        </p:txBody>
      </p:sp>
      <p:sp>
        <p:nvSpPr>
          <p:cNvPr id="28" name="Text 26"/>
          <p:cNvSpPr txBox="1"/>
          <p:nvPr/>
        </p:nvSpPr>
        <p:spPr>
          <a:xfrm>
            <a:off x="4709160" y="3182112"/>
            <a:ext cx="1463040" cy="228600"/>
          </a:xfrm>
          <a:prstGeom prst="rect">
            <a:avLst/>
          </a:prstGeom>
          <a:noFill/>
          <a:ln/>
        </p:spPr>
        <p:txBody>
          <a:bodyPr wrap="square" lIns="0" tIns="0" rIns="0" bIns="0" rtlCol="0" anchor="t"/>
          <a:lstStyle/>
          <a:p>
            <a:pPr algn="ctr" indent="0" marL="0">
              <a:buNone/>
            </a:pPr>
            <a:r>
              <a:rPr lang="en-US" sz="1000" dirty="0">
                <a:solidFill>
                  <a:srgbClr val="5F6F69"/>
                </a:solidFill>
                <a:latin typeface="Calibri" pitchFamily="34" charset="0"/>
                <a:ea typeface="Calibri" pitchFamily="34" charset="-122"/>
                <a:cs typeface="Calibri" pitchFamily="34" charset="-120"/>
              </a:rPr>
              <a:t>24"</a:t>
            </a:r>
            <a:endParaRPr lang="en-US" sz="1000" dirty="0"/>
          </a:p>
        </p:txBody>
      </p:sp>
      <p:sp>
        <p:nvSpPr>
          <p:cNvPr id="29" name="Text 27"/>
          <p:cNvSpPr txBox="1"/>
          <p:nvPr/>
        </p:nvSpPr>
        <p:spPr>
          <a:xfrm>
            <a:off x="6172200" y="3182112"/>
            <a:ext cx="365760" cy="228600"/>
          </a:xfrm>
          <a:prstGeom prst="rect">
            <a:avLst/>
          </a:prstGeom>
          <a:noFill/>
          <a:ln/>
        </p:spPr>
        <p:txBody>
          <a:bodyPr wrap="square" lIns="0" tIns="0" rIns="0" bIns="0" rtlCol="0" anchor="t"/>
          <a:lstStyle/>
          <a:p>
            <a:pPr algn="ctr" indent="0" marL="0">
              <a:buNone/>
            </a:pPr>
            <a:r>
              <a:rPr lang="en-US" sz="1000" dirty="0">
                <a:solidFill>
                  <a:srgbClr val="5F6F69"/>
                </a:solidFill>
                <a:latin typeface="Calibri" pitchFamily="34" charset="0"/>
                <a:ea typeface="Calibri" pitchFamily="34" charset="-122"/>
                <a:cs typeface="Calibri" pitchFamily="34" charset="-120"/>
              </a:rPr>
              <a:t>6"</a:t>
            </a:r>
            <a:endParaRPr lang="en-US" sz="1000" dirty="0"/>
          </a:p>
        </p:txBody>
      </p:sp>
      <p:sp>
        <p:nvSpPr>
          <p:cNvPr id="30" name="Shape 28"/>
          <p:cNvSpPr/>
          <p:nvPr/>
        </p:nvSpPr>
        <p:spPr>
          <a:xfrm>
            <a:off x="6537960" y="1783080"/>
            <a:ext cx="91440" cy="1325880"/>
          </a:xfrm>
          <a:prstGeom prst="rect">
            <a:avLst/>
          </a:prstGeom>
          <a:solidFill>
            <a:srgbClr val="1E2A26"/>
          </a:solidFill>
          <a:ln w="12700">
            <a:solidFill>
              <a:srgbClr val="1E2A26"/>
            </a:solidFill>
            <a:prstDash val="solid"/>
          </a:ln>
        </p:spPr>
      </p:sp>
      <p:sp>
        <p:nvSpPr>
          <p:cNvPr id="31" name="Text 29"/>
          <p:cNvSpPr txBox="1"/>
          <p:nvPr/>
        </p:nvSpPr>
        <p:spPr>
          <a:xfrm>
            <a:off x="594360" y="1417320"/>
            <a:ext cx="6035040" cy="274320"/>
          </a:xfrm>
          <a:prstGeom prst="rect">
            <a:avLst/>
          </a:prstGeom>
          <a:noFill/>
          <a:ln/>
        </p:spPr>
        <p:txBody>
          <a:bodyPr wrap="square" lIns="0" tIns="0" rIns="0" bIns="0" rtlCol="0" anchor="t"/>
          <a:lstStyle/>
          <a:p>
            <a:pPr indent="0" marL="0">
              <a:buNone/>
            </a:pPr>
            <a:r>
              <a:rPr lang="en-US" sz="1100" b="1" dirty="0">
                <a:solidFill>
                  <a:srgbClr val="14302A"/>
                </a:solidFill>
                <a:latin typeface="Calibri" pitchFamily="34" charset="0"/>
                <a:ea typeface="Calibri" pitchFamily="34" charset="-122"/>
                <a:cs typeface="Calibri" pitchFamily="34" charset="-120"/>
              </a:rPr>
              <a:t>Cross-section: 96" minimum clear width (10 ft room gives extra wall clearance)</a:t>
            </a:r>
            <a:endParaRPr lang="en-US" sz="1100" dirty="0"/>
          </a:p>
        </p:txBody>
      </p:sp>
      <p:sp>
        <p:nvSpPr>
          <p:cNvPr id="32" name="Text 30"/>
          <p:cNvSpPr txBox="1"/>
          <p:nvPr/>
        </p:nvSpPr>
        <p:spPr>
          <a:xfrm>
            <a:off x="594360" y="3429000"/>
            <a:ext cx="6035040" cy="457200"/>
          </a:xfrm>
          <a:prstGeom prst="rect">
            <a:avLst/>
          </a:prstGeom>
          <a:noFill/>
          <a:ln/>
        </p:spPr>
        <p:txBody>
          <a:bodyPr wrap="square" lIns="0" tIns="0" rIns="0" bIns="0" rtlCol="0" anchor="t"/>
          <a:lstStyle/>
          <a:p>
            <a:pPr indent="0" marL="0">
              <a:buNone/>
            </a:pPr>
            <a:r>
              <a:rPr lang="en-US" sz="1050" i="1" dirty="0">
                <a:solidFill>
                  <a:srgbClr val="5F6F69"/>
                </a:solidFill>
                <a:latin typeface="Calibri" pitchFamily="34" charset="0"/>
                <a:ea typeface="Calibri" pitchFamily="34" charset="-122"/>
                <a:cs typeface="Calibri" pitchFamily="34" charset="-120"/>
              </a:rPr>
              <a:t>Lowest tier 6–8" off the floor, where CO₂ pools. Tier pitch 16–18" so fruit bodies never touch the shelf above.</a:t>
            </a:r>
            <a:endParaRPr lang="en-US" sz="1050" dirty="0"/>
          </a:p>
        </p:txBody>
      </p:sp>
      <p:sp>
        <p:nvSpPr>
          <p:cNvPr id="33" name="Shape 31"/>
          <p:cNvSpPr/>
          <p:nvPr/>
        </p:nvSpPr>
        <p:spPr>
          <a:xfrm>
            <a:off x="6949440" y="1463040"/>
            <a:ext cx="4709160" cy="2423160"/>
          </a:xfrm>
          <a:prstGeom prst="roundRect">
            <a:avLst>
              <a:gd name="adj" fmla="val 3019"/>
            </a:avLst>
          </a:prstGeom>
          <a:solidFill>
            <a:srgbClr val="14302A"/>
          </a:solidFill>
          <a:ln w="9525">
            <a:solidFill>
              <a:srgbClr val="14302A"/>
            </a:solidFill>
            <a:prstDash val="solid"/>
          </a:ln>
        </p:spPr>
      </p:sp>
      <p:sp>
        <p:nvSpPr>
          <p:cNvPr id="34" name="Text 32"/>
          <p:cNvSpPr txBox="1"/>
          <p:nvPr/>
        </p:nvSpPr>
        <p:spPr>
          <a:xfrm>
            <a:off x="7178040" y="1572768"/>
            <a:ext cx="4297680" cy="32004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Capacity check</a:t>
            </a:r>
            <a:endParaRPr lang="en-US" sz="1500" dirty="0"/>
          </a:p>
        </p:txBody>
      </p:sp>
      <p:sp>
        <p:nvSpPr>
          <p:cNvPr id="35" name="Text 33"/>
          <p:cNvSpPr txBox="1"/>
          <p:nvPr/>
        </p:nvSpPr>
        <p:spPr>
          <a:xfrm>
            <a:off x="7178040" y="1938528"/>
            <a:ext cx="4343400" cy="187452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Per rack: 6 tiers × ~16 blocks (3–4" apart) = ~96 blocks</a:t>
            </a:r>
            <a:endParaRPr lang="en-US" sz="1250" dirty="0"/>
          </a:p>
          <a:p>
            <a:pPr marL="342900" indent="-3429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Per 16 × 10 ft room: 2 rows × 4 racks = ~770 blocks</a:t>
            </a:r>
            <a:endParaRPr lang="en-US" sz="1250" dirty="0"/>
          </a:p>
          <a:p>
            <a:pPr marL="342900" indent="-3429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Rooms A + B = ~1,540 blocks ≥ 1,500 needed (60/day × 25 days)</a:t>
            </a:r>
            <a:endParaRPr lang="en-US" sz="1250" dirty="0"/>
          </a:p>
          <a:p>
            <a:pPr marL="342900" indent="-3429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Site-note density of 30 blocks per shelf is too tight for Lion's Mane</a:t>
            </a:r>
            <a:endParaRPr lang="en-US" sz="1250" dirty="0"/>
          </a:p>
        </p:txBody>
      </p:sp>
      <p:sp>
        <p:nvSpPr>
          <p:cNvPr id="36" name="Shape 34"/>
          <p:cNvSpPr/>
          <p:nvPr/>
        </p:nvSpPr>
        <p:spPr>
          <a:xfrm>
            <a:off x="548640" y="4069080"/>
            <a:ext cx="3566160" cy="2194560"/>
          </a:xfrm>
          <a:prstGeom prst="roundRect">
            <a:avLst>
              <a:gd name="adj" fmla="val 3333"/>
            </a:avLst>
          </a:prstGeom>
          <a:solidFill>
            <a:srgbClr val="EEF4F0"/>
          </a:solidFill>
          <a:ln w="9525">
            <a:solidFill>
              <a:srgbClr val="EEF4F0"/>
            </a:solidFill>
            <a:prstDash val="solid"/>
          </a:ln>
        </p:spPr>
      </p:sp>
      <p:sp>
        <p:nvSpPr>
          <p:cNvPr id="37" name="Shape 35"/>
          <p:cNvSpPr/>
          <p:nvPr/>
        </p:nvSpPr>
        <p:spPr>
          <a:xfrm>
            <a:off x="731520" y="4206240"/>
            <a:ext cx="502920" cy="502920"/>
          </a:xfrm>
          <a:prstGeom prst="ellipse">
            <a:avLst/>
          </a:prstGeom>
          <a:solidFill>
            <a:srgbClr val="2E5E4E"/>
          </a:solidFill>
          <a:ln w="12700">
            <a:solidFill>
              <a:srgbClr val="2E5E4E"/>
            </a:solidFill>
            <a:prstDash val="solid"/>
          </a:ln>
        </p:spPr>
      </p:sp>
      <p:pic>
        <p:nvPicPr>
          <p:cNvPr id="38" name="Image 0" descr="preencoded.png">    </p:cNvPr>
          <p:cNvPicPr>
            <a:picLocks noChangeAspect="1"/>
          </p:cNvPicPr>
          <p:nvPr/>
        </p:nvPicPr>
        <p:blipFill>
          <a:blip r:embed="rId1"/>
          <a:stretch>
            <a:fillRect/>
          </a:stretch>
        </p:blipFill>
        <p:spPr>
          <a:xfrm>
            <a:off x="862279" y="4336999"/>
            <a:ext cx="241402" cy="241402"/>
          </a:xfrm>
          <a:prstGeom prst="rect">
            <a:avLst/>
          </a:prstGeom>
        </p:spPr>
      </p:pic>
      <p:sp>
        <p:nvSpPr>
          <p:cNvPr id="39" name="Text 36"/>
          <p:cNvSpPr txBox="1"/>
          <p:nvPr/>
        </p:nvSpPr>
        <p:spPr>
          <a:xfrm>
            <a:off x="1371600" y="4224528"/>
            <a:ext cx="2651760" cy="457200"/>
          </a:xfrm>
          <a:prstGeom prst="rect">
            <a:avLst/>
          </a:prstGeom>
          <a:noFill/>
          <a:ln/>
        </p:spPr>
        <p:txBody>
          <a:bodyPr wrap="square" lIns="0" tIns="0" rIns="0" bIns="0" rtlCol="0" anchor="ctr"/>
          <a:lstStyle/>
          <a:p>
            <a:pPr indent="0" marL="0">
              <a:buNone/>
            </a:pPr>
            <a:r>
              <a:rPr lang="en-US" sz="1400" b="1" dirty="0">
                <a:solidFill>
                  <a:srgbClr val="14302A"/>
                </a:solidFill>
                <a:latin typeface="Cambria" pitchFamily="34" charset="0"/>
                <a:ea typeface="Cambria" pitchFamily="34" charset="-122"/>
                <a:cs typeface="Cambria" pitchFamily="34" charset="-120"/>
              </a:rPr>
              <a:t>Fresh-air exchange</a:t>
            </a:r>
            <a:endParaRPr lang="en-US" sz="1400" dirty="0"/>
          </a:p>
        </p:txBody>
      </p:sp>
      <p:sp>
        <p:nvSpPr>
          <p:cNvPr id="40" name="Text 37"/>
          <p:cNvSpPr txBox="1"/>
          <p:nvPr/>
        </p:nvSpPr>
        <p:spPr>
          <a:xfrm>
            <a:off x="731520" y="4800600"/>
            <a:ext cx="3200400" cy="1417320"/>
          </a:xfrm>
          <a:prstGeom prst="rect">
            <a:avLst/>
          </a:prstGeom>
          <a:noFill/>
          <a:ln/>
        </p:spPr>
        <p:txBody>
          <a:bodyPr wrap="square" lIns="0" tIns="0" rIns="0" bIns="0" rtlCol="0" anchor="t"/>
          <a:lstStyle/>
          <a:p>
            <a:pPr indent="0" marL="0">
              <a:buNone/>
            </a:pPr>
            <a:r>
              <a:rPr lang="en-US" sz="1150" dirty="0">
                <a:solidFill>
                  <a:srgbClr val="1E2A26"/>
                </a:solidFill>
                <a:latin typeface="Calibri" pitchFamily="34" charset="0"/>
                <a:ea typeface="Calibri" pitchFamily="34" charset="-122"/>
                <a:cs typeface="Calibri" pitchFamily="34" charset="-120"/>
              </a:rPr>
              <a:t>Keep CO₂ &lt;800 ppm; above ~1,000 ppm spines elongate into coral shapes. Intake high through MERV 13 + mist, exhaust 6" off floor, 6–8 ACH on a CO₂ controller, 40-mesh insect screens.</a:t>
            </a:r>
            <a:endParaRPr lang="en-US" sz="1150" dirty="0"/>
          </a:p>
        </p:txBody>
      </p:sp>
      <p:sp>
        <p:nvSpPr>
          <p:cNvPr id="41" name="Shape 38"/>
          <p:cNvSpPr/>
          <p:nvPr/>
        </p:nvSpPr>
        <p:spPr>
          <a:xfrm>
            <a:off x="4297680" y="4069080"/>
            <a:ext cx="3566160" cy="2194560"/>
          </a:xfrm>
          <a:prstGeom prst="roundRect">
            <a:avLst>
              <a:gd name="adj" fmla="val 3333"/>
            </a:avLst>
          </a:prstGeom>
          <a:solidFill>
            <a:srgbClr val="EEF4F0"/>
          </a:solidFill>
          <a:ln w="9525">
            <a:solidFill>
              <a:srgbClr val="EEF4F0"/>
            </a:solidFill>
            <a:prstDash val="solid"/>
          </a:ln>
        </p:spPr>
      </p:sp>
      <p:sp>
        <p:nvSpPr>
          <p:cNvPr id="42" name="Shape 39"/>
          <p:cNvSpPr/>
          <p:nvPr/>
        </p:nvSpPr>
        <p:spPr>
          <a:xfrm>
            <a:off x="4480560" y="4206240"/>
            <a:ext cx="502920" cy="502920"/>
          </a:xfrm>
          <a:prstGeom prst="ellipse">
            <a:avLst/>
          </a:prstGeom>
          <a:solidFill>
            <a:srgbClr val="D9962B"/>
          </a:solidFill>
          <a:ln w="12700">
            <a:solidFill>
              <a:srgbClr val="D9962B"/>
            </a:solidFill>
            <a:prstDash val="solid"/>
          </a:ln>
        </p:spPr>
      </p:sp>
      <p:pic>
        <p:nvPicPr>
          <p:cNvPr id="43" name="Image 1" descr="preencoded.png">    </p:cNvPr>
          <p:cNvPicPr>
            <a:picLocks noChangeAspect="1"/>
          </p:cNvPicPr>
          <p:nvPr/>
        </p:nvPicPr>
        <p:blipFill>
          <a:blip r:embed="rId2"/>
          <a:stretch>
            <a:fillRect/>
          </a:stretch>
        </p:blipFill>
        <p:spPr>
          <a:xfrm>
            <a:off x="4611319" y="4336999"/>
            <a:ext cx="241402" cy="241402"/>
          </a:xfrm>
          <a:prstGeom prst="rect">
            <a:avLst/>
          </a:prstGeom>
        </p:spPr>
      </p:pic>
      <p:sp>
        <p:nvSpPr>
          <p:cNvPr id="44" name="Text 40"/>
          <p:cNvSpPr txBox="1"/>
          <p:nvPr/>
        </p:nvSpPr>
        <p:spPr>
          <a:xfrm>
            <a:off x="5120640" y="4224528"/>
            <a:ext cx="2651760" cy="457200"/>
          </a:xfrm>
          <a:prstGeom prst="rect">
            <a:avLst/>
          </a:prstGeom>
          <a:noFill/>
          <a:ln/>
        </p:spPr>
        <p:txBody>
          <a:bodyPr wrap="square" lIns="0" tIns="0" rIns="0" bIns="0" rtlCol="0" anchor="ctr"/>
          <a:lstStyle/>
          <a:p>
            <a:pPr indent="0" marL="0">
              <a:buNone/>
            </a:pPr>
            <a:r>
              <a:rPr lang="en-US" sz="1400" b="1" dirty="0">
                <a:solidFill>
                  <a:srgbClr val="14302A"/>
                </a:solidFill>
                <a:latin typeface="Cambria" pitchFamily="34" charset="0"/>
                <a:ea typeface="Cambria" pitchFamily="34" charset="-122"/>
                <a:cs typeface="Cambria" pitchFamily="34" charset="-120"/>
              </a:rPr>
              <a:t>Humidity without wetting</a:t>
            </a:r>
            <a:endParaRPr lang="en-US" sz="1400" dirty="0"/>
          </a:p>
        </p:txBody>
      </p:sp>
      <p:sp>
        <p:nvSpPr>
          <p:cNvPr id="45" name="Text 41"/>
          <p:cNvSpPr txBox="1"/>
          <p:nvPr/>
        </p:nvSpPr>
        <p:spPr>
          <a:xfrm>
            <a:off x="4480560" y="4800600"/>
            <a:ext cx="3200400" cy="1417320"/>
          </a:xfrm>
          <a:prstGeom prst="rect">
            <a:avLst/>
          </a:prstGeom>
          <a:noFill/>
          <a:ln/>
        </p:spPr>
        <p:txBody>
          <a:bodyPr wrap="square" lIns="0" tIns="0" rIns="0" bIns="0" rtlCol="0" anchor="t"/>
          <a:lstStyle/>
          <a:p>
            <a:pPr indent="0" marL="0">
              <a:buNone/>
            </a:pPr>
            <a:r>
              <a:rPr lang="en-US" sz="1150" dirty="0">
                <a:solidFill>
                  <a:srgbClr val="1E2A26"/>
                </a:solidFill>
                <a:latin typeface="Calibri" pitchFamily="34" charset="0"/>
                <a:ea typeface="Calibri" pitchFamily="34" charset="-122"/>
                <a:cs typeface="Calibri" pitchFamily="34" charset="-120"/>
              </a:rPr>
              <a:t>85–95% RH from a 10–12 head ultrasonic fogger on a humidistat, fed with RO water. Droplets on the fruit cause yellowing and bacterial blotch; fog the air, never the mushroom.</a:t>
            </a:r>
            <a:endParaRPr lang="en-US" sz="1150" dirty="0"/>
          </a:p>
        </p:txBody>
      </p:sp>
      <p:sp>
        <p:nvSpPr>
          <p:cNvPr id="46" name="Shape 42"/>
          <p:cNvSpPr/>
          <p:nvPr/>
        </p:nvSpPr>
        <p:spPr>
          <a:xfrm>
            <a:off x="8046720" y="4069080"/>
            <a:ext cx="3566160" cy="2194560"/>
          </a:xfrm>
          <a:prstGeom prst="roundRect">
            <a:avLst>
              <a:gd name="adj" fmla="val 3333"/>
            </a:avLst>
          </a:prstGeom>
          <a:solidFill>
            <a:srgbClr val="EEF4F0"/>
          </a:solidFill>
          <a:ln w="9525">
            <a:solidFill>
              <a:srgbClr val="EEF4F0"/>
            </a:solidFill>
            <a:prstDash val="solid"/>
          </a:ln>
        </p:spPr>
      </p:sp>
      <p:sp>
        <p:nvSpPr>
          <p:cNvPr id="47" name="Shape 43"/>
          <p:cNvSpPr/>
          <p:nvPr/>
        </p:nvSpPr>
        <p:spPr>
          <a:xfrm>
            <a:off x="8229600" y="4206240"/>
            <a:ext cx="502920" cy="502920"/>
          </a:xfrm>
          <a:prstGeom prst="ellipse">
            <a:avLst/>
          </a:prstGeom>
          <a:solidFill>
            <a:srgbClr val="2E5E4E"/>
          </a:solidFill>
          <a:ln w="12700">
            <a:solidFill>
              <a:srgbClr val="2E5E4E"/>
            </a:solidFill>
            <a:prstDash val="solid"/>
          </a:ln>
        </p:spPr>
      </p:sp>
      <p:pic>
        <p:nvPicPr>
          <p:cNvPr id="48" name="Image 2" descr="preencoded.png">    </p:cNvPr>
          <p:cNvPicPr>
            <a:picLocks noChangeAspect="1"/>
          </p:cNvPicPr>
          <p:nvPr/>
        </p:nvPicPr>
        <p:blipFill>
          <a:blip r:embed="rId3"/>
          <a:stretch>
            <a:fillRect/>
          </a:stretch>
        </p:blipFill>
        <p:spPr>
          <a:xfrm>
            <a:off x="8360359" y="4336999"/>
            <a:ext cx="241402" cy="241402"/>
          </a:xfrm>
          <a:prstGeom prst="rect">
            <a:avLst/>
          </a:prstGeom>
        </p:spPr>
      </p:pic>
      <p:sp>
        <p:nvSpPr>
          <p:cNvPr id="49" name="Text 44"/>
          <p:cNvSpPr txBox="1"/>
          <p:nvPr/>
        </p:nvSpPr>
        <p:spPr>
          <a:xfrm>
            <a:off x="8869680" y="4224528"/>
            <a:ext cx="2651760" cy="457200"/>
          </a:xfrm>
          <a:prstGeom prst="rect">
            <a:avLst/>
          </a:prstGeom>
          <a:noFill/>
          <a:ln/>
        </p:spPr>
        <p:txBody>
          <a:bodyPr wrap="square" lIns="0" tIns="0" rIns="0" bIns="0" rtlCol="0" anchor="ctr"/>
          <a:lstStyle/>
          <a:p>
            <a:pPr indent="0" marL="0">
              <a:buNone/>
            </a:pPr>
            <a:r>
              <a:rPr lang="en-US" sz="1400" b="1" dirty="0">
                <a:solidFill>
                  <a:srgbClr val="14302A"/>
                </a:solidFill>
                <a:latin typeface="Cambria" pitchFamily="34" charset="0"/>
                <a:ea typeface="Cambria" pitchFamily="34" charset="-122"/>
                <a:cs typeface="Cambria" pitchFamily="34" charset="-120"/>
              </a:rPr>
              <a:t>Light &amp; initiation</a:t>
            </a:r>
            <a:endParaRPr lang="en-US" sz="1400" dirty="0"/>
          </a:p>
        </p:txBody>
      </p:sp>
      <p:sp>
        <p:nvSpPr>
          <p:cNvPr id="50" name="Text 45"/>
          <p:cNvSpPr txBox="1"/>
          <p:nvPr/>
        </p:nvSpPr>
        <p:spPr>
          <a:xfrm>
            <a:off x="8229600" y="4800600"/>
            <a:ext cx="3200400" cy="1417320"/>
          </a:xfrm>
          <a:prstGeom prst="rect">
            <a:avLst/>
          </a:prstGeom>
          <a:noFill/>
          <a:ln/>
        </p:spPr>
        <p:txBody>
          <a:bodyPr wrap="square" lIns="0" tIns="0" rIns="0" bIns="0" rtlCol="0" anchor="t"/>
          <a:lstStyle/>
          <a:p>
            <a:pPr indent="0" marL="0">
              <a:buNone/>
            </a:pPr>
            <a:r>
              <a:rPr lang="en-US" sz="1150" dirty="0">
                <a:solidFill>
                  <a:srgbClr val="1E2A26"/>
                </a:solidFill>
                <a:latin typeface="Calibri" pitchFamily="34" charset="0"/>
                <a:ea typeface="Calibri" pitchFamily="34" charset="-122"/>
                <a:cs typeface="Calibri" pitchFamily="34" charset="-120"/>
              </a:rPr>
              <a:t>12 h/day at 500–1,000 lux (6500 K waterproof LED). X-cut or 3–4 cm slit facing the aisle. Harvest at 0.5–1 cm spines, still white. Run A/B all-in, all-out for deep cleans.</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D9962B"/>
                </a:solidFill>
                <a:latin typeface="Calibri" pitchFamily="34" charset="0"/>
                <a:ea typeface="Calibri" pitchFamily="34" charset="-122"/>
                <a:cs typeface="Calibri" pitchFamily="34" charset="-120"/>
              </a:rPr>
              <a:t>06 · EXPERT DESIGN REVIEW</a:t>
            </a:r>
            <a:endParaRPr lang="en-US" sz="11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14302A"/>
                </a:solidFill>
                <a:latin typeface="Cambria" pitchFamily="34" charset="0"/>
                <a:ea typeface="Cambria" pitchFamily="34" charset="-122"/>
                <a:cs typeface="Cambria" pitchFamily="34" charset="-120"/>
              </a:rPr>
              <a:t>Corrections applied to the site notes before build</a:t>
            </a:r>
            <a:endParaRPr lang="en-US" sz="30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900" dirty="0">
                <a:solidFill>
                  <a:srgbClr val="5F6F69"/>
                </a:solidFill>
                <a:latin typeface="Calibri" pitchFamily="34" charset="0"/>
                <a:ea typeface="Calibri" pitchFamily="34" charset="-122"/>
                <a:cs typeface="Calibri" pitchFamily="34" charset="-120"/>
              </a:rPr>
              <a:t>Lion's Mane Facility  ·  Hamirpur, HP  ·  Project Plan</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900" dirty="0">
                <a:solidFill>
                  <a:srgbClr val="5F6F69"/>
                </a:solidFill>
                <a:latin typeface="Calibri" pitchFamily="34" charset="0"/>
                <a:ea typeface="Calibri" pitchFamily="34" charset="-122"/>
                <a:cs typeface="Calibri" pitchFamily="34" charset="-120"/>
              </a:rPr>
              <a:t>17</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109960" cy="914400"/>
        </p:xfrm>
        <a:graphic>
          <a:graphicData uri="http://schemas.openxmlformats.org/drawingml/2006/table">
            <a:tbl>
              <a:tblPr/>
              <a:tblGrid>
                <a:gridCol w="365760"/>
                <a:gridCol w="1737360"/>
                <a:gridCol w="2514600"/>
                <a:gridCol w="3108960"/>
                <a:gridCol w="3383280"/>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Item</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In the notes</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Recommendation</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Why it matters</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r>
              <a:tr h="512064">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00" b="1" dirty="0">
                          <a:solidFill>
                            <a:srgbClr val="14302A"/>
                          </a:solidFill>
                          <a:latin typeface="Calibri" pitchFamily="34" charset="0"/>
                          <a:ea typeface="Calibri" pitchFamily="34" charset="-122"/>
                          <a:cs typeface="Calibri" pitchFamily="34" charset="-120"/>
                        </a:rPr>
                        <a:t>Biological efficiency</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80–100%</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00" b="1" dirty="0">
                          <a:solidFill>
                            <a:srgbClr val="2E5E4E"/>
                          </a:solidFill>
                          <a:latin typeface="Calibri" pitchFamily="34" charset="0"/>
                          <a:ea typeface="Calibri" pitchFamily="34" charset="-122"/>
                          <a:cs typeface="Calibri" pitchFamily="34" charset="-120"/>
                        </a:rPr>
                        <a:t>Plan at 65%; treat 80%+ as upside</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Second flush is weak; lenders need a conservative base</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512064">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100" b="1" dirty="0">
                          <a:solidFill>
                            <a:srgbClr val="14302A"/>
                          </a:solidFill>
                          <a:latin typeface="Calibri" pitchFamily="34" charset="0"/>
                          <a:ea typeface="Calibri" pitchFamily="34" charset="-122"/>
                          <a:cs typeface="Calibri" pitchFamily="34" charset="-120"/>
                        </a:rPr>
                        <a:t>Autoclave size</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150–200 L vertical, 30 bags/cycle</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100" b="1" dirty="0">
                          <a:solidFill>
                            <a:srgbClr val="2E5E4E"/>
                          </a:solidFill>
                          <a:latin typeface="Calibri" pitchFamily="34" charset="0"/>
                          <a:ea typeface="Calibri" pitchFamily="34" charset="-122"/>
                          <a:cs typeface="Calibri" pitchFamily="34" charset="-120"/>
                        </a:rPr>
                        <a:t>400–500 L horizontal, double-door</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30 × 2.5 kg blocks do not physically fit 200 L</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r>
              <a:tr h="512064">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00" b="1" dirty="0">
                          <a:solidFill>
                            <a:srgbClr val="14302A"/>
                          </a:solidFill>
                          <a:latin typeface="Calibri" pitchFamily="34" charset="0"/>
                          <a:ea typeface="Calibri" pitchFamily="34" charset="-122"/>
                          <a:cs typeface="Calibri" pitchFamily="34" charset="-120"/>
                        </a:rPr>
                        <a:t>Block sterilization</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90–120 min</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00" b="1" dirty="0">
                          <a:solidFill>
                            <a:srgbClr val="2E5E4E"/>
                          </a:solidFill>
                          <a:latin typeface="Calibri" pitchFamily="34" charset="0"/>
                          <a:ea typeface="Calibri" pitchFamily="34" charset="-122"/>
                          <a:cs typeface="Calibri" pitchFamily="34" charset="-120"/>
                        </a:rPr>
                        <a:t>150–180 min hold, BI-validated</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Dense supplemented blocks heat slowly at the core</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512064">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100" b="1" dirty="0">
                          <a:solidFill>
                            <a:srgbClr val="14302A"/>
                          </a:solidFill>
                          <a:latin typeface="Calibri" pitchFamily="34" charset="0"/>
                          <a:ea typeface="Calibri" pitchFamily="34" charset="-122"/>
                          <a:cs typeface="Calibri" pitchFamily="34" charset="-120"/>
                        </a:rPr>
                        <a:t>Prep room size</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6 × 10 ft (60 sq ft)</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100" b="1" dirty="0">
                          <a:solidFill>
                            <a:srgbClr val="2E5E4E"/>
                          </a:solidFill>
                          <a:latin typeface="Calibri" pitchFamily="34" charset="0"/>
                          <a:ea typeface="Calibri" pitchFamily="34" charset="-122"/>
                          <a:cs typeface="Calibri" pitchFamily="34" charset="-120"/>
                        </a:rPr>
                        <a:t>90 sq ft + covered outdoor mixing shed</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155 kg/day mixing, bagging, drainage, washing</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r>
              <a:tr h="512064">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00" b="1" dirty="0">
                          <a:solidFill>
                            <a:srgbClr val="14302A"/>
                          </a:solidFill>
                          <a:latin typeface="Calibri" pitchFamily="34" charset="0"/>
                          <a:ea typeface="Calibri" pitchFamily="34" charset="-122"/>
                          <a:cs typeface="Calibri" pitchFamily="34" charset="-120"/>
                        </a:rPr>
                        <a:t>Fruiting density</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30 blocks/shelf, one 250 sq ft room</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00" b="1" dirty="0">
                          <a:solidFill>
                            <a:srgbClr val="2E5E4E"/>
                          </a:solidFill>
                          <a:latin typeface="Calibri" pitchFamily="34" charset="0"/>
                          <a:ea typeface="Calibri" pitchFamily="34" charset="-122"/>
                          <a:cs typeface="Calibri" pitchFamily="34" charset="-120"/>
                        </a:rPr>
                        <a:t>~16 blocks/shelf, two 160 sq ft rooms</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Fruit bodies need space; A/B allows sanitation</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512064">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100" b="1" dirty="0">
                          <a:solidFill>
                            <a:srgbClr val="14302A"/>
                          </a:solidFill>
                          <a:latin typeface="Calibri" pitchFamily="34" charset="0"/>
                          <a:ea typeface="Calibri" pitchFamily="34" charset="-122"/>
                          <a:cs typeface="Calibri" pitchFamily="34" charset="-120"/>
                        </a:rPr>
                        <a:t>Power budget</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140–160 kWh/day</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100" b="1" dirty="0">
                          <a:solidFill>
                            <a:srgbClr val="2E5E4E"/>
                          </a:solidFill>
                          <a:latin typeface="Calibri" pitchFamily="34" charset="0"/>
                          <a:ea typeface="Calibri" pitchFamily="34" charset="-122"/>
                          <a:cs typeface="Calibri" pitchFamily="34" charset="-120"/>
                        </a:rPr>
                        <a:t>200–250 kWh/day (summer)</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Autoclave + cooling vs. 40°C summers + block heat</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r>
              <a:tr h="512064">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00" b="1" dirty="0">
                          <a:solidFill>
                            <a:srgbClr val="14302A"/>
                          </a:solidFill>
                          <a:latin typeface="Calibri" pitchFamily="34" charset="0"/>
                          <a:ea typeface="Calibri" pitchFamily="34" charset="-122"/>
                          <a:cs typeface="Calibri" pitchFamily="34" charset="-120"/>
                        </a:rPr>
                        <a:t>DG set</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15–20 kVA for all loads</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00" b="1" dirty="0">
                          <a:solidFill>
                            <a:srgbClr val="2E5E4E"/>
                          </a:solidFill>
                          <a:latin typeface="Calibri" pitchFamily="34" charset="0"/>
                          <a:ea typeface="Calibri" pitchFamily="34" charset="-122"/>
                          <a:cs typeface="Calibri" pitchFamily="34" charset="-120"/>
                        </a:rPr>
                        <a:t>20 kVA for life-support; autoclave on grid</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Autoclave heaters alone can exceed 20 kVA</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512064">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100" b="1" dirty="0">
                          <a:solidFill>
                            <a:srgbClr val="14302A"/>
                          </a:solidFill>
                          <a:latin typeface="Calibri" pitchFamily="34" charset="0"/>
                          <a:ea typeface="Calibri" pitchFamily="34" charset="-122"/>
                          <a:cs typeface="Calibri" pitchFamily="34" charset="-120"/>
                        </a:rPr>
                        <a:t>Health messaging</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"Cold use blocks absorption"</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100" b="1" dirty="0">
                          <a:solidFill>
                            <a:srgbClr val="2E5E4E"/>
                          </a:solidFill>
                          <a:latin typeface="Calibri" pitchFamily="34" charset="0"/>
                          <a:ea typeface="Calibri" pitchFamily="34" charset="-122"/>
                          <a:cs typeface="Calibri" pitchFamily="34" charset="-120"/>
                        </a:rPr>
                        <a:t>Usage guidance only, no disease claims</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FSSAI restricts claims; scientists will challenge</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r>
            </a:tbl>
          </a:graphicData>
        </a:graphic>
      </p:graphicFrame>
      <p:sp>
        <p:nvSpPr>
          <p:cNvPr id="7" name="Text 4"/>
          <p:cNvSpPr txBox="1"/>
          <p:nvPr/>
        </p:nvSpPr>
        <p:spPr>
          <a:xfrm>
            <a:off x="548640" y="6126480"/>
            <a:ext cx="11064240" cy="274320"/>
          </a:xfrm>
          <a:prstGeom prst="rect">
            <a:avLst/>
          </a:prstGeom>
          <a:noFill/>
          <a:ln/>
        </p:spPr>
        <p:txBody>
          <a:bodyPr wrap="square" lIns="0" tIns="0" rIns="0" bIns="0" rtlCol="0" anchor="t"/>
          <a:lstStyle/>
          <a:p>
            <a:pPr indent="0" marL="0">
              <a:buNone/>
            </a:pPr>
            <a:r>
              <a:rPr lang="en-US" sz="1100" i="1" dirty="0">
                <a:solidFill>
                  <a:srgbClr val="5F6F69"/>
                </a:solidFill>
                <a:latin typeface="Calibri" pitchFamily="34" charset="0"/>
                <a:ea typeface="Calibri" pitchFamily="34" charset="-122"/>
                <a:cs typeface="Calibri" pitchFamily="34" charset="-120"/>
              </a:rPr>
              <a:t>These are the points a technical reviewer or lender is most likely to challenge; the rest of this plan already reflects them.</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D9962B"/>
                </a:solidFill>
                <a:latin typeface="Calibri" pitchFamily="34" charset="0"/>
                <a:ea typeface="Calibri" pitchFamily="34" charset="-122"/>
                <a:cs typeface="Calibri" pitchFamily="34" charset="-120"/>
              </a:rPr>
              <a:t>06 · EXPERT DESIGN REVIEW</a:t>
            </a:r>
            <a:endParaRPr lang="en-US" sz="11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14302A"/>
                </a:solidFill>
                <a:latin typeface="Cambria" pitchFamily="34" charset="0"/>
                <a:ea typeface="Cambria" pitchFamily="34" charset="-122"/>
                <a:cs typeface="Cambria" pitchFamily="34" charset="-120"/>
              </a:rPr>
              <a:t>Space validation: the building must match the biology</a:t>
            </a:r>
            <a:endParaRPr lang="en-US" sz="30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900" dirty="0">
                <a:solidFill>
                  <a:srgbClr val="5F6F69"/>
                </a:solidFill>
                <a:latin typeface="Calibri" pitchFamily="34" charset="0"/>
                <a:ea typeface="Calibri" pitchFamily="34" charset="-122"/>
                <a:cs typeface="Calibri" pitchFamily="34" charset="-120"/>
              </a:rPr>
              <a:t>Lion's Mane Facility  ·  Hamirpur, HP  ·  Project Plan</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900" dirty="0">
                <a:solidFill>
                  <a:srgbClr val="5F6F69"/>
                </a:solidFill>
                <a:latin typeface="Calibri" pitchFamily="34" charset="0"/>
                <a:ea typeface="Calibri" pitchFamily="34" charset="-122"/>
                <a:cs typeface="Calibri" pitchFamily="34" charset="-120"/>
              </a:rPr>
              <a:t>18</a:t>
            </a:r>
            <a:endParaRPr lang="en-US" sz="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949440" cy="914400"/>
        </p:xfrm>
        <a:graphic>
          <a:graphicData uri="http://schemas.openxmlformats.org/drawingml/2006/table">
            <a:tbl>
              <a:tblPr/>
              <a:tblGrid>
                <a:gridCol w="2011680"/>
                <a:gridCol w="1463040"/>
                <a:gridCol w="1920240"/>
                <a:gridCol w="1554480"/>
              </a:tblGrid>
              <a:tr h="41148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Zone (sq ft)</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Current 2-storey</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Phase 1 · 750 sq ft</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Phase 2 · 90/day</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r>
              <a:tr h="411480">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0 · Bulk store</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Off-site (1 km)</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Off-site (1 km)</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Off-site (1 km)</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411480">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1 · Prep &amp; sterilization</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60</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90 + outdoor mixing shed</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120</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r>
              <a:tr h="411480">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2 · Anteroom + clean lab</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60</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70 (20 + 50)</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80</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411480">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3 · Incubation</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130</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160 (16 × 10)</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240</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r>
              <a:tr h="411480">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4 · Fruiting rooms</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250 (1 room)</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320 (2 × 16 × 10)</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480 (3 × 16 × 10)</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411480">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5 · Processing &amp; packing</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90</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120</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r>
              <a:tr h="411480">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QC · office · FG store</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40</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411480">
                <a:tc>
                  <a:txBody>
                    <a:bodyPr/>
                    <a:lstStyle/>
                    <a:p>
                      <a:pPr indent="0" marL="0">
                        <a:buNone/>
                      </a:pPr>
                      <a:r>
                        <a:rPr lang="en-US" sz="1150" b="1" dirty="0">
                          <a:solidFill>
                            <a:srgbClr val="1E2A26"/>
                          </a:solidFill>
                          <a:latin typeface="Calibri" pitchFamily="34" charset="0"/>
                          <a:ea typeface="Calibri" pitchFamily="34" charset="-122"/>
                          <a:cs typeface="Calibri" pitchFamily="34" charset="-120"/>
                        </a:rPr>
                        <a:t>On-site total</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150" b="1" dirty="0">
                          <a:solidFill>
                            <a:srgbClr val="1E2A26"/>
                          </a:solidFill>
                          <a:latin typeface="Calibri" pitchFamily="34" charset="0"/>
                          <a:ea typeface="Calibri" pitchFamily="34" charset="-122"/>
                          <a:cs typeface="Calibri" pitchFamily="34" charset="-120"/>
                        </a:rPr>
                        <a:t>~500</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150" b="1" dirty="0">
                          <a:solidFill>
                            <a:srgbClr val="1E2A26"/>
                          </a:solidFill>
                          <a:latin typeface="Calibri" pitchFamily="34" charset="0"/>
                          <a:ea typeface="Calibri" pitchFamily="34" charset="-122"/>
                          <a:cs typeface="Calibri" pitchFamily="34" charset="-120"/>
                        </a:rPr>
                        <a:t>750</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150" b="1" dirty="0">
                          <a:solidFill>
                            <a:srgbClr val="1E2A26"/>
                          </a:solidFill>
                          <a:latin typeface="Calibri" pitchFamily="34" charset="0"/>
                          <a:ea typeface="Calibri" pitchFamily="34" charset="-122"/>
                          <a:cs typeface="Calibri" pitchFamily="34" charset="-120"/>
                        </a:rPr>
                        <a:t>~1,080</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r>
              <a:tr h="41148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Blocks per day</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~45</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~60 (at limit)</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90</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r>
              <a:tr h="41148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Dry output, base case</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~2.7 kg/day</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~3.6 kg/day</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~5.4 kg/day</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r>
            </a:tbl>
          </a:graphicData>
        </a:graphic>
      </p:graphicFrame>
      <p:sp>
        <p:nvSpPr>
          <p:cNvPr id="7" name="Shape 4"/>
          <p:cNvSpPr/>
          <p:nvPr/>
        </p:nvSpPr>
        <p:spPr>
          <a:xfrm>
            <a:off x="7818120" y="1463040"/>
            <a:ext cx="3840480" cy="2377440"/>
          </a:xfrm>
          <a:prstGeom prst="roundRect">
            <a:avLst>
              <a:gd name="adj" fmla="val 3077"/>
            </a:avLst>
          </a:prstGeom>
          <a:solidFill>
            <a:srgbClr val="14302A"/>
          </a:solidFill>
          <a:ln w="9525">
            <a:solidFill>
              <a:srgbClr val="14302A"/>
            </a:solidFill>
            <a:prstDash val="solid"/>
          </a:ln>
        </p:spPr>
      </p:sp>
      <p:sp>
        <p:nvSpPr>
          <p:cNvPr id="8" name="Text 5"/>
          <p:cNvSpPr txBox="1"/>
          <p:nvPr/>
        </p:nvSpPr>
        <p:spPr>
          <a:xfrm>
            <a:off x="8046720" y="1600200"/>
            <a:ext cx="3474720" cy="320040"/>
          </a:xfrm>
          <a:prstGeom prst="rect">
            <a:avLst/>
          </a:prstGeom>
          <a:noFill/>
          <a:ln/>
        </p:spPr>
        <p:txBody>
          <a:bodyPr wrap="square" lIns="0" tIns="0" rIns="0" bIns="0" rtlCol="0" anchor="t"/>
          <a:lstStyle/>
          <a:p>
            <a:pPr indent="0" marL="0">
              <a:buNone/>
            </a:pPr>
            <a:r>
              <a:rPr lang="en-US" sz="1500" b="1" dirty="0">
                <a:solidFill>
                  <a:srgbClr val="D9962B"/>
                </a:solidFill>
                <a:latin typeface="Cambria" pitchFamily="34" charset="0"/>
                <a:ea typeface="Cambria" pitchFamily="34" charset="-122"/>
                <a:cs typeface="Cambria" pitchFamily="34" charset="-120"/>
              </a:rPr>
              <a:t>Finding</a:t>
            </a:r>
            <a:endParaRPr lang="en-US" sz="1500" dirty="0"/>
          </a:p>
        </p:txBody>
      </p:sp>
      <p:sp>
        <p:nvSpPr>
          <p:cNvPr id="9" name="Text 6"/>
          <p:cNvSpPr txBox="1"/>
          <p:nvPr/>
        </p:nvSpPr>
        <p:spPr>
          <a:xfrm>
            <a:off x="8046720" y="1965960"/>
            <a:ext cx="3429000" cy="17830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750 sq ft carries Phase 1 at ~60 blocks/day (~93 kg/month) only with every zone racked to the limits shown. 150 kg/month in this footprint needs ~100% BE; at base BE it needs ~1,080 sq ft.</a:t>
            </a:r>
            <a:endParaRPr lang="en-US" sz="1300" dirty="0"/>
          </a:p>
        </p:txBody>
      </p:sp>
      <p:sp>
        <p:nvSpPr>
          <p:cNvPr id="10" name="Shape 7"/>
          <p:cNvSpPr/>
          <p:nvPr/>
        </p:nvSpPr>
        <p:spPr>
          <a:xfrm>
            <a:off x="7818120" y="4023360"/>
            <a:ext cx="3840480" cy="2240280"/>
          </a:xfrm>
          <a:prstGeom prst="roundRect">
            <a:avLst>
              <a:gd name="adj" fmla="val 3265"/>
            </a:avLst>
          </a:prstGeom>
          <a:solidFill>
            <a:srgbClr val="FBF1DE"/>
          </a:solidFill>
          <a:ln w="9525">
            <a:solidFill>
              <a:srgbClr val="FBF1DE"/>
            </a:solidFill>
            <a:prstDash val="solid"/>
          </a:ln>
        </p:spPr>
      </p:sp>
      <p:sp>
        <p:nvSpPr>
          <p:cNvPr id="11" name="Text 8"/>
          <p:cNvSpPr txBox="1"/>
          <p:nvPr/>
        </p:nvSpPr>
        <p:spPr>
          <a:xfrm>
            <a:off x="8046720" y="4133088"/>
            <a:ext cx="3474720" cy="320040"/>
          </a:xfrm>
          <a:prstGeom prst="rect">
            <a:avLst/>
          </a:prstGeom>
          <a:noFill/>
          <a:ln/>
        </p:spPr>
        <p:txBody>
          <a:bodyPr wrap="square" lIns="0" tIns="0" rIns="0" bIns="0" rtlCol="0" anchor="t"/>
          <a:lstStyle/>
          <a:p>
            <a:pPr indent="0" marL="0">
              <a:buNone/>
            </a:pPr>
            <a:r>
              <a:rPr lang="en-US" sz="1500" b="1" dirty="0">
                <a:solidFill>
                  <a:srgbClr val="A36A12"/>
                </a:solidFill>
                <a:latin typeface="Cambria" pitchFamily="34" charset="0"/>
                <a:ea typeface="Cambria" pitchFamily="34" charset="-122"/>
                <a:cs typeface="Cambria" pitchFamily="34" charset="-120"/>
              </a:rPr>
              <a:t>Recommendation</a:t>
            </a:r>
            <a:endParaRPr lang="en-US" sz="1500" dirty="0"/>
          </a:p>
        </p:txBody>
      </p:sp>
      <p:sp>
        <p:nvSpPr>
          <p:cNvPr id="12" name="Text 9"/>
          <p:cNvSpPr txBox="1"/>
          <p:nvPr/>
        </p:nvSpPr>
        <p:spPr>
          <a:xfrm>
            <a:off x="8046720" y="4480560"/>
            <a:ext cx="3429000" cy="173736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Mix substrate in a covered outdoor shed, incubate spawn in the clean lab, and run fruiting rooms A/B at full rack height. Reserve adjacent land or a floor for the Phase 2 extension.</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D9962B"/>
                </a:solidFill>
                <a:latin typeface="Calibri" pitchFamily="34" charset="0"/>
                <a:ea typeface="Calibri" pitchFamily="34" charset="-122"/>
                <a:cs typeface="Calibri" pitchFamily="34" charset="-120"/>
              </a:rPr>
              <a:t>07 · PROCESSING</a:t>
            </a:r>
            <a:endParaRPr lang="en-US" sz="11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14302A"/>
                </a:solidFill>
                <a:latin typeface="Cambria" pitchFamily="34" charset="0"/>
                <a:ea typeface="Cambria" pitchFamily="34" charset="-122"/>
                <a:cs typeface="Cambria" pitchFamily="34" charset="-120"/>
              </a:rPr>
              <a:t>Post-harvest: from fresh fruit body to stable powder in 24 hours</a:t>
            </a:r>
            <a:endParaRPr lang="en-US" sz="30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900" dirty="0">
                <a:solidFill>
                  <a:srgbClr val="5F6F69"/>
                </a:solidFill>
                <a:latin typeface="Calibri" pitchFamily="34" charset="0"/>
                <a:ea typeface="Calibri" pitchFamily="34" charset="-122"/>
                <a:cs typeface="Calibri" pitchFamily="34" charset="-120"/>
              </a:rPr>
              <a:t>Lion's Mane Facility  ·  Hamirpur, HP  ·  Project Plan</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900" dirty="0">
                <a:solidFill>
                  <a:srgbClr val="5F6F69"/>
                </a:solidFill>
                <a:latin typeface="Calibri" pitchFamily="34" charset="0"/>
                <a:ea typeface="Calibri" pitchFamily="34" charset="-122"/>
                <a:cs typeface="Calibri" pitchFamily="34" charset="-120"/>
              </a:rPr>
              <a:t>19</a:t>
            </a:r>
            <a:endParaRPr lang="en-US" sz="900" dirty="0"/>
          </a:p>
        </p:txBody>
      </p:sp>
      <p:sp>
        <p:nvSpPr>
          <p:cNvPr id="6" name="Shape 4"/>
          <p:cNvSpPr/>
          <p:nvPr/>
        </p:nvSpPr>
        <p:spPr>
          <a:xfrm>
            <a:off x="548640" y="1508760"/>
            <a:ext cx="1444752" cy="2240280"/>
          </a:xfrm>
          <a:prstGeom prst="roundRect">
            <a:avLst>
              <a:gd name="adj" fmla="val 5063"/>
            </a:avLst>
          </a:prstGeom>
          <a:solidFill>
            <a:srgbClr val="EEF4F0"/>
          </a:solidFill>
          <a:ln w="9525">
            <a:solidFill>
              <a:srgbClr val="EEF4F0"/>
            </a:solidFill>
            <a:prstDash val="solid"/>
          </a:ln>
        </p:spPr>
      </p:sp>
      <p:sp>
        <p:nvSpPr>
          <p:cNvPr id="7" name="Text 5"/>
          <p:cNvSpPr txBox="1"/>
          <p:nvPr/>
        </p:nvSpPr>
        <p:spPr>
          <a:xfrm>
            <a:off x="685800" y="1600200"/>
            <a:ext cx="457200" cy="457200"/>
          </a:xfrm>
          <a:prstGeom prst="rect">
            <a:avLst/>
          </a:prstGeom>
          <a:noFill/>
          <a:ln/>
        </p:spPr>
        <p:txBody>
          <a:bodyPr wrap="square" lIns="0" tIns="0" rIns="0" bIns="0" rtlCol="0" anchor="t"/>
          <a:lstStyle/>
          <a:p>
            <a:pPr indent="0" marL="0">
              <a:buNone/>
            </a:pPr>
            <a:r>
              <a:rPr lang="en-US" sz="2400" b="1" dirty="0">
                <a:solidFill>
                  <a:srgbClr val="2E5E4E"/>
                </a:solidFill>
                <a:latin typeface="Cambria" pitchFamily="34" charset="0"/>
                <a:ea typeface="Cambria" pitchFamily="34" charset="-122"/>
                <a:cs typeface="Cambria" pitchFamily="34" charset="-120"/>
              </a:rPr>
              <a:t>1</a:t>
            </a:r>
            <a:endParaRPr lang="en-US" sz="2400" dirty="0"/>
          </a:p>
        </p:txBody>
      </p:sp>
      <p:sp>
        <p:nvSpPr>
          <p:cNvPr id="8" name="Text 6"/>
          <p:cNvSpPr txBox="1"/>
          <p:nvPr/>
        </p:nvSpPr>
        <p:spPr>
          <a:xfrm>
            <a:off x="685800" y="2057400"/>
            <a:ext cx="1170432" cy="365760"/>
          </a:xfrm>
          <a:prstGeom prst="rect">
            <a:avLst/>
          </a:prstGeom>
          <a:noFill/>
          <a:ln/>
        </p:spPr>
        <p:txBody>
          <a:bodyPr wrap="square" lIns="0" tIns="0" rIns="0" bIns="0" rtlCol="0" anchor="t"/>
          <a:lstStyle/>
          <a:p>
            <a:pPr indent="0" marL="0">
              <a:buNone/>
            </a:pPr>
            <a:r>
              <a:rPr lang="en-US" sz="1400" b="1" dirty="0">
                <a:solidFill>
                  <a:srgbClr val="14302A"/>
                </a:solidFill>
                <a:latin typeface="Cambria" pitchFamily="34" charset="0"/>
                <a:ea typeface="Cambria" pitchFamily="34" charset="-122"/>
                <a:cs typeface="Cambria" pitchFamily="34" charset="-120"/>
              </a:rPr>
              <a:t>Harvest</a:t>
            </a:r>
            <a:endParaRPr lang="en-US" sz="1400" dirty="0"/>
          </a:p>
        </p:txBody>
      </p:sp>
      <p:sp>
        <p:nvSpPr>
          <p:cNvPr id="9" name="Text 7"/>
          <p:cNvSpPr txBox="1"/>
          <p:nvPr/>
        </p:nvSpPr>
        <p:spPr>
          <a:xfrm>
            <a:off x="685800" y="2450592"/>
            <a:ext cx="1197864" cy="1234440"/>
          </a:xfrm>
          <a:prstGeom prst="rect">
            <a:avLst/>
          </a:prstGeom>
          <a:noFill/>
          <a:ln/>
        </p:spPr>
        <p:txBody>
          <a:bodyPr wrap="square" lIns="0" tIns="0" rIns="0" bIns="0" rtlCol="0" anchor="t"/>
          <a:lstStyle/>
          <a:p>
            <a:pPr indent="0" marL="0">
              <a:buNone/>
            </a:pPr>
            <a:r>
              <a:rPr lang="en-US" sz="1150" dirty="0">
                <a:solidFill>
                  <a:srgbClr val="1E2A26"/>
                </a:solidFill>
                <a:latin typeface="Calibri" pitchFamily="34" charset="0"/>
                <a:ea typeface="Calibri" pitchFamily="34" charset="-122"/>
                <a:cs typeface="Calibri" pitchFamily="34" charset="-120"/>
              </a:rPr>
              <a:t>Spines 0.5–1 cm, white; cut at base with a clean knife</a:t>
            </a:r>
            <a:endParaRPr lang="en-US" sz="1150" dirty="0"/>
          </a:p>
        </p:txBody>
      </p:sp>
      <p:sp>
        <p:nvSpPr>
          <p:cNvPr id="10" name="Shape 8"/>
          <p:cNvSpPr/>
          <p:nvPr/>
        </p:nvSpPr>
        <p:spPr>
          <a:xfrm>
            <a:off x="2148840" y="1508760"/>
            <a:ext cx="1444752" cy="2240280"/>
          </a:xfrm>
          <a:prstGeom prst="roundRect">
            <a:avLst>
              <a:gd name="adj" fmla="val 5063"/>
            </a:avLst>
          </a:prstGeom>
          <a:solidFill>
            <a:srgbClr val="EEF4F0"/>
          </a:solidFill>
          <a:ln w="9525">
            <a:solidFill>
              <a:srgbClr val="EEF4F0"/>
            </a:solidFill>
            <a:prstDash val="solid"/>
          </a:ln>
        </p:spPr>
      </p:sp>
      <p:sp>
        <p:nvSpPr>
          <p:cNvPr id="11" name="Text 9"/>
          <p:cNvSpPr txBox="1"/>
          <p:nvPr/>
        </p:nvSpPr>
        <p:spPr>
          <a:xfrm>
            <a:off x="2286000" y="1600200"/>
            <a:ext cx="457200" cy="457200"/>
          </a:xfrm>
          <a:prstGeom prst="rect">
            <a:avLst/>
          </a:prstGeom>
          <a:noFill/>
          <a:ln/>
        </p:spPr>
        <p:txBody>
          <a:bodyPr wrap="square" lIns="0" tIns="0" rIns="0" bIns="0" rtlCol="0" anchor="t"/>
          <a:lstStyle/>
          <a:p>
            <a:pPr indent="0" marL="0">
              <a:buNone/>
            </a:pPr>
            <a:r>
              <a:rPr lang="en-US" sz="2400" b="1" dirty="0">
                <a:solidFill>
                  <a:srgbClr val="2E5E4E"/>
                </a:solidFill>
                <a:latin typeface="Cambria" pitchFamily="34" charset="0"/>
                <a:ea typeface="Cambria" pitchFamily="34" charset="-122"/>
                <a:cs typeface="Cambria" pitchFamily="34" charset="-120"/>
              </a:rPr>
              <a:t>2</a:t>
            </a:r>
            <a:endParaRPr lang="en-US" sz="2400" dirty="0"/>
          </a:p>
        </p:txBody>
      </p:sp>
      <p:sp>
        <p:nvSpPr>
          <p:cNvPr id="12" name="Text 10"/>
          <p:cNvSpPr txBox="1"/>
          <p:nvPr/>
        </p:nvSpPr>
        <p:spPr>
          <a:xfrm>
            <a:off x="2286000" y="2057400"/>
            <a:ext cx="1170432" cy="365760"/>
          </a:xfrm>
          <a:prstGeom prst="rect">
            <a:avLst/>
          </a:prstGeom>
          <a:noFill/>
          <a:ln/>
        </p:spPr>
        <p:txBody>
          <a:bodyPr wrap="square" lIns="0" tIns="0" rIns="0" bIns="0" rtlCol="0" anchor="t"/>
          <a:lstStyle/>
          <a:p>
            <a:pPr indent="0" marL="0">
              <a:buNone/>
            </a:pPr>
            <a:r>
              <a:rPr lang="en-US" sz="1400" b="1" dirty="0">
                <a:solidFill>
                  <a:srgbClr val="14302A"/>
                </a:solidFill>
                <a:latin typeface="Cambria" pitchFamily="34" charset="0"/>
                <a:ea typeface="Cambria" pitchFamily="34" charset="-122"/>
                <a:cs typeface="Cambria" pitchFamily="34" charset="-120"/>
              </a:rPr>
              <a:t>Hold</a:t>
            </a:r>
            <a:endParaRPr lang="en-US" sz="1400" dirty="0"/>
          </a:p>
        </p:txBody>
      </p:sp>
      <p:sp>
        <p:nvSpPr>
          <p:cNvPr id="13" name="Text 11"/>
          <p:cNvSpPr txBox="1"/>
          <p:nvPr/>
        </p:nvSpPr>
        <p:spPr>
          <a:xfrm>
            <a:off x="2286000" y="2450592"/>
            <a:ext cx="1197864" cy="1234440"/>
          </a:xfrm>
          <a:prstGeom prst="rect">
            <a:avLst/>
          </a:prstGeom>
          <a:noFill/>
          <a:ln/>
        </p:spPr>
        <p:txBody>
          <a:bodyPr wrap="square" lIns="0" tIns="0" rIns="0" bIns="0" rtlCol="0" anchor="t"/>
          <a:lstStyle/>
          <a:p>
            <a:pPr indent="0" marL="0">
              <a:buNone/>
            </a:pPr>
            <a:r>
              <a:rPr lang="en-US" sz="1150" dirty="0">
                <a:solidFill>
                  <a:srgbClr val="1E2A26"/>
                </a:solidFill>
                <a:latin typeface="Calibri" pitchFamily="34" charset="0"/>
                <a:ea typeface="Calibri" pitchFamily="34" charset="-122"/>
                <a:cs typeface="Calibri" pitchFamily="34" charset="-120"/>
              </a:rPr>
              <a:t>&lt;4 h in single-layer vented crates; 2–4°C if delayed</a:t>
            </a:r>
            <a:endParaRPr lang="en-US" sz="1150" dirty="0"/>
          </a:p>
        </p:txBody>
      </p:sp>
      <p:sp>
        <p:nvSpPr>
          <p:cNvPr id="14" name="Shape 12"/>
          <p:cNvSpPr/>
          <p:nvPr/>
        </p:nvSpPr>
        <p:spPr>
          <a:xfrm>
            <a:off x="3749040" y="1508760"/>
            <a:ext cx="1444752" cy="2240280"/>
          </a:xfrm>
          <a:prstGeom prst="roundRect">
            <a:avLst>
              <a:gd name="adj" fmla="val 5063"/>
            </a:avLst>
          </a:prstGeom>
          <a:solidFill>
            <a:srgbClr val="EEF4F0"/>
          </a:solidFill>
          <a:ln w="9525">
            <a:solidFill>
              <a:srgbClr val="EEF4F0"/>
            </a:solidFill>
            <a:prstDash val="solid"/>
          </a:ln>
        </p:spPr>
      </p:sp>
      <p:sp>
        <p:nvSpPr>
          <p:cNvPr id="15" name="Text 13"/>
          <p:cNvSpPr txBox="1"/>
          <p:nvPr/>
        </p:nvSpPr>
        <p:spPr>
          <a:xfrm>
            <a:off x="3886200" y="1600200"/>
            <a:ext cx="457200" cy="457200"/>
          </a:xfrm>
          <a:prstGeom prst="rect">
            <a:avLst/>
          </a:prstGeom>
          <a:noFill/>
          <a:ln/>
        </p:spPr>
        <p:txBody>
          <a:bodyPr wrap="square" lIns="0" tIns="0" rIns="0" bIns="0" rtlCol="0" anchor="t"/>
          <a:lstStyle/>
          <a:p>
            <a:pPr indent="0" marL="0">
              <a:buNone/>
            </a:pPr>
            <a:r>
              <a:rPr lang="en-US" sz="2400" b="1" dirty="0">
                <a:solidFill>
                  <a:srgbClr val="2E5E4E"/>
                </a:solidFill>
                <a:latin typeface="Cambria" pitchFamily="34" charset="0"/>
                <a:ea typeface="Cambria" pitchFamily="34" charset="-122"/>
                <a:cs typeface="Cambria" pitchFamily="34" charset="-120"/>
              </a:rPr>
              <a:t>3</a:t>
            </a:r>
            <a:endParaRPr lang="en-US" sz="2400" dirty="0"/>
          </a:p>
        </p:txBody>
      </p:sp>
      <p:sp>
        <p:nvSpPr>
          <p:cNvPr id="16" name="Text 14"/>
          <p:cNvSpPr txBox="1"/>
          <p:nvPr/>
        </p:nvSpPr>
        <p:spPr>
          <a:xfrm>
            <a:off x="3886200" y="2057400"/>
            <a:ext cx="1170432" cy="365760"/>
          </a:xfrm>
          <a:prstGeom prst="rect">
            <a:avLst/>
          </a:prstGeom>
          <a:noFill/>
          <a:ln/>
        </p:spPr>
        <p:txBody>
          <a:bodyPr wrap="square" lIns="0" tIns="0" rIns="0" bIns="0" rtlCol="0" anchor="t"/>
          <a:lstStyle/>
          <a:p>
            <a:pPr indent="0" marL="0">
              <a:buNone/>
            </a:pPr>
            <a:r>
              <a:rPr lang="en-US" sz="1400" b="1" dirty="0">
                <a:solidFill>
                  <a:srgbClr val="14302A"/>
                </a:solidFill>
                <a:latin typeface="Cambria" pitchFamily="34" charset="0"/>
                <a:ea typeface="Cambria" pitchFamily="34" charset="-122"/>
                <a:cs typeface="Cambria" pitchFamily="34" charset="-120"/>
              </a:rPr>
              <a:t>Slice</a:t>
            </a:r>
            <a:endParaRPr lang="en-US" sz="1400" dirty="0"/>
          </a:p>
        </p:txBody>
      </p:sp>
      <p:sp>
        <p:nvSpPr>
          <p:cNvPr id="17" name="Text 15"/>
          <p:cNvSpPr txBox="1"/>
          <p:nvPr/>
        </p:nvSpPr>
        <p:spPr>
          <a:xfrm>
            <a:off x="3886200" y="2450592"/>
            <a:ext cx="1197864" cy="1234440"/>
          </a:xfrm>
          <a:prstGeom prst="rect">
            <a:avLst/>
          </a:prstGeom>
          <a:noFill/>
          <a:ln/>
        </p:spPr>
        <p:txBody>
          <a:bodyPr wrap="square" lIns="0" tIns="0" rIns="0" bIns="0" rtlCol="0" anchor="t"/>
          <a:lstStyle/>
          <a:p>
            <a:pPr indent="0" marL="0">
              <a:buNone/>
            </a:pPr>
            <a:r>
              <a:rPr lang="en-US" sz="1150" dirty="0">
                <a:solidFill>
                  <a:srgbClr val="1E2A26"/>
                </a:solidFill>
                <a:latin typeface="Calibri" pitchFamily="34" charset="0"/>
                <a:ea typeface="Calibri" pitchFamily="34" charset="-122"/>
                <a:cs typeface="Calibri" pitchFamily="34" charset="-120"/>
              </a:rPr>
              <a:t>8–10 mm on electric slicer for even drying</a:t>
            </a:r>
            <a:endParaRPr lang="en-US" sz="1150" dirty="0"/>
          </a:p>
        </p:txBody>
      </p:sp>
      <p:sp>
        <p:nvSpPr>
          <p:cNvPr id="18" name="Shape 16"/>
          <p:cNvSpPr/>
          <p:nvPr/>
        </p:nvSpPr>
        <p:spPr>
          <a:xfrm>
            <a:off x="5349240" y="1508760"/>
            <a:ext cx="1444752" cy="2240280"/>
          </a:xfrm>
          <a:prstGeom prst="roundRect">
            <a:avLst>
              <a:gd name="adj" fmla="val 5063"/>
            </a:avLst>
          </a:prstGeom>
          <a:solidFill>
            <a:srgbClr val="14302A"/>
          </a:solidFill>
          <a:ln w="9525">
            <a:solidFill>
              <a:srgbClr val="14302A"/>
            </a:solidFill>
            <a:prstDash val="solid"/>
          </a:ln>
        </p:spPr>
      </p:sp>
      <p:sp>
        <p:nvSpPr>
          <p:cNvPr id="19" name="Text 17"/>
          <p:cNvSpPr txBox="1"/>
          <p:nvPr/>
        </p:nvSpPr>
        <p:spPr>
          <a:xfrm>
            <a:off x="5486400" y="1600200"/>
            <a:ext cx="457200" cy="457200"/>
          </a:xfrm>
          <a:prstGeom prst="rect">
            <a:avLst/>
          </a:prstGeom>
          <a:noFill/>
          <a:ln/>
        </p:spPr>
        <p:txBody>
          <a:bodyPr wrap="square" lIns="0" tIns="0" rIns="0" bIns="0" rtlCol="0" anchor="t"/>
          <a:lstStyle/>
          <a:p>
            <a:pPr indent="0" marL="0">
              <a:buNone/>
            </a:pPr>
            <a:r>
              <a:rPr lang="en-US" sz="2400" b="1" dirty="0">
                <a:solidFill>
                  <a:srgbClr val="D9962B"/>
                </a:solidFill>
                <a:latin typeface="Cambria" pitchFamily="34" charset="0"/>
                <a:ea typeface="Cambria" pitchFamily="34" charset="-122"/>
                <a:cs typeface="Cambria" pitchFamily="34" charset="-120"/>
              </a:rPr>
              <a:t>4</a:t>
            </a:r>
            <a:endParaRPr lang="en-US" sz="2400" dirty="0"/>
          </a:p>
        </p:txBody>
      </p:sp>
      <p:sp>
        <p:nvSpPr>
          <p:cNvPr id="20" name="Text 18"/>
          <p:cNvSpPr txBox="1"/>
          <p:nvPr/>
        </p:nvSpPr>
        <p:spPr>
          <a:xfrm>
            <a:off x="5486400" y="2057400"/>
            <a:ext cx="1170432" cy="365760"/>
          </a:xfrm>
          <a:prstGeom prst="rect">
            <a:avLst/>
          </a:prstGeom>
          <a:noFill/>
          <a:ln/>
        </p:spPr>
        <p:txBody>
          <a:bodyPr wrap="square" lIns="0" tIns="0" rIns="0" bIns="0"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Dehydrate</a:t>
            </a:r>
            <a:endParaRPr lang="en-US" sz="1400" dirty="0"/>
          </a:p>
        </p:txBody>
      </p:sp>
      <p:sp>
        <p:nvSpPr>
          <p:cNvPr id="21" name="Text 19"/>
          <p:cNvSpPr txBox="1"/>
          <p:nvPr/>
        </p:nvSpPr>
        <p:spPr>
          <a:xfrm>
            <a:off x="5486400" y="2450592"/>
            <a:ext cx="1197864" cy="123444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45–50°C for 10–16 h to protect heat-labile actives</a:t>
            </a:r>
            <a:endParaRPr lang="en-US" sz="1150" dirty="0"/>
          </a:p>
        </p:txBody>
      </p:sp>
      <p:sp>
        <p:nvSpPr>
          <p:cNvPr id="22" name="Shape 20"/>
          <p:cNvSpPr/>
          <p:nvPr/>
        </p:nvSpPr>
        <p:spPr>
          <a:xfrm>
            <a:off x="6949440" y="1508760"/>
            <a:ext cx="1444752" cy="2240280"/>
          </a:xfrm>
          <a:prstGeom prst="roundRect">
            <a:avLst>
              <a:gd name="adj" fmla="val 5063"/>
            </a:avLst>
          </a:prstGeom>
          <a:solidFill>
            <a:srgbClr val="EEF4F0"/>
          </a:solidFill>
          <a:ln w="9525">
            <a:solidFill>
              <a:srgbClr val="EEF4F0"/>
            </a:solidFill>
            <a:prstDash val="solid"/>
          </a:ln>
        </p:spPr>
      </p:sp>
      <p:sp>
        <p:nvSpPr>
          <p:cNvPr id="23" name="Text 21"/>
          <p:cNvSpPr txBox="1"/>
          <p:nvPr/>
        </p:nvSpPr>
        <p:spPr>
          <a:xfrm>
            <a:off x="7086600" y="1600200"/>
            <a:ext cx="457200" cy="457200"/>
          </a:xfrm>
          <a:prstGeom prst="rect">
            <a:avLst/>
          </a:prstGeom>
          <a:noFill/>
          <a:ln/>
        </p:spPr>
        <p:txBody>
          <a:bodyPr wrap="square" lIns="0" tIns="0" rIns="0" bIns="0" rtlCol="0" anchor="t"/>
          <a:lstStyle/>
          <a:p>
            <a:pPr indent="0" marL="0">
              <a:buNone/>
            </a:pPr>
            <a:r>
              <a:rPr lang="en-US" sz="2400" b="1" dirty="0">
                <a:solidFill>
                  <a:srgbClr val="2E5E4E"/>
                </a:solidFill>
                <a:latin typeface="Cambria" pitchFamily="34" charset="0"/>
                <a:ea typeface="Cambria" pitchFamily="34" charset="-122"/>
                <a:cs typeface="Cambria" pitchFamily="34" charset="-120"/>
              </a:rPr>
              <a:t>5</a:t>
            </a:r>
            <a:endParaRPr lang="en-US" sz="2400" dirty="0"/>
          </a:p>
        </p:txBody>
      </p:sp>
      <p:sp>
        <p:nvSpPr>
          <p:cNvPr id="24" name="Text 22"/>
          <p:cNvSpPr txBox="1"/>
          <p:nvPr/>
        </p:nvSpPr>
        <p:spPr>
          <a:xfrm>
            <a:off x="7086600" y="2057400"/>
            <a:ext cx="1170432" cy="365760"/>
          </a:xfrm>
          <a:prstGeom prst="rect">
            <a:avLst/>
          </a:prstGeom>
          <a:noFill/>
          <a:ln/>
        </p:spPr>
        <p:txBody>
          <a:bodyPr wrap="square" lIns="0" tIns="0" rIns="0" bIns="0" rtlCol="0" anchor="t"/>
          <a:lstStyle/>
          <a:p>
            <a:pPr indent="0" marL="0">
              <a:buNone/>
            </a:pPr>
            <a:r>
              <a:rPr lang="en-US" sz="1400" b="1" dirty="0">
                <a:solidFill>
                  <a:srgbClr val="14302A"/>
                </a:solidFill>
                <a:latin typeface="Cambria" pitchFamily="34" charset="0"/>
                <a:ea typeface="Cambria" pitchFamily="34" charset="-122"/>
                <a:cs typeface="Cambria" pitchFamily="34" charset="-120"/>
              </a:rPr>
              <a:t>Verify</a:t>
            </a:r>
            <a:endParaRPr lang="en-US" sz="1400" dirty="0"/>
          </a:p>
        </p:txBody>
      </p:sp>
      <p:sp>
        <p:nvSpPr>
          <p:cNvPr id="25" name="Text 23"/>
          <p:cNvSpPr txBox="1"/>
          <p:nvPr/>
        </p:nvSpPr>
        <p:spPr>
          <a:xfrm>
            <a:off x="7086600" y="2450592"/>
            <a:ext cx="1197864" cy="1234440"/>
          </a:xfrm>
          <a:prstGeom prst="rect">
            <a:avLst/>
          </a:prstGeom>
          <a:noFill/>
          <a:ln/>
        </p:spPr>
        <p:txBody>
          <a:bodyPr wrap="square" lIns="0" tIns="0" rIns="0" bIns="0" rtlCol="0" anchor="t"/>
          <a:lstStyle/>
          <a:p>
            <a:pPr indent="0" marL="0">
              <a:buNone/>
            </a:pPr>
            <a:r>
              <a:rPr lang="en-US" sz="1150" dirty="0">
                <a:solidFill>
                  <a:srgbClr val="1E2A26"/>
                </a:solidFill>
                <a:latin typeface="Calibri" pitchFamily="34" charset="0"/>
                <a:ea typeface="Calibri" pitchFamily="34" charset="-122"/>
                <a:cs typeface="Calibri" pitchFamily="34" charset="-120"/>
              </a:rPr>
              <a:t>Moisture ≤8%, aw ≤0.60; pieces snap cleanly</a:t>
            </a:r>
            <a:endParaRPr lang="en-US" sz="1150" dirty="0"/>
          </a:p>
        </p:txBody>
      </p:sp>
      <p:sp>
        <p:nvSpPr>
          <p:cNvPr id="26" name="Shape 24"/>
          <p:cNvSpPr/>
          <p:nvPr/>
        </p:nvSpPr>
        <p:spPr>
          <a:xfrm>
            <a:off x="8549640" y="1508760"/>
            <a:ext cx="1444752" cy="2240280"/>
          </a:xfrm>
          <a:prstGeom prst="roundRect">
            <a:avLst>
              <a:gd name="adj" fmla="val 5063"/>
            </a:avLst>
          </a:prstGeom>
          <a:solidFill>
            <a:srgbClr val="EEF4F0"/>
          </a:solidFill>
          <a:ln w="9525">
            <a:solidFill>
              <a:srgbClr val="EEF4F0"/>
            </a:solidFill>
            <a:prstDash val="solid"/>
          </a:ln>
        </p:spPr>
      </p:sp>
      <p:sp>
        <p:nvSpPr>
          <p:cNvPr id="27" name="Text 25"/>
          <p:cNvSpPr txBox="1"/>
          <p:nvPr/>
        </p:nvSpPr>
        <p:spPr>
          <a:xfrm>
            <a:off x="8686800" y="1600200"/>
            <a:ext cx="457200" cy="457200"/>
          </a:xfrm>
          <a:prstGeom prst="rect">
            <a:avLst/>
          </a:prstGeom>
          <a:noFill/>
          <a:ln/>
        </p:spPr>
        <p:txBody>
          <a:bodyPr wrap="square" lIns="0" tIns="0" rIns="0" bIns="0" rtlCol="0" anchor="t"/>
          <a:lstStyle/>
          <a:p>
            <a:pPr indent="0" marL="0">
              <a:buNone/>
            </a:pPr>
            <a:r>
              <a:rPr lang="en-US" sz="2400" b="1" dirty="0">
                <a:solidFill>
                  <a:srgbClr val="2E5E4E"/>
                </a:solidFill>
                <a:latin typeface="Cambria" pitchFamily="34" charset="0"/>
                <a:ea typeface="Cambria" pitchFamily="34" charset="-122"/>
                <a:cs typeface="Cambria" pitchFamily="34" charset="-120"/>
              </a:rPr>
              <a:t>6</a:t>
            </a:r>
            <a:endParaRPr lang="en-US" sz="2400" dirty="0"/>
          </a:p>
        </p:txBody>
      </p:sp>
      <p:sp>
        <p:nvSpPr>
          <p:cNvPr id="28" name="Text 26"/>
          <p:cNvSpPr txBox="1"/>
          <p:nvPr/>
        </p:nvSpPr>
        <p:spPr>
          <a:xfrm>
            <a:off x="8686800" y="2057400"/>
            <a:ext cx="1170432" cy="365760"/>
          </a:xfrm>
          <a:prstGeom prst="rect">
            <a:avLst/>
          </a:prstGeom>
          <a:noFill/>
          <a:ln/>
        </p:spPr>
        <p:txBody>
          <a:bodyPr wrap="square" lIns="0" tIns="0" rIns="0" bIns="0" rtlCol="0" anchor="t"/>
          <a:lstStyle/>
          <a:p>
            <a:pPr indent="0" marL="0">
              <a:buNone/>
            </a:pPr>
            <a:r>
              <a:rPr lang="en-US" sz="1400" b="1" dirty="0">
                <a:solidFill>
                  <a:srgbClr val="14302A"/>
                </a:solidFill>
                <a:latin typeface="Cambria" pitchFamily="34" charset="0"/>
                <a:ea typeface="Cambria" pitchFamily="34" charset="-122"/>
                <a:cs typeface="Cambria" pitchFamily="34" charset="-120"/>
              </a:rPr>
              <a:t>Mill &amp; sieve</a:t>
            </a:r>
            <a:endParaRPr lang="en-US" sz="1400" dirty="0"/>
          </a:p>
        </p:txBody>
      </p:sp>
      <p:sp>
        <p:nvSpPr>
          <p:cNvPr id="29" name="Text 27"/>
          <p:cNvSpPr txBox="1"/>
          <p:nvPr/>
        </p:nvSpPr>
        <p:spPr>
          <a:xfrm>
            <a:off x="8686800" y="2450592"/>
            <a:ext cx="1197864" cy="1234440"/>
          </a:xfrm>
          <a:prstGeom prst="rect">
            <a:avLst/>
          </a:prstGeom>
          <a:noFill/>
          <a:ln/>
        </p:spPr>
        <p:txBody>
          <a:bodyPr wrap="square" lIns="0" tIns="0" rIns="0" bIns="0" rtlCol="0" anchor="t"/>
          <a:lstStyle/>
          <a:p>
            <a:pPr indent="0" marL="0">
              <a:buNone/>
            </a:pPr>
            <a:r>
              <a:rPr lang="en-US" sz="1150" dirty="0">
                <a:solidFill>
                  <a:srgbClr val="1E2A26"/>
                </a:solidFill>
                <a:latin typeface="Calibri" pitchFamily="34" charset="0"/>
                <a:ea typeface="Calibri" pitchFamily="34" charset="-122"/>
                <a:cs typeface="Calibri" pitchFamily="34" charset="-120"/>
              </a:rPr>
              <a:t>3 HP pulverizer; 80–100 mesh; magnet trap</a:t>
            </a:r>
            <a:endParaRPr lang="en-US" sz="1150" dirty="0"/>
          </a:p>
        </p:txBody>
      </p:sp>
      <p:sp>
        <p:nvSpPr>
          <p:cNvPr id="30" name="Shape 28"/>
          <p:cNvSpPr/>
          <p:nvPr/>
        </p:nvSpPr>
        <p:spPr>
          <a:xfrm>
            <a:off x="10149840" y="1508760"/>
            <a:ext cx="1444752" cy="2240280"/>
          </a:xfrm>
          <a:prstGeom prst="roundRect">
            <a:avLst>
              <a:gd name="adj" fmla="val 5063"/>
            </a:avLst>
          </a:prstGeom>
          <a:solidFill>
            <a:srgbClr val="EEF4F0"/>
          </a:solidFill>
          <a:ln w="9525">
            <a:solidFill>
              <a:srgbClr val="EEF4F0"/>
            </a:solidFill>
            <a:prstDash val="solid"/>
          </a:ln>
        </p:spPr>
      </p:sp>
      <p:sp>
        <p:nvSpPr>
          <p:cNvPr id="31" name="Text 29"/>
          <p:cNvSpPr txBox="1"/>
          <p:nvPr/>
        </p:nvSpPr>
        <p:spPr>
          <a:xfrm>
            <a:off x="10287000" y="1600200"/>
            <a:ext cx="457200" cy="457200"/>
          </a:xfrm>
          <a:prstGeom prst="rect">
            <a:avLst/>
          </a:prstGeom>
          <a:noFill/>
          <a:ln/>
        </p:spPr>
        <p:txBody>
          <a:bodyPr wrap="square" lIns="0" tIns="0" rIns="0" bIns="0" rtlCol="0" anchor="t"/>
          <a:lstStyle/>
          <a:p>
            <a:pPr indent="0" marL="0">
              <a:buNone/>
            </a:pPr>
            <a:r>
              <a:rPr lang="en-US" sz="2400" b="1" dirty="0">
                <a:solidFill>
                  <a:srgbClr val="2E5E4E"/>
                </a:solidFill>
                <a:latin typeface="Cambria" pitchFamily="34" charset="0"/>
                <a:ea typeface="Cambria" pitchFamily="34" charset="-122"/>
                <a:cs typeface="Cambria" pitchFamily="34" charset="-120"/>
              </a:rPr>
              <a:t>7</a:t>
            </a:r>
            <a:endParaRPr lang="en-US" sz="2400" dirty="0"/>
          </a:p>
        </p:txBody>
      </p:sp>
      <p:sp>
        <p:nvSpPr>
          <p:cNvPr id="32" name="Text 30"/>
          <p:cNvSpPr txBox="1"/>
          <p:nvPr/>
        </p:nvSpPr>
        <p:spPr>
          <a:xfrm>
            <a:off x="10287000" y="2057400"/>
            <a:ext cx="1170432" cy="365760"/>
          </a:xfrm>
          <a:prstGeom prst="rect">
            <a:avLst/>
          </a:prstGeom>
          <a:noFill/>
          <a:ln/>
        </p:spPr>
        <p:txBody>
          <a:bodyPr wrap="square" lIns="0" tIns="0" rIns="0" bIns="0" rtlCol="0" anchor="t"/>
          <a:lstStyle/>
          <a:p>
            <a:pPr indent="0" marL="0">
              <a:buNone/>
            </a:pPr>
            <a:r>
              <a:rPr lang="en-US" sz="1400" b="1" dirty="0">
                <a:solidFill>
                  <a:srgbClr val="14302A"/>
                </a:solidFill>
                <a:latin typeface="Cambria" pitchFamily="34" charset="0"/>
                <a:ea typeface="Cambria" pitchFamily="34" charset="-122"/>
                <a:cs typeface="Cambria" pitchFamily="34" charset="-120"/>
              </a:rPr>
              <a:t>Pack &amp; code</a:t>
            </a:r>
            <a:endParaRPr lang="en-US" sz="1400" dirty="0"/>
          </a:p>
        </p:txBody>
      </p:sp>
      <p:sp>
        <p:nvSpPr>
          <p:cNvPr id="33" name="Text 31"/>
          <p:cNvSpPr txBox="1"/>
          <p:nvPr/>
        </p:nvSpPr>
        <p:spPr>
          <a:xfrm>
            <a:off x="10287000" y="2450592"/>
            <a:ext cx="1197864" cy="1234440"/>
          </a:xfrm>
          <a:prstGeom prst="rect">
            <a:avLst/>
          </a:prstGeom>
          <a:noFill/>
          <a:ln/>
        </p:spPr>
        <p:txBody>
          <a:bodyPr wrap="square" lIns="0" tIns="0" rIns="0" bIns="0" rtlCol="0" anchor="t"/>
          <a:lstStyle/>
          <a:p>
            <a:pPr indent="0" marL="0">
              <a:buNone/>
            </a:pPr>
            <a:r>
              <a:rPr lang="en-US" sz="1150" dirty="0">
                <a:solidFill>
                  <a:srgbClr val="1E2A26"/>
                </a:solidFill>
                <a:latin typeface="Calibri" pitchFamily="34" charset="0"/>
                <a:ea typeface="Calibri" pitchFamily="34" charset="-122"/>
                <a:cs typeface="Calibri" pitchFamily="34" charset="-120"/>
              </a:rPr>
              <a:t>&lt;40% RH room; foil + desiccant; lot code</a:t>
            </a:r>
            <a:endParaRPr lang="en-US" sz="1150" dirty="0"/>
          </a:p>
        </p:txBody>
      </p:sp>
      <p:sp>
        <p:nvSpPr>
          <p:cNvPr id="34" name="Shape 32"/>
          <p:cNvSpPr/>
          <p:nvPr/>
        </p:nvSpPr>
        <p:spPr>
          <a:xfrm>
            <a:off x="548640" y="4023360"/>
            <a:ext cx="3566160" cy="2194560"/>
          </a:xfrm>
          <a:prstGeom prst="roundRect">
            <a:avLst>
              <a:gd name="adj" fmla="val 3333"/>
            </a:avLst>
          </a:prstGeom>
          <a:solidFill>
            <a:srgbClr val="FFFFFF"/>
          </a:solidFill>
          <a:ln w="9525">
            <a:solidFill>
              <a:srgbClr val="D3DED8"/>
            </a:solidFill>
            <a:prstDash val="solid"/>
          </a:ln>
        </p:spPr>
      </p:sp>
      <p:sp>
        <p:nvSpPr>
          <p:cNvPr id="35" name="Shape 33"/>
          <p:cNvSpPr/>
          <p:nvPr/>
        </p:nvSpPr>
        <p:spPr>
          <a:xfrm>
            <a:off x="731520" y="4160520"/>
            <a:ext cx="502920" cy="502920"/>
          </a:xfrm>
          <a:prstGeom prst="ellipse">
            <a:avLst/>
          </a:prstGeom>
          <a:solidFill>
            <a:srgbClr val="2E5E4E"/>
          </a:solidFill>
          <a:ln w="12700">
            <a:solidFill>
              <a:srgbClr val="2E5E4E"/>
            </a:solidFill>
            <a:prstDash val="solid"/>
          </a:ln>
        </p:spPr>
      </p:sp>
      <p:pic>
        <p:nvPicPr>
          <p:cNvPr id="36" name="Image 0" descr="preencoded.png">    </p:cNvPr>
          <p:cNvPicPr>
            <a:picLocks noChangeAspect="1"/>
          </p:cNvPicPr>
          <p:nvPr/>
        </p:nvPicPr>
        <p:blipFill>
          <a:blip r:embed="rId1"/>
          <a:stretch>
            <a:fillRect/>
          </a:stretch>
        </p:blipFill>
        <p:spPr>
          <a:xfrm>
            <a:off x="862279" y="4291279"/>
            <a:ext cx="241402" cy="241402"/>
          </a:xfrm>
          <a:prstGeom prst="rect">
            <a:avLst/>
          </a:prstGeom>
        </p:spPr>
      </p:pic>
      <p:sp>
        <p:nvSpPr>
          <p:cNvPr id="37" name="Text 34"/>
          <p:cNvSpPr txBox="1"/>
          <p:nvPr/>
        </p:nvSpPr>
        <p:spPr>
          <a:xfrm>
            <a:off x="1371600" y="4178808"/>
            <a:ext cx="2651760" cy="457200"/>
          </a:xfrm>
          <a:prstGeom prst="rect">
            <a:avLst/>
          </a:prstGeom>
          <a:noFill/>
          <a:ln/>
        </p:spPr>
        <p:txBody>
          <a:bodyPr wrap="square" lIns="0" tIns="0" rIns="0" bIns="0" rtlCol="0" anchor="ctr"/>
          <a:lstStyle/>
          <a:p>
            <a:pPr indent="0" marL="0">
              <a:buNone/>
            </a:pPr>
            <a:r>
              <a:rPr lang="en-US" sz="1400" b="1" dirty="0">
                <a:solidFill>
                  <a:srgbClr val="14302A"/>
                </a:solidFill>
                <a:latin typeface="Cambria" pitchFamily="34" charset="0"/>
                <a:ea typeface="Cambria" pitchFamily="34" charset="-122"/>
                <a:cs typeface="Cambria" pitchFamily="34" charset="-120"/>
              </a:rPr>
              <a:t>Dryer sized to the harvest</a:t>
            </a:r>
            <a:endParaRPr lang="en-US" sz="1400" dirty="0"/>
          </a:p>
        </p:txBody>
      </p:sp>
      <p:sp>
        <p:nvSpPr>
          <p:cNvPr id="38" name="Text 35"/>
          <p:cNvSpPr txBox="1"/>
          <p:nvPr/>
        </p:nvSpPr>
        <p:spPr>
          <a:xfrm>
            <a:off x="731520" y="4754880"/>
            <a:ext cx="3200400" cy="137160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A 96-tray dehydrator takes ~50–55 kg fresh per overnight run, matching Phase 1 peak harvest. Phase 2 adds a second unit.</a:t>
            </a:r>
            <a:endParaRPr lang="en-US" sz="1250" dirty="0"/>
          </a:p>
        </p:txBody>
      </p:sp>
      <p:sp>
        <p:nvSpPr>
          <p:cNvPr id="39" name="Shape 36"/>
          <p:cNvSpPr/>
          <p:nvPr/>
        </p:nvSpPr>
        <p:spPr>
          <a:xfrm>
            <a:off x="4297680" y="4023360"/>
            <a:ext cx="3566160" cy="2194560"/>
          </a:xfrm>
          <a:prstGeom prst="roundRect">
            <a:avLst>
              <a:gd name="adj" fmla="val 3333"/>
            </a:avLst>
          </a:prstGeom>
          <a:solidFill>
            <a:srgbClr val="FFFFFF"/>
          </a:solidFill>
          <a:ln w="9525">
            <a:solidFill>
              <a:srgbClr val="D3DED8"/>
            </a:solidFill>
            <a:prstDash val="solid"/>
          </a:ln>
        </p:spPr>
      </p:sp>
      <p:sp>
        <p:nvSpPr>
          <p:cNvPr id="40" name="Shape 37"/>
          <p:cNvSpPr/>
          <p:nvPr/>
        </p:nvSpPr>
        <p:spPr>
          <a:xfrm>
            <a:off x="4480560" y="4160520"/>
            <a:ext cx="502920" cy="502920"/>
          </a:xfrm>
          <a:prstGeom prst="ellipse">
            <a:avLst/>
          </a:prstGeom>
          <a:solidFill>
            <a:srgbClr val="2E5E4E"/>
          </a:solidFill>
          <a:ln w="12700">
            <a:solidFill>
              <a:srgbClr val="2E5E4E"/>
            </a:solidFill>
            <a:prstDash val="solid"/>
          </a:ln>
        </p:spPr>
      </p:sp>
      <p:pic>
        <p:nvPicPr>
          <p:cNvPr id="41" name="Image 1" descr="preencoded.png">    </p:cNvPr>
          <p:cNvPicPr>
            <a:picLocks noChangeAspect="1"/>
          </p:cNvPicPr>
          <p:nvPr/>
        </p:nvPicPr>
        <p:blipFill>
          <a:blip r:embed="rId2"/>
          <a:stretch>
            <a:fillRect/>
          </a:stretch>
        </p:blipFill>
        <p:spPr>
          <a:xfrm>
            <a:off x="4611319" y="4291279"/>
            <a:ext cx="241402" cy="241402"/>
          </a:xfrm>
          <a:prstGeom prst="rect">
            <a:avLst/>
          </a:prstGeom>
        </p:spPr>
      </p:pic>
      <p:sp>
        <p:nvSpPr>
          <p:cNvPr id="42" name="Text 38"/>
          <p:cNvSpPr txBox="1"/>
          <p:nvPr/>
        </p:nvSpPr>
        <p:spPr>
          <a:xfrm>
            <a:off x="5120640" y="4178808"/>
            <a:ext cx="2651760" cy="457200"/>
          </a:xfrm>
          <a:prstGeom prst="rect">
            <a:avLst/>
          </a:prstGeom>
          <a:noFill/>
          <a:ln/>
        </p:spPr>
        <p:txBody>
          <a:bodyPr wrap="square" lIns="0" tIns="0" rIns="0" bIns="0" rtlCol="0" anchor="ctr"/>
          <a:lstStyle/>
          <a:p>
            <a:pPr indent="0" marL="0">
              <a:buNone/>
            </a:pPr>
            <a:r>
              <a:rPr lang="en-US" sz="1400" b="1" dirty="0">
                <a:solidFill>
                  <a:srgbClr val="14302A"/>
                </a:solidFill>
                <a:latin typeface="Cambria" pitchFamily="34" charset="0"/>
                <a:ea typeface="Cambria" pitchFamily="34" charset="-122"/>
                <a:cs typeface="Cambria" pitchFamily="34" charset="-120"/>
              </a:rPr>
              <a:t>B2B packing spec</a:t>
            </a:r>
            <a:endParaRPr lang="en-US" sz="1400" dirty="0"/>
          </a:p>
        </p:txBody>
      </p:sp>
      <p:sp>
        <p:nvSpPr>
          <p:cNvPr id="43" name="Text 39"/>
          <p:cNvSpPr txBox="1"/>
          <p:nvPr/>
        </p:nvSpPr>
        <p:spPr>
          <a:xfrm>
            <a:off x="4480560" y="4754880"/>
            <a:ext cx="3200400" cy="137160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5 kg triple-laminate aluminium foil bags with desiccant, heat-sealed (vacuum or N₂ flush), 4 per HDPE drum. Shelf life 12–24 months.</a:t>
            </a:r>
            <a:endParaRPr lang="en-US" sz="1250" dirty="0"/>
          </a:p>
        </p:txBody>
      </p:sp>
      <p:sp>
        <p:nvSpPr>
          <p:cNvPr id="44" name="Shape 40"/>
          <p:cNvSpPr/>
          <p:nvPr/>
        </p:nvSpPr>
        <p:spPr>
          <a:xfrm>
            <a:off x="8046720" y="4023360"/>
            <a:ext cx="3566160" cy="2194560"/>
          </a:xfrm>
          <a:prstGeom prst="roundRect">
            <a:avLst>
              <a:gd name="adj" fmla="val 3333"/>
            </a:avLst>
          </a:prstGeom>
          <a:solidFill>
            <a:srgbClr val="FFFFFF"/>
          </a:solidFill>
          <a:ln w="9525">
            <a:solidFill>
              <a:srgbClr val="D3DED8"/>
            </a:solidFill>
            <a:prstDash val="solid"/>
          </a:ln>
        </p:spPr>
      </p:sp>
      <p:sp>
        <p:nvSpPr>
          <p:cNvPr id="45" name="Shape 41"/>
          <p:cNvSpPr/>
          <p:nvPr/>
        </p:nvSpPr>
        <p:spPr>
          <a:xfrm>
            <a:off x="8229600" y="4160520"/>
            <a:ext cx="502920" cy="502920"/>
          </a:xfrm>
          <a:prstGeom prst="ellipse">
            <a:avLst/>
          </a:prstGeom>
          <a:solidFill>
            <a:srgbClr val="D9962B"/>
          </a:solidFill>
          <a:ln w="12700">
            <a:solidFill>
              <a:srgbClr val="D9962B"/>
            </a:solidFill>
            <a:prstDash val="solid"/>
          </a:ln>
        </p:spPr>
      </p:sp>
      <p:pic>
        <p:nvPicPr>
          <p:cNvPr id="46" name="Image 2" descr="preencoded.png">    </p:cNvPr>
          <p:cNvPicPr>
            <a:picLocks noChangeAspect="1"/>
          </p:cNvPicPr>
          <p:nvPr/>
        </p:nvPicPr>
        <p:blipFill>
          <a:blip r:embed="rId3"/>
          <a:stretch>
            <a:fillRect/>
          </a:stretch>
        </p:blipFill>
        <p:spPr>
          <a:xfrm>
            <a:off x="8360359" y="4291279"/>
            <a:ext cx="241402" cy="241402"/>
          </a:xfrm>
          <a:prstGeom prst="rect">
            <a:avLst/>
          </a:prstGeom>
        </p:spPr>
      </p:pic>
      <p:sp>
        <p:nvSpPr>
          <p:cNvPr id="47" name="Text 42"/>
          <p:cNvSpPr txBox="1"/>
          <p:nvPr/>
        </p:nvSpPr>
        <p:spPr>
          <a:xfrm>
            <a:off x="8869680" y="4178808"/>
            <a:ext cx="2651760" cy="457200"/>
          </a:xfrm>
          <a:prstGeom prst="rect">
            <a:avLst/>
          </a:prstGeom>
          <a:noFill/>
          <a:ln/>
        </p:spPr>
        <p:txBody>
          <a:bodyPr wrap="square" lIns="0" tIns="0" rIns="0" bIns="0" rtlCol="0" anchor="ctr"/>
          <a:lstStyle/>
          <a:p>
            <a:pPr indent="0" marL="0">
              <a:buNone/>
            </a:pPr>
            <a:r>
              <a:rPr lang="en-US" sz="1400" b="1" dirty="0">
                <a:solidFill>
                  <a:srgbClr val="14302A"/>
                </a:solidFill>
                <a:latin typeface="Cambria" pitchFamily="34" charset="0"/>
                <a:ea typeface="Cambria" pitchFamily="34" charset="-122"/>
                <a:cs typeface="Cambria" pitchFamily="34" charset="-120"/>
              </a:rPr>
              <a:t>Monsoon defence</a:t>
            </a:r>
            <a:endParaRPr lang="en-US" sz="1400" dirty="0"/>
          </a:p>
        </p:txBody>
      </p:sp>
      <p:sp>
        <p:nvSpPr>
          <p:cNvPr id="48" name="Text 43"/>
          <p:cNvSpPr txBox="1"/>
          <p:nvPr/>
        </p:nvSpPr>
        <p:spPr>
          <a:xfrm>
            <a:off x="8229600" y="4754880"/>
            <a:ext cx="3200400" cy="137160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Powder is hygroscopic and clumps within minutes in monsoon air. A commercial dehumidifier holds the mill and pack room below 40% RH.</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D9962B"/>
                </a:solidFill>
                <a:latin typeface="Calibri" pitchFamily="34" charset="0"/>
                <a:ea typeface="Calibri" pitchFamily="34" charset="-122"/>
                <a:cs typeface="Calibri" pitchFamily="34" charset="-120"/>
              </a:rPr>
              <a:t>08 · QUALITY &amp; COMPLIANCE</a:t>
            </a:r>
            <a:endParaRPr lang="en-US" sz="11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14302A"/>
                </a:solidFill>
                <a:latin typeface="Cambria" pitchFamily="34" charset="0"/>
                <a:ea typeface="Cambria" pitchFamily="34" charset="-122"/>
                <a:cs typeface="Cambria" pitchFamily="34" charset="-120"/>
              </a:rPr>
              <a:t>Quality control: a CoA with every lot, controls at every step</a:t>
            </a:r>
            <a:endParaRPr lang="en-US" sz="30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900" dirty="0">
                <a:solidFill>
                  <a:srgbClr val="5F6F69"/>
                </a:solidFill>
                <a:latin typeface="Calibri" pitchFamily="34" charset="0"/>
                <a:ea typeface="Calibri" pitchFamily="34" charset="-122"/>
                <a:cs typeface="Calibri" pitchFamily="34" charset="-120"/>
              </a:rPr>
              <a:t>Lion's Mane Facility  ·  Hamirpur, HP  ·  Project Plan</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900" dirty="0">
                <a:solidFill>
                  <a:srgbClr val="5F6F69"/>
                </a:solidFill>
                <a:latin typeface="Calibri" pitchFamily="34" charset="0"/>
                <a:ea typeface="Calibri" pitchFamily="34" charset="-122"/>
                <a:cs typeface="Calibri" pitchFamily="34" charset="-120"/>
              </a:rPr>
              <a:t>20</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7040880" cy="914400"/>
        </p:xfrm>
        <a:graphic>
          <a:graphicData uri="http://schemas.openxmlformats.org/drawingml/2006/table">
            <a:tbl>
              <a:tblPr/>
              <a:tblGrid>
                <a:gridCol w="2011680"/>
                <a:gridCol w="2834640"/>
                <a:gridCol w="2194560"/>
              </a:tblGrid>
              <a:tr h="47548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Parameter</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Method</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Specification</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r>
              <a:tr h="475488">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Identity</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Macroscopy; ITS DNA barcode (per strain); HPTLC</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H. erinaceus fruiting body</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475488">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Moisture / water activity</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Loss on drying / aw meter</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 8% / ≤ 0.60</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r>
              <a:tr h="475488">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β-glucans</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Megazyme K-YBGL</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Report; target ≥ 20%</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475488">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α-glucan (starch)</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Megazyme enzymatic</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&lt; 5%: proves no grain filler</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r>
              <a:tr h="475488">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Particle size</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Sieve analysis</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80–100 mesh</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475488">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Heavy metals (Pb, Cd, As, Hg)</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ICP-MS, NABL lab</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Within FSSAI contaminant limits</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r>
              <a:tr h="475488">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Microbiology</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TPC, yeast &amp; mould, E. coli, Salmonella, S. aureus</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Within FSSAI / buyer limits</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475488">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Pesticide residues</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LC-MS/MS, GC-MS/MS</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Within FSSAI MRLs (none applied)</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r>
            </a:tbl>
          </a:graphicData>
        </a:graphic>
      </p:graphicFrame>
      <p:sp>
        <p:nvSpPr>
          <p:cNvPr id="7" name="Shape 4"/>
          <p:cNvSpPr/>
          <p:nvPr/>
        </p:nvSpPr>
        <p:spPr>
          <a:xfrm>
            <a:off x="7863840" y="1463040"/>
            <a:ext cx="3794760" cy="4800600"/>
          </a:xfrm>
          <a:prstGeom prst="roundRect">
            <a:avLst>
              <a:gd name="adj" fmla="val 1928"/>
            </a:avLst>
          </a:prstGeom>
          <a:solidFill>
            <a:srgbClr val="EEF4F0"/>
          </a:solidFill>
          <a:ln w="9525">
            <a:solidFill>
              <a:srgbClr val="EEF4F0"/>
            </a:solidFill>
            <a:prstDash val="solid"/>
          </a:ln>
        </p:spPr>
      </p:sp>
      <p:sp>
        <p:nvSpPr>
          <p:cNvPr id="8" name="Text 5"/>
          <p:cNvSpPr txBox="1"/>
          <p:nvPr/>
        </p:nvSpPr>
        <p:spPr>
          <a:xfrm>
            <a:off x="8092440" y="1600200"/>
            <a:ext cx="3383280" cy="365760"/>
          </a:xfrm>
          <a:prstGeom prst="rect">
            <a:avLst/>
          </a:prstGeom>
          <a:noFill/>
          <a:ln/>
        </p:spPr>
        <p:txBody>
          <a:bodyPr wrap="square" lIns="0" tIns="0" rIns="0" bIns="0" rtlCol="0" anchor="t"/>
          <a:lstStyle/>
          <a:p>
            <a:pPr indent="0" marL="0">
              <a:buNone/>
            </a:pPr>
            <a:r>
              <a:rPr lang="en-US" sz="1500" b="1" dirty="0">
                <a:solidFill>
                  <a:srgbClr val="14302A"/>
                </a:solidFill>
                <a:latin typeface="Cambria" pitchFamily="34" charset="0"/>
                <a:ea typeface="Cambria" pitchFamily="34" charset="-122"/>
                <a:cs typeface="Cambria" pitchFamily="34" charset="-120"/>
              </a:rPr>
              <a:t>In-process controls</a:t>
            </a:r>
            <a:endParaRPr lang="en-US" sz="1500" dirty="0"/>
          </a:p>
        </p:txBody>
      </p:sp>
      <p:sp>
        <p:nvSpPr>
          <p:cNvPr id="9" name="Text 6"/>
          <p:cNvSpPr txBox="1"/>
          <p:nvPr/>
        </p:nvSpPr>
        <p:spPr>
          <a:xfrm>
            <a:off x="8092440" y="2011680"/>
            <a:ext cx="3429000" cy="411480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E2A26"/>
                </a:solidFill>
                <a:latin typeface="Calibri" pitchFamily="34" charset="0"/>
                <a:ea typeface="Calibri" pitchFamily="34" charset="-122"/>
                <a:cs typeface="Calibri" pitchFamily="34" charset="-120"/>
              </a:rPr>
              <a:t>Biological indicator in every weekly autoclave validation run.</a:t>
            </a:r>
            <a:endParaRPr lang="en-US" sz="1250" dirty="0"/>
          </a:p>
          <a:p>
            <a:pPr marL="342900" indent="-342900">
              <a:spcAft>
                <a:spcPts val="500"/>
              </a:spcAft>
              <a:buSzPct val="100000"/>
              <a:buChar char="•"/>
            </a:pPr>
            <a:r>
              <a:rPr lang="en-US" sz="1250" dirty="0">
                <a:solidFill>
                  <a:srgbClr val="1E2A26"/>
                </a:solidFill>
                <a:latin typeface="Calibri" pitchFamily="34" charset="0"/>
                <a:ea typeface="Calibri" pitchFamily="34" charset="-122"/>
                <a:cs typeface="Calibri" pitchFamily="34" charset="-120"/>
              </a:rPr>
              <a:t>LAF settle plates weekly; particle count monthly.</a:t>
            </a:r>
            <a:endParaRPr lang="en-US" sz="1250" dirty="0"/>
          </a:p>
          <a:p>
            <a:pPr marL="342900" indent="-342900">
              <a:spcAft>
                <a:spcPts val="500"/>
              </a:spcAft>
              <a:buSzPct val="100000"/>
              <a:buChar char="•"/>
            </a:pPr>
            <a:r>
              <a:rPr lang="en-US" sz="1250" dirty="0">
                <a:solidFill>
                  <a:srgbClr val="1E2A26"/>
                </a:solidFill>
                <a:latin typeface="Calibri" pitchFamily="34" charset="0"/>
                <a:ea typeface="Calibri" pitchFamily="34" charset="-122"/>
                <a:cs typeface="Calibri" pitchFamily="34" charset="-120"/>
              </a:rPr>
              <a:t>Contamination log per lot; targets &lt;5% blocks, &lt;2% spawn.</a:t>
            </a:r>
            <a:endParaRPr lang="en-US" sz="1250" dirty="0"/>
          </a:p>
          <a:p>
            <a:pPr marL="342900" indent="-342900">
              <a:spcAft>
                <a:spcPts val="500"/>
              </a:spcAft>
              <a:buSzPct val="100000"/>
              <a:buChar char="•"/>
            </a:pPr>
            <a:r>
              <a:rPr lang="en-US" sz="1250" dirty="0">
                <a:solidFill>
                  <a:srgbClr val="1E2A26"/>
                </a:solidFill>
                <a:latin typeface="Calibri" pitchFamily="34" charset="0"/>
                <a:ea typeface="Calibri" pitchFamily="34" charset="-122"/>
                <a:cs typeface="Calibri" pitchFamily="34" charset="-120"/>
              </a:rPr>
              <a:t>Continuous T / RH / CO₂ data logging in every room.</a:t>
            </a:r>
            <a:endParaRPr lang="en-US" sz="1250" dirty="0"/>
          </a:p>
          <a:p>
            <a:pPr marL="342900" indent="-342900">
              <a:spcAft>
                <a:spcPts val="500"/>
              </a:spcAft>
              <a:buSzPct val="100000"/>
              <a:buChar char="•"/>
            </a:pPr>
            <a:r>
              <a:rPr lang="en-US" sz="1250" dirty="0">
                <a:solidFill>
                  <a:srgbClr val="1E2A26"/>
                </a:solidFill>
                <a:latin typeface="Calibri" pitchFamily="34" charset="0"/>
                <a:ea typeface="Calibri" pitchFamily="34" charset="-122"/>
                <a:cs typeface="Calibri" pitchFamily="34" charset="-120"/>
              </a:rPr>
              <a:t>Lot code LM-YYMMDD-Room-Rack traces culture batch to dispatch.</a:t>
            </a:r>
            <a:endParaRPr lang="en-US" sz="1250" dirty="0"/>
          </a:p>
          <a:p>
            <a:pPr marL="342900" indent="-342900">
              <a:spcAft>
                <a:spcPts val="500"/>
              </a:spcAft>
              <a:buSzPct val="100000"/>
              <a:buChar char="•"/>
            </a:pPr>
            <a:r>
              <a:rPr lang="en-US" sz="1250" dirty="0">
                <a:solidFill>
                  <a:srgbClr val="1E2A26"/>
                </a:solidFill>
                <a:latin typeface="Calibri" pitchFamily="34" charset="0"/>
                <a:ea typeface="Calibri" pitchFamily="34" charset="-122"/>
                <a:cs typeface="Calibri" pitchFamily="34" charset="-120"/>
              </a:rPr>
              <a:t>Retained sample from every lot, kept 24 months.</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D9962B"/>
                </a:solidFill>
                <a:latin typeface="Calibri" pitchFamily="34" charset="0"/>
                <a:ea typeface="Calibri" pitchFamily="34" charset="-122"/>
                <a:cs typeface="Calibri" pitchFamily="34" charset="-120"/>
              </a:rPr>
              <a:t>09 · PRODUCTS &amp; MARKET</a:t>
            </a:r>
            <a:endParaRPr lang="en-US" sz="11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14302A"/>
                </a:solidFill>
                <a:latin typeface="Cambria" pitchFamily="34" charset="0"/>
                <a:ea typeface="Cambria" pitchFamily="34" charset="-122"/>
                <a:cs typeface="Cambria" pitchFamily="34" charset="-120"/>
              </a:rPr>
              <a:t>Value-addition roadmap: earn the right to each step</a:t>
            </a:r>
            <a:endParaRPr lang="en-US" sz="30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900" dirty="0">
                <a:solidFill>
                  <a:srgbClr val="5F6F69"/>
                </a:solidFill>
                <a:latin typeface="Calibri" pitchFamily="34" charset="0"/>
                <a:ea typeface="Calibri" pitchFamily="34" charset="-122"/>
                <a:cs typeface="Calibri" pitchFamily="34" charset="-120"/>
              </a:rPr>
              <a:t>Lion's Mane Facility  ·  Hamirpur, HP  ·  Project Plan</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900" dirty="0">
                <a:solidFill>
                  <a:srgbClr val="5F6F69"/>
                </a:solidFill>
                <a:latin typeface="Calibri" pitchFamily="34" charset="0"/>
                <a:ea typeface="Calibri" pitchFamily="34" charset="-122"/>
                <a:cs typeface="Calibri" pitchFamily="34" charset="-120"/>
              </a:rPr>
              <a:t>21</a:t>
            </a:r>
            <a:endParaRPr lang="en-US" sz="900" dirty="0"/>
          </a:p>
        </p:txBody>
      </p:sp>
      <p:sp>
        <p:nvSpPr>
          <p:cNvPr id="6" name="Shape 4"/>
          <p:cNvSpPr/>
          <p:nvPr/>
        </p:nvSpPr>
        <p:spPr>
          <a:xfrm>
            <a:off x="548640" y="1508760"/>
            <a:ext cx="3566160" cy="4160520"/>
          </a:xfrm>
          <a:prstGeom prst="roundRect">
            <a:avLst>
              <a:gd name="adj" fmla="val 2051"/>
            </a:avLst>
          </a:prstGeom>
          <a:solidFill>
            <a:srgbClr val="EEF4F0"/>
          </a:solidFill>
          <a:ln w="9525">
            <a:solidFill>
              <a:srgbClr val="EEF4F0"/>
            </a:solidFill>
            <a:prstDash val="solid"/>
          </a:ln>
        </p:spPr>
      </p:sp>
      <p:sp>
        <p:nvSpPr>
          <p:cNvPr id="7" name="Text 5"/>
          <p:cNvSpPr txBox="1"/>
          <p:nvPr/>
        </p:nvSpPr>
        <p:spPr>
          <a:xfrm>
            <a:off x="777240" y="1664208"/>
            <a:ext cx="3108960" cy="274320"/>
          </a:xfrm>
          <a:prstGeom prst="rect">
            <a:avLst/>
          </a:prstGeom>
          <a:noFill/>
          <a:ln/>
        </p:spPr>
        <p:txBody>
          <a:bodyPr wrap="square" lIns="0" tIns="0" rIns="0" bIns="0" rtlCol="0" anchor="t"/>
          <a:lstStyle/>
          <a:p>
            <a:pPr indent="0" marL="0">
              <a:buNone/>
            </a:pPr>
            <a:r>
              <a:rPr lang="en-US" sz="1050" b="1" spc="100" kern="0" dirty="0">
                <a:solidFill>
                  <a:srgbClr val="D9962B"/>
                </a:solidFill>
                <a:latin typeface="Calibri" pitchFamily="34" charset="0"/>
                <a:ea typeface="Calibri" pitchFamily="34" charset="-122"/>
                <a:cs typeface="Calibri" pitchFamily="34" charset="-120"/>
              </a:rPr>
              <a:t>PHASE 1 · MONTH 7–18</a:t>
            </a:r>
            <a:endParaRPr lang="en-US" sz="1050" dirty="0"/>
          </a:p>
        </p:txBody>
      </p:sp>
      <p:sp>
        <p:nvSpPr>
          <p:cNvPr id="8" name="Text 6"/>
          <p:cNvSpPr txBox="1"/>
          <p:nvPr/>
        </p:nvSpPr>
        <p:spPr>
          <a:xfrm>
            <a:off x="777240" y="1965960"/>
            <a:ext cx="3108960" cy="457200"/>
          </a:xfrm>
          <a:prstGeom prst="rect">
            <a:avLst/>
          </a:prstGeom>
          <a:noFill/>
          <a:ln/>
        </p:spPr>
        <p:txBody>
          <a:bodyPr wrap="square" lIns="0" tIns="0" rIns="0" bIns="0" rtlCol="0" anchor="t"/>
          <a:lstStyle/>
          <a:p>
            <a:pPr indent="0" marL="0">
              <a:buNone/>
            </a:pPr>
            <a:r>
              <a:rPr lang="en-US" sz="2000" b="1" dirty="0">
                <a:solidFill>
                  <a:srgbClr val="14302A"/>
                </a:solidFill>
                <a:latin typeface="Cambria" pitchFamily="34" charset="0"/>
                <a:ea typeface="Cambria" pitchFamily="34" charset="-122"/>
                <a:cs typeface="Cambria" pitchFamily="34" charset="-120"/>
              </a:rPr>
              <a:t>Bulk ingredient</a:t>
            </a:r>
            <a:endParaRPr lang="en-US" sz="2000" dirty="0"/>
          </a:p>
        </p:txBody>
      </p:sp>
      <p:sp>
        <p:nvSpPr>
          <p:cNvPr id="9" name="Text 7"/>
          <p:cNvSpPr txBox="1"/>
          <p:nvPr/>
        </p:nvSpPr>
        <p:spPr>
          <a:xfrm>
            <a:off x="777240" y="2560320"/>
            <a:ext cx="3154680" cy="210312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1E2A26"/>
                </a:solidFill>
                <a:latin typeface="Calibri" pitchFamily="34" charset="0"/>
                <a:ea typeface="Calibri" pitchFamily="34" charset="-122"/>
                <a:cs typeface="Calibri" pitchFamily="34" charset="-120"/>
              </a:rPr>
              <a:t>Fruiting-body powder, 80–100 mesh, 5 kg drums</a:t>
            </a:r>
            <a:endParaRPr lang="en-US" sz="1400" dirty="0"/>
          </a:p>
          <a:p>
            <a:pPr marL="342900" indent="-342900">
              <a:spcAft>
                <a:spcPts val="500"/>
              </a:spcAft>
              <a:buSzPct val="100000"/>
              <a:buChar char="•"/>
            </a:pPr>
            <a:r>
              <a:rPr lang="en-US" sz="1400" dirty="0">
                <a:solidFill>
                  <a:srgbClr val="1E2A26"/>
                </a:solidFill>
                <a:latin typeface="Calibri" pitchFamily="34" charset="0"/>
                <a:ea typeface="Calibri" pitchFamily="34" charset="-122"/>
                <a:cs typeface="Calibri" pitchFamily="34" charset="-120"/>
              </a:rPr>
              <a:t>Dried slices for extractors</a:t>
            </a:r>
            <a:endParaRPr lang="en-US" sz="1400" dirty="0"/>
          </a:p>
          <a:p>
            <a:pPr marL="342900" indent="-342900">
              <a:spcAft>
                <a:spcPts val="500"/>
              </a:spcAft>
              <a:buSzPct val="100000"/>
              <a:buChar char="•"/>
            </a:pPr>
            <a:r>
              <a:rPr lang="en-US" sz="1400" dirty="0">
                <a:solidFill>
                  <a:srgbClr val="1E2A26"/>
                </a:solidFill>
                <a:latin typeface="Calibri" pitchFamily="34" charset="0"/>
                <a:ea typeface="Calibri" pitchFamily="34" charset="-122"/>
                <a:cs typeface="Calibri" pitchFamily="34" charset="-120"/>
              </a:rPr>
              <a:t>Fresh surplus to local HoReCa</a:t>
            </a:r>
            <a:endParaRPr lang="en-US" sz="1400" dirty="0"/>
          </a:p>
        </p:txBody>
      </p:sp>
      <p:sp>
        <p:nvSpPr>
          <p:cNvPr id="10" name="Text 8"/>
          <p:cNvSpPr txBox="1"/>
          <p:nvPr/>
        </p:nvSpPr>
        <p:spPr>
          <a:xfrm>
            <a:off x="777240" y="4846320"/>
            <a:ext cx="3154680" cy="685800"/>
          </a:xfrm>
          <a:prstGeom prst="rect">
            <a:avLst/>
          </a:prstGeom>
          <a:noFill/>
          <a:ln/>
        </p:spPr>
        <p:txBody>
          <a:bodyPr wrap="square" lIns="0" tIns="0" rIns="0" bIns="0" rtlCol="0" anchor="t"/>
          <a:lstStyle/>
          <a:p>
            <a:pPr indent="0" marL="0">
              <a:buNone/>
            </a:pPr>
            <a:r>
              <a:rPr lang="en-US" sz="1150" i="1" dirty="0">
                <a:solidFill>
                  <a:srgbClr val="5F6F69"/>
                </a:solidFill>
                <a:latin typeface="Calibri" pitchFamily="34" charset="0"/>
                <a:ea typeface="Calibri" pitchFamily="34" charset="-122"/>
                <a:cs typeface="Calibri" pitchFamily="34" charset="-120"/>
              </a:rPr>
              <a:t>Needs: FSSAI licence · included in Phase-1 capex</a:t>
            </a:r>
            <a:endParaRPr lang="en-US" sz="1150" dirty="0"/>
          </a:p>
        </p:txBody>
      </p:sp>
      <p:sp>
        <p:nvSpPr>
          <p:cNvPr id="11" name="Shape 9"/>
          <p:cNvSpPr/>
          <p:nvPr/>
        </p:nvSpPr>
        <p:spPr>
          <a:xfrm>
            <a:off x="4133088" y="3566160"/>
            <a:ext cx="146304" cy="0"/>
          </a:xfrm>
          <a:prstGeom prst="line">
            <a:avLst/>
          </a:prstGeom>
          <a:noFill/>
          <a:ln w="19050">
            <a:solidFill>
              <a:srgbClr val="D9962B"/>
            </a:solidFill>
            <a:prstDash val="solid"/>
            <a:tailEnd type="triangle"/>
          </a:ln>
        </p:spPr>
      </p:sp>
      <p:sp>
        <p:nvSpPr>
          <p:cNvPr id="12" name="Shape 10"/>
          <p:cNvSpPr/>
          <p:nvPr/>
        </p:nvSpPr>
        <p:spPr>
          <a:xfrm>
            <a:off x="4297680" y="1508760"/>
            <a:ext cx="3566160" cy="4160520"/>
          </a:xfrm>
          <a:prstGeom prst="roundRect">
            <a:avLst>
              <a:gd name="adj" fmla="val 2051"/>
            </a:avLst>
          </a:prstGeom>
          <a:solidFill>
            <a:srgbClr val="EEF4F0"/>
          </a:solidFill>
          <a:ln w="9525">
            <a:solidFill>
              <a:srgbClr val="EEF4F0"/>
            </a:solidFill>
            <a:prstDash val="solid"/>
          </a:ln>
        </p:spPr>
      </p:sp>
      <p:sp>
        <p:nvSpPr>
          <p:cNvPr id="13" name="Text 11"/>
          <p:cNvSpPr txBox="1"/>
          <p:nvPr/>
        </p:nvSpPr>
        <p:spPr>
          <a:xfrm>
            <a:off x="4526280" y="1664208"/>
            <a:ext cx="3108960" cy="274320"/>
          </a:xfrm>
          <a:prstGeom prst="rect">
            <a:avLst/>
          </a:prstGeom>
          <a:noFill/>
          <a:ln/>
        </p:spPr>
        <p:txBody>
          <a:bodyPr wrap="square" lIns="0" tIns="0" rIns="0" bIns="0" rtlCol="0" anchor="t"/>
          <a:lstStyle/>
          <a:p>
            <a:pPr indent="0" marL="0">
              <a:buNone/>
            </a:pPr>
            <a:r>
              <a:rPr lang="en-US" sz="1050" b="1" spc="100" kern="0" dirty="0">
                <a:solidFill>
                  <a:srgbClr val="D9962B"/>
                </a:solidFill>
                <a:latin typeface="Calibri" pitchFamily="34" charset="0"/>
                <a:ea typeface="Calibri" pitchFamily="34" charset="-122"/>
                <a:cs typeface="Calibri" pitchFamily="34" charset="-120"/>
              </a:rPr>
              <a:t>PHASE 2 · YEAR 2</a:t>
            </a:r>
            <a:endParaRPr lang="en-US" sz="1050" dirty="0"/>
          </a:p>
        </p:txBody>
      </p:sp>
      <p:sp>
        <p:nvSpPr>
          <p:cNvPr id="14" name="Text 12"/>
          <p:cNvSpPr txBox="1"/>
          <p:nvPr/>
        </p:nvSpPr>
        <p:spPr>
          <a:xfrm>
            <a:off x="4526280" y="1965960"/>
            <a:ext cx="3108960" cy="457200"/>
          </a:xfrm>
          <a:prstGeom prst="rect">
            <a:avLst/>
          </a:prstGeom>
          <a:noFill/>
          <a:ln/>
        </p:spPr>
        <p:txBody>
          <a:bodyPr wrap="square" lIns="0" tIns="0" rIns="0" bIns="0" rtlCol="0" anchor="t"/>
          <a:lstStyle/>
          <a:p>
            <a:pPr indent="0" marL="0">
              <a:buNone/>
            </a:pPr>
            <a:r>
              <a:rPr lang="en-US" sz="2000" b="1" dirty="0">
                <a:solidFill>
                  <a:srgbClr val="14302A"/>
                </a:solidFill>
                <a:latin typeface="Cambria" pitchFamily="34" charset="0"/>
                <a:ea typeface="Cambria" pitchFamily="34" charset="-122"/>
                <a:cs typeface="Cambria" pitchFamily="34" charset="-120"/>
              </a:rPr>
              <a:t>Brand &amp; private label</a:t>
            </a:r>
            <a:endParaRPr lang="en-US" sz="2000" dirty="0"/>
          </a:p>
        </p:txBody>
      </p:sp>
      <p:sp>
        <p:nvSpPr>
          <p:cNvPr id="15" name="Text 13"/>
          <p:cNvSpPr txBox="1"/>
          <p:nvPr/>
        </p:nvSpPr>
        <p:spPr>
          <a:xfrm>
            <a:off x="4526280" y="2560320"/>
            <a:ext cx="3154680" cy="210312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1E2A26"/>
                </a:solidFill>
                <a:latin typeface="Calibri" pitchFamily="34" charset="0"/>
                <a:ea typeface="Calibri" pitchFamily="34" charset="-122"/>
                <a:cs typeface="Calibri" pitchFamily="34" charset="-120"/>
              </a:rPr>
              <a:t>B2C 100 g pouches with hot-use instructions</a:t>
            </a:r>
            <a:endParaRPr lang="en-US" sz="1400" dirty="0"/>
          </a:p>
          <a:p>
            <a:pPr marL="342900" indent="-342900">
              <a:spcAft>
                <a:spcPts val="500"/>
              </a:spcAft>
              <a:buSzPct val="100000"/>
              <a:buChar char="•"/>
            </a:pPr>
            <a:r>
              <a:rPr lang="en-US" sz="1400" dirty="0">
                <a:solidFill>
                  <a:srgbClr val="1E2A26"/>
                </a:solidFill>
                <a:latin typeface="Calibri" pitchFamily="34" charset="0"/>
                <a:ea typeface="Calibri" pitchFamily="34" charset="-122"/>
                <a:cs typeface="Calibri" pitchFamily="34" charset="-120"/>
              </a:rPr>
              <a:t>Mushroom coffee / tea blends</a:t>
            </a:r>
            <a:endParaRPr lang="en-US" sz="1400" dirty="0"/>
          </a:p>
          <a:p>
            <a:pPr marL="342900" indent="-342900">
              <a:spcAft>
                <a:spcPts val="500"/>
              </a:spcAft>
              <a:buSzPct val="100000"/>
              <a:buChar char="•"/>
            </a:pPr>
            <a:r>
              <a:rPr lang="en-US" sz="1400" dirty="0">
                <a:solidFill>
                  <a:srgbClr val="1E2A26"/>
                </a:solidFill>
                <a:latin typeface="Calibri" pitchFamily="34" charset="0"/>
                <a:ea typeface="Calibri" pitchFamily="34" charset="-122"/>
                <a:cs typeface="Calibri" pitchFamily="34" charset="-120"/>
              </a:rPr>
              <a:t>Private label for D2C brands</a:t>
            </a:r>
            <a:endParaRPr lang="en-US" sz="1400" dirty="0"/>
          </a:p>
        </p:txBody>
      </p:sp>
      <p:sp>
        <p:nvSpPr>
          <p:cNvPr id="16" name="Text 14"/>
          <p:cNvSpPr txBox="1"/>
          <p:nvPr/>
        </p:nvSpPr>
        <p:spPr>
          <a:xfrm>
            <a:off x="4526280" y="4846320"/>
            <a:ext cx="3154680" cy="685800"/>
          </a:xfrm>
          <a:prstGeom prst="rect">
            <a:avLst/>
          </a:prstGeom>
          <a:noFill/>
          <a:ln/>
        </p:spPr>
        <p:txBody>
          <a:bodyPr wrap="square" lIns="0" tIns="0" rIns="0" bIns="0" rtlCol="0" anchor="t"/>
          <a:lstStyle/>
          <a:p>
            <a:pPr indent="0" marL="0">
              <a:buNone/>
            </a:pPr>
            <a:r>
              <a:rPr lang="en-US" sz="1150" i="1" dirty="0">
                <a:solidFill>
                  <a:srgbClr val="5F6F69"/>
                </a:solidFill>
                <a:latin typeface="Calibri" pitchFamily="34" charset="0"/>
                <a:ea typeface="Calibri" pitchFamily="34" charset="-122"/>
                <a:cs typeface="Calibri" pitchFamily="34" charset="-120"/>
              </a:rPr>
              <a:t>Needs: Legal Metrology (LMPC), trademark, pouch filler</a:t>
            </a:r>
            <a:endParaRPr lang="en-US" sz="1150" dirty="0"/>
          </a:p>
        </p:txBody>
      </p:sp>
      <p:sp>
        <p:nvSpPr>
          <p:cNvPr id="17" name="Shape 15"/>
          <p:cNvSpPr/>
          <p:nvPr/>
        </p:nvSpPr>
        <p:spPr>
          <a:xfrm>
            <a:off x="7882128" y="3566160"/>
            <a:ext cx="146304" cy="0"/>
          </a:xfrm>
          <a:prstGeom prst="line">
            <a:avLst/>
          </a:prstGeom>
          <a:noFill/>
          <a:ln w="19050">
            <a:solidFill>
              <a:srgbClr val="D9962B"/>
            </a:solidFill>
            <a:prstDash val="solid"/>
            <a:tailEnd type="triangle"/>
          </a:ln>
        </p:spPr>
      </p:sp>
      <p:sp>
        <p:nvSpPr>
          <p:cNvPr id="18" name="Shape 16"/>
          <p:cNvSpPr/>
          <p:nvPr/>
        </p:nvSpPr>
        <p:spPr>
          <a:xfrm>
            <a:off x="8046720" y="1508760"/>
            <a:ext cx="3566160" cy="4160520"/>
          </a:xfrm>
          <a:prstGeom prst="roundRect">
            <a:avLst>
              <a:gd name="adj" fmla="val 2051"/>
            </a:avLst>
          </a:prstGeom>
          <a:solidFill>
            <a:srgbClr val="14302A"/>
          </a:solidFill>
          <a:ln w="9525">
            <a:solidFill>
              <a:srgbClr val="14302A"/>
            </a:solidFill>
            <a:prstDash val="solid"/>
          </a:ln>
        </p:spPr>
      </p:sp>
      <p:sp>
        <p:nvSpPr>
          <p:cNvPr id="19" name="Text 17"/>
          <p:cNvSpPr txBox="1"/>
          <p:nvPr/>
        </p:nvSpPr>
        <p:spPr>
          <a:xfrm>
            <a:off x="8275320" y="1664208"/>
            <a:ext cx="3108960" cy="274320"/>
          </a:xfrm>
          <a:prstGeom prst="rect">
            <a:avLst/>
          </a:prstGeom>
          <a:noFill/>
          <a:ln/>
        </p:spPr>
        <p:txBody>
          <a:bodyPr wrap="square" lIns="0" tIns="0" rIns="0" bIns="0" rtlCol="0" anchor="t"/>
          <a:lstStyle/>
          <a:p>
            <a:pPr indent="0" marL="0">
              <a:buNone/>
            </a:pPr>
            <a:r>
              <a:rPr lang="en-US" sz="1050" b="1" spc="100" kern="0" dirty="0">
                <a:solidFill>
                  <a:srgbClr val="D9962B"/>
                </a:solidFill>
                <a:latin typeface="Calibri" pitchFamily="34" charset="0"/>
                <a:ea typeface="Calibri" pitchFamily="34" charset="-122"/>
                <a:cs typeface="Calibri" pitchFamily="34" charset="-120"/>
              </a:rPr>
              <a:t>PHASE 3 · YEAR 3+</a:t>
            </a:r>
            <a:endParaRPr lang="en-US" sz="1050" dirty="0"/>
          </a:p>
        </p:txBody>
      </p:sp>
      <p:sp>
        <p:nvSpPr>
          <p:cNvPr id="20" name="Text 18"/>
          <p:cNvSpPr txBox="1"/>
          <p:nvPr/>
        </p:nvSpPr>
        <p:spPr>
          <a:xfrm>
            <a:off x="8275320" y="1965960"/>
            <a:ext cx="3108960" cy="45720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Extracts</a:t>
            </a:r>
            <a:endParaRPr lang="en-US" sz="2000" dirty="0"/>
          </a:p>
        </p:txBody>
      </p:sp>
      <p:sp>
        <p:nvSpPr>
          <p:cNvPr id="21" name="Text 19"/>
          <p:cNvSpPr txBox="1"/>
          <p:nvPr/>
        </p:nvSpPr>
        <p:spPr>
          <a:xfrm>
            <a:off x="8275320" y="2560320"/>
            <a:ext cx="3154680" cy="210312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FFFFFF"/>
                </a:solidFill>
                <a:latin typeface="Calibri" pitchFamily="34" charset="0"/>
                <a:ea typeface="Calibri" pitchFamily="34" charset="-122"/>
                <a:cs typeface="Calibri" pitchFamily="34" charset="-120"/>
              </a:rPr>
              <a:t>Hot-water extract: vacuum evaporation + spray drying, standardized β-glucan</a:t>
            </a:r>
            <a:endParaRPr lang="en-US" sz="1400" dirty="0"/>
          </a:p>
          <a:p>
            <a:pPr marL="342900" indent="-342900">
              <a:spcAft>
                <a:spcPts val="500"/>
              </a:spcAft>
              <a:buSzPct val="100000"/>
              <a:buChar char="•"/>
            </a:pPr>
            <a:r>
              <a:rPr lang="en-US" sz="1400" dirty="0">
                <a:solidFill>
                  <a:srgbClr val="FFFFFF"/>
                </a:solidFill>
                <a:latin typeface="Calibri" pitchFamily="34" charset="0"/>
                <a:ea typeface="Calibri" pitchFamily="34" charset="-122"/>
                <a:cs typeface="Calibri" pitchFamily="34" charset="-120"/>
              </a:rPr>
              <a:t>Dual-extract tinctures: 70–95% ethanol + 80–90°C decoction, final &gt;25% ABV</a:t>
            </a:r>
            <a:endParaRPr lang="en-US" sz="1400" dirty="0"/>
          </a:p>
        </p:txBody>
      </p:sp>
      <p:sp>
        <p:nvSpPr>
          <p:cNvPr id="22" name="Text 20"/>
          <p:cNvSpPr txBox="1"/>
          <p:nvPr/>
        </p:nvSpPr>
        <p:spPr>
          <a:xfrm>
            <a:off x="8275320" y="4846320"/>
            <a:ext cx="3154680" cy="685800"/>
          </a:xfrm>
          <a:prstGeom prst="rect">
            <a:avLst/>
          </a:prstGeom>
          <a:noFill/>
          <a:ln/>
        </p:spPr>
        <p:txBody>
          <a:bodyPr wrap="square" lIns="0" tIns="0" rIns="0" bIns="0" rtlCol="0" anchor="t"/>
          <a:lstStyle/>
          <a:p>
            <a:pPr indent="0" marL="0">
              <a:buNone/>
            </a:pPr>
            <a:r>
              <a:rPr lang="en-US" sz="1150" i="1" dirty="0">
                <a:solidFill>
                  <a:srgbClr val="8DB596"/>
                </a:solidFill>
                <a:latin typeface="Calibri" pitchFamily="34" charset="0"/>
                <a:ea typeface="Calibri" pitchFamily="34" charset="-122"/>
                <a:cs typeface="Calibri" pitchFamily="34" charset="-120"/>
              </a:rPr>
              <a:t>Needs: extraction capex, HP Excise licence (ENA), fire upgrade</a:t>
            </a:r>
            <a:endParaRPr lang="en-US" sz="1150" dirty="0"/>
          </a:p>
        </p:txBody>
      </p:sp>
      <p:sp>
        <p:nvSpPr>
          <p:cNvPr id="23" name="Text 21"/>
          <p:cNvSpPr txBox="1"/>
          <p:nvPr/>
        </p:nvSpPr>
        <p:spPr>
          <a:xfrm>
            <a:off x="548640" y="5852160"/>
            <a:ext cx="11064240" cy="365760"/>
          </a:xfrm>
          <a:prstGeom prst="rect">
            <a:avLst/>
          </a:prstGeom>
          <a:noFill/>
          <a:ln/>
        </p:spPr>
        <p:txBody>
          <a:bodyPr wrap="square" lIns="0" tIns="0" rIns="0" bIns="0" rtlCol="0" anchor="t"/>
          <a:lstStyle/>
          <a:p>
            <a:pPr indent="0" marL="0">
              <a:buNone/>
            </a:pPr>
            <a:r>
              <a:rPr lang="en-US" sz="1200" i="1" dirty="0">
                <a:solidFill>
                  <a:srgbClr val="5F6F69"/>
                </a:solidFill>
                <a:latin typeface="Calibri" pitchFamily="34" charset="0"/>
                <a:ea typeface="Calibri" pitchFamily="34" charset="-122"/>
                <a:cs typeface="Calibri" pitchFamily="34" charset="-120"/>
              </a:rPr>
              <a:t>Realized price per kg rises at each step, but so do capex, licensing and working capital. Each phase is funded by the one before it.</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D9962B"/>
                </a:solidFill>
                <a:latin typeface="Calibri" pitchFamily="34" charset="0"/>
                <a:ea typeface="Calibri" pitchFamily="34" charset="-122"/>
                <a:cs typeface="Calibri" pitchFamily="34" charset="-120"/>
              </a:rPr>
              <a:t>09 · PRODUCTS &amp; MARKET</a:t>
            </a:r>
            <a:endParaRPr lang="en-US" sz="11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14302A"/>
                </a:solidFill>
                <a:latin typeface="Cambria" pitchFamily="34" charset="0"/>
                <a:ea typeface="Cambria" pitchFamily="34" charset="-122"/>
                <a:cs typeface="Cambria" pitchFamily="34" charset="-120"/>
              </a:rPr>
              <a:t>Target buyers and what each one needs from us</a:t>
            </a:r>
            <a:endParaRPr lang="en-US" sz="30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900" dirty="0">
                <a:solidFill>
                  <a:srgbClr val="5F6F69"/>
                </a:solidFill>
                <a:latin typeface="Calibri" pitchFamily="34" charset="0"/>
                <a:ea typeface="Calibri" pitchFamily="34" charset="-122"/>
                <a:cs typeface="Calibri" pitchFamily="34" charset="-120"/>
              </a:rPr>
              <a:t>Lion's Mane Facility  ·  Hamirpur, HP  ·  Project Plan</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900" dirty="0">
                <a:solidFill>
                  <a:srgbClr val="5F6F69"/>
                </a:solidFill>
                <a:latin typeface="Calibri" pitchFamily="34" charset="0"/>
                <a:ea typeface="Calibri" pitchFamily="34" charset="-122"/>
                <a:cs typeface="Calibri" pitchFamily="34" charset="-120"/>
              </a:rPr>
              <a:t>22</a:t>
            </a:r>
            <a:endParaRPr lang="en-US" sz="900" dirty="0"/>
          </a:p>
        </p:txBody>
      </p:sp>
      <p:sp>
        <p:nvSpPr>
          <p:cNvPr id="6" name="Shape 4"/>
          <p:cNvSpPr/>
          <p:nvPr/>
        </p:nvSpPr>
        <p:spPr>
          <a:xfrm>
            <a:off x="548640" y="1508760"/>
            <a:ext cx="5440680" cy="1828800"/>
          </a:xfrm>
          <a:prstGeom prst="roundRect">
            <a:avLst>
              <a:gd name="adj" fmla="val 4000"/>
            </a:avLst>
          </a:prstGeom>
          <a:solidFill>
            <a:srgbClr val="EEF4F0"/>
          </a:solidFill>
          <a:ln w="9525">
            <a:solidFill>
              <a:srgbClr val="EEF4F0"/>
            </a:solidFill>
            <a:prstDash val="solid"/>
          </a:ln>
        </p:spPr>
      </p:sp>
      <p:sp>
        <p:nvSpPr>
          <p:cNvPr id="7" name="Shape 5"/>
          <p:cNvSpPr/>
          <p:nvPr/>
        </p:nvSpPr>
        <p:spPr>
          <a:xfrm>
            <a:off x="777240" y="1783080"/>
            <a:ext cx="640080" cy="640080"/>
          </a:xfrm>
          <a:prstGeom prst="ellipse">
            <a:avLst/>
          </a:prstGeom>
          <a:solidFill>
            <a:srgbClr val="2E5E4E"/>
          </a:solidFill>
          <a:ln w="12700">
            <a:solidFill>
              <a:srgbClr val="2E5E4E"/>
            </a:solidFill>
            <a:prstDash val="solid"/>
          </a:ln>
        </p:spPr>
      </p:sp>
      <p:pic>
        <p:nvPicPr>
          <p:cNvPr id="8" name="Image 0" descr="preencoded.png">    </p:cNvPr>
          <p:cNvPicPr>
            <a:picLocks noChangeAspect="1"/>
          </p:cNvPicPr>
          <p:nvPr/>
        </p:nvPicPr>
        <p:blipFill>
          <a:blip r:embed="rId1"/>
          <a:stretch>
            <a:fillRect/>
          </a:stretch>
        </p:blipFill>
        <p:spPr>
          <a:xfrm>
            <a:off x="943661" y="1949501"/>
            <a:ext cx="307238" cy="307238"/>
          </a:xfrm>
          <a:prstGeom prst="rect">
            <a:avLst/>
          </a:prstGeom>
        </p:spPr>
      </p:pic>
      <p:sp>
        <p:nvSpPr>
          <p:cNvPr id="9" name="Text 6"/>
          <p:cNvSpPr txBox="1"/>
          <p:nvPr/>
        </p:nvSpPr>
        <p:spPr>
          <a:xfrm>
            <a:off x="1645920" y="1709928"/>
            <a:ext cx="4114800" cy="365760"/>
          </a:xfrm>
          <a:prstGeom prst="rect">
            <a:avLst/>
          </a:prstGeom>
          <a:noFill/>
          <a:ln/>
        </p:spPr>
        <p:txBody>
          <a:bodyPr wrap="square" lIns="0" tIns="0" rIns="0" bIns="0" rtlCol="0" anchor="t"/>
          <a:lstStyle/>
          <a:p>
            <a:pPr indent="0" marL="0">
              <a:buNone/>
            </a:pPr>
            <a:r>
              <a:rPr lang="en-US" sz="1600" b="1" dirty="0">
                <a:solidFill>
                  <a:srgbClr val="14302A"/>
                </a:solidFill>
                <a:latin typeface="Cambria" pitchFamily="34" charset="0"/>
                <a:ea typeface="Cambria" pitchFamily="34" charset="-122"/>
                <a:cs typeface="Cambria" pitchFamily="34" charset="-120"/>
              </a:rPr>
              <a:t>Nutraceutical brands</a:t>
            </a:r>
            <a:endParaRPr lang="en-US" sz="1600" dirty="0"/>
          </a:p>
        </p:txBody>
      </p:sp>
      <p:sp>
        <p:nvSpPr>
          <p:cNvPr id="10" name="Text 7"/>
          <p:cNvSpPr txBox="1"/>
          <p:nvPr/>
        </p:nvSpPr>
        <p:spPr>
          <a:xfrm>
            <a:off x="1645920" y="2075688"/>
            <a:ext cx="4114800" cy="274320"/>
          </a:xfrm>
          <a:prstGeom prst="rect">
            <a:avLst/>
          </a:prstGeom>
          <a:noFill/>
          <a:ln/>
        </p:spPr>
        <p:txBody>
          <a:bodyPr wrap="square" lIns="0" tIns="0" rIns="0" bIns="0" rtlCol="0" anchor="t"/>
          <a:lstStyle/>
          <a:p>
            <a:pPr indent="0" marL="0">
              <a:buNone/>
            </a:pPr>
            <a:r>
              <a:rPr lang="en-US" sz="1100" i="1" dirty="0">
                <a:solidFill>
                  <a:srgbClr val="5F6F69"/>
                </a:solidFill>
                <a:latin typeface="Calibri" pitchFamily="34" charset="0"/>
                <a:ea typeface="Calibri" pitchFamily="34" charset="-122"/>
                <a:cs typeface="Calibri" pitchFamily="34" charset="-120"/>
              </a:rPr>
              <a:t>Capsules, gummies, powders</a:t>
            </a:r>
            <a:endParaRPr lang="en-US" sz="1100" dirty="0"/>
          </a:p>
        </p:txBody>
      </p:sp>
      <p:sp>
        <p:nvSpPr>
          <p:cNvPr id="11" name="Text 8"/>
          <p:cNvSpPr txBox="1"/>
          <p:nvPr/>
        </p:nvSpPr>
        <p:spPr>
          <a:xfrm>
            <a:off x="1645920" y="2404872"/>
            <a:ext cx="4160520" cy="82296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Needs: CoA every lot, fixed mesh, fruiting-body declaration, annual contracts</a:t>
            </a:r>
            <a:endParaRPr lang="en-US" sz="1250" dirty="0"/>
          </a:p>
        </p:txBody>
      </p:sp>
      <p:sp>
        <p:nvSpPr>
          <p:cNvPr id="12" name="Shape 9"/>
          <p:cNvSpPr/>
          <p:nvPr/>
        </p:nvSpPr>
        <p:spPr>
          <a:xfrm>
            <a:off x="6172200" y="1508760"/>
            <a:ext cx="5440680" cy="1828800"/>
          </a:xfrm>
          <a:prstGeom prst="roundRect">
            <a:avLst>
              <a:gd name="adj" fmla="val 4000"/>
            </a:avLst>
          </a:prstGeom>
          <a:solidFill>
            <a:srgbClr val="EEF4F0"/>
          </a:solidFill>
          <a:ln w="9525">
            <a:solidFill>
              <a:srgbClr val="EEF4F0"/>
            </a:solidFill>
            <a:prstDash val="solid"/>
          </a:ln>
        </p:spPr>
      </p:sp>
      <p:sp>
        <p:nvSpPr>
          <p:cNvPr id="13" name="Shape 10"/>
          <p:cNvSpPr/>
          <p:nvPr/>
        </p:nvSpPr>
        <p:spPr>
          <a:xfrm>
            <a:off x="6400800" y="1783080"/>
            <a:ext cx="640080" cy="640080"/>
          </a:xfrm>
          <a:prstGeom prst="ellipse">
            <a:avLst/>
          </a:prstGeom>
          <a:solidFill>
            <a:srgbClr val="2E5E4E"/>
          </a:solidFill>
          <a:ln w="12700">
            <a:solidFill>
              <a:srgbClr val="2E5E4E"/>
            </a:solidFill>
            <a:prstDash val="solid"/>
          </a:ln>
        </p:spPr>
      </p:sp>
      <p:pic>
        <p:nvPicPr>
          <p:cNvPr id="14" name="Image 1" descr="preencoded.png">    </p:cNvPr>
          <p:cNvPicPr>
            <a:picLocks noChangeAspect="1"/>
          </p:cNvPicPr>
          <p:nvPr/>
        </p:nvPicPr>
        <p:blipFill>
          <a:blip r:embed="rId2"/>
          <a:stretch>
            <a:fillRect/>
          </a:stretch>
        </p:blipFill>
        <p:spPr>
          <a:xfrm>
            <a:off x="6567221" y="1949501"/>
            <a:ext cx="307238" cy="307238"/>
          </a:xfrm>
          <a:prstGeom prst="rect">
            <a:avLst/>
          </a:prstGeom>
        </p:spPr>
      </p:pic>
      <p:sp>
        <p:nvSpPr>
          <p:cNvPr id="15" name="Text 11"/>
          <p:cNvSpPr txBox="1"/>
          <p:nvPr/>
        </p:nvSpPr>
        <p:spPr>
          <a:xfrm>
            <a:off x="7269480" y="1709928"/>
            <a:ext cx="4114800" cy="365760"/>
          </a:xfrm>
          <a:prstGeom prst="rect">
            <a:avLst/>
          </a:prstGeom>
          <a:noFill/>
          <a:ln/>
        </p:spPr>
        <p:txBody>
          <a:bodyPr wrap="square" lIns="0" tIns="0" rIns="0" bIns="0" rtlCol="0" anchor="t"/>
          <a:lstStyle/>
          <a:p>
            <a:pPr indent="0" marL="0">
              <a:buNone/>
            </a:pPr>
            <a:r>
              <a:rPr lang="en-US" sz="1600" b="1" dirty="0">
                <a:solidFill>
                  <a:srgbClr val="14302A"/>
                </a:solidFill>
                <a:latin typeface="Cambria" pitchFamily="34" charset="0"/>
                <a:ea typeface="Cambria" pitchFamily="34" charset="-122"/>
                <a:cs typeface="Cambria" pitchFamily="34" charset="-120"/>
              </a:rPr>
              <a:t>Ayurveda manufacturers</a:t>
            </a:r>
            <a:endParaRPr lang="en-US" sz="1600" dirty="0"/>
          </a:p>
        </p:txBody>
      </p:sp>
      <p:sp>
        <p:nvSpPr>
          <p:cNvPr id="16" name="Text 12"/>
          <p:cNvSpPr txBox="1"/>
          <p:nvPr/>
        </p:nvSpPr>
        <p:spPr>
          <a:xfrm>
            <a:off x="7269480" y="2075688"/>
            <a:ext cx="4114800" cy="274320"/>
          </a:xfrm>
          <a:prstGeom prst="rect">
            <a:avLst/>
          </a:prstGeom>
          <a:noFill/>
          <a:ln/>
        </p:spPr>
        <p:txBody>
          <a:bodyPr wrap="square" lIns="0" tIns="0" rIns="0" bIns="0" rtlCol="0" anchor="t"/>
          <a:lstStyle/>
          <a:p>
            <a:pPr indent="0" marL="0">
              <a:buNone/>
            </a:pPr>
            <a:r>
              <a:rPr lang="en-US" sz="1100" i="1" dirty="0">
                <a:solidFill>
                  <a:srgbClr val="5F6F69"/>
                </a:solidFill>
                <a:latin typeface="Calibri" pitchFamily="34" charset="0"/>
                <a:ea typeface="Calibri" pitchFamily="34" charset="-122"/>
                <a:cs typeface="Calibri" pitchFamily="34" charset="-120"/>
              </a:rPr>
              <a:t>BBN (HP) · Haridwar–Dehradun</a:t>
            </a:r>
            <a:endParaRPr lang="en-US" sz="1100" dirty="0"/>
          </a:p>
        </p:txBody>
      </p:sp>
      <p:sp>
        <p:nvSpPr>
          <p:cNvPr id="17" name="Text 13"/>
          <p:cNvSpPr txBox="1"/>
          <p:nvPr/>
        </p:nvSpPr>
        <p:spPr>
          <a:xfrm>
            <a:off x="7269480" y="2404872"/>
            <a:ext cx="4160520" cy="82296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Needs: Botanical identity, heavy metals, bulk drums, stable pricing</a:t>
            </a:r>
            <a:endParaRPr lang="en-US" sz="1250" dirty="0"/>
          </a:p>
        </p:txBody>
      </p:sp>
      <p:sp>
        <p:nvSpPr>
          <p:cNvPr id="18" name="Shape 14"/>
          <p:cNvSpPr/>
          <p:nvPr/>
        </p:nvSpPr>
        <p:spPr>
          <a:xfrm>
            <a:off x="548640" y="3520440"/>
            <a:ext cx="5440680" cy="1828800"/>
          </a:xfrm>
          <a:prstGeom prst="roundRect">
            <a:avLst>
              <a:gd name="adj" fmla="val 4000"/>
            </a:avLst>
          </a:prstGeom>
          <a:solidFill>
            <a:srgbClr val="EEF4F0"/>
          </a:solidFill>
          <a:ln w="9525">
            <a:solidFill>
              <a:srgbClr val="EEF4F0"/>
            </a:solidFill>
            <a:prstDash val="solid"/>
          </a:ln>
        </p:spPr>
      </p:sp>
      <p:sp>
        <p:nvSpPr>
          <p:cNvPr id="19" name="Shape 15"/>
          <p:cNvSpPr/>
          <p:nvPr/>
        </p:nvSpPr>
        <p:spPr>
          <a:xfrm>
            <a:off x="777240" y="3794760"/>
            <a:ext cx="640080" cy="640080"/>
          </a:xfrm>
          <a:prstGeom prst="ellipse">
            <a:avLst/>
          </a:prstGeom>
          <a:solidFill>
            <a:srgbClr val="D9962B"/>
          </a:solidFill>
          <a:ln w="12700">
            <a:solidFill>
              <a:srgbClr val="D9962B"/>
            </a:solidFill>
            <a:prstDash val="solid"/>
          </a:ln>
        </p:spPr>
      </p:sp>
      <p:pic>
        <p:nvPicPr>
          <p:cNvPr id="20" name="Image 2" descr="preencoded.png">    </p:cNvPr>
          <p:cNvPicPr>
            <a:picLocks noChangeAspect="1"/>
          </p:cNvPicPr>
          <p:nvPr/>
        </p:nvPicPr>
        <p:blipFill>
          <a:blip r:embed="rId3"/>
          <a:stretch>
            <a:fillRect/>
          </a:stretch>
        </p:blipFill>
        <p:spPr>
          <a:xfrm>
            <a:off x="943661" y="3961181"/>
            <a:ext cx="307238" cy="307238"/>
          </a:xfrm>
          <a:prstGeom prst="rect">
            <a:avLst/>
          </a:prstGeom>
        </p:spPr>
      </p:pic>
      <p:sp>
        <p:nvSpPr>
          <p:cNvPr id="21" name="Text 16"/>
          <p:cNvSpPr txBox="1"/>
          <p:nvPr/>
        </p:nvSpPr>
        <p:spPr>
          <a:xfrm>
            <a:off x="1645920" y="3721608"/>
            <a:ext cx="4114800" cy="365760"/>
          </a:xfrm>
          <a:prstGeom prst="rect">
            <a:avLst/>
          </a:prstGeom>
          <a:noFill/>
          <a:ln/>
        </p:spPr>
        <p:txBody>
          <a:bodyPr wrap="square" lIns="0" tIns="0" rIns="0" bIns="0" rtlCol="0" anchor="t"/>
          <a:lstStyle/>
          <a:p>
            <a:pPr indent="0" marL="0">
              <a:buNone/>
            </a:pPr>
            <a:r>
              <a:rPr lang="en-US" sz="1600" b="1" dirty="0">
                <a:solidFill>
                  <a:srgbClr val="14302A"/>
                </a:solidFill>
                <a:latin typeface="Cambria" pitchFamily="34" charset="0"/>
                <a:ea typeface="Cambria" pitchFamily="34" charset="-122"/>
                <a:cs typeface="Cambria" pitchFamily="34" charset="-120"/>
              </a:rPr>
              <a:t>Nootropic &amp; mushroom-coffee D2C</a:t>
            </a:r>
            <a:endParaRPr lang="en-US" sz="1600" dirty="0"/>
          </a:p>
        </p:txBody>
      </p:sp>
      <p:sp>
        <p:nvSpPr>
          <p:cNvPr id="22" name="Text 17"/>
          <p:cNvSpPr txBox="1"/>
          <p:nvPr/>
        </p:nvSpPr>
        <p:spPr>
          <a:xfrm>
            <a:off x="1645920" y="4087368"/>
            <a:ext cx="4114800" cy="274320"/>
          </a:xfrm>
          <a:prstGeom prst="rect">
            <a:avLst/>
          </a:prstGeom>
          <a:noFill/>
          <a:ln/>
        </p:spPr>
        <p:txBody>
          <a:bodyPr wrap="square" lIns="0" tIns="0" rIns="0" bIns="0" rtlCol="0" anchor="t"/>
          <a:lstStyle/>
          <a:p>
            <a:pPr indent="0" marL="0">
              <a:buNone/>
            </a:pPr>
            <a:r>
              <a:rPr lang="en-US" sz="1100" i="1" dirty="0">
                <a:solidFill>
                  <a:srgbClr val="5F6F69"/>
                </a:solidFill>
                <a:latin typeface="Calibri" pitchFamily="34" charset="0"/>
                <a:ea typeface="Calibri" pitchFamily="34" charset="-122"/>
                <a:cs typeface="Calibri" pitchFamily="34" charset="-120"/>
              </a:rPr>
              <a:t>Delhi-NCR, Mumbai, Bengaluru</a:t>
            </a:r>
            <a:endParaRPr lang="en-US" sz="1100" dirty="0"/>
          </a:p>
        </p:txBody>
      </p:sp>
      <p:sp>
        <p:nvSpPr>
          <p:cNvPr id="23" name="Text 18"/>
          <p:cNvSpPr txBox="1"/>
          <p:nvPr/>
        </p:nvSpPr>
        <p:spPr>
          <a:xfrm>
            <a:off x="1645920" y="4416552"/>
            <a:ext cx="4160520" cy="82296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Needs: Small MOQs (25–100 kg), fast samples, private label</a:t>
            </a:r>
            <a:endParaRPr lang="en-US" sz="1250" dirty="0"/>
          </a:p>
        </p:txBody>
      </p:sp>
      <p:sp>
        <p:nvSpPr>
          <p:cNvPr id="24" name="Shape 19"/>
          <p:cNvSpPr/>
          <p:nvPr/>
        </p:nvSpPr>
        <p:spPr>
          <a:xfrm>
            <a:off x="6172200" y="3520440"/>
            <a:ext cx="5440680" cy="1828800"/>
          </a:xfrm>
          <a:prstGeom prst="roundRect">
            <a:avLst>
              <a:gd name="adj" fmla="val 4000"/>
            </a:avLst>
          </a:prstGeom>
          <a:solidFill>
            <a:srgbClr val="EEF4F0"/>
          </a:solidFill>
          <a:ln w="9525">
            <a:solidFill>
              <a:srgbClr val="EEF4F0"/>
            </a:solidFill>
            <a:prstDash val="solid"/>
          </a:ln>
        </p:spPr>
      </p:sp>
      <p:sp>
        <p:nvSpPr>
          <p:cNvPr id="25" name="Shape 20"/>
          <p:cNvSpPr/>
          <p:nvPr/>
        </p:nvSpPr>
        <p:spPr>
          <a:xfrm>
            <a:off x="6400800" y="3794760"/>
            <a:ext cx="640080" cy="640080"/>
          </a:xfrm>
          <a:prstGeom prst="ellipse">
            <a:avLst/>
          </a:prstGeom>
          <a:solidFill>
            <a:srgbClr val="2E5E4E"/>
          </a:solidFill>
          <a:ln w="12700">
            <a:solidFill>
              <a:srgbClr val="2E5E4E"/>
            </a:solidFill>
            <a:prstDash val="solid"/>
          </a:ln>
        </p:spPr>
      </p:sp>
      <p:pic>
        <p:nvPicPr>
          <p:cNvPr id="26" name="Image 3" descr="preencoded.png">    </p:cNvPr>
          <p:cNvPicPr>
            <a:picLocks noChangeAspect="1"/>
          </p:cNvPicPr>
          <p:nvPr/>
        </p:nvPicPr>
        <p:blipFill>
          <a:blip r:embed="rId4"/>
          <a:stretch>
            <a:fillRect/>
          </a:stretch>
        </p:blipFill>
        <p:spPr>
          <a:xfrm>
            <a:off x="6567221" y="3961181"/>
            <a:ext cx="307238" cy="307238"/>
          </a:xfrm>
          <a:prstGeom prst="rect">
            <a:avLst/>
          </a:prstGeom>
        </p:spPr>
      </p:pic>
      <p:sp>
        <p:nvSpPr>
          <p:cNvPr id="27" name="Text 21"/>
          <p:cNvSpPr txBox="1"/>
          <p:nvPr/>
        </p:nvSpPr>
        <p:spPr>
          <a:xfrm>
            <a:off x="7269480" y="3721608"/>
            <a:ext cx="4114800" cy="365760"/>
          </a:xfrm>
          <a:prstGeom prst="rect">
            <a:avLst/>
          </a:prstGeom>
          <a:noFill/>
          <a:ln/>
        </p:spPr>
        <p:txBody>
          <a:bodyPr wrap="square" lIns="0" tIns="0" rIns="0" bIns="0" rtlCol="0" anchor="t"/>
          <a:lstStyle/>
          <a:p>
            <a:pPr indent="0" marL="0">
              <a:buNone/>
            </a:pPr>
            <a:r>
              <a:rPr lang="en-US" sz="1600" b="1" dirty="0">
                <a:solidFill>
                  <a:srgbClr val="14302A"/>
                </a:solidFill>
                <a:latin typeface="Cambria" pitchFamily="34" charset="0"/>
                <a:ea typeface="Cambria" pitchFamily="34" charset="-122"/>
                <a:cs typeface="Cambria" pitchFamily="34" charset="-120"/>
              </a:rPr>
              <a:t>B2B extractors</a:t>
            </a:r>
            <a:endParaRPr lang="en-US" sz="1600" dirty="0"/>
          </a:p>
        </p:txBody>
      </p:sp>
      <p:sp>
        <p:nvSpPr>
          <p:cNvPr id="28" name="Text 22"/>
          <p:cNvSpPr txBox="1"/>
          <p:nvPr/>
        </p:nvSpPr>
        <p:spPr>
          <a:xfrm>
            <a:off x="7269480" y="4087368"/>
            <a:ext cx="4114800" cy="274320"/>
          </a:xfrm>
          <a:prstGeom prst="rect">
            <a:avLst/>
          </a:prstGeom>
          <a:noFill/>
          <a:ln/>
        </p:spPr>
        <p:txBody>
          <a:bodyPr wrap="square" lIns="0" tIns="0" rIns="0" bIns="0" rtlCol="0" anchor="t"/>
          <a:lstStyle/>
          <a:p>
            <a:pPr indent="0" marL="0">
              <a:buNone/>
            </a:pPr>
            <a:r>
              <a:rPr lang="en-US" sz="1100" i="1" dirty="0">
                <a:solidFill>
                  <a:srgbClr val="5F6F69"/>
                </a:solidFill>
                <a:latin typeface="Calibri" pitchFamily="34" charset="0"/>
                <a:ea typeface="Calibri" pitchFamily="34" charset="-122"/>
                <a:cs typeface="Calibri" pitchFamily="34" charset="-120"/>
              </a:rPr>
              <a:t>Make 10:1 and β-glucan extracts</a:t>
            </a:r>
            <a:endParaRPr lang="en-US" sz="1100" dirty="0"/>
          </a:p>
        </p:txBody>
      </p:sp>
      <p:sp>
        <p:nvSpPr>
          <p:cNvPr id="29" name="Text 23"/>
          <p:cNvSpPr txBox="1"/>
          <p:nvPr/>
        </p:nvSpPr>
        <p:spPr>
          <a:xfrm>
            <a:off x="7269480" y="4416552"/>
            <a:ext cx="4160520" cy="82296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Needs: Dried slices or whole, low moisture, volume and price</a:t>
            </a:r>
            <a:endParaRPr lang="en-US" sz="1250" dirty="0"/>
          </a:p>
        </p:txBody>
      </p:sp>
      <p:sp>
        <p:nvSpPr>
          <p:cNvPr id="30" name="Shape 24"/>
          <p:cNvSpPr/>
          <p:nvPr/>
        </p:nvSpPr>
        <p:spPr>
          <a:xfrm>
            <a:off x="548640" y="5577840"/>
            <a:ext cx="11109960" cy="685800"/>
          </a:xfrm>
          <a:prstGeom prst="roundRect">
            <a:avLst>
              <a:gd name="adj" fmla="val 10667"/>
            </a:avLst>
          </a:prstGeom>
          <a:solidFill>
            <a:srgbClr val="FBF1DE"/>
          </a:solidFill>
          <a:ln w="9525">
            <a:solidFill>
              <a:srgbClr val="FBF1DE"/>
            </a:solidFill>
            <a:prstDash val="solid"/>
          </a:ln>
        </p:spPr>
      </p:sp>
      <p:sp>
        <p:nvSpPr>
          <p:cNvPr id="31" name="Text 25"/>
          <p:cNvSpPr txBox="1"/>
          <p:nvPr/>
        </p:nvSpPr>
        <p:spPr>
          <a:xfrm>
            <a:off x="777240" y="5577840"/>
            <a:ext cx="10698480" cy="685800"/>
          </a:xfrm>
          <a:prstGeom prst="rect">
            <a:avLst/>
          </a:prstGeom>
          <a:noFill/>
          <a:ln/>
        </p:spPr>
        <p:txBody>
          <a:bodyPr wrap="square" lIns="0" tIns="0" rIns="0" bIns="0" rtlCol="0" anchor="ctr"/>
          <a:lstStyle/>
          <a:p>
            <a:pPr indent="0" marL="0">
              <a:buNone/>
            </a:pPr>
            <a:r>
              <a:rPr lang="en-US" sz="1200" dirty="0">
                <a:solidFill>
                  <a:srgbClr val="1E2A26"/>
                </a:solidFill>
                <a:latin typeface="Calibri" pitchFamily="34" charset="0"/>
                <a:ea typeface="Calibri" pitchFamily="34" charset="-122"/>
                <a:cs typeface="Calibri" pitchFamily="34" charset="-120"/>
              </a:rPr>
              <a:t>Surplus valve: fresh Lion's Mane to premium restaurants and hotels in Chandigarh, Shimla and Dharamshala absorbs flush peaks without discounting powder.</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D9962B"/>
                </a:solidFill>
                <a:latin typeface="Calibri" pitchFamily="34" charset="0"/>
                <a:ea typeface="Calibri" pitchFamily="34" charset="-122"/>
                <a:cs typeface="Calibri" pitchFamily="34" charset="-120"/>
              </a:rPr>
              <a:t>09 · PRODUCTS &amp; MARKET</a:t>
            </a:r>
            <a:endParaRPr lang="en-US" sz="11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14302A"/>
                </a:solidFill>
                <a:latin typeface="Cambria" pitchFamily="34" charset="0"/>
                <a:ea typeface="Cambria" pitchFamily="34" charset="-122"/>
                <a:cs typeface="Cambria" pitchFamily="34" charset="-120"/>
              </a:rPr>
              <a:t>Pricing ladder and B2B qualification path</a:t>
            </a:r>
            <a:endParaRPr lang="en-US" sz="30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900" dirty="0">
                <a:solidFill>
                  <a:srgbClr val="5F6F69"/>
                </a:solidFill>
                <a:latin typeface="Calibri" pitchFamily="34" charset="0"/>
                <a:ea typeface="Calibri" pitchFamily="34" charset="-122"/>
                <a:cs typeface="Calibri" pitchFamily="34" charset="-120"/>
              </a:rPr>
              <a:t>Lion's Mane Facility  ·  Hamirpur, HP  ·  Project Plan</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900" dirty="0">
                <a:solidFill>
                  <a:srgbClr val="5F6F69"/>
                </a:solidFill>
                <a:latin typeface="Calibri" pitchFamily="34" charset="0"/>
                <a:ea typeface="Calibri" pitchFamily="34" charset="-122"/>
                <a:cs typeface="Calibri" pitchFamily="34" charset="-120"/>
              </a:rPr>
              <a:t>23</a:t>
            </a:r>
            <a:endParaRPr lang="en-US" sz="900" dirty="0"/>
          </a:p>
        </p:txBody>
      </p:sp>
      <p:sp>
        <p:nvSpPr>
          <p:cNvPr id="6" name="Text 4"/>
          <p:cNvSpPr txBox="1"/>
          <p:nvPr/>
        </p:nvSpPr>
        <p:spPr>
          <a:xfrm>
            <a:off x="548640" y="1463040"/>
            <a:ext cx="5486400" cy="274320"/>
          </a:xfrm>
          <a:prstGeom prst="rect">
            <a:avLst/>
          </a:prstGeom>
          <a:noFill/>
          <a:ln/>
        </p:spPr>
        <p:txBody>
          <a:bodyPr wrap="square" lIns="0" tIns="0" rIns="0" bIns="0" rtlCol="0" anchor="t"/>
          <a:lstStyle/>
          <a:p>
            <a:pPr indent="0" marL="0">
              <a:buNone/>
            </a:pPr>
            <a:r>
              <a:rPr lang="en-US" sz="1200" b="1" dirty="0">
                <a:solidFill>
                  <a:srgbClr val="14302A"/>
                </a:solidFill>
                <a:latin typeface="Calibri" pitchFamily="34" charset="0"/>
                <a:ea typeface="Calibri" pitchFamily="34" charset="-122"/>
                <a:cs typeface="Calibri" pitchFamily="34" charset="-120"/>
              </a:rPr>
              <a:t>₹ per kg, dry</a:t>
            </a:r>
            <a:endParaRPr lang="en-US" sz="1200" dirty="0"/>
          </a:p>
        </p:txBody>
      </p:sp>
      <p:sp>
        <p:nvSpPr>
          <p:cNvPr id="7" name="Text 5"/>
          <p:cNvSpPr txBox="1"/>
          <p:nvPr/>
        </p:nvSpPr>
        <p:spPr>
          <a:xfrm>
            <a:off x="548640" y="1920240"/>
            <a:ext cx="1737360" cy="457200"/>
          </a:xfrm>
          <a:prstGeom prst="rect">
            <a:avLst/>
          </a:prstGeom>
          <a:noFill/>
          <a:ln/>
        </p:spPr>
        <p:txBody>
          <a:bodyPr wrap="square" lIns="0" tIns="0" rIns="0" bIns="0" rtlCol="0" anchor="ctr"/>
          <a:lstStyle/>
          <a:p>
            <a:pPr indent="0" marL="0">
              <a:buNone/>
            </a:pPr>
            <a:r>
              <a:rPr lang="en-US" sz="1200" b="1" dirty="0">
                <a:solidFill>
                  <a:srgbClr val="1E2A26"/>
                </a:solidFill>
                <a:latin typeface="Calibri" pitchFamily="34" charset="0"/>
                <a:ea typeface="Calibri" pitchFamily="34" charset="-122"/>
                <a:cs typeface="Calibri" pitchFamily="34" charset="-120"/>
              </a:rPr>
              <a:t>Cash cost</a:t>
            </a:r>
            <a:endParaRPr lang="en-US" sz="1200" dirty="0"/>
          </a:p>
        </p:txBody>
      </p:sp>
      <p:sp>
        <p:nvSpPr>
          <p:cNvPr id="8" name="Shape 6"/>
          <p:cNvSpPr/>
          <p:nvPr/>
        </p:nvSpPr>
        <p:spPr>
          <a:xfrm>
            <a:off x="2377440" y="2148840"/>
            <a:ext cx="3840480" cy="0"/>
          </a:xfrm>
          <a:prstGeom prst="line">
            <a:avLst/>
          </a:prstGeom>
          <a:noFill/>
          <a:ln w="76200">
            <a:solidFill>
              <a:srgbClr val="E5ECE8"/>
            </a:solidFill>
            <a:prstDash val="solid"/>
          </a:ln>
        </p:spPr>
      </p:sp>
      <p:sp>
        <p:nvSpPr>
          <p:cNvPr id="9" name="Shape 7"/>
          <p:cNvSpPr/>
          <p:nvPr/>
        </p:nvSpPr>
        <p:spPr>
          <a:xfrm>
            <a:off x="2807574" y="1965960"/>
            <a:ext cx="109728" cy="365760"/>
          </a:xfrm>
          <a:prstGeom prst="roundRect">
            <a:avLst>
              <a:gd name="adj" fmla="val 83333"/>
            </a:avLst>
          </a:prstGeom>
          <a:solidFill>
            <a:srgbClr val="D9D9D9"/>
          </a:solidFill>
          <a:ln w="12700">
            <a:solidFill>
              <a:srgbClr val="D9D9D9"/>
            </a:solidFill>
            <a:prstDash val="solid"/>
          </a:ln>
        </p:spPr>
      </p:sp>
      <p:sp>
        <p:nvSpPr>
          <p:cNvPr id="10" name="Text 8"/>
          <p:cNvSpPr txBox="1"/>
          <p:nvPr/>
        </p:nvSpPr>
        <p:spPr>
          <a:xfrm>
            <a:off x="548640" y="2377440"/>
            <a:ext cx="5669280" cy="274320"/>
          </a:xfrm>
          <a:prstGeom prst="rect">
            <a:avLst/>
          </a:prstGeom>
          <a:noFill/>
          <a:ln/>
        </p:spPr>
        <p:txBody>
          <a:bodyPr wrap="square" lIns="0" tIns="0" rIns="0" bIns="0" rtlCol="0" anchor="t"/>
          <a:lstStyle/>
          <a:p>
            <a:pPr algn="r" indent="0" marL="0">
              <a:buNone/>
            </a:pPr>
            <a:r>
              <a:rPr lang="en-US" sz="1050" dirty="0">
                <a:solidFill>
                  <a:srgbClr val="5F6F69"/>
                </a:solidFill>
                <a:latin typeface="Calibri" pitchFamily="34" charset="0"/>
                <a:ea typeface="Calibri" pitchFamily="34" charset="-122"/>
                <a:cs typeface="Calibri" pitchFamily="34" charset="-120"/>
              </a:rPr>
              <a:t>~₹3,000</a:t>
            </a:r>
            <a:endParaRPr lang="en-US" sz="1050" dirty="0"/>
          </a:p>
        </p:txBody>
      </p:sp>
      <p:sp>
        <p:nvSpPr>
          <p:cNvPr id="11" name="Text 9"/>
          <p:cNvSpPr txBox="1"/>
          <p:nvPr/>
        </p:nvSpPr>
        <p:spPr>
          <a:xfrm>
            <a:off x="548640" y="2788920"/>
            <a:ext cx="1737360" cy="457200"/>
          </a:xfrm>
          <a:prstGeom prst="rect">
            <a:avLst/>
          </a:prstGeom>
          <a:noFill/>
          <a:ln/>
        </p:spPr>
        <p:txBody>
          <a:bodyPr wrap="square" lIns="0" tIns="0" rIns="0" bIns="0" rtlCol="0" anchor="ctr"/>
          <a:lstStyle/>
          <a:p>
            <a:pPr indent="0" marL="0">
              <a:buNone/>
            </a:pPr>
            <a:r>
              <a:rPr lang="en-US" sz="1200" b="1" dirty="0">
                <a:solidFill>
                  <a:srgbClr val="1E2A26"/>
                </a:solidFill>
                <a:latin typeface="Calibri" pitchFamily="34" charset="0"/>
                <a:ea typeface="Calibri" pitchFamily="34" charset="-122"/>
                <a:cs typeface="Calibri" pitchFamily="34" charset="-120"/>
              </a:rPr>
              <a:t>B2B bulk powder</a:t>
            </a:r>
            <a:endParaRPr lang="en-US" sz="1200" dirty="0"/>
          </a:p>
        </p:txBody>
      </p:sp>
      <p:sp>
        <p:nvSpPr>
          <p:cNvPr id="12" name="Shape 10"/>
          <p:cNvSpPr/>
          <p:nvPr/>
        </p:nvSpPr>
        <p:spPr>
          <a:xfrm>
            <a:off x="2377440" y="3017520"/>
            <a:ext cx="3840480" cy="0"/>
          </a:xfrm>
          <a:prstGeom prst="line">
            <a:avLst/>
          </a:prstGeom>
          <a:noFill/>
          <a:ln w="76200">
            <a:solidFill>
              <a:srgbClr val="E5ECE8"/>
            </a:solidFill>
            <a:prstDash val="solid"/>
          </a:ln>
        </p:spPr>
      </p:sp>
      <p:sp>
        <p:nvSpPr>
          <p:cNvPr id="13" name="Shape 11"/>
          <p:cNvSpPr/>
          <p:nvPr/>
        </p:nvSpPr>
        <p:spPr>
          <a:xfrm>
            <a:off x="3606394" y="2834640"/>
            <a:ext cx="614477" cy="365760"/>
          </a:xfrm>
          <a:prstGeom prst="roundRect">
            <a:avLst>
              <a:gd name="adj" fmla="val 25000"/>
            </a:avLst>
          </a:prstGeom>
          <a:solidFill>
            <a:srgbClr val="2E5E4E"/>
          </a:solidFill>
          <a:ln w="12700">
            <a:solidFill>
              <a:srgbClr val="2E5E4E"/>
            </a:solidFill>
            <a:prstDash val="solid"/>
          </a:ln>
        </p:spPr>
      </p:sp>
      <p:sp>
        <p:nvSpPr>
          <p:cNvPr id="14" name="Text 12"/>
          <p:cNvSpPr txBox="1"/>
          <p:nvPr/>
        </p:nvSpPr>
        <p:spPr>
          <a:xfrm>
            <a:off x="548640" y="3246120"/>
            <a:ext cx="5669280" cy="274320"/>
          </a:xfrm>
          <a:prstGeom prst="rect">
            <a:avLst/>
          </a:prstGeom>
          <a:noFill/>
          <a:ln/>
        </p:spPr>
        <p:txBody>
          <a:bodyPr wrap="square" lIns="0" tIns="0" rIns="0" bIns="0" rtlCol="0" anchor="t"/>
          <a:lstStyle/>
          <a:p>
            <a:pPr algn="r" indent="0" marL="0">
              <a:buNone/>
            </a:pPr>
            <a:r>
              <a:rPr lang="en-US" sz="1050" dirty="0">
                <a:solidFill>
                  <a:srgbClr val="5F6F69"/>
                </a:solidFill>
                <a:latin typeface="Calibri" pitchFamily="34" charset="0"/>
                <a:ea typeface="Calibri" pitchFamily="34" charset="-122"/>
                <a:cs typeface="Calibri" pitchFamily="34" charset="-120"/>
              </a:rPr>
              <a:t>₹8,000–12,000</a:t>
            </a:r>
            <a:endParaRPr lang="en-US" sz="1050" dirty="0"/>
          </a:p>
        </p:txBody>
      </p:sp>
      <p:sp>
        <p:nvSpPr>
          <p:cNvPr id="15" name="Text 13"/>
          <p:cNvSpPr txBox="1"/>
          <p:nvPr/>
        </p:nvSpPr>
        <p:spPr>
          <a:xfrm>
            <a:off x="548640" y="3657600"/>
            <a:ext cx="1737360" cy="457200"/>
          </a:xfrm>
          <a:prstGeom prst="rect">
            <a:avLst/>
          </a:prstGeom>
          <a:noFill/>
          <a:ln/>
        </p:spPr>
        <p:txBody>
          <a:bodyPr wrap="square" lIns="0" tIns="0" rIns="0" bIns="0" rtlCol="0" anchor="ctr"/>
          <a:lstStyle/>
          <a:p>
            <a:pPr indent="0" marL="0">
              <a:buNone/>
            </a:pPr>
            <a:r>
              <a:rPr lang="en-US" sz="1200" b="1" dirty="0">
                <a:solidFill>
                  <a:srgbClr val="1E2A26"/>
                </a:solidFill>
                <a:latin typeface="Calibri" pitchFamily="34" charset="0"/>
                <a:ea typeface="Calibri" pitchFamily="34" charset="-122"/>
                <a:cs typeface="Calibri" pitchFamily="34" charset="-120"/>
              </a:rPr>
              <a:t>B2C retail (100 g)</a:t>
            </a:r>
            <a:endParaRPr lang="en-US" sz="1200" dirty="0"/>
          </a:p>
        </p:txBody>
      </p:sp>
      <p:sp>
        <p:nvSpPr>
          <p:cNvPr id="16" name="Shape 14"/>
          <p:cNvSpPr/>
          <p:nvPr/>
        </p:nvSpPr>
        <p:spPr>
          <a:xfrm>
            <a:off x="2377440" y="3886200"/>
            <a:ext cx="3840480" cy="0"/>
          </a:xfrm>
          <a:prstGeom prst="line">
            <a:avLst/>
          </a:prstGeom>
          <a:noFill/>
          <a:ln w="76200">
            <a:solidFill>
              <a:srgbClr val="E5ECE8"/>
            </a:solidFill>
            <a:prstDash val="solid"/>
          </a:ln>
        </p:spPr>
      </p:sp>
      <p:sp>
        <p:nvSpPr>
          <p:cNvPr id="17" name="Shape 15"/>
          <p:cNvSpPr/>
          <p:nvPr/>
        </p:nvSpPr>
        <p:spPr>
          <a:xfrm>
            <a:off x="5142586" y="3703320"/>
            <a:ext cx="1075334" cy="365760"/>
          </a:xfrm>
          <a:prstGeom prst="roundRect">
            <a:avLst>
              <a:gd name="adj" fmla="val 25000"/>
            </a:avLst>
          </a:prstGeom>
          <a:solidFill>
            <a:srgbClr val="D9962B"/>
          </a:solidFill>
          <a:ln w="12700">
            <a:solidFill>
              <a:srgbClr val="D9962B"/>
            </a:solidFill>
            <a:prstDash val="solid"/>
          </a:ln>
        </p:spPr>
      </p:sp>
      <p:sp>
        <p:nvSpPr>
          <p:cNvPr id="18" name="Text 16"/>
          <p:cNvSpPr txBox="1"/>
          <p:nvPr/>
        </p:nvSpPr>
        <p:spPr>
          <a:xfrm>
            <a:off x="548640" y="4114800"/>
            <a:ext cx="5669280" cy="274320"/>
          </a:xfrm>
          <a:prstGeom prst="rect">
            <a:avLst/>
          </a:prstGeom>
          <a:noFill/>
          <a:ln/>
        </p:spPr>
        <p:txBody>
          <a:bodyPr wrap="square" lIns="0" tIns="0" rIns="0" bIns="0" rtlCol="0" anchor="t"/>
          <a:lstStyle/>
          <a:p>
            <a:pPr algn="r" indent="0" marL="0">
              <a:buNone/>
            </a:pPr>
            <a:r>
              <a:rPr lang="en-US" sz="1050" dirty="0">
                <a:solidFill>
                  <a:srgbClr val="5F6F69"/>
                </a:solidFill>
                <a:latin typeface="Calibri" pitchFamily="34" charset="0"/>
                <a:ea typeface="Calibri" pitchFamily="34" charset="-122"/>
                <a:cs typeface="Calibri" pitchFamily="34" charset="-120"/>
              </a:rPr>
              <a:t>₹18,000–25,000+</a:t>
            </a:r>
            <a:endParaRPr lang="en-US" sz="1050" dirty="0"/>
          </a:p>
        </p:txBody>
      </p:sp>
      <p:sp>
        <p:nvSpPr>
          <p:cNvPr id="19" name="Shape 17"/>
          <p:cNvSpPr/>
          <p:nvPr/>
        </p:nvSpPr>
        <p:spPr>
          <a:xfrm>
            <a:off x="548640" y="4617720"/>
            <a:ext cx="5669280" cy="1645920"/>
          </a:xfrm>
          <a:prstGeom prst="roundRect">
            <a:avLst>
              <a:gd name="adj" fmla="val 4444"/>
            </a:avLst>
          </a:prstGeom>
          <a:solidFill>
            <a:srgbClr val="EEF4F0"/>
          </a:solidFill>
          <a:ln w="9525">
            <a:solidFill>
              <a:srgbClr val="EEF4F0"/>
            </a:solidFill>
            <a:prstDash val="solid"/>
          </a:ln>
        </p:spPr>
      </p:sp>
      <p:sp>
        <p:nvSpPr>
          <p:cNvPr id="20" name="Text 18"/>
          <p:cNvSpPr txBox="1"/>
          <p:nvPr/>
        </p:nvSpPr>
        <p:spPr>
          <a:xfrm>
            <a:off x="777240" y="4709160"/>
            <a:ext cx="5257800" cy="1463040"/>
          </a:xfrm>
          <a:prstGeom prst="rect">
            <a:avLst/>
          </a:prstGeom>
          <a:noFill/>
          <a:ln/>
        </p:spPr>
        <p:txBody>
          <a:bodyPr wrap="square" lIns="0" tIns="0" rIns="0" bIns="0" rtlCol="0" anchor="ctr"/>
          <a:lstStyle/>
          <a:p>
            <a:pPr indent="0" marL="0">
              <a:buNone/>
            </a:pPr>
            <a:r>
              <a:rPr lang="en-US" sz="1150" dirty="0">
                <a:solidFill>
                  <a:srgbClr val="1E2A26"/>
                </a:solidFill>
                <a:latin typeface="Calibri" pitchFamily="34" charset="0"/>
                <a:ea typeface="Calibri" pitchFamily="34" charset="-122"/>
                <a:cs typeface="Calibri" pitchFamily="34" charset="-120"/>
              </a:rPr>
              <a:t>At ₹8,000/kg the gross margin over cash cost is ~63%. B2C multiplies price per kg by ~2.5×, but adds packaging, marketing and retailer margins, so it is phased in during Year 2.</a:t>
            </a:r>
            <a:endParaRPr lang="en-US" sz="1150" dirty="0"/>
          </a:p>
        </p:txBody>
      </p:sp>
      <p:sp>
        <p:nvSpPr>
          <p:cNvPr id="21" name="Text 19"/>
          <p:cNvSpPr txBox="1"/>
          <p:nvPr/>
        </p:nvSpPr>
        <p:spPr>
          <a:xfrm>
            <a:off x="6675120" y="1463040"/>
            <a:ext cx="4937760" cy="320040"/>
          </a:xfrm>
          <a:prstGeom prst="rect">
            <a:avLst/>
          </a:prstGeom>
          <a:noFill/>
          <a:ln/>
        </p:spPr>
        <p:txBody>
          <a:bodyPr wrap="square" lIns="0" tIns="0" rIns="0" bIns="0" rtlCol="0" anchor="t"/>
          <a:lstStyle/>
          <a:p>
            <a:pPr indent="0" marL="0">
              <a:buNone/>
            </a:pPr>
            <a:r>
              <a:rPr lang="en-US" sz="1500" b="1" dirty="0">
                <a:solidFill>
                  <a:srgbClr val="14302A"/>
                </a:solidFill>
                <a:latin typeface="Cambria" pitchFamily="34" charset="0"/>
                <a:ea typeface="Cambria" pitchFamily="34" charset="-122"/>
                <a:cs typeface="Cambria" pitchFamily="34" charset="-120"/>
              </a:rPr>
              <a:t>B2B qualification (3–6 months)</a:t>
            </a:r>
            <a:endParaRPr lang="en-US" sz="1500" dirty="0"/>
          </a:p>
        </p:txBody>
      </p:sp>
      <p:sp>
        <p:nvSpPr>
          <p:cNvPr id="22" name="Shape 20"/>
          <p:cNvSpPr/>
          <p:nvPr/>
        </p:nvSpPr>
        <p:spPr>
          <a:xfrm>
            <a:off x="6675120" y="1874520"/>
            <a:ext cx="548640" cy="548640"/>
          </a:xfrm>
          <a:prstGeom prst="ellipse">
            <a:avLst/>
          </a:prstGeom>
          <a:solidFill>
            <a:srgbClr val="2E5E4E"/>
          </a:solidFill>
          <a:ln w="12700">
            <a:solidFill>
              <a:srgbClr val="2E5E4E"/>
            </a:solidFill>
            <a:prstDash val="solid"/>
          </a:ln>
        </p:spPr>
      </p:sp>
      <p:pic>
        <p:nvPicPr>
          <p:cNvPr id="23" name="Image 0" descr="preencoded.png">    </p:cNvPr>
          <p:cNvPicPr>
            <a:picLocks noChangeAspect="1"/>
          </p:cNvPicPr>
          <p:nvPr/>
        </p:nvPicPr>
        <p:blipFill>
          <a:blip r:embed="rId1"/>
          <a:stretch>
            <a:fillRect/>
          </a:stretch>
        </p:blipFill>
        <p:spPr>
          <a:xfrm>
            <a:off x="6817766" y="2017166"/>
            <a:ext cx="263347" cy="263347"/>
          </a:xfrm>
          <a:prstGeom prst="rect">
            <a:avLst/>
          </a:prstGeom>
        </p:spPr>
      </p:pic>
      <p:sp>
        <p:nvSpPr>
          <p:cNvPr id="24" name="Text 21"/>
          <p:cNvSpPr txBox="1"/>
          <p:nvPr/>
        </p:nvSpPr>
        <p:spPr>
          <a:xfrm>
            <a:off x="7406640" y="1856232"/>
            <a:ext cx="4206240" cy="320040"/>
          </a:xfrm>
          <a:prstGeom prst="rect">
            <a:avLst/>
          </a:prstGeom>
          <a:noFill/>
          <a:ln/>
        </p:spPr>
        <p:txBody>
          <a:bodyPr wrap="square" lIns="0" tIns="0" rIns="0" bIns="0" rtlCol="0" anchor="t"/>
          <a:lstStyle/>
          <a:p>
            <a:pPr indent="0" marL="0">
              <a:buNone/>
            </a:pPr>
            <a:r>
              <a:rPr lang="en-US" sz="1300" b="1" dirty="0">
                <a:solidFill>
                  <a:srgbClr val="14302A"/>
                </a:solidFill>
                <a:latin typeface="Calibri" pitchFamily="34" charset="0"/>
                <a:ea typeface="Calibri" pitchFamily="34" charset="-122"/>
                <a:cs typeface="Calibri" pitchFamily="34" charset="-120"/>
              </a:rPr>
              <a:t>1. Sample kit</a:t>
            </a:r>
            <a:endParaRPr lang="en-US" sz="1300" dirty="0"/>
          </a:p>
        </p:txBody>
      </p:sp>
      <p:sp>
        <p:nvSpPr>
          <p:cNvPr id="25" name="Text 22"/>
          <p:cNvSpPr txBox="1"/>
          <p:nvPr/>
        </p:nvSpPr>
        <p:spPr>
          <a:xfrm>
            <a:off x="7406640" y="2167128"/>
            <a:ext cx="4206240" cy="274320"/>
          </a:xfrm>
          <a:prstGeom prst="rect">
            <a:avLst/>
          </a:prstGeom>
          <a:noFill/>
          <a:ln/>
        </p:spPr>
        <p:txBody>
          <a:bodyPr wrap="square" lIns="0" tIns="0" rIns="0" bIns="0" rtlCol="0" anchor="t"/>
          <a:lstStyle/>
          <a:p>
            <a:pPr indent="0" marL="0">
              <a:buNone/>
            </a:pPr>
            <a:r>
              <a:rPr lang="en-US" sz="1100" dirty="0">
                <a:solidFill>
                  <a:srgbClr val="5F6F69"/>
                </a:solidFill>
                <a:latin typeface="Calibri" pitchFamily="34" charset="0"/>
                <a:ea typeface="Calibri" pitchFamily="34" charset="-122"/>
                <a:cs typeface="Calibri" pitchFamily="34" charset="-120"/>
              </a:rPr>
              <a:t>50–100 g + CoA from pilot lots</a:t>
            </a:r>
            <a:endParaRPr lang="en-US" sz="1100" dirty="0"/>
          </a:p>
        </p:txBody>
      </p:sp>
      <p:sp>
        <p:nvSpPr>
          <p:cNvPr id="26" name="Shape 23"/>
          <p:cNvSpPr/>
          <p:nvPr/>
        </p:nvSpPr>
        <p:spPr>
          <a:xfrm>
            <a:off x="6675120" y="2743200"/>
            <a:ext cx="548640" cy="548640"/>
          </a:xfrm>
          <a:prstGeom prst="ellipse">
            <a:avLst/>
          </a:prstGeom>
          <a:solidFill>
            <a:srgbClr val="2E5E4E"/>
          </a:solidFill>
          <a:ln w="12700">
            <a:solidFill>
              <a:srgbClr val="2E5E4E"/>
            </a:solidFill>
            <a:prstDash val="solid"/>
          </a:ln>
        </p:spPr>
      </p:sp>
      <p:pic>
        <p:nvPicPr>
          <p:cNvPr id="27" name="Image 1" descr="preencoded.png">    </p:cNvPr>
          <p:cNvPicPr>
            <a:picLocks noChangeAspect="1"/>
          </p:cNvPicPr>
          <p:nvPr/>
        </p:nvPicPr>
        <p:blipFill>
          <a:blip r:embed="rId2"/>
          <a:stretch>
            <a:fillRect/>
          </a:stretch>
        </p:blipFill>
        <p:spPr>
          <a:xfrm>
            <a:off x="6817766" y="2885846"/>
            <a:ext cx="263347" cy="263347"/>
          </a:xfrm>
          <a:prstGeom prst="rect">
            <a:avLst/>
          </a:prstGeom>
        </p:spPr>
      </p:pic>
      <p:sp>
        <p:nvSpPr>
          <p:cNvPr id="28" name="Text 24"/>
          <p:cNvSpPr txBox="1"/>
          <p:nvPr/>
        </p:nvSpPr>
        <p:spPr>
          <a:xfrm>
            <a:off x="7406640" y="2724912"/>
            <a:ext cx="4206240" cy="320040"/>
          </a:xfrm>
          <a:prstGeom prst="rect">
            <a:avLst/>
          </a:prstGeom>
          <a:noFill/>
          <a:ln/>
        </p:spPr>
        <p:txBody>
          <a:bodyPr wrap="square" lIns="0" tIns="0" rIns="0" bIns="0" rtlCol="0" anchor="t"/>
          <a:lstStyle/>
          <a:p>
            <a:pPr indent="0" marL="0">
              <a:buNone/>
            </a:pPr>
            <a:r>
              <a:rPr lang="en-US" sz="1300" b="1" dirty="0">
                <a:solidFill>
                  <a:srgbClr val="14302A"/>
                </a:solidFill>
                <a:latin typeface="Calibri" pitchFamily="34" charset="0"/>
                <a:ea typeface="Calibri" pitchFamily="34" charset="-122"/>
                <a:cs typeface="Calibri" pitchFamily="34" charset="-120"/>
              </a:rPr>
              <a:t>2. Buyer lab test</a:t>
            </a:r>
            <a:endParaRPr lang="en-US" sz="1300" dirty="0"/>
          </a:p>
        </p:txBody>
      </p:sp>
      <p:sp>
        <p:nvSpPr>
          <p:cNvPr id="29" name="Text 25"/>
          <p:cNvSpPr txBox="1"/>
          <p:nvPr/>
        </p:nvSpPr>
        <p:spPr>
          <a:xfrm>
            <a:off x="7406640" y="3035808"/>
            <a:ext cx="4206240" cy="274320"/>
          </a:xfrm>
          <a:prstGeom prst="rect">
            <a:avLst/>
          </a:prstGeom>
          <a:noFill/>
          <a:ln/>
        </p:spPr>
        <p:txBody>
          <a:bodyPr wrap="square" lIns="0" tIns="0" rIns="0" bIns="0" rtlCol="0" anchor="t"/>
          <a:lstStyle/>
          <a:p>
            <a:pPr indent="0" marL="0">
              <a:buNone/>
            </a:pPr>
            <a:r>
              <a:rPr lang="en-US" sz="1100" dirty="0">
                <a:solidFill>
                  <a:srgbClr val="5F6F69"/>
                </a:solidFill>
                <a:latin typeface="Calibri" pitchFamily="34" charset="0"/>
                <a:ea typeface="Calibri" pitchFamily="34" charset="-122"/>
                <a:cs typeface="Calibri" pitchFamily="34" charset="-120"/>
              </a:rPr>
              <a:t>Identity, β-glucan, contaminants</a:t>
            </a:r>
            <a:endParaRPr lang="en-US" sz="1100" dirty="0"/>
          </a:p>
        </p:txBody>
      </p:sp>
      <p:sp>
        <p:nvSpPr>
          <p:cNvPr id="30" name="Shape 26"/>
          <p:cNvSpPr/>
          <p:nvPr/>
        </p:nvSpPr>
        <p:spPr>
          <a:xfrm>
            <a:off x="6675120" y="3611880"/>
            <a:ext cx="548640" cy="548640"/>
          </a:xfrm>
          <a:prstGeom prst="ellipse">
            <a:avLst/>
          </a:prstGeom>
          <a:solidFill>
            <a:srgbClr val="2E5E4E"/>
          </a:solidFill>
          <a:ln w="12700">
            <a:solidFill>
              <a:srgbClr val="2E5E4E"/>
            </a:solidFill>
            <a:prstDash val="solid"/>
          </a:ln>
        </p:spPr>
      </p:sp>
      <p:pic>
        <p:nvPicPr>
          <p:cNvPr id="31" name="Image 2" descr="preencoded.png">    </p:cNvPr>
          <p:cNvPicPr>
            <a:picLocks noChangeAspect="1"/>
          </p:cNvPicPr>
          <p:nvPr/>
        </p:nvPicPr>
        <p:blipFill>
          <a:blip r:embed="rId3"/>
          <a:stretch>
            <a:fillRect/>
          </a:stretch>
        </p:blipFill>
        <p:spPr>
          <a:xfrm>
            <a:off x="6817766" y="3754526"/>
            <a:ext cx="263347" cy="263347"/>
          </a:xfrm>
          <a:prstGeom prst="rect">
            <a:avLst/>
          </a:prstGeom>
        </p:spPr>
      </p:pic>
      <p:sp>
        <p:nvSpPr>
          <p:cNvPr id="32" name="Text 27"/>
          <p:cNvSpPr txBox="1"/>
          <p:nvPr/>
        </p:nvSpPr>
        <p:spPr>
          <a:xfrm>
            <a:off x="7406640" y="3593592"/>
            <a:ext cx="4206240" cy="320040"/>
          </a:xfrm>
          <a:prstGeom prst="rect">
            <a:avLst/>
          </a:prstGeom>
          <a:noFill/>
          <a:ln/>
        </p:spPr>
        <p:txBody>
          <a:bodyPr wrap="square" lIns="0" tIns="0" rIns="0" bIns="0" rtlCol="0" anchor="t"/>
          <a:lstStyle/>
          <a:p>
            <a:pPr indent="0" marL="0">
              <a:buNone/>
            </a:pPr>
            <a:r>
              <a:rPr lang="en-US" sz="1300" b="1" dirty="0">
                <a:solidFill>
                  <a:srgbClr val="14302A"/>
                </a:solidFill>
                <a:latin typeface="Calibri" pitchFamily="34" charset="0"/>
                <a:ea typeface="Calibri" pitchFamily="34" charset="-122"/>
                <a:cs typeface="Calibri" pitchFamily="34" charset="-120"/>
              </a:rPr>
              <a:t>3. Vendor audit</a:t>
            </a:r>
            <a:endParaRPr lang="en-US" sz="1300" dirty="0"/>
          </a:p>
        </p:txBody>
      </p:sp>
      <p:sp>
        <p:nvSpPr>
          <p:cNvPr id="33" name="Text 28"/>
          <p:cNvSpPr txBox="1"/>
          <p:nvPr/>
        </p:nvSpPr>
        <p:spPr>
          <a:xfrm>
            <a:off x="7406640" y="3904488"/>
            <a:ext cx="4206240" cy="274320"/>
          </a:xfrm>
          <a:prstGeom prst="rect">
            <a:avLst/>
          </a:prstGeom>
          <a:noFill/>
          <a:ln/>
        </p:spPr>
        <p:txBody>
          <a:bodyPr wrap="square" lIns="0" tIns="0" rIns="0" bIns="0" rtlCol="0" anchor="t"/>
          <a:lstStyle/>
          <a:p>
            <a:pPr indent="0" marL="0">
              <a:buNone/>
            </a:pPr>
            <a:r>
              <a:rPr lang="en-US" sz="1100" dirty="0">
                <a:solidFill>
                  <a:srgbClr val="5F6F69"/>
                </a:solidFill>
                <a:latin typeface="Calibri" pitchFamily="34" charset="0"/>
                <a:ea typeface="Calibri" pitchFamily="34" charset="-122"/>
                <a:cs typeface="Calibri" pitchFamily="34" charset="-120"/>
              </a:rPr>
              <a:t>Site visit, SOPs, traceability</a:t>
            </a:r>
            <a:endParaRPr lang="en-US" sz="1100" dirty="0"/>
          </a:p>
        </p:txBody>
      </p:sp>
      <p:sp>
        <p:nvSpPr>
          <p:cNvPr id="34" name="Shape 29"/>
          <p:cNvSpPr/>
          <p:nvPr/>
        </p:nvSpPr>
        <p:spPr>
          <a:xfrm>
            <a:off x="6675120" y="4480560"/>
            <a:ext cx="548640" cy="548640"/>
          </a:xfrm>
          <a:prstGeom prst="ellipse">
            <a:avLst/>
          </a:prstGeom>
          <a:solidFill>
            <a:srgbClr val="2E5E4E"/>
          </a:solidFill>
          <a:ln w="12700">
            <a:solidFill>
              <a:srgbClr val="2E5E4E"/>
            </a:solidFill>
            <a:prstDash val="solid"/>
          </a:ln>
        </p:spPr>
      </p:sp>
      <p:pic>
        <p:nvPicPr>
          <p:cNvPr id="35" name="Image 3" descr="preencoded.png">    </p:cNvPr>
          <p:cNvPicPr>
            <a:picLocks noChangeAspect="1"/>
          </p:cNvPicPr>
          <p:nvPr/>
        </p:nvPicPr>
        <p:blipFill>
          <a:blip r:embed="rId4"/>
          <a:stretch>
            <a:fillRect/>
          </a:stretch>
        </p:blipFill>
        <p:spPr>
          <a:xfrm>
            <a:off x="6817766" y="4623206"/>
            <a:ext cx="263347" cy="263347"/>
          </a:xfrm>
          <a:prstGeom prst="rect">
            <a:avLst/>
          </a:prstGeom>
        </p:spPr>
      </p:pic>
      <p:sp>
        <p:nvSpPr>
          <p:cNvPr id="36" name="Text 30"/>
          <p:cNvSpPr txBox="1"/>
          <p:nvPr/>
        </p:nvSpPr>
        <p:spPr>
          <a:xfrm>
            <a:off x="7406640" y="4462272"/>
            <a:ext cx="4206240" cy="320040"/>
          </a:xfrm>
          <a:prstGeom prst="rect">
            <a:avLst/>
          </a:prstGeom>
          <a:noFill/>
          <a:ln/>
        </p:spPr>
        <p:txBody>
          <a:bodyPr wrap="square" lIns="0" tIns="0" rIns="0" bIns="0" rtlCol="0" anchor="t"/>
          <a:lstStyle/>
          <a:p>
            <a:pPr indent="0" marL="0">
              <a:buNone/>
            </a:pPr>
            <a:r>
              <a:rPr lang="en-US" sz="1300" b="1" dirty="0">
                <a:solidFill>
                  <a:srgbClr val="14302A"/>
                </a:solidFill>
                <a:latin typeface="Calibri" pitchFamily="34" charset="0"/>
                <a:ea typeface="Calibri" pitchFamily="34" charset="-122"/>
                <a:cs typeface="Calibri" pitchFamily="34" charset="-120"/>
              </a:rPr>
              <a:t>4. Trial PO</a:t>
            </a:r>
            <a:endParaRPr lang="en-US" sz="1300" dirty="0"/>
          </a:p>
        </p:txBody>
      </p:sp>
      <p:sp>
        <p:nvSpPr>
          <p:cNvPr id="37" name="Text 31"/>
          <p:cNvSpPr txBox="1"/>
          <p:nvPr/>
        </p:nvSpPr>
        <p:spPr>
          <a:xfrm>
            <a:off x="7406640" y="4773168"/>
            <a:ext cx="4206240" cy="274320"/>
          </a:xfrm>
          <a:prstGeom prst="rect">
            <a:avLst/>
          </a:prstGeom>
          <a:noFill/>
          <a:ln/>
        </p:spPr>
        <p:txBody>
          <a:bodyPr wrap="square" lIns="0" tIns="0" rIns="0" bIns="0" rtlCol="0" anchor="t"/>
          <a:lstStyle/>
          <a:p>
            <a:pPr indent="0" marL="0">
              <a:buNone/>
            </a:pPr>
            <a:r>
              <a:rPr lang="en-US" sz="1100" dirty="0">
                <a:solidFill>
                  <a:srgbClr val="5F6F69"/>
                </a:solidFill>
                <a:latin typeface="Calibri" pitchFamily="34" charset="0"/>
                <a:ea typeface="Calibri" pitchFamily="34" charset="-122"/>
                <a:cs typeface="Calibri" pitchFamily="34" charset="-120"/>
              </a:rPr>
              <a:t>25–100 kg first order</a:t>
            </a:r>
            <a:endParaRPr lang="en-US" sz="1100" dirty="0"/>
          </a:p>
        </p:txBody>
      </p:sp>
      <p:sp>
        <p:nvSpPr>
          <p:cNvPr id="38" name="Shape 32"/>
          <p:cNvSpPr/>
          <p:nvPr/>
        </p:nvSpPr>
        <p:spPr>
          <a:xfrm>
            <a:off x="6675120" y="5349240"/>
            <a:ext cx="548640" cy="548640"/>
          </a:xfrm>
          <a:prstGeom prst="ellipse">
            <a:avLst/>
          </a:prstGeom>
          <a:solidFill>
            <a:srgbClr val="D9962B"/>
          </a:solidFill>
          <a:ln w="12700">
            <a:solidFill>
              <a:srgbClr val="D9962B"/>
            </a:solidFill>
            <a:prstDash val="solid"/>
          </a:ln>
        </p:spPr>
      </p:sp>
      <p:pic>
        <p:nvPicPr>
          <p:cNvPr id="39" name="Image 4" descr="preencoded.png">    </p:cNvPr>
          <p:cNvPicPr>
            <a:picLocks noChangeAspect="1"/>
          </p:cNvPicPr>
          <p:nvPr/>
        </p:nvPicPr>
        <p:blipFill>
          <a:blip r:embed="rId5"/>
          <a:stretch>
            <a:fillRect/>
          </a:stretch>
        </p:blipFill>
        <p:spPr>
          <a:xfrm>
            <a:off x="6817766" y="5491886"/>
            <a:ext cx="263347" cy="263347"/>
          </a:xfrm>
          <a:prstGeom prst="rect">
            <a:avLst/>
          </a:prstGeom>
        </p:spPr>
      </p:pic>
      <p:sp>
        <p:nvSpPr>
          <p:cNvPr id="40" name="Text 33"/>
          <p:cNvSpPr txBox="1"/>
          <p:nvPr/>
        </p:nvSpPr>
        <p:spPr>
          <a:xfrm>
            <a:off x="7406640" y="5330952"/>
            <a:ext cx="4206240" cy="320040"/>
          </a:xfrm>
          <a:prstGeom prst="rect">
            <a:avLst/>
          </a:prstGeom>
          <a:noFill/>
          <a:ln/>
        </p:spPr>
        <p:txBody>
          <a:bodyPr wrap="square" lIns="0" tIns="0" rIns="0" bIns="0" rtlCol="0" anchor="t"/>
          <a:lstStyle/>
          <a:p>
            <a:pPr indent="0" marL="0">
              <a:buNone/>
            </a:pPr>
            <a:r>
              <a:rPr lang="en-US" sz="1300" b="1" dirty="0">
                <a:solidFill>
                  <a:srgbClr val="14302A"/>
                </a:solidFill>
                <a:latin typeface="Calibri" pitchFamily="34" charset="0"/>
                <a:ea typeface="Calibri" pitchFamily="34" charset="-122"/>
                <a:cs typeface="Calibri" pitchFamily="34" charset="-120"/>
              </a:rPr>
              <a:t>5. Supply agreement</a:t>
            </a:r>
            <a:endParaRPr lang="en-US" sz="1300" dirty="0"/>
          </a:p>
        </p:txBody>
      </p:sp>
      <p:sp>
        <p:nvSpPr>
          <p:cNvPr id="41" name="Text 34"/>
          <p:cNvSpPr txBox="1"/>
          <p:nvPr/>
        </p:nvSpPr>
        <p:spPr>
          <a:xfrm>
            <a:off x="7406640" y="5641848"/>
            <a:ext cx="4206240" cy="274320"/>
          </a:xfrm>
          <a:prstGeom prst="rect">
            <a:avLst/>
          </a:prstGeom>
          <a:noFill/>
          <a:ln/>
        </p:spPr>
        <p:txBody>
          <a:bodyPr wrap="square" lIns="0" tIns="0" rIns="0" bIns="0" rtlCol="0" anchor="t"/>
          <a:lstStyle/>
          <a:p>
            <a:pPr indent="0" marL="0">
              <a:buNone/>
            </a:pPr>
            <a:r>
              <a:rPr lang="en-US" sz="1100" dirty="0">
                <a:solidFill>
                  <a:srgbClr val="5F6F69"/>
                </a:solidFill>
                <a:latin typeface="Calibri" pitchFamily="34" charset="0"/>
                <a:ea typeface="Calibri" pitchFamily="34" charset="-122"/>
                <a:cs typeface="Calibri" pitchFamily="34" charset="-120"/>
              </a:rPr>
              <a:t>Annual volume, price band, quarterly calls</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D9962B"/>
                </a:solidFill>
                <a:latin typeface="Calibri" pitchFamily="34" charset="0"/>
                <a:ea typeface="Calibri" pitchFamily="34" charset="-122"/>
                <a:cs typeface="Calibri" pitchFamily="34" charset="-120"/>
              </a:rPr>
              <a:t>09 · PRODUCTS &amp; MARKET</a:t>
            </a:r>
            <a:endParaRPr lang="en-US" sz="11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14302A"/>
                </a:solidFill>
                <a:latin typeface="Cambria" pitchFamily="34" charset="0"/>
                <a:ea typeface="Cambria" pitchFamily="34" charset="-122"/>
                <a:cs typeface="Cambria" pitchFamily="34" charset="-120"/>
              </a:rPr>
              <a:t>Distribution and logistics: dry product, simple chain</a:t>
            </a:r>
            <a:endParaRPr lang="en-US" sz="30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900" dirty="0">
                <a:solidFill>
                  <a:srgbClr val="5F6F69"/>
                </a:solidFill>
                <a:latin typeface="Calibri" pitchFamily="34" charset="0"/>
                <a:ea typeface="Calibri" pitchFamily="34" charset="-122"/>
                <a:cs typeface="Calibri" pitchFamily="34" charset="-120"/>
              </a:rPr>
              <a:t>Lion's Mane Facility  ·  Hamirpur, HP  ·  Project Plan</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900" dirty="0">
                <a:solidFill>
                  <a:srgbClr val="5F6F69"/>
                </a:solidFill>
                <a:latin typeface="Calibri" pitchFamily="34" charset="0"/>
                <a:ea typeface="Calibri" pitchFamily="34" charset="-122"/>
                <a:cs typeface="Calibri" pitchFamily="34" charset="-120"/>
              </a:rPr>
              <a:t>24</a:t>
            </a:r>
            <a:endParaRPr lang="en-US" sz="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6675120" cy="914400"/>
        </p:xfrm>
        <a:graphic>
          <a:graphicData uri="http://schemas.openxmlformats.org/drawingml/2006/table">
            <a:tbl>
              <a:tblPr/>
              <a:tblGrid>
                <a:gridCol w="2560320"/>
                <a:gridCol w="2194560"/>
                <a:gridCol w="1920240"/>
              </a:tblGrid>
              <a:tr h="50292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Lane</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Mode</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Indicative freight</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r>
              <a:tr h="502920">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Hamirpur → Dehradun (320 km)</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LTL: Safexpress / Delhivery</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₹15–30 per kg</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502920">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Hamirpur → BBN cluster, HP</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LTL or shared dedicated</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₹15–30 per kg (to confirm)</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r>
              <a:tr h="502920">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Hamirpur → Delhi-NCR</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LTL / express surface</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₹15–30 per kg (to confirm)</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502920">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Samples &amp; small MOQs</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Courier</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Per parcel</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r>
              <a:tr h="502920">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Fresh to HoReCa</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Insulated boxes, 2–4°C</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Within 48 h of harvest</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4754880"/>
            <a:ext cx="6675120" cy="1463040"/>
          </a:xfrm>
          <a:prstGeom prst="roundRect">
            <a:avLst>
              <a:gd name="adj" fmla="val 5000"/>
            </a:avLst>
          </a:prstGeom>
          <a:solidFill>
            <a:srgbClr val="FBF1DE"/>
          </a:solidFill>
          <a:ln w="9525">
            <a:solidFill>
              <a:srgbClr val="FBF1DE"/>
            </a:solidFill>
            <a:prstDash val="solid"/>
          </a:ln>
        </p:spPr>
      </p:sp>
      <p:sp>
        <p:nvSpPr>
          <p:cNvPr id="8" name="Text 5"/>
          <p:cNvSpPr txBox="1"/>
          <p:nvPr/>
        </p:nvSpPr>
        <p:spPr>
          <a:xfrm>
            <a:off x="777240" y="4846320"/>
            <a:ext cx="6263640" cy="1280160"/>
          </a:xfrm>
          <a:prstGeom prst="rect">
            <a:avLst/>
          </a:prstGeom>
          <a:noFill/>
          <a:ln/>
        </p:spPr>
        <p:txBody>
          <a:bodyPr wrap="square" lIns="0" tIns="0" rIns="0" bIns="0" rtlCol="0" anchor="ctr"/>
          <a:lstStyle/>
          <a:p>
            <a:pPr indent="0" marL="0">
              <a:buNone/>
            </a:pPr>
            <a:r>
              <a:rPr lang="en-US" sz="1200" dirty="0">
                <a:solidFill>
                  <a:srgbClr val="1E2A26"/>
                </a:solidFill>
                <a:latin typeface="Calibri" pitchFamily="34" charset="0"/>
                <a:ea typeface="Calibri" pitchFamily="34" charset="-122"/>
                <a:cs typeface="Calibri" pitchFamily="34" charset="-120"/>
              </a:rPr>
              <a:t>Dry powder needs no cold chain. At ₹25/kg freight on ₹8,000/kg product, logistics is ~0.3% of revenue, so distance from Delhi is not a competitive handicap.</a:t>
            </a:r>
            <a:endParaRPr lang="en-US" sz="1200" dirty="0"/>
          </a:p>
        </p:txBody>
      </p:sp>
      <p:sp>
        <p:nvSpPr>
          <p:cNvPr id="9" name="Shape 6"/>
          <p:cNvSpPr/>
          <p:nvPr/>
        </p:nvSpPr>
        <p:spPr>
          <a:xfrm>
            <a:off x="7543800" y="1508760"/>
            <a:ext cx="4114800" cy="4709160"/>
          </a:xfrm>
          <a:prstGeom prst="roundRect">
            <a:avLst>
              <a:gd name="adj" fmla="val 1778"/>
            </a:avLst>
          </a:prstGeom>
          <a:solidFill>
            <a:srgbClr val="EEF4F0"/>
          </a:solidFill>
          <a:ln w="9525">
            <a:solidFill>
              <a:srgbClr val="EEF4F0"/>
            </a:solidFill>
            <a:prstDash val="solid"/>
          </a:ln>
        </p:spPr>
      </p:sp>
      <p:sp>
        <p:nvSpPr>
          <p:cNvPr id="10" name="Text 7"/>
          <p:cNvSpPr txBox="1"/>
          <p:nvPr/>
        </p:nvSpPr>
        <p:spPr>
          <a:xfrm>
            <a:off x="7772400" y="1645920"/>
            <a:ext cx="3657600" cy="365760"/>
          </a:xfrm>
          <a:prstGeom prst="rect">
            <a:avLst/>
          </a:prstGeom>
          <a:noFill/>
          <a:ln/>
        </p:spPr>
        <p:txBody>
          <a:bodyPr wrap="square" lIns="0" tIns="0" rIns="0" bIns="0" rtlCol="0" anchor="t"/>
          <a:lstStyle/>
          <a:p>
            <a:pPr indent="0" marL="0">
              <a:buNone/>
            </a:pPr>
            <a:r>
              <a:rPr lang="en-US" sz="1500" b="1" dirty="0">
                <a:solidFill>
                  <a:srgbClr val="14302A"/>
                </a:solidFill>
                <a:latin typeface="Cambria" pitchFamily="34" charset="0"/>
                <a:ea typeface="Cambria" pitchFamily="34" charset="-122"/>
                <a:cs typeface="Cambria" pitchFamily="34" charset="-120"/>
              </a:rPr>
              <a:t>Every dispatch carries</a:t>
            </a:r>
            <a:endParaRPr lang="en-US" sz="1500" dirty="0"/>
          </a:p>
        </p:txBody>
      </p:sp>
      <p:pic>
        <p:nvPicPr>
          <p:cNvPr id="11" name="Image 0" descr="preencoded.png">    </p:cNvPr>
          <p:cNvPicPr>
            <a:picLocks noChangeAspect="1"/>
          </p:cNvPicPr>
          <p:nvPr/>
        </p:nvPicPr>
        <p:blipFill>
          <a:blip r:embed="rId1"/>
          <a:stretch>
            <a:fillRect/>
          </a:stretch>
        </p:blipFill>
        <p:spPr>
          <a:xfrm>
            <a:off x="7772400" y="2194560"/>
            <a:ext cx="274320" cy="274320"/>
          </a:xfrm>
          <a:prstGeom prst="rect">
            <a:avLst/>
          </a:prstGeom>
        </p:spPr>
      </p:pic>
      <p:sp>
        <p:nvSpPr>
          <p:cNvPr id="12" name="Text 8"/>
          <p:cNvSpPr txBox="1"/>
          <p:nvPr/>
        </p:nvSpPr>
        <p:spPr>
          <a:xfrm>
            <a:off x="8183880" y="2130552"/>
            <a:ext cx="3383280" cy="411480"/>
          </a:xfrm>
          <a:prstGeom prst="rect">
            <a:avLst/>
          </a:prstGeom>
          <a:noFill/>
          <a:ln/>
        </p:spPr>
        <p:txBody>
          <a:bodyPr wrap="square" lIns="0" tIns="0" rIns="0" bIns="0" rtlCol="0" anchor="ctr"/>
          <a:lstStyle/>
          <a:p>
            <a:pPr indent="0" marL="0">
              <a:buNone/>
            </a:pPr>
            <a:r>
              <a:rPr lang="en-US" sz="1200" dirty="0">
                <a:solidFill>
                  <a:srgbClr val="1E2A26"/>
                </a:solidFill>
                <a:latin typeface="Calibri" pitchFamily="34" charset="0"/>
                <a:ea typeface="Calibri" pitchFamily="34" charset="-122"/>
                <a:cs typeface="Calibri" pitchFamily="34" charset="-120"/>
              </a:rPr>
              <a:t>GST tax invoice</a:t>
            </a:r>
            <a:endParaRPr lang="en-US" sz="1200" dirty="0"/>
          </a:p>
        </p:txBody>
      </p:sp>
      <p:pic>
        <p:nvPicPr>
          <p:cNvPr id="13" name="Image 1" descr="preencoded.png">    </p:cNvPr>
          <p:cNvPicPr>
            <a:picLocks noChangeAspect="1"/>
          </p:cNvPicPr>
          <p:nvPr/>
        </p:nvPicPr>
        <p:blipFill>
          <a:blip r:embed="rId2"/>
          <a:stretch>
            <a:fillRect/>
          </a:stretch>
        </p:blipFill>
        <p:spPr>
          <a:xfrm>
            <a:off x="7772400" y="2834640"/>
            <a:ext cx="274320" cy="274320"/>
          </a:xfrm>
          <a:prstGeom prst="rect">
            <a:avLst/>
          </a:prstGeom>
        </p:spPr>
      </p:pic>
      <p:sp>
        <p:nvSpPr>
          <p:cNvPr id="14" name="Text 9"/>
          <p:cNvSpPr txBox="1"/>
          <p:nvPr/>
        </p:nvSpPr>
        <p:spPr>
          <a:xfrm>
            <a:off x="8183880" y="2770632"/>
            <a:ext cx="3383280" cy="411480"/>
          </a:xfrm>
          <a:prstGeom prst="rect">
            <a:avLst/>
          </a:prstGeom>
          <a:noFill/>
          <a:ln/>
        </p:spPr>
        <p:txBody>
          <a:bodyPr wrap="square" lIns="0" tIns="0" rIns="0" bIns="0" rtlCol="0" anchor="ctr"/>
          <a:lstStyle/>
          <a:p>
            <a:pPr indent="0" marL="0">
              <a:buNone/>
            </a:pPr>
            <a:r>
              <a:rPr lang="en-US" sz="1200" dirty="0">
                <a:solidFill>
                  <a:srgbClr val="1E2A26"/>
                </a:solidFill>
                <a:latin typeface="Calibri" pitchFamily="34" charset="0"/>
                <a:ea typeface="Calibri" pitchFamily="34" charset="-122"/>
                <a:cs typeface="Calibri" pitchFamily="34" charset="-120"/>
              </a:rPr>
              <a:t>E-way bill (goods value &gt; ₹50,000)</a:t>
            </a:r>
            <a:endParaRPr lang="en-US" sz="1200" dirty="0"/>
          </a:p>
        </p:txBody>
      </p:sp>
      <p:pic>
        <p:nvPicPr>
          <p:cNvPr id="15" name="Image 2" descr="preencoded.png">    </p:cNvPr>
          <p:cNvPicPr>
            <a:picLocks noChangeAspect="1"/>
          </p:cNvPicPr>
          <p:nvPr/>
        </p:nvPicPr>
        <p:blipFill>
          <a:blip r:embed="rId3"/>
          <a:stretch>
            <a:fillRect/>
          </a:stretch>
        </p:blipFill>
        <p:spPr>
          <a:xfrm>
            <a:off x="7772400" y="3474720"/>
            <a:ext cx="274320" cy="274320"/>
          </a:xfrm>
          <a:prstGeom prst="rect">
            <a:avLst/>
          </a:prstGeom>
        </p:spPr>
      </p:pic>
      <p:sp>
        <p:nvSpPr>
          <p:cNvPr id="16" name="Text 10"/>
          <p:cNvSpPr txBox="1"/>
          <p:nvPr/>
        </p:nvSpPr>
        <p:spPr>
          <a:xfrm>
            <a:off x="8183880" y="3410712"/>
            <a:ext cx="3383280" cy="411480"/>
          </a:xfrm>
          <a:prstGeom prst="rect">
            <a:avLst/>
          </a:prstGeom>
          <a:noFill/>
          <a:ln/>
        </p:spPr>
        <p:txBody>
          <a:bodyPr wrap="square" lIns="0" tIns="0" rIns="0" bIns="0" rtlCol="0" anchor="ctr"/>
          <a:lstStyle/>
          <a:p>
            <a:pPr indent="0" marL="0">
              <a:buNone/>
            </a:pPr>
            <a:r>
              <a:rPr lang="en-US" sz="1200" dirty="0">
                <a:solidFill>
                  <a:srgbClr val="1E2A26"/>
                </a:solidFill>
                <a:latin typeface="Calibri" pitchFamily="34" charset="0"/>
                <a:ea typeface="Calibri" pitchFamily="34" charset="-122"/>
                <a:cs typeface="Calibri" pitchFamily="34" charset="-120"/>
              </a:rPr>
              <a:t>Lot-wise CoA, lot code on each drum</a:t>
            </a:r>
            <a:endParaRPr lang="en-US" sz="1200" dirty="0"/>
          </a:p>
        </p:txBody>
      </p:sp>
      <p:pic>
        <p:nvPicPr>
          <p:cNvPr id="17" name="Image 3" descr="preencoded.png">    </p:cNvPr>
          <p:cNvPicPr>
            <a:picLocks noChangeAspect="1"/>
          </p:cNvPicPr>
          <p:nvPr/>
        </p:nvPicPr>
        <p:blipFill>
          <a:blip r:embed="rId4"/>
          <a:stretch>
            <a:fillRect/>
          </a:stretch>
        </p:blipFill>
        <p:spPr>
          <a:xfrm>
            <a:off x="7772400" y="4114800"/>
            <a:ext cx="274320" cy="274320"/>
          </a:xfrm>
          <a:prstGeom prst="rect">
            <a:avLst/>
          </a:prstGeom>
        </p:spPr>
      </p:pic>
      <p:sp>
        <p:nvSpPr>
          <p:cNvPr id="18" name="Text 11"/>
          <p:cNvSpPr txBox="1"/>
          <p:nvPr/>
        </p:nvSpPr>
        <p:spPr>
          <a:xfrm>
            <a:off x="8183880" y="4050792"/>
            <a:ext cx="3383280" cy="411480"/>
          </a:xfrm>
          <a:prstGeom prst="rect">
            <a:avLst/>
          </a:prstGeom>
          <a:noFill/>
          <a:ln/>
        </p:spPr>
        <p:txBody>
          <a:bodyPr wrap="square" lIns="0" tIns="0" rIns="0" bIns="0" rtlCol="0" anchor="ctr"/>
          <a:lstStyle/>
          <a:p>
            <a:pPr indent="0" marL="0">
              <a:buNone/>
            </a:pPr>
            <a:r>
              <a:rPr lang="en-US" sz="1200" dirty="0">
                <a:solidFill>
                  <a:srgbClr val="1E2A26"/>
                </a:solidFill>
                <a:latin typeface="Calibri" pitchFamily="34" charset="0"/>
                <a:ea typeface="Calibri" pitchFamily="34" charset="-122"/>
                <a:cs typeface="Calibri" pitchFamily="34" charset="-120"/>
              </a:rPr>
              <a:t>Transit insurance at 0.5–1% of value</a:t>
            </a:r>
            <a:endParaRPr lang="en-US" sz="1200" dirty="0"/>
          </a:p>
        </p:txBody>
      </p:sp>
      <p:pic>
        <p:nvPicPr>
          <p:cNvPr id="19" name="Image 4" descr="preencoded.png">    </p:cNvPr>
          <p:cNvPicPr>
            <a:picLocks noChangeAspect="1"/>
          </p:cNvPicPr>
          <p:nvPr/>
        </p:nvPicPr>
        <p:blipFill>
          <a:blip r:embed="rId5"/>
          <a:stretch>
            <a:fillRect/>
          </a:stretch>
        </p:blipFill>
        <p:spPr>
          <a:xfrm>
            <a:off x="7772400" y="4754880"/>
            <a:ext cx="274320" cy="274320"/>
          </a:xfrm>
          <a:prstGeom prst="rect">
            <a:avLst/>
          </a:prstGeom>
        </p:spPr>
      </p:pic>
      <p:sp>
        <p:nvSpPr>
          <p:cNvPr id="20" name="Text 12"/>
          <p:cNvSpPr txBox="1"/>
          <p:nvPr/>
        </p:nvSpPr>
        <p:spPr>
          <a:xfrm>
            <a:off x="8183880" y="4690872"/>
            <a:ext cx="3383280" cy="411480"/>
          </a:xfrm>
          <a:prstGeom prst="rect">
            <a:avLst/>
          </a:prstGeom>
          <a:noFill/>
          <a:ln/>
        </p:spPr>
        <p:txBody>
          <a:bodyPr wrap="square" lIns="0" tIns="0" rIns="0" bIns="0" rtlCol="0" anchor="ctr"/>
          <a:lstStyle/>
          <a:p>
            <a:pPr indent="0" marL="0">
              <a:buNone/>
            </a:pPr>
            <a:r>
              <a:rPr lang="en-US" sz="1200" dirty="0">
                <a:solidFill>
                  <a:srgbClr val="1E2A26"/>
                </a:solidFill>
                <a:latin typeface="Calibri" pitchFamily="34" charset="0"/>
                <a:ea typeface="Calibri" pitchFamily="34" charset="-122"/>
                <a:cs typeface="Calibri" pitchFamily="34" charset="-120"/>
              </a:rPr>
              <a:t>Moisture-proof foil + desiccant packing</a:t>
            </a:r>
            <a:endParaRPr lang="en-US" sz="1200" dirty="0"/>
          </a:p>
        </p:txBody>
      </p:sp>
      <p:pic>
        <p:nvPicPr>
          <p:cNvPr id="21" name="Image 5" descr="preencoded.png">    </p:cNvPr>
          <p:cNvPicPr>
            <a:picLocks noChangeAspect="1"/>
          </p:cNvPicPr>
          <p:nvPr/>
        </p:nvPicPr>
        <p:blipFill>
          <a:blip r:embed="rId6"/>
          <a:stretch>
            <a:fillRect/>
          </a:stretch>
        </p:blipFill>
        <p:spPr>
          <a:xfrm>
            <a:off x="7772400" y="5394960"/>
            <a:ext cx="274320" cy="274320"/>
          </a:xfrm>
          <a:prstGeom prst="rect">
            <a:avLst/>
          </a:prstGeom>
        </p:spPr>
      </p:pic>
      <p:sp>
        <p:nvSpPr>
          <p:cNvPr id="22" name="Text 13"/>
          <p:cNvSpPr txBox="1"/>
          <p:nvPr/>
        </p:nvSpPr>
        <p:spPr>
          <a:xfrm>
            <a:off x="8183880" y="5330952"/>
            <a:ext cx="3383280" cy="411480"/>
          </a:xfrm>
          <a:prstGeom prst="rect">
            <a:avLst/>
          </a:prstGeom>
          <a:noFill/>
          <a:ln/>
        </p:spPr>
        <p:txBody>
          <a:bodyPr wrap="square" lIns="0" tIns="0" rIns="0" bIns="0" rtlCol="0" anchor="ctr"/>
          <a:lstStyle/>
          <a:p>
            <a:pPr indent="0" marL="0">
              <a:buNone/>
            </a:pPr>
            <a:r>
              <a:rPr lang="en-US" sz="1200" dirty="0">
                <a:solidFill>
                  <a:srgbClr val="1E2A26"/>
                </a:solidFill>
                <a:latin typeface="Calibri" pitchFamily="34" charset="0"/>
                <a:ea typeface="Calibri" pitchFamily="34" charset="-122"/>
                <a:cs typeface="Calibri" pitchFamily="34" charset="-120"/>
              </a:rPr>
              <a:t>Packing list with net / gross weights</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D9962B"/>
                </a:solidFill>
                <a:latin typeface="Calibri" pitchFamily="34" charset="0"/>
                <a:ea typeface="Calibri" pitchFamily="34" charset="-122"/>
                <a:cs typeface="Calibri" pitchFamily="34" charset="-120"/>
              </a:rPr>
              <a:t>10 · ECONOMICS</a:t>
            </a:r>
            <a:endParaRPr lang="en-US" sz="11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14302A"/>
                </a:solidFill>
                <a:latin typeface="Cambria" pitchFamily="34" charset="0"/>
                <a:ea typeface="Cambria" pitchFamily="34" charset="-122"/>
                <a:cs typeface="Cambria" pitchFamily="34" charset="-120"/>
              </a:rPr>
              <a:t>Capital expenditure: Phase 1, right-sized (₹ lakh)</a:t>
            </a:r>
            <a:endParaRPr lang="en-US" sz="30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900" dirty="0">
                <a:solidFill>
                  <a:srgbClr val="5F6F69"/>
                </a:solidFill>
                <a:latin typeface="Calibri" pitchFamily="34" charset="0"/>
                <a:ea typeface="Calibri" pitchFamily="34" charset="-122"/>
                <a:cs typeface="Calibri" pitchFamily="34" charset="-120"/>
              </a:rPr>
              <a:t>Lion's Mane Facility  ·  Hamirpur, HP  ·  Project Plan</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900" dirty="0">
                <a:solidFill>
                  <a:srgbClr val="5F6F69"/>
                </a:solidFill>
                <a:latin typeface="Calibri" pitchFamily="34" charset="0"/>
                <a:ea typeface="Calibri" pitchFamily="34" charset="-122"/>
                <a:cs typeface="Calibri" pitchFamily="34" charset="-120"/>
              </a:rPr>
              <a:t>25</a:t>
            </a:r>
            <a:endParaRPr lang="en-US" sz="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7498080" cy="914400"/>
        </p:xfrm>
        <a:graphic>
          <a:graphicData uri="http://schemas.openxmlformats.org/drawingml/2006/table">
            <a:tbl>
              <a:tblPr/>
              <a:tblGrid>
                <a:gridCol w="6675120"/>
                <a:gridCol w="822960"/>
              </a:tblGrid>
              <a:tr h="265176">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Item</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 L</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r>
              <a:tr h="265176">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Civil works, PUF clean-room panels, epoxy floor, coving, doors</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E2A26"/>
                          </a:solidFill>
                          <a:latin typeface="Calibri" pitchFamily="34" charset="0"/>
                          <a:ea typeface="Calibri" pitchFamily="34" charset="-122"/>
                          <a:cs typeface="Calibri" pitchFamily="34" charset="-120"/>
                        </a:rPr>
                        <a:t>2.20</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265176">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Autoclave: 2 × 150 L vertical, SS-304</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algn="r" indent="0" marL="0">
                        <a:buNone/>
                      </a:pPr>
                      <a:r>
                        <a:rPr lang="en-US" sz="1050" dirty="0">
                          <a:solidFill>
                            <a:srgbClr val="1E2A26"/>
                          </a:solidFill>
                          <a:latin typeface="Calibri" pitchFamily="34" charset="0"/>
                          <a:ea typeface="Calibri" pitchFamily="34" charset="-122"/>
                          <a:cs typeface="Calibri" pitchFamily="34" charset="-120"/>
                        </a:rPr>
                        <a:t>1.10</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r>
              <a:tr h="265176">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Processing: slicer, 96-tray dehydrator, 3 HP pulverizer, sifter, vacuum sealer, dehumidifier</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E2A26"/>
                          </a:solidFill>
                          <a:latin typeface="Calibri" pitchFamily="34" charset="0"/>
                          <a:ea typeface="Calibri" pitchFamily="34" charset="-122"/>
                          <a:cs typeface="Calibri" pitchFamily="34" charset="-120"/>
                        </a:rPr>
                        <a:t>2.40</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265176">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HVAC: copper-coil inverter ACs, H14 HEPA box, FAE fans, ducting</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algn="r" indent="0" marL="0">
                        <a:buNone/>
                      </a:pPr>
                      <a:r>
                        <a:rPr lang="en-US" sz="1050" dirty="0">
                          <a:solidFill>
                            <a:srgbClr val="1E2A26"/>
                          </a:solidFill>
                          <a:latin typeface="Calibri" pitchFamily="34" charset="0"/>
                          <a:ea typeface="Calibri" pitchFamily="34" charset="-122"/>
                          <a:cs typeface="Calibri" pitchFamily="34" charset="-120"/>
                        </a:rPr>
                        <a:t>1.40</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r>
              <a:tr h="265176">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DG set 10–12.5 kVA with auto-transfer switch</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E2A26"/>
                          </a:solidFill>
                          <a:latin typeface="Calibri" pitchFamily="34" charset="0"/>
                          <a:ea typeface="Calibri" pitchFamily="34" charset="-122"/>
                          <a:cs typeface="Calibri" pitchFamily="34" charset="-120"/>
                        </a:rPr>
                        <a:t>1.60</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265176">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Epoxy-coated racking: incubation + two fruiting rooms</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algn="r" indent="0" marL="0">
                        <a:buNone/>
                      </a:pPr>
                      <a:r>
                        <a:rPr lang="en-US" sz="1050" dirty="0">
                          <a:solidFill>
                            <a:srgbClr val="1E2A26"/>
                          </a:solidFill>
                          <a:latin typeface="Calibri" pitchFamily="34" charset="0"/>
                          <a:ea typeface="Calibri" pitchFamily="34" charset="-122"/>
                          <a:cs typeface="Calibri" pitchFamily="34" charset="-120"/>
                        </a:rPr>
                        <a:t>0.55</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r>
              <a:tr h="265176">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Mixer 200 L, bag filler, impulse sealers, cooling racks</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E2A26"/>
                          </a:solidFill>
                          <a:latin typeface="Calibri" pitchFamily="34" charset="0"/>
                          <a:ea typeface="Calibri" pitchFamily="34" charset="-122"/>
                          <a:cs typeface="Calibri" pitchFamily="34" charset="-120"/>
                        </a:rPr>
                        <a:t>0.70</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265176">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Electrical, plumbing, drainage, RO water</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algn="r" indent="0" marL="0">
                        <a:buNone/>
                      </a:pPr>
                      <a:r>
                        <a:rPr lang="en-US" sz="1050" dirty="0">
                          <a:solidFill>
                            <a:srgbClr val="1E2A26"/>
                          </a:solidFill>
                          <a:latin typeface="Calibri" pitchFamily="34" charset="0"/>
                          <a:ea typeface="Calibri" pitchFamily="34" charset="-122"/>
                          <a:cs typeface="Calibri" pitchFamily="34" charset="-120"/>
                        </a:rPr>
                        <a:t>0.80</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r>
              <a:tr h="265176">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1 × LAF hood, UV pass box, airlock</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E2A26"/>
                          </a:solidFill>
                          <a:latin typeface="Calibri" pitchFamily="34" charset="0"/>
                          <a:ea typeface="Calibri" pitchFamily="34" charset="-122"/>
                          <a:cs typeface="Calibri" pitchFamily="34" charset="-120"/>
                        </a:rPr>
                        <a:t>0.70</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265176">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Humidifiers, humidistats, T / RH / CO₂ controllers and loggers</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algn="r" indent="0" marL="0">
                        <a:buNone/>
                      </a:pPr>
                      <a:r>
                        <a:rPr lang="en-US" sz="1050" dirty="0">
                          <a:solidFill>
                            <a:srgbClr val="1E2A26"/>
                          </a:solidFill>
                          <a:latin typeface="Calibri" pitchFamily="34" charset="0"/>
                          <a:ea typeface="Calibri" pitchFamily="34" charset="-122"/>
                          <a:cs typeface="Calibri" pitchFamily="34" charset="-120"/>
                        </a:rPr>
                        <a:t>0.55</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r>
              <a:tr h="265176">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Culture &amp; spawn lab: grain kettle, fridge, agar kit, incubator</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E2A26"/>
                          </a:solidFill>
                          <a:latin typeface="Calibri" pitchFamily="34" charset="0"/>
                          <a:ea typeface="Calibri" pitchFamily="34" charset="-122"/>
                          <a:cs typeface="Calibri" pitchFamily="34" charset="-120"/>
                        </a:rPr>
                        <a:t>0.60</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265176">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QC lab: moisture analyser, microscope, balances</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algn="r" indent="0" marL="0">
                        <a:buNone/>
                      </a:pPr>
                      <a:r>
                        <a:rPr lang="en-US" sz="1050" dirty="0">
                          <a:solidFill>
                            <a:srgbClr val="1E2A26"/>
                          </a:solidFill>
                          <a:latin typeface="Calibri" pitchFamily="34" charset="0"/>
                          <a:ea typeface="Calibri" pitchFamily="34" charset="-122"/>
                          <a:cs typeface="Calibri" pitchFamily="34" charset="-120"/>
                        </a:rPr>
                        <a:t>0.45</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r>
              <a:tr h="265176">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DPR, licences, validation, certifications</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E2A26"/>
                          </a:solidFill>
                          <a:latin typeface="Calibri" pitchFamily="34" charset="0"/>
                          <a:ea typeface="Calibri" pitchFamily="34" charset="-122"/>
                          <a:cs typeface="Calibri" pitchFamily="34" charset="-120"/>
                        </a:rPr>
                        <a:t>0.45</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265176">
                <a:tc>
                  <a:txBody>
                    <a:bodyPr/>
                    <a:lstStyle/>
                    <a:p>
                      <a:pPr indent="0" marL="0">
                        <a:buNone/>
                      </a:pPr>
                      <a:r>
                        <a:rPr lang="en-US" sz="1050" b="1" dirty="0">
                          <a:solidFill>
                            <a:srgbClr val="1E2A26"/>
                          </a:solidFill>
                          <a:latin typeface="Calibri" pitchFamily="34" charset="0"/>
                          <a:ea typeface="Calibri" pitchFamily="34" charset="-122"/>
                          <a:cs typeface="Calibri" pitchFamily="34" charset="-120"/>
                        </a:rPr>
                        <a:t>Subtotal</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algn="r" indent="0" marL="0">
                        <a:buNone/>
                      </a:pPr>
                      <a:r>
                        <a:rPr lang="en-US" sz="1050" b="1" dirty="0">
                          <a:solidFill>
                            <a:srgbClr val="1E2A26"/>
                          </a:solidFill>
                          <a:latin typeface="Calibri" pitchFamily="34" charset="0"/>
                          <a:ea typeface="Calibri" pitchFamily="34" charset="-122"/>
                          <a:cs typeface="Calibri" pitchFamily="34" charset="-120"/>
                        </a:rPr>
                        <a:t>13.50</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r>
              <a:tr h="265176">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Contingency (10%)</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E2A26"/>
                          </a:solidFill>
                          <a:latin typeface="Calibri" pitchFamily="34" charset="0"/>
                          <a:ea typeface="Calibri" pitchFamily="34" charset="-122"/>
                          <a:cs typeface="Calibri" pitchFamily="34" charset="-120"/>
                        </a:rPr>
                        <a:t>1.35</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265176">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Working capital (3 months OpEx + receivables buffer)</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algn="r" indent="0" marL="0">
                        <a:buNone/>
                      </a:pPr>
                      <a:r>
                        <a:rPr lang="en-US" sz="1050" dirty="0">
                          <a:solidFill>
                            <a:srgbClr val="1E2A26"/>
                          </a:solidFill>
                          <a:latin typeface="Calibri" pitchFamily="34" charset="0"/>
                          <a:ea typeface="Calibri" pitchFamily="34" charset="-122"/>
                          <a:cs typeface="Calibri" pitchFamily="34" charset="-120"/>
                        </a:rPr>
                        <a:t>4.00</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r>
              <a:tr h="265176">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Total project cost</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14302A"/>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18.85</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14302A"/>
                    </a:solidFill>
                  </a:tcPr>
                </a:tc>
              </a:tr>
            </a:tbl>
          </a:graphicData>
        </a:graphic>
      </p:graphicFrame>
      <p:sp>
        <p:nvSpPr>
          <p:cNvPr id="7" name="Shape 4"/>
          <p:cNvSpPr/>
          <p:nvPr/>
        </p:nvSpPr>
        <p:spPr>
          <a:xfrm>
            <a:off x="8366760" y="1463040"/>
            <a:ext cx="3291840" cy="1371600"/>
          </a:xfrm>
          <a:prstGeom prst="roundRect">
            <a:avLst>
              <a:gd name="adj" fmla="val 5333"/>
            </a:avLst>
          </a:prstGeom>
          <a:solidFill>
            <a:srgbClr val="14302A"/>
          </a:solidFill>
          <a:ln w="9525">
            <a:solidFill>
              <a:srgbClr val="14302A"/>
            </a:solidFill>
            <a:prstDash val="solid"/>
          </a:ln>
        </p:spPr>
      </p:sp>
      <p:sp>
        <p:nvSpPr>
          <p:cNvPr id="8" name="Text 5"/>
          <p:cNvSpPr txBox="1"/>
          <p:nvPr/>
        </p:nvSpPr>
        <p:spPr>
          <a:xfrm>
            <a:off x="8595360" y="1627632"/>
            <a:ext cx="2834640"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₹14.85 L</a:t>
            </a:r>
            <a:endParaRPr lang="en-US" sz="3000" dirty="0"/>
          </a:p>
        </p:txBody>
      </p:sp>
      <p:sp>
        <p:nvSpPr>
          <p:cNvPr id="9" name="Text 6"/>
          <p:cNvSpPr txBox="1"/>
          <p:nvPr/>
        </p:nvSpPr>
        <p:spPr>
          <a:xfrm>
            <a:off x="8595360" y="2217420"/>
            <a:ext cx="2834640" cy="548640"/>
          </a:xfrm>
          <a:prstGeom prst="rect">
            <a:avLst/>
          </a:prstGeom>
          <a:noFill/>
          <a:ln/>
        </p:spPr>
        <p:txBody>
          <a:bodyPr wrap="square" lIns="0" tIns="0" rIns="0" bIns="0" rtlCol="0" anchor="t"/>
          <a:lstStyle/>
          <a:p>
            <a:pPr indent="0" marL="0">
              <a:buNone/>
            </a:pPr>
            <a:r>
              <a:rPr lang="en-US" sz="1150" dirty="0">
                <a:solidFill>
                  <a:srgbClr val="C9D9CF"/>
                </a:solidFill>
                <a:latin typeface="Calibri" pitchFamily="34" charset="0"/>
                <a:ea typeface="Calibri" pitchFamily="34" charset="-122"/>
                <a:cs typeface="Calibri" pitchFamily="34" charset="-120"/>
              </a:rPr>
              <a:t>Fixed capital incl. contingency</a:t>
            </a:r>
            <a:endParaRPr lang="en-US" sz="1150" dirty="0"/>
          </a:p>
        </p:txBody>
      </p:sp>
      <p:sp>
        <p:nvSpPr>
          <p:cNvPr id="10" name="Shape 7"/>
          <p:cNvSpPr/>
          <p:nvPr/>
        </p:nvSpPr>
        <p:spPr>
          <a:xfrm>
            <a:off x="8366760" y="3017520"/>
            <a:ext cx="3291840" cy="1371600"/>
          </a:xfrm>
          <a:prstGeom prst="roundRect">
            <a:avLst>
              <a:gd name="adj" fmla="val 5333"/>
            </a:avLst>
          </a:prstGeom>
          <a:solidFill>
            <a:srgbClr val="EEF4F0"/>
          </a:solidFill>
          <a:ln w="9525">
            <a:solidFill>
              <a:srgbClr val="EEF4F0"/>
            </a:solidFill>
            <a:prstDash val="solid"/>
          </a:ln>
        </p:spPr>
      </p:sp>
      <p:sp>
        <p:nvSpPr>
          <p:cNvPr id="11" name="Shape 8"/>
          <p:cNvSpPr/>
          <p:nvPr/>
        </p:nvSpPr>
        <p:spPr>
          <a:xfrm>
            <a:off x="8549640" y="3200400"/>
            <a:ext cx="457200" cy="457200"/>
          </a:xfrm>
          <a:prstGeom prst="ellipse">
            <a:avLst/>
          </a:prstGeom>
          <a:solidFill>
            <a:srgbClr val="2E5E4E"/>
          </a:solidFill>
          <a:ln w="12700">
            <a:solidFill>
              <a:srgbClr val="2E5E4E"/>
            </a:solidFill>
            <a:prstDash val="solid"/>
          </a:ln>
        </p:spPr>
      </p:sp>
      <p:pic>
        <p:nvPicPr>
          <p:cNvPr id="12" name="Image 0" descr="preencoded.png">    </p:cNvPr>
          <p:cNvPicPr>
            <a:picLocks noChangeAspect="1"/>
          </p:cNvPicPr>
          <p:nvPr/>
        </p:nvPicPr>
        <p:blipFill>
          <a:blip r:embed="rId1"/>
          <a:stretch>
            <a:fillRect/>
          </a:stretch>
        </p:blipFill>
        <p:spPr>
          <a:xfrm>
            <a:off x="8668512" y="3319272"/>
            <a:ext cx="219456" cy="219456"/>
          </a:xfrm>
          <a:prstGeom prst="rect">
            <a:avLst/>
          </a:prstGeom>
        </p:spPr>
      </p:pic>
      <p:sp>
        <p:nvSpPr>
          <p:cNvPr id="13" name="Text 9"/>
          <p:cNvSpPr txBox="1"/>
          <p:nvPr/>
        </p:nvSpPr>
        <p:spPr>
          <a:xfrm>
            <a:off x="9144000" y="3108960"/>
            <a:ext cx="2377440" cy="1188720"/>
          </a:xfrm>
          <a:prstGeom prst="rect">
            <a:avLst/>
          </a:prstGeom>
          <a:noFill/>
          <a:ln/>
        </p:spPr>
        <p:txBody>
          <a:bodyPr wrap="square" lIns="0" tIns="0" rIns="0" bIns="0" rtlCol="0" anchor="ctr"/>
          <a:lstStyle/>
          <a:p>
            <a:pPr indent="0" marL="0">
              <a:buNone/>
            </a:pPr>
            <a:r>
              <a:rPr lang="en-US" sz="1200" b="1" dirty="0">
                <a:solidFill>
                  <a:srgbClr val="14302A"/>
                </a:solidFill>
                <a:latin typeface="Calibri" pitchFamily="34" charset="0"/>
                <a:ea typeface="Calibri" pitchFamily="34" charset="-122"/>
                <a:cs typeface="Calibri" pitchFamily="34" charset="-120"/>
              </a:rPr>
              <a:t>Total project cost is fully eligible for the MSME PMEGP 35% Rural Subsidy.</a:t>
            </a:r>
            <a:endParaRPr lang="en-US" sz="1200" dirty="0"/>
          </a:p>
        </p:txBody>
      </p:sp>
      <p:sp>
        <p:nvSpPr>
          <p:cNvPr id="14" name="Shape 10"/>
          <p:cNvSpPr/>
          <p:nvPr/>
        </p:nvSpPr>
        <p:spPr>
          <a:xfrm>
            <a:off x="8366760" y="4572000"/>
            <a:ext cx="3291840" cy="1691640"/>
          </a:xfrm>
          <a:prstGeom prst="roundRect">
            <a:avLst>
              <a:gd name="adj" fmla="val 4324"/>
            </a:avLst>
          </a:prstGeom>
          <a:solidFill>
            <a:srgbClr val="FBF1DE"/>
          </a:solidFill>
          <a:ln w="9525">
            <a:solidFill>
              <a:srgbClr val="FBF1DE"/>
            </a:solidFill>
            <a:prstDash val="solid"/>
          </a:ln>
        </p:spPr>
      </p:sp>
      <p:sp>
        <p:nvSpPr>
          <p:cNvPr id="15" name="Text 11"/>
          <p:cNvSpPr txBox="1"/>
          <p:nvPr/>
        </p:nvSpPr>
        <p:spPr>
          <a:xfrm>
            <a:off x="8549640" y="4663440"/>
            <a:ext cx="2926080" cy="1508760"/>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Figures are planning estimates. Firm them with 3 vendor proforma invoices per item, which the MIDH/NHB route also requires.</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D9962B"/>
                </a:solidFill>
                <a:latin typeface="Calibri" pitchFamily="34" charset="0"/>
                <a:ea typeface="Calibri" pitchFamily="34" charset="-122"/>
                <a:cs typeface="Calibri" pitchFamily="34" charset="-120"/>
              </a:rPr>
              <a:t>10 · ECONOMICS</a:t>
            </a:r>
            <a:endParaRPr lang="en-US" sz="11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14302A"/>
                </a:solidFill>
                <a:latin typeface="Cambria" pitchFamily="34" charset="0"/>
                <a:ea typeface="Cambria" pitchFamily="34" charset="-122"/>
                <a:cs typeface="Cambria" pitchFamily="34" charset="-120"/>
              </a:rPr>
              <a:t>Operating costs: Phase 1 steady state (₹ per month)</a:t>
            </a:r>
            <a:endParaRPr lang="en-US" sz="30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900" dirty="0">
                <a:solidFill>
                  <a:srgbClr val="5F6F69"/>
                </a:solidFill>
                <a:latin typeface="Calibri" pitchFamily="34" charset="0"/>
                <a:ea typeface="Calibri" pitchFamily="34" charset="-122"/>
                <a:cs typeface="Calibri" pitchFamily="34" charset="-120"/>
              </a:rPr>
              <a:t>Lion's Mane Facility  ·  Hamirpur, HP  ·  Project Plan</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900" dirty="0">
                <a:solidFill>
                  <a:srgbClr val="5F6F69"/>
                </a:solidFill>
                <a:latin typeface="Calibri" pitchFamily="34" charset="0"/>
                <a:ea typeface="Calibri" pitchFamily="34" charset="-122"/>
                <a:cs typeface="Calibri" pitchFamily="34" charset="-120"/>
              </a:rPr>
              <a:t>26</a:t>
            </a:r>
            <a:endParaRPr lang="en-US" sz="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5760720" cy="914400"/>
        </p:xfrm>
        <a:graphic>
          <a:graphicData uri="http://schemas.openxmlformats.org/drawingml/2006/table">
            <a:tbl>
              <a:tblPr/>
              <a:tblGrid>
                <a:gridCol w="4206240"/>
                <a:gridCol w="1554480"/>
              </a:tblGrid>
              <a:tr h="36576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Cost head</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 / month</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r>
              <a:tr h="365760">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Labour (5 staff)</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E2A26"/>
                          </a:solidFill>
                          <a:latin typeface="Calibri" pitchFamily="34" charset="0"/>
                          <a:ea typeface="Calibri" pitchFamily="34" charset="-122"/>
                          <a:cs typeface="Calibri" pitchFamily="34" charset="-120"/>
                        </a:rPr>
                        <a:t>99,000</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365760">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Power (~220 kWh/day at ~₹7)</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algn="r" indent="0" marL="0">
                        <a:buNone/>
                      </a:pPr>
                      <a:r>
                        <a:rPr lang="en-US" sz="1150" dirty="0">
                          <a:solidFill>
                            <a:srgbClr val="1E2A26"/>
                          </a:solidFill>
                          <a:latin typeface="Calibri" pitchFamily="34" charset="0"/>
                          <a:ea typeface="Calibri" pitchFamily="34" charset="-122"/>
                          <a:cs typeface="Calibri" pitchFamily="34" charset="-120"/>
                        </a:rPr>
                        <a:t>46,000</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r>
              <a:tr h="365760">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Substrate: sawdust + soy hull incl. freight</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E2A26"/>
                          </a:solidFill>
                          <a:latin typeface="Calibri" pitchFamily="34" charset="0"/>
                          <a:ea typeface="Calibri" pitchFamily="34" charset="-122"/>
                          <a:cs typeface="Calibri" pitchFamily="34" charset="-120"/>
                        </a:rPr>
                        <a:t>45,000</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365760">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Filter-patch bags (blocks + spawn)</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algn="r" indent="0" marL="0">
                        <a:buNone/>
                      </a:pPr>
                      <a:r>
                        <a:rPr lang="en-US" sz="1150" dirty="0">
                          <a:solidFill>
                            <a:srgbClr val="1E2A26"/>
                          </a:solidFill>
                          <a:latin typeface="Calibri" pitchFamily="34" charset="0"/>
                          <a:ea typeface="Calibri" pitchFamily="34" charset="-122"/>
                          <a:cs typeface="Calibri" pitchFamily="34" charset="-120"/>
                        </a:rPr>
                        <a:t>17,000</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r>
              <a:tr h="365760">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NABL testing (lot CoAs)</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E2A26"/>
                          </a:solidFill>
                          <a:latin typeface="Calibri" pitchFamily="34" charset="0"/>
                          <a:ea typeface="Calibri" pitchFamily="34" charset="-122"/>
                          <a:cs typeface="Calibri" pitchFamily="34" charset="-120"/>
                        </a:rPr>
                        <a:t>15,000</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365760">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Lab consumables: IPA, gloves, masks, pre-filters</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algn="r" indent="0" marL="0">
                        <a:buNone/>
                      </a:pPr>
                      <a:r>
                        <a:rPr lang="en-US" sz="1150" dirty="0">
                          <a:solidFill>
                            <a:srgbClr val="1E2A26"/>
                          </a:solidFill>
                          <a:latin typeface="Calibri" pitchFamily="34" charset="0"/>
                          <a:ea typeface="Calibri" pitchFamily="34" charset="-122"/>
                          <a:cs typeface="Calibri" pitchFamily="34" charset="-120"/>
                        </a:rPr>
                        <a:t>12,000</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r>
              <a:tr h="365760">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Maintenance &amp; miscellaneous</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E2A26"/>
                          </a:solidFill>
                          <a:latin typeface="Calibri" pitchFamily="34" charset="0"/>
                          <a:ea typeface="Calibri" pitchFamily="34" charset="-122"/>
                          <a:cs typeface="Calibri" pitchFamily="34" charset="-120"/>
                        </a:rPr>
                        <a:t>12,000</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365760">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Packaging</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algn="r" indent="0" marL="0">
                        <a:buNone/>
                      </a:pPr>
                      <a:r>
                        <a:rPr lang="en-US" sz="1150" dirty="0">
                          <a:solidFill>
                            <a:srgbClr val="1E2A26"/>
                          </a:solidFill>
                          <a:latin typeface="Calibri" pitchFamily="34" charset="0"/>
                          <a:ea typeface="Calibri" pitchFamily="34" charset="-122"/>
                          <a:cs typeface="Calibri" pitchFamily="34" charset="-120"/>
                        </a:rPr>
                        <a:t>10,000</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r>
              <a:tr h="365760">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Diesel for DG backup</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E2A26"/>
                          </a:solidFill>
                          <a:latin typeface="Calibri" pitchFamily="34" charset="0"/>
                          <a:ea typeface="Calibri" pitchFamily="34" charset="-122"/>
                          <a:cs typeface="Calibri" pitchFamily="34" charset="-120"/>
                        </a:rPr>
                        <a:t>8,000</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365760">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Grain, gypsum, culture media</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algn="r" indent="0" marL="0">
                        <a:buNone/>
                      </a:pPr>
                      <a:r>
                        <a:rPr lang="en-US" sz="1150" dirty="0">
                          <a:solidFill>
                            <a:srgbClr val="1E2A26"/>
                          </a:solidFill>
                          <a:latin typeface="Calibri" pitchFamily="34" charset="0"/>
                          <a:ea typeface="Calibri" pitchFamily="34" charset="-122"/>
                          <a:cs typeface="Calibri" pitchFamily="34" charset="-120"/>
                        </a:rPr>
                        <a:t>6,000</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r>
              <a:tr h="365760">
                <a:tc>
                  <a:txBody>
                    <a:bodyPr/>
                    <a:lstStyle/>
                    <a:p>
                      <a:pPr indent="0" marL="0">
                        <a:buNone/>
                      </a:pPr>
                      <a:r>
                        <a:rPr lang="en-US" sz="1150" dirty="0">
                          <a:solidFill>
                            <a:srgbClr val="1E2A26"/>
                          </a:solidFill>
                          <a:latin typeface="Calibri" pitchFamily="34" charset="0"/>
                          <a:ea typeface="Calibri" pitchFamily="34" charset="-122"/>
                          <a:cs typeface="Calibri" pitchFamily="34" charset="-120"/>
                        </a:rPr>
                        <a:t>Logistics &amp; insurance</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E2A26"/>
                          </a:solidFill>
                          <a:latin typeface="Calibri" pitchFamily="34" charset="0"/>
                          <a:ea typeface="Calibri" pitchFamily="34" charset="-122"/>
                          <a:cs typeface="Calibri" pitchFamily="34" charset="-120"/>
                        </a:rPr>
                        <a:t>6,000</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36576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Total</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14302A"/>
                    </a:solidFill>
                  </a:tcPr>
                </a:tc>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2,76,000</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14302A"/>
                    </a:solidFill>
                  </a:tcPr>
                </a:tc>
              </a:tr>
            </a:tbl>
          </a:graphicData>
        </a:graphic>
      </p:graphicFrame>
      <p:sp>
        <p:nvSpPr>
          <p:cNvPr id="7" name="Shape 4"/>
          <p:cNvSpPr/>
          <p:nvPr/>
        </p:nvSpPr>
        <p:spPr>
          <a:xfrm>
            <a:off x="6675120" y="1463040"/>
            <a:ext cx="2377440" cy="1463040"/>
          </a:xfrm>
          <a:prstGeom prst="roundRect">
            <a:avLst>
              <a:gd name="adj" fmla="val 5000"/>
            </a:avLst>
          </a:prstGeom>
          <a:solidFill>
            <a:srgbClr val="EEF4F0"/>
          </a:solidFill>
          <a:ln w="9525">
            <a:solidFill>
              <a:srgbClr val="EEF4F0"/>
            </a:solidFill>
            <a:prstDash val="solid"/>
          </a:ln>
        </p:spPr>
      </p:sp>
      <p:sp>
        <p:nvSpPr>
          <p:cNvPr id="8" name="Text 5"/>
          <p:cNvSpPr txBox="1"/>
          <p:nvPr/>
        </p:nvSpPr>
        <p:spPr>
          <a:xfrm>
            <a:off x="6903720" y="1627632"/>
            <a:ext cx="1920240" cy="731520"/>
          </a:xfrm>
          <a:prstGeom prst="rect">
            <a:avLst/>
          </a:prstGeom>
          <a:noFill/>
          <a:ln/>
        </p:spPr>
        <p:txBody>
          <a:bodyPr wrap="square" lIns="0" tIns="0" rIns="0" bIns="0" rtlCol="0" anchor="ctr"/>
          <a:lstStyle/>
          <a:p>
            <a:pPr indent="0" marL="0">
              <a:buNone/>
            </a:pPr>
            <a:r>
              <a:rPr lang="en-US" sz="3000" b="1" dirty="0">
                <a:solidFill>
                  <a:srgbClr val="2E5E4E"/>
                </a:solidFill>
                <a:latin typeface="Cambria" pitchFamily="34" charset="0"/>
                <a:ea typeface="Cambria" pitchFamily="34" charset="-122"/>
                <a:cs typeface="Cambria" pitchFamily="34" charset="-120"/>
              </a:rPr>
              <a:t>₹2,960</a:t>
            </a:r>
            <a:endParaRPr lang="en-US" sz="3000" dirty="0"/>
          </a:p>
        </p:txBody>
      </p:sp>
      <p:sp>
        <p:nvSpPr>
          <p:cNvPr id="9" name="Text 6"/>
          <p:cNvSpPr txBox="1"/>
          <p:nvPr/>
        </p:nvSpPr>
        <p:spPr>
          <a:xfrm>
            <a:off x="6903720" y="2267712"/>
            <a:ext cx="1920240" cy="585216"/>
          </a:xfrm>
          <a:prstGeom prst="rect">
            <a:avLst/>
          </a:prstGeom>
          <a:noFill/>
          <a:ln/>
        </p:spPr>
        <p:txBody>
          <a:bodyPr wrap="square" lIns="0" tIns="0" rIns="0" bIns="0" rtlCol="0" anchor="t"/>
          <a:lstStyle/>
          <a:p>
            <a:pPr indent="0" marL="0">
              <a:buNone/>
            </a:pPr>
            <a:r>
              <a:rPr lang="en-US" sz="1150" dirty="0">
                <a:solidFill>
                  <a:srgbClr val="5F6F69"/>
                </a:solidFill>
                <a:latin typeface="Calibri" pitchFamily="34" charset="0"/>
                <a:ea typeface="Calibri" pitchFamily="34" charset="-122"/>
                <a:cs typeface="Calibri" pitchFamily="34" charset="-120"/>
              </a:rPr>
              <a:t>cash cost per kg dry powder</a:t>
            </a:r>
            <a:endParaRPr lang="en-US" sz="1150" dirty="0"/>
          </a:p>
        </p:txBody>
      </p:sp>
      <p:sp>
        <p:nvSpPr>
          <p:cNvPr id="10" name="Shape 7"/>
          <p:cNvSpPr/>
          <p:nvPr/>
        </p:nvSpPr>
        <p:spPr>
          <a:xfrm>
            <a:off x="9281160" y="1463040"/>
            <a:ext cx="2377440" cy="1463040"/>
          </a:xfrm>
          <a:prstGeom prst="roundRect">
            <a:avLst>
              <a:gd name="adj" fmla="val 5000"/>
            </a:avLst>
          </a:prstGeom>
          <a:solidFill>
            <a:srgbClr val="FBF1DE"/>
          </a:solidFill>
          <a:ln w="9525">
            <a:solidFill>
              <a:srgbClr val="FBF1DE"/>
            </a:solidFill>
            <a:prstDash val="solid"/>
          </a:ln>
        </p:spPr>
      </p:sp>
      <p:sp>
        <p:nvSpPr>
          <p:cNvPr id="11" name="Text 8"/>
          <p:cNvSpPr txBox="1"/>
          <p:nvPr/>
        </p:nvSpPr>
        <p:spPr>
          <a:xfrm>
            <a:off x="9509760" y="1627632"/>
            <a:ext cx="1920240" cy="731520"/>
          </a:xfrm>
          <a:prstGeom prst="rect">
            <a:avLst/>
          </a:prstGeom>
          <a:noFill/>
          <a:ln/>
        </p:spPr>
        <p:txBody>
          <a:bodyPr wrap="square" lIns="0" tIns="0" rIns="0" bIns="0" rtlCol="0" anchor="ctr"/>
          <a:lstStyle/>
          <a:p>
            <a:pPr indent="0" marL="0">
              <a:buNone/>
            </a:pPr>
            <a:r>
              <a:rPr lang="en-US" sz="3000" b="1" dirty="0">
                <a:solidFill>
                  <a:srgbClr val="A36A12"/>
                </a:solidFill>
                <a:latin typeface="Cambria" pitchFamily="34" charset="0"/>
                <a:ea typeface="Cambria" pitchFamily="34" charset="-122"/>
                <a:cs typeface="Cambria" pitchFamily="34" charset="-120"/>
              </a:rPr>
              <a:t>35 kg</a:t>
            </a:r>
            <a:endParaRPr lang="en-US" sz="3000" dirty="0"/>
          </a:p>
        </p:txBody>
      </p:sp>
      <p:sp>
        <p:nvSpPr>
          <p:cNvPr id="12" name="Text 9"/>
          <p:cNvSpPr txBox="1"/>
          <p:nvPr/>
        </p:nvSpPr>
        <p:spPr>
          <a:xfrm>
            <a:off x="9509760" y="2267712"/>
            <a:ext cx="1920240" cy="585216"/>
          </a:xfrm>
          <a:prstGeom prst="rect">
            <a:avLst/>
          </a:prstGeom>
          <a:noFill/>
          <a:ln/>
        </p:spPr>
        <p:txBody>
          <a:bodyPr wrap="square" lIns="0" tIns="0" rIns="0" bIns="0" rtlCol="0" anchor="t"/>
          <a:lstStyle/>
          <a:p>
            <a:pPr indent="0" marL="0">
              <a:buNone/>
            </a:pPr>
            <a:r>
              <a:rPr lang="en-US" sz="1150" dirty="0">
                <a:solidFill>
                  <a:srgbClr val="5F6F69"/>
                </a:solidFill>
                <a:latin typeface="Calibri" pitchFamily="34" charset="0"/>
                <a:ea typeface="Calibri" pitchFamily="34" charset="-122"/>
                <a:cs typeface="Calibri" pitchFamily="34" charset="-120"/>
              </a:rPr>
              <a:t>monthly break-even at ₹8,000/kg (37% of capacity)</a:t>
            </a:r>
            <a:endParaRPr lang="en-US" sz="1150" dirty="0"/>
          </a:p>
        </p:txBody>
      </p:sp>
      <p:sp>
        <p:nvSpPr>
          <p:cNvPr id="13" name="Shape 10"/>
          <p:cNvSpPr/>
          <p:nvPr/>
        </p:nvSpPr>
        <p:spPr>
          <a:xfrm>
            <a:off x="6675120" y="3154680"/>
            <a:ext cx="4983480" cy="3108960"/>
          </a:xfrm>
          <a:prstGeom prst="roundRect">
            <a:avLst>
              <a:gd name="adj" fmla="val 2353"/>
            </a:avLst>
          </a:prstGeom>
          <a:solidFill>
            <a:srgbClr val="FFFFFF"/>
          </a:solidFill>
          <a:ln w="9525">
            <a:solidFill>
              <a:srgbClr val="D3DED8"/>
            </a:solidFill>
            <a:prstDash val="solid"/>
          </a:ln>
        </p:spPr>
      </p:sp>
      <p:sp>
        <p:nvSpPr>
          <p:cNvPr id="14" name="Text 11"/>
          <p:cNvSpPr txBox="1"/>
          <p:nvPr/>
        </p:nvSpPr>
        <p:spPr>
          <a:xfrm>
            <a:off x="6903720" y="3273552"/>
            <a:ext cx="4572000" cy="320040"/>
          </a:xfrm>
          <a:prstGeom prst="rect">
            <a:avLst/>
          </a:prstGeom>
          <a:noFill/>
          <a:ln/>
        </p:spPr>
        <p:txBody>
          <a:bodyPr wrap="square" lIns="0" tIns="0" rIns="0" bIns="0" rtlCol="0" anchor="t"/>
          <a:lstStyle/>
          <a:p>
            <a:pPr indent="0" marL="0">
              <a:buNone/>
            </a:pPr>
            <a:r>
              <a:rPr lang="en-US" sz="1400" b="1" dirty="0">
                <a:solidFill>
                  <a:srgbClr val="14302A"/>
                </a:solidFill>
                <a:latin typeface="Cambria" pitchFamily="34" charset="0"/>
                <a:ea typeface="Cambria" pitchFamily="34" charset="-122"/>
                <a:cs typeface="Cambria" pitchFamily="34" charset="-120"/>
              </a:rPr>
              <a:t>Power budget, kWh/day (summer peak)</a:t>
            </a:r>
            <a:endParaRPr lang="en-US" sz="1400" dirty="0"/>
          </a:p>
        </p:txBody>
      </p:sp>
      <p:sp>
        <p:nvSpPr>
          <p:cNvPr id="15" name="Text 12"/>
          <p:cNvSpPr txBox="1"/>
          <p:nvPr/>
        </p:nvSpPr>
        <p:spPr>
          <a:xfrm>
            <a:off x="6903720" y="3703320"/>
            <a:ext cx="2286000" cy="365760"/>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Cooling (4–5 ACs, ~7 TR)</a:t>
            </a:r>
            <a:endParaRPr lang="en-US" sz="1100" dirty="0"/>
          </a:p>
        </p:txBody>
      </p:sp>
      <p:sp>
        <p:nvSpPr>
          <p:cNvPr id="16" name="Shape 13"/>
          <p:cNvSpPr/>
          <p:nvPr/>
        </p:nvSpPr>
        <p:spPr>
          <a:xfrm>
            <a:off x="9235440" y="3767328"/>
            <a:ext cx="1737360" cy="256032"/>
          </a:xfrm>
          <a:prstGeom prst="roundRect">
            <a:avLst>
              <a:gd name="adj" fmla="val 21429"/>
            </a:avLst>
          </a:prstGeom>
          <a:solidFill>
            <a:srgbClr val="D9962B"/>
          </a:solidFill>
          <a:ln w="12700">
            <a:solidFill>
              <a:srgbClr val="D9962B"/>
            </a:solidFill>
            <a:prstDash val="solid"/>
          </a:ln>
        </p:spPr>
      </p:sp>
      <p:sp>
        <p:nvSpPr>
          <p:cNvPr id="17" name="Text 14"/>
          <p:cNvSpPr txBox="1"/>
          <p:nvPr/>
        </p:nvSpPr>
        <p:spPr>
          <a:xfrm>
            <a:off x="11018520" y="3703320"/>
            <a:ext cx="457200" cy="365760"/>
          </a:xfrm>
          <a:prstGeom prst="rect">
            <a:avLst/>
          </a:prstGeom>
          <a:noFill/>
          <a:ln/>
        </p:spPr>
        <p:txBody>
          <a:bodyPr wrap="square" lIns="0" tIns="0" rIns="0" bIns="0" rtlCol="0" anchor="ctr"/>
          <a:lstStyle/>
          <a:p>
            <a:pPr indent="0" marL="0">
              <a:buNone/>
            </a:pPr>
            <a:r>
              <a:rPr lang="en-US" sz="1100" b="1" dirty="0">
                <a:solidFill>
                  <a:srgbClr val="1E2A26"/>
                </a:solidFill>
                <a:latin typeface="Calibri" pitchFamily="34" charset="0"/>
                <a:ea typeface="Calibri" pitchFamily="34" charset="-122"/>
                <a:cs typeface="Calibri" pitchFamily="34" charset="-120"/>
              </a:rPr>
              <a:t>125</a:t>
            </a:r>
            <a:endParaRPr lang="en-US" sz="1100" dirty="0"/>
          </a:p>
        </p:txBody>
      </p:sp>
      <p:sp>
        <p:nvSpPr>
          <p:cNvPr id="18" name="Text 15"/>
          <p:cNvSpPr txBox="1"/>
          <p:nvPr/>
        </p:nvSpPr>
        <p:spPr>
          <a:xfrm>
            <a:off x="6903720" y="4270248"/>
            <a:ext cx="2286000" cy="365760"/>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Autoclave, 2 cycles</a:t>
            </a:r>
            <a:endParaRPr lang="en-US" sz="1100" dirty="0"/>
          </a:p>
        </p:txBody>
      </p:sp>
      <p:sp>
        <p:nvSpPr>
          <p:cNvPr id="19" name="Shape 16"/>
          <p:cNvSpPr/>
          <p:nvPr/>
        </p:nvSpPr>
        <p:spPr>
          <a:xfrm>
            <a:off x="9235440" y="4334256"/>
            <a:ext cx="694944" cy="256032"/>
          </a:xfrm>
          <a:prstGeom prst="roundRect">
            <a:avLst>
              <a:gd name="adj" fmla="val 21429"/>
            </a:avLst>
          </a:prstGeom>
          <a:solidFill>
            <a:srgbClr val="2E5E4E"/>
          </a:solidFill>
          <a:ln w="12700">
            <a:solidFill>
              <a:srgbClr val="2E5E4E"/>
            </a:solidFill>
            <a:prstDash val="solid"/>
          </a:ln>
        </p:spPr>
      </p:sp>
      <p:sp>
        <p:nvSpPr>
          <p:cNvPr id="20" name="Text 17"/>
          <p:cNvSpPr txBox="1"/>
          <p:nvPr/>
        </p:nvSpPr>
        <p:spPr>
          <a:xfrm>
            <a:off x="9976104" y="4270248"/>
            <a:ext cx="457200" cy="365760"/>
          </a:xfrm>
          <a:prstGeom prst="rect">
            <a:avLst/>
          </a:prstGeom>
          <a:noFill/>
          <a:ln/>
        </p:spPr>
        <p:txBody>
          <a:bodyPr wrap="square" lIns="0" tIns="0" rIns="0" bIns="0" rtlCol="0" anchor="ctr"/>
          <a:lstStyle/>
          <a:p>
            <a:pPr indent="0" marL="0">
              <a:buNone/>
            </a:pPr>
            <a:r>
              <a:rPr lang="en-US" sz="1100" b="1" dirty="0">
                <a:solidFill>
                  <a:srgbClr val="1E2A26"/>
                </a:solidFill>
                <a:latin typeface="Calibri" pitchFamily="34" charset="0"/>
                <a:ea typeface="Calibri" pitchFamily="34" charset="-122"/>
                <a:cs typeface="Calibri" pitchFamily="34" charset="-120"/>
              </a:rPr>
              <a:t>50</a:t>
            </a:r>
            <a:endParaRPr lang="en-US" sz="1100" dirty="0"/>
          </a:p>
        </p:txBody>
      </p:sp>
      <p:sp>
        <p:nvSpPr>
          <p:cNvPr id="21" name="Text 18"/>
          <p:cNvSpPr txBox="1"/>
          <p:nvPr/>
        </p:nvSpPr>
        <p:spPr>
          <a:xfrm>
            <a:off x="6903720" y="4837176"/>
            <a:ext cx="2286000" cy="365760"/>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Dehydrator</a:t>
            </a:r>
            <a:endParaRPr lang="en-US" sz="1100" dirty="0"/>
          </a:p>
        </p:txBody>
      </p:sp>
      <p:sp>
        <p:nvSpPr>
          <p:cNvPr id="22" name="Shape 19"/>
          <p:cNvSpPr/>
          <p:nvPr/>
        </p:nvSpPr>
        <p:spPr>
          <a:xfrm>
            <a:off x="9235440" y="4901184"/>
            <a:ext cx="486461" cy="256032"/>
          </a:xfrm>
          <a:prstGeom prst="roundRect">
            <a:avLst>
              <a:gd name="adj" fmla="val 21429"/>
            </a:avLst>
          </a:prstGeom>
          <a:solidFill>
            <a:srgbClr val="2E5E4E"/>
          </a:solidFill>
          <a:ln w="12700">
            <a:solidFill>
              <a:srgbClr val="2E5E4E"/>
            </a:solidFill>
            <a:prstDash val="solid"/>
          </a:ln>
        </p:spPr>
      </p:sp>
      <p:sp>
        <p:nvSpPr>
          <p:cNvPr id="23" name="Text 20"/>
          <p:cNvSpPr txBox="1"/>
          <p:nvPr/>
        </p:nvSpPr>
        <p:spPr>
          <a:xfrm>
            <a:off x="9767621" y="4837176"/>
            <a:ext cx="457200" cy="365760"/>
          </a:xfrm>
          <a:prstGeom prst="rect">
            <a:avLst/>
          </a:prstGeom>
          <a:noFill/>
          <a:ln/>
        </p:spPr>
        <p:txBody>
          <a:bodyPr wrap="square" lIns="0" tIns="0" rIns="0" bIns="0" rtlCol="0" anchor="ctr"/>
          <a:lstStyle/>
          <a:p>
            <a:pPr indent="0" marL="0">
              <a:buNone/>
            </a:pPr>
            <a:r>
              <a:rPr lang="en-US" sz="1100" b="1" dirty="0">
                <a:solidFill>
                  <a:srgbClr val="1E2A26"/>
                </a:solidFill>
                <a:latin typeface="Calibri" pitchFamily="34" charset="0"/>
                <a:ea typeface="Calibri" pitchFamily="34" charset="-122"/>
                <a:cs typeface="Calibri" pitchFamily="34" charset="-120"/>
              </a:rPr>
              <a:t>35</a:t>
            </a:r>
            <a:endParaRPr lang="en-US" sz="1100" dirty="0"/>
          </a:p>
        </p:txBody>
      </p:sp>
      <p:sp>
        <p:nvSpPr>
          <p:cNvPr id="24" name="Text 21"/>
          <p:cNvSpPr txBox="1"/>
          <p:nvPr/>
        </p:nvSpPr>
        <p:spPr>
          <a:xfrm>
            <a:off x="6903720" y="5404104"/>
            <a:ext cx="2286000" cy="365760"/>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Fans, LAF, fogger, lights, mill</a:t>
            </a:r>
            <a:endParaRPr lang="en-US" sz="1100" dirty="0"/>
          </a:p>
        </p:txBody>
      </p:sp>
      <p:sp>
        <p:nvSpPr>
          <p:cNvPr id="25" name="Shape 22"/>
          <p:cNvSpPr/>
          <p:nvPr/>
        </p:nvSpPr>
        <p:spPr>
          <a:xfrm>
            <a:off x="9235440" y="5468112"/>
            <a:ext cx="208483" cy="256032"/>
          </a:xfrm>
          <a:prstGeom prst="roundRect">
            <a:avLst>
              <a:gd name="adj" fmla="val 26316"/>
            </a:avLst>
          </a:prstGeom>
          <a:solidFill>
            <a:srgbClr val="2E5E4E"/>
          </a:solidFill>
          <a:ln w="12700">
            <a:solidFill>
              <a:srgbClr val="2E5E4E"/>
            </a:solidFill>
            <a:prstDash val="solid"/>
          </a:ln>
        </p:spPr>
      </p:sp>
      <p:sp>
        <p:nvSpPr>
          <p:cNvPr id="26" name="Text 23"/>
          <p:cNvSpPr txBox="1"/>
          <p:nvPr/>
        </p:nvSpPr>
        <p:spPr>
          <a:xfrm>
            <a:off x="9489643" y="5404104"/>
            <a:ext cx="457200" cy="365760"/>
          </a:xfrm>
          <a:prstGeom prst="rect">
            <a:avLst/>
          </a:prstGeom>
          <a:noFill/>
          <a:ln/>
        </p:spPr>
        <p:txBody>
          <a:bodyPr wrap="square" lIns="0" tIns="0" rIns="0" bIns="0" rtlCol="0" anchor="ctr"/>
          <a:lstStyle/>
          <a:p>
            <a:pPr indent="0" marL="0">
              <a:buNone/>
            </a:pPr>
            <a:r>
              <a:rPr lang="en-US" sz="1100" b="1" dirty="0">
                <a:solidFill>
                  <a:srgbClr val="1E2A26"/>
                </a:solidFill>
                <a:latin typeface="Calibri" pitchFamily="34" charset="0"/>
                <a:ea typeface="Calibri" pitchFamily="34" charset="-122"/>
                <a:cs typeface="Calibri" pitchFamily="34" charset="-120"/>
              </a:rPr>
              <a:t>15</a:t>
            </a:r>
            <a:endParaRPr lang="en-US" sz="1100" dirty="0"/>
          </a:p>
        </p:txBody>
      </p:sp>
      <p:sp>
        <p:nvSpPr>
          <p:cNvPr id="27" name="Text 24"/>
          <p:cNvSpPr txBox="1"/>
          <p:nvPr/>
        </p:nvSpPr>
        <p:spPr>
          <a:xfrm>
            <a:off x="6903720" y="5943600"/>
            <a:ext cx="4572000" cy="274320"/>
          </a:xfrm>
          <a:prstGeom prst="rect">
            <a:avLst/>
          </a:prstGeom>
          <a:noFill/>
          <a:ln/>
        </p:spPr>
        <p:txBody>
          <a:bodyPr wrap="square" lIns="0" tIns="0" rIns="0" bIns="0" rtlCol="0" anchor="t"/>
          <a:lstStyle/>
          <a:p>
            <a:pPr indent="0" marL="0">
              <a:buNone/>
            </a:pPr>
            <a:r>
              <a:rPr lang="en-US" sz="1050" i="1" dirty="0">
                <a:solidFill>
                  <a:srgbClr val="5F6F69"/>
                </a:solidFill>
                <a:latin typeface="Calibri" pitchFamily="34" charset="0"/>
                <a:ea typeface="Calibri" pitchFamily="34" charset="-122"/>
                <a:cs typeface="Calibri" pitchFamily="34" charset="-120"/>
              </a:rPr>
              <a:t>Total ~225 kWh/day in summer, ~150 in winter. Rooftop solar is a Year-2 option.</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D9962B"/>
                </a:solidFill>
                <a:latin typeface="Calibri" pitchFamily="34" charset="0"/>
                <a:ea typeface="Calibri" pitchFamily="34" charset="-122"/>
                <a:cs typeface="Calibri" pitchFamily="34" charset="-120"/>
              </a:rPr>
              <a:t>10 · ECONOMICS</a:t>
            </a:r>
            <a:endParaRPr lang="en-US" sz="11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14302A"/>
                </a:solidFill>
                <a:latin typeface="Cambria" pitchFamily="34" charset="0"/>
                <a:ea typeface="Cambria" pitchFamily="34" charset="-122"/>
                <a:cs typeface="Cambria" pitchFamily="34" charset="-120"/>
              </a:rPr>
              <a:t>Three-year projection (₹ lakh, pre-tax, pre-debt service)</a:t>
            </a:r>
            <a:endParaRPr lang="en-US" sz="30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900" dirty="0">
                <a:solidFill>
                  <a:srgbClr val="5F6F69"/>
                </a:solidFill>
                <a:latin typeface="Calibri" pitchFamily="34" charset="0"/>
                <a:ea typeface="Calibri" pitchFamily="34" charset="-122"/>
                <a:cs typeface="Calibri" pitchFamily="34" charset="-120"/>
              </a:rPr>
              <a:t>Lion's Mane Facility  ·  Hamirpur, HP  ·  Project Plan</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900" dirty="0">
                <a:solidFill>
                  <a:srgbClr val="5F6F69"/>
                </a:solidFill>
                <a:latin typeface="Calibri" pitchFamily="34" charset="0"/>
                <a:ea typeface="Calibri" pitchFamily="34" charset="-122"/>
                <a:cs typeface="Calibri" pitchFamily="34" charset="-120"/>
              </a:rPr>
              <a:t>27</a:t>
            </a:r>
            <a:endParaRPr lang="en-US" sz="900" dirty="0"/>
          </a:p>
        </p:txBody>
      </p:sp>
      <p:graphicFrame>
        <p:nvGraphicFramePr>
          <p:cNvPr id="6" name="Chart 0" descr=""/>
          <p:cNvGraphicFramePr/>
          <p:nvPr/>
        </p:nvGraphicFramePr>
        <p:xfrm>
          <a:off x="548640" y="1463040"/>
          <a:ext cx="6309360" cy="420624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48640" y="5760720"/>
            <a:ext cx="6309360" cy="548640"/>
          </a:xfrm>
          <a:prstGeom prst="rect">
            <a:avLst/>
          </a:prstGeom>
          <a:noFill/>
          <a:ln/>
        </p:spPr>
        <p:txBody>
          <a:bodyPr wrap="square" lIns="0" tIns="0" rIns="0" bIns="0" rtlCol="0" anchor="t"/>
          <a:lstStyle/>
          <a:p>
            <a:pPr indent="0" marL="0">
              <a:buNone/>
            </a:pPr>
            <a:r>
              <a:rPr lang="en-US" sz="1050" i="1" dirty="0">
                <a:solidFill>
                  <a:srgbClr val="5F6F69"/>
                </a:solidFill>
                <a:latin typeface="Calibri" pitchFamily="34" charset="0"/>
                <a:ea typeface="Calibri" pitchFamily="34" charset="-122"/>
                <a:cs typeface="Calibri" pitchFamily="34" charset="-120"/>
              </a:rPr>
              <a:t>Y1: sales from Month 7 (485 kg). Y2: full Phase 1 (1,120 kg). Y3: Phase 2 at 90 blocks/day (1,680 kg) after added Phase 2 capex. Price flat at ₹8,000/kg; no extract upside modelled.</a:t>
            </a:r>
            <a:endParaRPr lang="en-US" sz="1050" dirty="0"/>
          </a:p>
        </p:txBody>
      </p:sp>
      <p:sp>
        <p:nvSpPr>
          <p:cNvPr id="8" name="Text 5"/>
          <p:cNvSpPr txBox="1"/>
          <p:nvPr/>
        </p:nvSpPr>
        <p:spPr>
          <a:xfrm>
            <a:off x="7223760" y="1463040"/>
            <a:ext cx="4434840" cy="320040"/>
          </a:xfrm>
          <a:prstGeom prst="rect">
            <a:avLst/>
          </a:prstGeom>
          <a:noFill/>
          <a:ln/>
        </p:spPr>
        <p:txBody>
          <a:bodyPr wrap="square" lIns="0" tIns="0" rIns="0" bIns="0" rtlCol="0" anchor="t"/>
          <a:lstStyle/>
          <a:p>
            <a:pPr indent="0" marL="0">
              <a:buNone/>
            </a:pPr>
            <a:r>
              <a:rPr lang="en-US" sz="1400" b="1" dirty="0">
                <a:solidFill>
                  <a:srgbClr val="14302A"/>
                </a:solidFill>
                <a:latin typeface="Cambria" pitchFamily="34" charset="0"/>
                <a:ea typeface="Cambria" pitchFamily="34" charset="-122"/>
                <a:cs typeface="Cambria" pitchFamily="34" charset="-120"/>
              </a:rPr>
              <a:t>Monthly EBITDA sensitivity, Phase 1 (₹ lakh)</a:t>
            </a:r>
            <a:endParaRPr lang="en-US" sz="14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7223760" y="1874520"/>
          <a:ext cx="4434840" cy="914400"/>
        </p:xfrm>
        <a:graphic>
          <a:graphicData uri="http://schemas.openxmlformats.org/drawingml/2006/table">
            <a:tbl>
              <a:tblPr/>
              <a:tblGrid>
                <a:gridCol w="1325880"/>
                <a:gridCol w="1033272"/>
                <a:gridCol w="1033272"/>
                <a:gridCol w="1042416"/>
              </a:tblGrid>
              <a:tr h="41148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Price / BE</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50%</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65%</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80%</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r>
              <a:tr h="411480">
                <a:tc>
                  <a:txBody>
                    <a:bodyPr/>
                    <a:lstStyle/>
                    <a:p>
                      <a:pPr indent="0" marL="0">
                        <a:buNone/>
                      </a:pPr>
                      <a:r>
                        <a:rPr lang="en-US" sz="1150" b="1" dirty="0">
                          <a:solidFill>
                            <a:srgbClr val="1E2A26"/>
                          </a:solidFill>
                          <a:latin typeface="Calibri" pitchFamily="34" charset="0"/>
                          <a:ea typeface="Calibri" pitchFamily="34" charset="-122"/>
                          <a:cs typeface="Calibri" pitchFamily="34" charset="-120"/>
                        </a:rPr>
                        <a:t>₹6,000/kg</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E2A26"/>
                          </a:solidFill>
                          <a:latin typeface="Calibri" pitchFamily="34" charset="0"/>
                          <a:ea typeface="Calibri" pitchFamily="34" charset="-122"/>
                          <a:cs typeface="Calibri" pitchFamily="34" charset="-120"/>
                        </a:rPr>
                        <a:t>1.55</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E2A26"/>
                          </a:solidFill>
                          <a:latin typeface="Calibri" pitchFamily="34" charset="0"/>
                          <a:ea typeface="Calibri" pitchFamily="34" charset="-122"/>
                          <a:cs typeface="Calibri" pitchFamily="34" charset="-120"/>
                        </a:rPr>
                        <a:t>2.84</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E2A26"/>
                          </a:solidFill>
                          <a:latin typeface="Calibri" pitchFamily="34" charset="0"/>
                          <a:ea typeface="Calibri" pitchFamily="34" charset="-122"/>
                          <a:cs typeface="Calibri" pitchFamily="34" charset="-120"/>
                        </a:rPr>
                        <a:t>4.13</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411480">
                <a:tc>
                  <a:txBody>
                    <a:bodyPr/>
                    <a:lstStyle/>
                    <a:p>
                      <a:pPr indent="0" marL="0">
                        <a:buNone/>
                      </a:pPr>
                      <a:r>
                        <a:rPr lang="en-US" sz="1150" b="1" dirty="0">
                          <a:solidFill>
                            <a:srgbClr val="1E2A26"/>
                          </a:solidFill>
                          <a:latin typeface="Calibri" pitchFamily="34" charset="0"/>
                          <a:ea typeface="Calibri" pitchFamily="34" charset="-122"/>
                          <a:cs typeface="Calibri" pitchFamily="34" charset="-120"/>
                        </a:rPr>
                        <a:t>₹8,000/kg</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algn="ctr" indent="0" marL="0">
                        <a:buNone/>
                      </a:pPr>
                      <a:r>
                        <a:rPr lang="en-US" sz="1150" dirty="0">
                          <a:solidFill>
                            <a:srgbClr val="1E2A26"/>
                          </a:solidFill>
                          <a:latin typeface="Calibri" pitchFamily="34" charset="0"/>
                          <a:ea typeface="Calibri" pitchFamily="34" charset="-122"/>
                          <a:cs typeface="Calibri" pitchFamily="34" charset="-120"/>
                        </a:rPr>
                        <a:t>2.98</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2A26"/>
                          </a:solidFill>
                          <a:latin typeface="Calibri" pitchFamily="34" charset="0"/>
                          <a:ea typeface="Calibri" pitchFamily="34" charset="-122"/>
                          <a:cs typeface="Calibri" pitchFamily="34" charset="-120"/>
                        </a:rPr>
                        <a:t>4.70</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BF1DE"/>
                    </a:solidFill>
                  </a:tcPr>
                </a:tc>
                <a:tc>
                  <a:txBody>
                    <a:bodyPr/>
                    <a:lstStyle/>
                    <a:p>
                      <a:pPr algn="ctr" indent="0" marL="0">
                        <a:buNone/>
                      </a:pPr>
                      <a:r>
                        <a:rPr lang="en-US" sz="1150" dirty="0">
                          <a:solidFill>
                            <a:srgbClr val="1E2A26"/>
                          </a:solidFill>
                          <a:latin typeface="Calibri" pitchFamily="34" charset="0"/>
                          <a:ea typeface="Calibri" pitchFamily="34" charset="-122"/>
                          <a:cs typeface="Calibri" pitchFamily="34" charset="-120"/>
                        </a:rPr>
                        <a:t>6.43</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411480">
                <a:tc>
                  <a:txBody>
                    <a:bodyPr/>
                    <a:lstStyle/>
                    <a:p>
                      <a:pPr indent="0" marL="0">
                        <a:buNone/>
                      </a:pPr>
                      <a:r>
                        <a:rPr lang="en-US" sz="1150" b="1" dirty="0">
                          <a:solidFill>
                            <a:srgbClr val="1E2A26"/>
                          </a:solidFill>
                          <a:latin typeface="Calibri" pitchFamily="34" charset="0"/>
                          <a:ea typeface="Calibri" pitchFamily="34" charset="-122"/>
                          <a:cs typeface="Calibri" pitchFamily="34" charset="-120"/>
                        </a:rPr>
                        <a:t>₹10,000/kg</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E2A26"/>
                          </a:solidFill>
                          <a:latin typeface="Calibri" pitchFamily="34" charset="0"/>
                          <a:ea typeface="Calibri" pitchFamily="34" charset="-122"/>
                          <a:cs typeface="Calibri" pitchFamily="34" charset="-120"/>
                        </a:rPr>
                        <a:t>4.42</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E2A26"/>
                          </a:solidFill>
                          <a:latin typeface="Calibri" pitchFamily="34" charset="0"/>
                          <a:ea typeface="Calibri" pitchFamily="34" charset="-122"/>
                          <a:cs typeface="Calibri" pitchFamily="34" charset="-120"/>
                        </a:rPr>
                        <a:t>6.57</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E2A26"/>
                          </a:solidFill>
                          <a:latin typeface="Calibri" pitchFamily="34" charset="0"/>
                          <a:ea typeface="Calibri" pitchFamily="34" charset="-122"/>
                          <a:cs typeface="Calibri" pitchFamily="34" charset="-120"/>
                        </a:rPr>
                        <a:t>8.72</a:t>
                      </a:r>
                      <a:endParaRPr lang="en-US" sz="11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bl>
          </a:graphicData>
        </a:graphic>
      </p:graphicFrame>
      <p:sp>
        <p:nvSpPr>
          <p:cNvPr id="10" name="Shape 6"/>
          <p:cNvSpPr/>
          <p:nvPr/>
        </p:nvSpPr>
        <p:spPr>
          <a:xfrm>
            <a:off x="7223760" y="3749040"/>
            <a:ext cx="2103120" cy="1325880"/>
          </a:xfrm>
          <a:prstGeom prst="roundRect">
            <a:avLst>
              <a:gd name="adj" fmla="val 5517"/>
            </a:avLst>
          </a:prstGeom>
          <a:solidFill>
            <a:srgbClr val="EEF4F0"/>
          </a:solidFill>
          <a:ln w="9525">
            <a:solidFill>
              <a:srgbClr val="EEF4F0"/>
            </a:solidFill>
            <a:prstDash val="solid"/>
          </a:ln>
        </p:spPr>
      </p:sp>
      <p:sp>
        <p:nvSpPr>
          <p:cNvPr id="11" name="Text 7"/>
          <p:cNvSpPr txBox="1"/>
          <p:nvPr/>
        </p:nvSpPr>
        <p:spPr>
          <a:xfrm>
            <a:off x="7452360" y="3913632"/>
            <a:ext cx="1645920" cy="662940"/>
          </a:xfrm>
          <a:prstGeom prst="rect">
            <a:avLst/>
          </a:prstGeom>
          <a:noFill/>
          <a:ln/>
        </p:spPr>
        <p:txBody>
          <a:bodyPr wrap="square" lIns="0" tIns="0" rIns="0" bIns="0" rtlCol="0" anchor="ctr"/>
          <a:lstStyle/>
          <a:p>
            <a:pPr indent="0" marL="0">
              <a:buNone/>
            </a:pPr>
            <a:r>
              <a:rPr lang="en-US" sz="3000" b="1" dirty="0">
                <a:solidFill>
                  <a:srgbClr val="2E5E4E"/>
                </a:solidFill>
                <a:latin typeface="Cambria" pitchFamily="34" charset="0"/>
                <a:ea typeface="Cambria" pitchFamily="34" charset="-122"/>
                <a:cs typeface="Cambria" pitchFamily="34" charset="-120"/>
              </a:rPr>
              <a:t>~13 mo</a:t>
            </a:r>
            <a:endParaRPr lang="en-US" sz="3000" dirty="0"/>
          </a:p>
        </p:txBody>
      </p:sp>
      <p:sp>
        <p:nvSpPr>
          <p:cNvPr id="12" name="Text 8"/>
          <p:cNvSpPr txBox="1"/>
          <p:nvPr/>
        </p:nvSpPr>
        <p:spPr>
          <a:xfrm>
            <a:off x="7452360" y="4478274"/>
            <a:ext cx="1645920" cy="530352"/>
          </a:xfrm>
          <a:prstGeom prst="rect">
            <a:avLst/>
          </a:prstGeom>
          <a:noFill/>
          <a:ln/>
        </p:spPr>
        <p:txBody>
          <a:bodyPr wrap="square" lIns="0" tIns="0" rIns="0" bIns="0" rtlCol="0" anchor="t"/>
          <a:lstStyle/>
          <a:p>
            <a:pPr indent="0" marL="0">
              <a:buNone/>
            </a:pPr>
            <a:r>
              <a:rPr lang="en-US" sz="1150" dirty="0">
                <a:solidFill>
                  <a:srgbClr val="5F6F69"/>
                </a:solidFill>
                <a:latin typeface="Calibri" pitchFamily="34" charset="0"/>
                <a:ea typeface="Calibri" pitchFamily="34" charset="-122"/>
                <a:cs typeface="Calibri" pitchFamily="34" charset="-120"/>
              </a:rPr>
              <a:t>EBITDA payback on ₹18.85 L from project start</a:t>
            </a:r>
            <a:endParaRPr lang="en-US" sz="1150" dirty="0"/>
          </a:p>
        </p:txBody>
      </p:sp>
      <p:sp>
        <p:nvSpPr>
          <p:cNvPr id="13" name="Shape 9"/>
          <p:cNvSpPr/>
          <p:nvPr/>
        </p:nvSpPr>
        <p:spPr>
          <a:xfrm>
            <a:off x="9555480" y="3749040"/>
            <a:ext cx="2103120" cy="1325880"/>
          </a:xfrm>
          <a:prstGeom prst="roundRect">
            <a:avLst>
              <a:gd name="adj" fmla="val 5517"/>
            </a:avLst>
          </a:prstGeom>
          <a:solidFill>
            <a:srgbClr val="FBF1DE"/>
          </a:solidFill>
          <a:ln w="9525">
            <a:solidFill>
              <a:srgbClr val="FBF1DE"/>
            </a:solidFill>
            <a:prstDash val="solid"/>
          </a:ln>
        </p:spPr>
      </p:sp>
      <p:sp>
        <p:nvSpPr>
          <p:cNvPr id="14" name="Text 10"/>
          <p:cNvSpPr txBox="1"/>
          <p:nvPr/>
        </p:nvSpPr>
        <p:spPr>
          <a:xfrm>
            <a:off x="9784080" y="3913632"/>
            <a:ext cx="1645920" cy="662940"/>
          </a:xfrm>
          <a:prstGeom prst="rect">
            <a:avLst/>
          </a:prstGeom>
          <a:noFill/>
          <a:ln/>
        </p:spPr>
        <p:txBody>
          <a:bodyPr wrap="square" lIns="0" tIns="0" rIns="0" bIns="0" rtlCol="0" anchor="ctr"/>
          <a:lstStyle/>
          <a:p>
            <a:pPr indent="0" marL="0">
              <a:buNone/>
            </a:pPr>
            <a:r>
              <a:rPr lang="en-US" sz="3000" b="1" dirty="0">
                <a:solidFill>
                  <a:srgbClr val="A36A12"/>
                </a:solidFill>
                <a:latin typeface="Cambria" pitchFamily="34" charset="0"/>
                <a:ea typeface="Cambria" pitchFamily="34" charset="-122"/>
                <a:cs typeface="Cambria" pitchFamily="34" charset="-120"/>
              </a:rPr>
              <a:t>+₹1.5 L</a:t>
            </a:r>
            <a:endParaRPr lang="en-US" sz="3000" dirty="0"/>
          </a:p>
        </p:txBody>
      </p:sp>
      <p:sp>
        <p:nvSpPr>
          <p:cNvPr id="15" name="Text 11"/>
          <p:cNvSpPr txBox="1"/>
          <p:nvPr/>
        </p:nvSpPr>
        <p:spPr>
          <a:xfrm>
            <a:off x="9784080" y="4478274"/>
            <a:ext cx="1645920" cy="530352"/>
          </a:xfrm>
          <a:prstGeom prst="rect">
            <a:avLst/>
          </a:prstGeom>
          <a:noFill/>
          <a:ln/>
        </p:spPr>
        <p:txBody>
          <a:bodyPr wrap="square" lIns="0" tIns="0" rIns="0" bIns="0" rtlCol="0" anchor="t"/>
          <a:lstStyle/>
          <a:p>
            <a:pPr indent="0" marL="0">
              <a:buNone/>
            </a:pPr>
            <a:r>
              <a:rPr lang="en-US" sz="1150" dirty="0">
                <a:solidFill>
                  <a:srgbClr val="5F6F69"/>
                </a:solidFill>
                <a:latin typeface="Calibri" pitchFamily="34" charset="0"/>
                <a:ea typeface="Calibri" pitchFamily="34" charset="-122"/>
                <a:cs typeface="Calibri" pitchFamily="34" charset="-120"/>
              </a:rPr>
              <a:t>monthly EBITDA even at worst case (₹6,000, 50% BE)</a:t>
            </a:r>
            <a:endParaRPr lang="en-US" sz="1150" dirty="0"/>
          </a:p>
        </p:txBody>
      </p:sp>
      <p:sp>
        <p:nvSpPr>
          <p:cNvPr id="16" name="Text 12"/>
          <p:cNvSpPr txBox="1"/>
          <p:nvPr/>
        </p:nvSpPr>
        <p:spPr>
          <a:xfrm>
            <a:off x="7223760" y="5257800"/>
            <a:ext cx="4434840" cy="548640"/>
          </a:xfrm>
          <a:prstGeom prst="rect">
            <a:avLst/>
          </a:prstGeom>
          <a:noFill/>
          <a:ln/>
        </p:spPr>
        <p:txBody>
          <a:bodyPr wrap="square" lIns="0" tIns="0" rIns="0" bIns="0" rtlCol="0" anchor="t"/>
          <a:lstStyle/>
          <a:p>
            <a:pPr indent="0" marL="0">
              <a:buNone/>
            </a:pPr>
            <a:r>
              <a:rPr lang="en-US" sz="1150" dirty="0">
                <a:solidFill>
                  <a:srgbClr val="1E2A26"/>
                </a:solidFill>
                <a:latin typeface="Calibri" pitchFamily="34" charset="0"/>
                <a:ea typeface="Calibri" pitchFamily="34" charset="-122"/>
                <a:cs typeface="Calibri" pitchFamily="34" charset="-120"/>
              </a:rPr>
              <a:t>The plant stays cash-positive across every price and yield combination tested.</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D9962B"/>
                </a:solidFill>
                <a:latin typeface="Calibri" pitchFamily="34" charset="0"/>
                <a:ea typeface="Calibri" pitchFamily="34" charset="-122"/>
                <a:cs typeface="Calibri" pitchFamily="34" charset="-120"/>
              </a:rPr>
              <a:t>10 · ECONOMICS</a:t>
            </a:r>
            <a:endParaRPr lang="en-US" sz="11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14302A"/>
                </a:solidFill>
                <a:latin typeface="Cambria" pitchFamily="34" charset="0"/>
                <a:ea typeface="Cambria" pitchFamily="34" charset="-122"/>
                <a:cs typeface="Cambria" pitchFamily="34" charset="-120"/>
              </a:rPr>
              <a:t>Funding structure and government support</a:t>
            </a:r>
            <a:endParaRPr lang="en-US" sz="30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900" dirty="0">
                <a:solidFill>
                  <a:srgbClr val="5F6F69"/>
                </a:solidFill>
                <a:latin typeface="Calibri" pitchFamily="34" charset="0"/>
                <a:ea typeface="Calibri" pitchFamily="34" charset="-122"/>
                <a:cs typeface="Calibri" pitchFamily="34" charset="-120"/>
              </a:rPr>
              <a:t>Lion's Mane Facility  ·  Hamirpur, HP  ·  Project Plan</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900" dirty="0">
                <a:solidFill>
                  <a:srgbClr val="5F6F69"/>
                </a:solidFill>
                <a:latin typeface="Calibri" pitchFamily="34" charset="0"/>
                <a:ea typeface="Calibri" pitchFamily="34" charset="-122"/>
                <a:cs typeface="Calibri" pitchFamily="34" charset="-120"/>
              </a:rPr>
              <a:t>28</a:t>
            </a:r>
            <a:endParaRPr lang="en-US" sz="900" dirty="0"/>
          </a:p>
        </p:txBody>
      </p:sp>
      <p:sp>
        <p:nvSpPr>
          <p:cNvPr id="6" name="Shape 4"/>
          <p:cNvSpPr/>
          <p:nvPr/>
        </p:nvSpPr>
        <p:spPr>
          <a:xfrm>
            <a:off x="548640" y="1463040"/>
            <a:ext cx="6309360" cy="1051560"/>
          </a:xfrm>
          <a:prstGeom prst="roundRect">
            <a:avLst>
              <a:gd name="adj" fmla="val 6957"/>
            </a:avLst>
          </a:prstGeom>
          <a:solidFill>
            <a:srgbClr val="EEF4F0"/>
          </a:solidFill>
          <a:ln w="9525">
            <a:solidFill>
              <a:srgbClr val="EEF4F0"/>
            </a:solidFill>
            <a:prstDash val="solid"/>
          </a:ln>
        </p:spPr>
      </p:sp>
      <p:sp>
        <p:nvSpPr>
          <p:cNvPr id="7" name="Shape 5"/>
          <p:cNvSpPr/>
          <p:nvPr/>
        </p:nvSpPr>
        <p:spPr>
          <a:xfrm>
            <a:off x="731520" y="1691640"/>
            <a:ext cx="566928" cy="566928"/>
          </a:xfrm>
          <a:prstGeom prst="ellipse">
            <a:avLst/>
          </a:prstGeom>
          <a:solidFill>
            <a:srgbClr val="2E5E4E"/>
          </a:solidFill>
          <a:ln w="12700">
            <a:solidFill>
              <a:srgbClr val="2E5E4E"/>
            </a:solidFill>
            <a:prstDash val="solid"/>
          </a:ln>
        </p:spPr>
      </p:sp>
      <p:pic>
        <p:nvPicPr>
          <p:cNvPr id="8" name="Image 0" descr="preencoded.png">    </p:cNvPr>
          <p:cNvPicPr>
            <a:picLocks noChangeAspect="1"/>
          </p:cNvPicPr>
          <p:nvPr/>
        </p:nvPicPr>
        <p:blipFill>
          <a:blip r:embed="rId1"/>
          <a:stretch>
            <a:fillRect/>
          </a:stretch>
        </p:blipFill>
        <p:spPr>
          <a:xfrm>
            <a:off x="878921" y="1839041"/>
            <a:ext cx="272125" cy="272125"/>
          </a:xfrm>
          <a:prstGeom prst="rect">
            <a:avLst/>
          </a:prstGeom>
        </p:spPr>
      </p:pic>
      <p:sp>
        <p:nvSpPr>
          <p:cNvPr id="9" name="Text 6"/>
          <p:cNvSpPr txBox="1"/>
          <p:nvPr/>
        </p:nvSpPr>
        <p:spPr>
          <a:xfrm>
            <a:off x="1463040" y="1554480"/>
            <a:ext cx="2926080" cy="320040"/>
          </a:xfrm>
          <a:prstGeom prst="rect">
            <a:avLst/>
          </a:prstGeom>
          <a:noFill/>
          <a:ln/>
        </p:spPr>
        <p:txBody>
          <a:bodyPr wrap="square" lIns="0" tIns="0" rIns="0" bIns="0" rtlCol="0" anchor="t"/>
          <a:lstStyle/>
          <a:p>
            <a:pPr indent="0" marL="0">
              <a:buNone/>
            </a:pPr>
            <a:r>
              <a:rPr lang="en-US" sz="1350" b="1" dirty="0">
                <a:solidFill>
                  <a:srgbClr val="14302A"/>
                </a:solidFill>
                <a:latin typeface="Calibri" pitchFamily="34" charset="0"/>
                <a:ea typeface="Calibri" pitchFamily="34" charset="-122"/>
                <a:cs typeface="Calibri" pitchFamily="34" charset="-120"/>
              </a:rPr>
              <a:t>PMEGP (MSME / KVIC)</a:t>
            </a:r>
            <a:endParaRPr lang="en-US" sz="1350" dirty="0"/>
          </a:p>
        </p:txBody>
      </p:sp>
      <p:sp>
        <p:nvSpPr>
          <p:cNvPr id="10" name="Text 7"/>
          <p:cNvSpPr txBox="1"/>
          <p:nvPr/>
        </p:nvSpPr>
        <p:spPr>
          <a:xfrm>
            <a:off x="4389120" y="1554480"/>
            <a:ext cx="2331720" cy="320040"/>
          </a:xfrm>
          <a:prstGeom prst="rect">
            <a:avLst/>
          </a:prstGeom>
          <a:noFill/>
          <a:ln/>
        </p:spPr>
        <p:txBody>
          <a:bodyPr wrap="square" lIns="0" tIns="0" rIns="0" bIns="0" rtlCol="0" anchor="t"/>
          <a:lstStyle/>
          <a:p>
            <a:pPr algn="r" indent="0" marL="0">
              <a:buNone/>
            </a:pPr>
            <a:r>
              <a:rPr lang="en-US" sz="1050" b="1" dirty="0">
                <a:solidFill>
                  <a:srgbClr val="D9962B"/>
                </a:solidFill>
                <a:latin typeface="Calibri" pitchFamily="34" charset="0"/>
                <a:ea typeface="Calibri" pitchFamily="34" charset="-122"/>
                <a:cs typeface="Calibri" pitchFamily="34" charset="-120"/>
              </a:rPr>
              <a:t>Recommended lead route</a:t>
            </a:r>
            <a:endParaRPr lang="en-US" sz="1050" dirty="0"/>
          </a:p>
        </p:txBody>
      </p:sp>
      <p:sp>
        <p:nvSpPr>
          <p:cNvPr id="11" name="Text 8"/>
          <p:cNvSpPr txBox="1"/>
          <p:nvPr/>
        </p:nvSpPr>
        <p:spPr>
          <a:xfrm>
            <a:off x="1463040" y="1874520"/>
            <a:ext cx="5257800" cy="594360"/>
          </a:xfrm>
          <a:prstGeom prst="rect">
            <a:avLst/>
          </a:prstGeom>
          <a:noFill/>
          <a:ln/>
        </p:spPr>
        <p:txBody>
          <a:bodyPr wrap="square" lIns="0" tIns="0" rIns="0" bIns="0" rtlCol="0" anchor="t"/>
          <a:lstStyle/>
          <a:p>
            <a:pPr indent="0" marL="0">
              <a:buNone/>
            </a:pPr>
            <a:r>
              <a:rPr lang="en-US" sz="1050" dirty="0">
                <a:solidFill>
                  <a:srgbClr val="1E2A26"/>
                </a:solidFill>
                <a:latin typeface="Calibri" pitchFamily="34" charset="0"/>
                <a:ea typeface="Calibri" pitchFamily="34" charset="-122"/>
                <a:cs typeface="Calibri" pitchFamily="34" charset="-120"/>
              </a:rPr>
              <a:t>35% margin-money subsidy for rural units in a Special Category State; 5% promoter contribution. Manufacturing project cap ₹50 L.</a:t>
            </a:r>
            <a:endParaRPr lang="en-US" sz="1050" dirty="0"/>
          </a:p>
        </p:txBody>
      </p:sp>
      <p:sp>
        <p:nvSpPr>
          <p:cNvPr id="12" name="Shape 9"/>
          <p:cNvSpPr/>
          <p:nvPr/>
        </p:nvSpPr>
        <p:spPr>
          <a:xfrm>
            <a:off x="548640" y="2651760"/>
            <a:ext cx="6309360" cy="1051560"/>
          </a:xfrm>
          <a:prstGeom prst="roundRect">
            <a:avLst>
              <a:gd name="adj" fmla="val 6957"/>
            </a:avLst>
          </a:prstGeom>
          <a:solidFill>
            <a:srgbClr val="EEF4F0"/>
          </a:solidFill>
          <a:ln w="9525">
            <a:solidFill>
              <a:srgbClr val="EEF4F0"/>
            </a:solidFill>
            <a:prstDash val="solid"/>
          </a:ln>
        </p:spPr>
      </p:sp>
      <p:sp>
        <p:nvSpPr>
          <p:cNvPr id="13" name="Shape 10"/>
          <p:cNvSpPr/>
          <p:nvPr/>
        </p:nvSpPr>
        <p:spPr>
          <a:xfrm>
            <a:off x="731520" y="2880360"/>
            <a:ext cx="566928" cy="566928"/>
          </a:xfrm>
          <a:prstGeom prst="ellipse">
            <a:avLst/>
          </a:prstGeom>
          <a:solidFill>
            <a:srgbClr val="4E7D6B"/>
          </a:solidFill>
          <a:ln w="12700">
            <a:solidFill>
              <a:srgbClr val="4E7D6B"/>
            </a:solidFill>
            <a:prstDash val="solid"/>
          </a:ln>
        </p:spPr>
      </p:sp>
      <p:pic>
        <p:nvPicPr>
          <p:cNvPr id="14" name="Image 1" descr="preencoded.png">    </p:cNvPr>
          <p:cNvPicPr>
            <a:picLocks noChangeAspect="1"/>
          </p:cNvPicPr>
          <p:nvPr/>
        </p:nvPicPr>
        <p:blipFill>
          <a:blip r:embed="rId2"/>
          <a:stretch>
            <a:fillRect/>
          </a:stretch>
        </p:blipFill>
        <p:spPr>
          <a:xfrm>
            <a:off x="878921" y="3027761"/>
            <a:ext cx="272125" cy="272125"/>
          </a:xfrm>
          <a:prstGeom prst="rect">
            <a:avLst/>
          </a:prstGeom>
        </p:spPr>
      </p:pic>
      <p:sp>
        <p:nvSpPr>
          <p:cNvPr id="15" name="Text 11"/>
          <p:cNvSpPr txBox="1"/>
          <p:nvPr/>
        </p:nvSpPr>
        <p:spPr>
          <a:xfrm>
            <a:off x="1463040" y="2743200"/>
            <a:ext cx="2926080" cy="320040"/>
          </a:xfrm>
          <a:prstGeom prst="rect">
            <a:avLst/>
          </a:prstGeom>
          <a:noFill/>
          <a:ln/>
        </p:spPr>
        <p:txBody>
          <a:bodyPr wrap="square" lIns="0" tIns="0" rIns="0" bIns="0" rtlCol="0" anchor="t"/>
          <a:lstStyle/>
          <a:p>
            <a:pPr indent="0" marL="0">
              <a:buNone/>
            </a:pPr>
            <a:r>
              <a:rPr lang="en-US" sz="1350" b="1" dirty="0">
                <a:solidFill>
                  <a:srgbClr val="14302A"/>
                </a:solidFill>
                <a:latin typeface="Calibri" pitchFamily="34" charset="0"/>
                <a:ea typeface="Calibri" pitchFamily="34" charset="-122"/>
                <a:cs typeface="Calibri" pitchFamily="34" charset="-120"/>
              </a:rPr>
              <a:t>MIDH / NHB</a:t>
            </a:r>
            <a:endParaRPr lang="en-US" sz="1350" dirty="0"/>
          </a:p>
        </p:txBody>
      </p:sp>
      <p:sp>
        <p:nvSpPr>
          <p:cNvPr id="16" name="Text 12"/>
          <p:cNvSpPr txBox="1"/>
          <p:nvPr/>
        </p:nvSpPr>
        <p:spPr>
          <a:xfrm>
            <a:off x="4389120" y="2743200"/>
            <a:ext cx="2331720" cy="320040"/>
          </a:xfrm>
          <a:prstGeom prst="rect">
            <a:avLst/>
          </a:prstGeom>
          <a:noFill/>
          <a:ln/>
        </p:spPr>
        <p:txBody>
          <a:bodyPr wrap="square" lIns="0" tIns="0" rIns="0" bIns="0" rtlCol="0" anchor="t"/>
          <a:lstStyle/>
          <a:p>
            <a:pPr algn="r" indent="0" marL="0">
              <a:buNone/>
            </a:pPr>
            <a:r>
              <a:rPr lang="en-US" sz="1050" b="1" dirty="0">
                <a:solidFill>
                  <a:srgbClr val="D9962B"/>
                </a:solidFill>
                <a:latin typeface="Calibri" pitchFamily="34" charset="0"/>
                <a:ea typeface="Calibri" pitchFamily="34" charset="-122"/>
                <a:cs typeface="Calibri" pitchFamily="34" charset="-120"/>
              </a:rPr>
              <a:t>Alternate for larger scope</a:t>
            </a:r>
            <a:endParaRPr lang="en-US" sz="1050" dirty="0"/>
          </a:p>
        </p:txBody>
      </p:sp>
      <p:sp>
        <p:nvSpPr>
          <p:cNvPr id="17" name="Text 13"/>
          <p:cNvSpPr txBox="1"/>
          <p:nvPr/>
        </p:nvSpPr>
        <p:spPr>
          <a:xfrm>
            <a:off x="1463040" y="3063240"/>
            <a:ext cx="5257800" cy="594360"/>
          </a:xfrm>
          <a:prstGeom prst="rect">
            <a:avLst/>
          </a:prstGeom>
          <a:noFill/>
          <a:ln/>
        </p:spPr>
        <p:txBody>
          <a:bodyPr wrap="square" lIns="0" tIns="0" rIns="0" bIns="0" rtlCol="0" anchor="t"/>
          <a:lstStyle/>
          <a:p>
            <a:pPr indent="0" marL="0">
              <a:buNone/>
            </a:pPr>
            <a:r>
              <a:rPr lang="en-US" sz="1050" dirty="0">
                <a:solidFill>
                  <a:srgbClr val="1E2A26"/>
                </a:solidFill>
                <a:latin typeface="Calibri" pitchFamily="34" charset="0"/>
                <a:ea typeface="Calibri" pitchFamily="34" charset="-122"/>
                <a:cs typeface="Calibri" pitchFamily="34" charset="-120"/>
              </a:rPr>
              <a:t>Credit-linked back-ended subsidy on eligible horticulture infrastructure (50% in HP per notes). DPR with 3 proformas; no purchases before in-principle approval.</a:t>
            </a:r>
            <a:endParaRPr lang="en-US" sz="1050" dirty="0"/>
          </a:p>
        </p:txBody>
      </p:sp>
      <p:sp>
        <p:nvSpPr>
          <p:cNvPr id="18" name="Shape 14"/>
          <p:cNvSpPr/>
          <p:nvPr/>
        </p:nvSpPr>
        <p:spPr>
          <a:xfrm>
            <a:off x="548640" y="3840480"/>
            <a:ext cx="6309360" cy="1051560"/>
          </a:xfrm>
          <a:prstGeom prst="roundRect">
            <a:avLst>
              <a:gd name="adj" fmla="val 6957"/>
            </a:avLst>
          </a:prstGeom>
          <a:solidFill>
            <a:srgbClr val="EEF4F0"/>
          </a:solidFill>
          <a:ln w="9525">
            <a:solidFill>
              <a:srgbClr val="EEF4F0"/>
            </a:solidFill>
            <a:prstDash val="solid"/>
          </a:ln>
        </p:spPr>
      </p:sp>
      <p:sp>
        <p:nvSpPr>
          <p:cNvPr id="19" name="Shape 15"/>
          <p:cNvSpPr/>
          <p:nvPr/>
        </p:nvSpPr>
        <p:spPr>
          <a:xfrm>
            <a:off x="731520" y="4069080"/>
            <a:ext cx="566928" cy="566928"/>
          </a:xfrm>
          <a:prstGeom prst="ellipse">
            <a:avLst/>
          </a:prstGeom>
          <a:solidFill>
            <a:srgbClr val="4E7D6B"/>
          </a:solidFill>
          <a:ln w="12700">
            <a:solidFill>
              <a:srgbClr val="4E7D6B"/>
            </a:solidFill>
            <a:prstDash val="solid"/>
          </a:ln>
        </p:spPr>
      </p:sp>
      <p:pic>
        <p:nvPicPr>
          <p:cNvPr id="20" name="Image 2" descr="preencoded.png">    </p:cNvPr>
          <p:cNvPicPr>
            <a:picLocks noChangeAspect="1"/>
          </p:cNvPicPr>
          <p:nvPr/>
        </p:nvPicPr>
        <p:blipFill>
          <a:blip r:embed="rId3"/>
          <a:stretch>
            <a:fillRect/>
          </a:stretch>
        </p:blipFill>
        <p:spPr>
          <a:xfrm>
            <a:off x="878921" y="4216481"/>
            <a:ext cx="272125" cy="272125"/>
          </a:xfrm>
          <a:prstGeom prst="rect">
            <a:avLst/>
          </a:prstGeom>
        </p:spPr>
      </p:pic>
      <p:sp>
        <p:nvSpPr>
          <p:cNvPr id="21" name="Text 16"/>
          <p:cNvSpPr txBox="1"/>
          <p:nvPr/>
        </p:nvSpPr>
        <p:spPr>
          <a:xfrm>
            <a:off x="1463040" y="3931920"/>
            <a:ext cx="2926080" cy="320040"/>
          </a:xfrm>
          <a:prstGeom prst="rect">
            <a:avLst/>
          </a:prstGeom>
          <a:noFill/>
          <a:ln/>
        </p:spPr>
        <p:txBody>
          <a:bodyPr wrap="square" lIns="0" tIns="0" rIns="0" bIns="0" rtlCol="0" anchor="t"/>
          <a:lstStyle/>
          <a:p>
            <a:pPr indent="0" marL="0">
              <a:buNone/>
            </a:pPr>
            <a:r>
              <a:rPr lang="en-US" sz="1350" b="1" dirty="0">
                <a:solidFill>
                  <a:srgbClr val="14302A"/>
                </a:solidFill>
                <a:latin typeface="Calibri" pitchFamily="34" charset="0"/>
                <a:ea typeface="Calibri" pitchFamily="34" charset="-122"/>
                <a:cs typeface="Calibri" pitchFamily="34" charset="-120"/>
              </a:rPr>
              <a:t>PMFME (MoFPI)</a:t>
            </a:r>
            <a:endParaRPr lang="en-US" sz="1350" dirty="0"/>
          </a:p>
        </p:txBody>
      </p:sp>
      <p:sp>
        <p:nvSpPr>
          <p:cNvPr id="22" name="Text 17"/>
          <p:cNvSpPr txBox="1"/>
          <p:nvPr/>
        </p:nvSpPr>
        <p:spPr>
          <a:xfrm>
            <a:off x="4389120" y="3931920"/>
            <a:ext cx="2331720" cy="320040"/>
          </a:xfrm>
          <a:prstGeom prst="rect">
            <a:avLst/>
          </a:prstGeom>
          <a:noFill/>
          <a:ln/>
        </p:spPr>
        <p:txBody>
          <a:bodyPr wrap="square" lIns="0" tIns="0" rIns="0" bIns="0" rtlCol="0" anchor="t"/>
          <a:lstStyle/>
          <a:p>
            <a:pPr algn="r" indent="0" marL="0">
              <a:buNone/>
            </a:pPr>
            <a:r>
              <a:rPr lang="en-US" sz="1050" b="1" dirty="0">
                <a:solidFill>
                  <a:srgbClr val="D9962B"/>
                </a:solidFill>
                <a:latin typeface="Calibri" pitchFamily="34" charset="0"/>
                <a:ea typeface="Calibri" pitchFamily="34" charset="-122"/>
                <a:cs typeface="Calibri" pitchFamily="34" charset="-120"/>
              </a:rPr>
              <a:t>For processing assets</a:t>
            </a:r>
            <a:endParaRPr lang="en-US" sz="1050" dirty="0"/>
          </a:p>
        </p:txBody>
      </p:sp>
      <p:sp>
        <p:nvSpPr>
          <p:cNvPr id="23" name="Text 18"/>
          <p:cNvSpPr txBox="1"/>
          <p:nvPr/>
        </p:nvSpPr>
        <p:spPr>
          <a:xfrm>
            <a:off x="1463040" y="4251960"/>
            <a:ext cx="5257800" cy="594360"/>
          </a:xfrm>
          <a:prstGeom prst="rect">
            <a:avLst/>
          </a:prstGeom>
          <a:noFill/>
          <a:ln/>
        </p:spPr>
        <p:txBody>
          <a:bodyPr wrap="square" lIns="0" tIns="0" rIns="0" bIns="0" rtlCol="0" anchor="t"/>
          <a:lstStyle/>
          <a:p>
            <a:pPr indent="0" marL="0">
              <a:buNone/>
            </a:pPr>
            <a:r>
              <a:rPr lang="en-US" sz="1050" dirty="0">
                <a:solidFill>
                  <a:srgbClr val="1E2A26"/>
                </a:solidFill>
                <a:latin typeface="Calibri" pitchFamily="34" charset="0"/>
                <a:ea typeface="Calibri" pitchFamily="34" charset="-122"/>
                <a:cs typeface="Calibri" pitchFamily="34" charset="-120"/>
              </a:rPr>
              <a:t>35% credit-linked subsidy up to ₹10 L on food-processing machinery (dryer, mill, packing).</a:t>
            </a:r>
            <a:endParaRPr lang="en-US" sz="1050" dirty="0"/>
          </a:p>
        </p:txBody>
      </p:sp>
      <p:sp>
        <p:nvSpPr>
          <p:cNvPr id="24" name="Shape 19"/>
          <p:cNvSpPr/>
          <p:nvPr/>
        </p:nvSpPr>
        <p:spPr>
          <a:xfrm>
            <a:off x="548640" y="5029200"/>
            <a:ext cx="6309360" cy="1051560"/>
          </a:xfrm>
          <a:prstGeom prst="roundRect">
            <a:avLst>
              <a:gd name="adj" fmla="val 6957"/>
            </a:avLst>
          </a:prstGeom>
          <a:solidFill>
            <a:srgbClr val="EEF4F0"/>
          </a:solidFill>
          <a:ln w="9525">
            <a:solidFill>
              <a:srgbClr val="EEF4F0"/>
            </a:solidFill>
            <a:prstDash val="solid"/>
          </a:ln>
        </p:spPr>
      </p:sp>
      <p:sp>
        <p:nvSpPr>
          <p:cNvPr id="25" name="Shape 20"/>
          <p:cNvSpPr/>
          <p:nvPr/>
        </p:nvSpPr>
        <p:spPr>
          <a:xfrm>
            <a:off x="731520" y="5257800"/>
            <a:ext cx="566928" cy="566928"/>
          </a:xfrm>
          <a:prstGeom prst="ellipse">
            <a:avLst/>
          </a:prstGeom>
          <a:solidFill>
            <a:srgbClr val="D9962B"/>
          </a:solidFill>
          <a:ln w="12700">
            <a:solidFill>
              <a:srgbClr val="D9962B"/>
            </a:solidFill>
            <a:prstDash val="solid"/>
          </a:ln>
        </p:spPr>
      </p:sp>
      <p:pic>
        <p:nvPicPr>
          <p:cNvPr id="26" name="Image 3" descr="preencoded.png">    </p:cNvPr>
          <p:cNvPicPr>
            <a:picLocks noChangeAspect="1"/>
          </p:cNvPicPr>
          <p:nvPr/>
        </p:nvPicPr>
        <p:blipFill>
          <a:blip r:embed="rId4"/>
          <a:stretch>
            <a:fillRect/>
          </a:stretch>
        </p:blipFill>
        <p:spPr>
          <a:xfrm>
            <a:off x="878921" y="5405201"/>
            <a:ext cx="272125" cy="272125"/>
          </a:xfrm>
          <a:prstGeom prst="rect">
            <a:avLst/>
          </a:prstGeom>
        </p:spPr>
      </p:pic>
      <p:sp>
        <p:nvSpPr>
          <p:cNvPr id="27" name="Text 21"/>
          <p:cNvSpPr txBox="1"/>
          <p:nvPr/>
        </p:nvSpPr>
        <p:spPr>
          <a:xfrm>
            <a:off x="1463040" y="5120640"/>
            <a:ext cx="2926080" cy="320040"/>
          </a:xfrm>
          <a:prstGeom prst="rect">
            <a:avLst/>
          </a:prstGeom>
          <a:noFill/>
          <a:ln/>
        </p:spPr>
        <p:txBody>
          <a:bodyPr wrap="square" lIns="0" tIns="0" rIns="0" bIns="0" rtlCol="0" anchor="t"/>
          <a:lstStyle/>
          <a:p>
            <a:pPr indent="0" marL="0">
              <a:buNone/>
            </a:pPr>
            <a:r>
              <a:rPr lang="en-US" sz="1350" b="1" dirty="0">
                <a:solidFill>
                  <a:srgbClr val="14302A"/>
                </a:solidFill>
                <a:latin typeface="Calibri" pitchFamily="34" charset="0"/>
                <a:ea typeface="Calibri" pitchFamily="34" charset="-122"/>
                <a:cs typeface="Calibri" pitchFamily="34" charset="-120"/>
              </a:rPr>
              <a:t>AIF</a:t>
            </a:r>
            <a:endParaRPr lang="en-US" sz="1350" dirty="0"/>
          </a:p>
        </p:txBody>
      </p:sp>
      <p:sp>
        <p:nvSpPr>
          <p:cNvPr id="28" name="Text 22"/>
          <p:cNvSpPr txBox="1"/>
          <p:nvPr/>
        </p:nvSpPr>
        <p:spPr>
          <a:xfrm>
            <a:off x="4389120" y="5120640"/>
            <a:ext cx="2331720" cy="320040"/>
          </a:xfrm>
          <a:prstGeom prst="rect">
            <a:avLst/>
          </a:prstGeom>
          <a:noFill/>
          <a:ln/>
        </p:spPr>
        <p:txBody>
          <a:bodyPr wrap="square" lIns="0" tIns="0" rIns="0" bIns="0" rtlCol="0" anchor="t"/>
          <a:lstStyle/>
          <a:p>
            <a:pPr algn="r" indent="0" marL="0">
              <a:buNone/>
            </a:pPr>
            <a:r>
              <a:rPr lang="en-US" sz="1050" b="1" dirty="0">
                <a:solidFill>
                  <a:srgbClr val="D9962B"/>
                </a:solidFill>
                <a:latin typeface="Calibri" pitchFamily="34" charset="0"/>
                <a:ea typeface="Calibri" pitchFamily="34" charset="-122"/>
                <a:cs typeface="Calibri" pitchFamily="34" charset="-120"/>
              </a:rPr>
              <a:t>Interest cost reducer</a:t>
            </a:r>
            <a:endParaRPr lang="en-US" sz="1050" dirty="0"/>
          </a:p>
        </p:txBody>
      </p:sp>
      <p:sp>
        <p:nvSpPr>
          <p:cNvPr id="29" name="Text 23"/>
          <p:cNvSpPr txBox="1"/>
          <p:nvPr/>
        </p:nvSpPr>
        <p:spPr>
          <a:xfrm>
            <a:off x="1463040" y="5440680"/>
            <a:ext cx="5257800" cy="594360"/>
          </a:xfrm>
          <a:prstGeom prst="rect">
            <a:avLst/>
          </a:prstGeom>
          <a:noFill/>
          <a:ln/>
        </p:spPr>
        <p:txBody>
          <a:bodyPr wrap="square" lIns="0" tIns="0" rIns="0" bIns="0" rtlCol="0" anchor="t"/>
          <a:lstStyle/>
          <a:p>
            <a:pPr indent="0" marL="0">
              <a:buNone/>
            </a:pPr>
            <a:r>
              <a:rPr lang="en-US" sz="1050" dirty="0">
                <a:solidFill>
                  <a:srgbClr val="1E2A26"/>
                </a:solidFill>
                <a:latin typeface="Calibri" pitchFamily="34" charset="0"/>
                <a:ea typeface="Calibri" pitchFamily="34" charset="-122"/>
                <a:cs typeface="Calibri" pitchFamily="34" charset="-120"/>
              </a:rPr>
              <a:t>3% interest subvention on eligible term loans; can sit alongside a capital subsidy.</a:t>
            </a:r>
            <a:endParaRPr lang="en-US" sz="1050" dirty="0"/>
          </a:p>
        </p:txBody>
      </p:sp>
      <p:sp>
        <p:nvSpPr>
          <p:cNvPr id="30" name="Text 24"/>
          <p:cNvSpPr txBox="1"/>
          <p:nvPr/>
        </p:nvSpPr>
        <p:spPr>
          <a:xfrm>
            <a:off x="7223760" y="1463040"/>
            <a:ext cx="4434840" cy="320040"/>
          </a:xfrm>
          <a:prstGeom prst="rect">
            <a:avLst/>
          </a:prstGeom>
          <a:noFill/>
          <a:ln/>
        </p:spPr>
        <p:txBody>
          <a:bodyPr wrap="square" lIns="0" tIns="0" rIns="0" bIns="0" rtlCol="0" anchor="t"/>
          <a:lstStyle/>
          <a:p>
            <a:pPr indent="0" marL="0">
              <a:buNone/>
            </a:pPr>
            <a:r>
              <a:rPr lang="en-US" sz="1400" b="1" dirty="0">
                <a:solidFill>
                  <a:srgbClr val="14302A"/>
                </a:solidFill>
                <a:latin typeface="Cambria" pitchFamily="34" charset="0"/>
                <a:ea typeface="Cambria" pitchFamily="34" charset="-122"/>
                <a:cs typeface="Cambria" pitchFamily="34" charset="-120"/>
              </a:rPr>
              <a:t>Indicative sources of funds (₹ L)</a:t>
            </a:r>
            <a:endParaRPr lang="en-US" sz="14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7223760" y="1874520"/>
          <a:ext cx="4434840" cy="914400"/>
        </p:xfrm>
        <a:graphic>
          <a:graphicData uri="http://schemas.openxmlformats.org/drawingml/2006/table">
            <a:tbl>
              <a:tblPr/>
              <a:tblGrid>
                <a:gridCol w="3611880"/>
                <a:gridCol w="822960"/>
              </a:tblGrid>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Source</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 L</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r>
              <a:tr h="457200">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Promoter contribution (5%)</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E2A26"/>
                          </a:solidFill>
                          <a:latin typeface="Calibri" pitchFamily="34" charset="0"/>
                          <a:ea typeface="Calibri" pitchFamily="34" charset="-122"/>
                          <a:cs typeface="Calibri" pitchFamily="34" charset="-120"/>
                        </a:rPr>
                        <a:t>0.94</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PMEGP bank term loan (95%)</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algn="r" indent="0" marL="0">
                        <a:buNone/>
                      </a:pPr>
                      <a:r>
                        <a:rPr lang="en-US" sz="1100" dirty="0">
                          <a:solidFill>
                            <a:srgbClr val="1E2A26"/>
                          </a:solidFill>
                          <a:latin typeface="Calibri" pitchFamily="34" charset="0"/>
                          <a:ea typeface="Calibri" pitchFamily="34" charset="-122"/>
                          <a:cs typeface="Calibri" pitchFamily="34" charset="-120"/>
                        </a:rPr>
                        <a:t>17.91</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r>
              <a:tr h="548640">
                <a:tc>
                  <a:txBody>
                    <a:bodyPr/>
                    <a:lstStyle/>
                    <a:p>
                      <a:pPr indent="0" marL="0">
                        <a:buNone/>
                      </a:pPr>
                      <a:r>
                        <a:rPr lang="en-US" sz="1100" dirty="0">
                          <a:solidFill>
                            <a:srgbClr val="1E2A26"/>
                          </a:solidFill>
                          <a:latin typeface="Calibri" pitchFamily="34" charset="0"/>
                          <a:ea typeface="Calibri" pitchFamily="34" charset="-122"/>
                          <a:cs typeface="Calibri" pitchFamily="34" charset="-120"/>
                        </a:rPr>
                        <a:t>Margin-money subsidy (35%, adjusted after lock-in)</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E2A26"/>
                          </a:solidFill>
                          <a:latin typeface="Calibri" pitchFamily="34" charset="0"/>
                          <a:ea typeface="Calibri" pitchFamily="34" charset="-122"/>
                          <a:cs typeface="Calibri" pitchFamily="34" charset="-120"/>
                        </a:rPr>
                        <a:t>(6.60)</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Total project cost</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14302A"/>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18.85</a:t>
                      </a:r>
                      <a:endParaRPr lang="en-US" sz="110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14302A"/>
                    </a:solidFill>
                  </a:tcPr>
                </a:tc>
              </a:tr>
            </a:tbl>
          </a:graphicData>
        </a:graphic>
      </p:graphicFrame>
      <p:sp>
        <p:nvSpPr>
          <p:cNvPr id="32" name="Shape 25"/>
          <p:cNvSpPr/>
          <p:nvPr/>
        </p:nvSpPr>
        <p:spPr>
          <a:xfrm>
            <a:off x="7223760" y="4389120"/>
            <a:ext cx="4434840" cy="1874520"/>
          </a:xfrm>
          <a:prstGeom prst="roundRect">
            <a:avLst>
              <a:gd name="adj" fmla="val 3902"/>
            </a:avLst>
          </a:prstGeom>
          <a:solidFill>
            <a:srgbClr val="FBF1DE"/>
          </a:solidFill>
          <a:ln w="9525">
            <a:solidFill>
              <a:srgbClr val="FBF1DE"/>
            </a:solidFill>
            <a:prstDash val="solid"/>
          </a:ln>
        </p:spPr>
      </p:sp>
      <p:sp>
        <p:nvSpPr>
          <p:cNvPr id="33" name="Text 26"/>
          <p:cNvSpPr txBox="1"/>
          <p:nvPr/>
        </p:nvSpPr>
        <p:spPr>
          <a:xfrm>
            <a:off x="7406640" y="4480560"/>
            <a:ext cx="4069080" cy="1691640"/>
          </a:xfrm>
          <a:prstGeom prst="rect">
            <a:avLst/>
          </a:prstGeom>
          <a:noFill/>
          <a:ln/>
        </p:spPr>
        <p:txBody>
          <a:bodyPr wrap="square" lIns="0" tIns="0" rIns="0" bIns="0" rtlCol="0" anchor="ctr"/>
          <a:lstStyle/>
          <a:p>
            <a:pPr indent="0" marL="0">
              <a:buNone/>
            </a:pPr>
            <a:r>
              <a:rPr lang="en-US" sz="1050" dirty="0">
                <a:solidFill>
                  <a:srgbClr val="1E2A26"/>
                </a:solidFill>
                <a:latin typeface="Calibri" pitchFamily="34" charset="0"/>
                <a:ea typeface="Calibri" pitchFamily="34" charset="-122"/>
                <a:cs typeface="Calibri" pitchFamily="34" charset="-120"/>
              </a:rPr>
              <a:t>The whole ₹18.85 L project sits under the ₹50 L PMEGP cap. The ~₹6.6 L subsidy is held and adjusted against the loan after a 3-year lock-in. Capital subsidies generally cannot be claimed twice on one asset: confirm the route per asset with DIC Hamirpur, KVIB, HP Horticulture and NHB.</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D9962B"/>
                </a:solidFill>
                <a:latin typeface="Calibri" pitchFamily="34" charset="0"/>
                <a:ea typeface="Calibri" pitchFamily="34" charset="-122"/>
                <a:cs typeface="Calibri" pitchFamily="34" charset="-120"/>
              </a:rPr>
              <a:t>11 · REGULATORY</a:t>
            </a:r>
            <a:endParaRPr lang="en-US" sz="11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14302A"/>
                </a:solidFill>
                <a:latin typeface="Cambria" pitchFamily="34" charset="0"/>
                <a:ea typeface="Cambria" pitchFamily="34" charset="-122"/>
                <a:cs typeface="Cambria" pitchFamily="34" charset="-120"/>
              </a:rPr>
              <a:t>Licensing roadmap</a:t>
            </a:r>
            <a:endParaRPr lang="en-US" sz="30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900" dirty="0">
                <a:solidFill>
                  <a:srgbClr val="5F6F69"/>
                </a:solidFill>
                <a:latin typeface="Calibri" pitchFamily="34" charset="0"/>
                <a:ea typeface="Calibri" pitchFamily="34" charset="-122"/>
                <a:cs typeface="Calibri" pitchFamily="34" charset="-120"/>
              </a:rPr>
              <a:t>Lion's Mane Facility  ·  Hamirpur, HP  ·  Project Plan</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900" dirty="0">
                <a:solidFill>
                  <a:srgbClr val="5F6F69"/>
                </a:solidFill>
                <a:latin typeface="Calibri" pitchFamily="34" charset="0"/>
                <a:ea typeface="Calibri" pitchFamily="34" charset="-122"/>
                <a:cs typeface="Calibri" pitchFamily="34" charset="-120"/>
              </a:rPr>
              <a:t>29</a:t>
            </a:r>
            <a:endParaRPr lang="en-US" sz="9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7863840" cy="914400"/>
        </p:xfrm>
        <a:graphic>
          <a:graphicData uri="http://schemas.openxmlformats.org/drawingml/2006/table">
            <a:tbl>
              <a:tblPr/>
              <a:tblGrid>
                <a:gridCol w="2194560"/>
                <a:gridCol w="2148840"/>
                <a:gridCol w="1051560"/>
                <a:gridCol w="2468880"/>
              </a:tblGrid>
              <a:tr h="347472">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Licence / registration</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Authority</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When</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Note</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r>
              <a:tr h="384048">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Udyam (MSME)</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Ministry of MSME portal</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M1</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Free; prerequisite for schemes</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GST registration</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GSTN</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M1</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B2B invoicing and e-way bills</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r>
              <a:tr h="384048">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Trade licence / panchayat NOC</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Local body</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M1–M2</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Premises use</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HP Horticulture registration</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Dept. of Horticulture, HP</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M1–M2</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Needed for the MIDH/NHB route</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r>
              <a:tr h="384048">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Consent to Establish → Operate</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HP State Pollution Control Board</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M2 → M4</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White category per notes; confirm</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Fire NOC</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HP Fire Services</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M4</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Autoclave, IPA store, DG, electricals</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r>
              <a:tr h="566928">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FSSAI licence</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FSSAI (State or Central)</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M4, before sale</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Category depends on product; confirm H. erinaceus status for health-supplement use</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Legal Metrology (LMPC)</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Legal Metrology, HP</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Phase 2</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Mandatory for B2C pre-packs</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r>
              <a:tr h="384048">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Trademark</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IP India</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Phase 2</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Protect the brand before B2C launch</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State Excise (ENA)</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HP Excise Dept.</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Phase 3</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Only for ethanol tinctures</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r>
            </a:tbl>
          </a:graphicData>
        </a:graphic>
      </p:graphicFrame>
      <p:sp>
        <p:nvSpPr>
          <p:cNvPr id="7" name="Shape 4"/>
          <p:cNvSpPr/>
          <p:nvPr/>
        </p:nvSpPr>
        <p:spPr>
          <a:xfrm>
            <a:off x="8686800" y="1417320"/>
            <a:ext cx="2971800" cy="4846320"/>
          </a:xfrm>
          <a:prstGeom prst="roundRect">
            <a:avLst>
              <a:gd name="adj" fmla="val 2462"/>
            </a:avLst>
          </a:prstGeom>
          <a:solidFill>
            <a:srgbClr val="14302A"/>
          </a:solidFill>
          <a:ln w="9525">
            <a:solidFill>
              <a:srgbClr val="14302A"/>
            </a:solidFill>
            <a:prstDash val="solid"/>
          </a:ln>
        </p:spPr>
      </p:sp>
      <p:sp>
        <p:nvSpPr>
          <p:cNvPr id="8" name="Shape 5"/>
          <p:cNvSpPr/>
          <p:nvPr/>
        </p:nvSpPr>
        <p:spPr>
          <a:xfrm>
            <a:off x="8915400" y="1645920"/>
            <a:ext cx="594360" cy="594360"/>
          </a:xfrm>
          <a:prstGeom prst="ellipse">
            <a:avLst/>
          </a:prstGeom>
          <a:solidFill>
            <a:srgbClr val="D9962B"/>
          </a:solidFill>
          <a:ln w="12700">
            <a:solidFill>
              <a:srgbClr val="D9962B"/>
            </a:solidFill>
            <a:prstDash val="solid"/>
          </a:ln>
        </p:spPr>
      </p:sp>
      <p:pic>
        <p:nvPicPr>
          <p:cNvPr id="9" name="Image 0" descr="preencoded.png">    </p:cNvPr>
          <p:cNvPicPr>
            <a:picLocks noChangeAspect="1"/>
          </p:cNvPicPr>
          <p:nvPr/>
        </p:nvPicPr>
        <p:blipFill>
          <a:blip r:embed="rId1"/>
          <a:stretch>
            <a:fillRect/>
          </a:stretch>
        </p:blipFill>
        <p:spPr>
          <a:xfrm>
            <a:off x="9069934" y="1800454"/>
            <a:ext cx="285293" cy="285293"/>
          </a:xfrm>
          <a:prstGeom prst="rect">
            <a:avLst/>
          </a:prstGeom>
        </p:spPr>
      </p:pic>
      <p:sp>
        <p:nvSpPr>
          <p:cNvPr id="10" name="Text 6"/>
          <p:cNvSpPr txBox="1"/>
          <p:nvPr/>
        </p:nvSpPr>
        <p:spPr>
          <a:xfrm>
            <a:off x="8915400" y="2377440"/>
            <a:ext cx="256032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Claims discipline</a:t>
            </a:r>
            <a:endParaRPr lang="en-US" sz="1600" dirty="0"/>
          </a:p>
        </p:txBody>
      </p:sp>
      <p:sp>
        <p:nvSpPr>
          <p:cNvPr id="11" name="Text 7"/>
          <p:cNvSpPr txBox="1"/>
          <p:nvPr/>
        </p:nvSpPr>
        <p:spPr>
          <a:xfrm>
            <a:off x="8915400" y="2788920"/>
            <a:ext cx="2560320" cy="338328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FSSAI does not permit disease-treatment claims on foods or health supplements. Labels and buyer decks will describe composition (β-glucan, fruiting body) and usage only.</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If Hericium erinaceus is not listed in the applicable FSSAI schedule for the intended use, the non-specified food approval route applies.</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D9962B"/>
                </a:solidFill>
                <a:latin typeface="Calibri" pitchFamily="34" charset="0"/>
                <a:ea typeface="Calibri" pitchFamily="34" charset="-122"/>
                <a:cs typeface="Calibri" pitchFamily="34" charset="-120"/>
              </a:rPr>
              <a:t>12 · OPERATIONS</a:t>
            </a:r>
            <a:endParaRPr lang="en-US" sz="11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14302A"/>
                </a:solidFill>
                <a:latin typeface="Cambria" pitchFamily="34" charset="0"/>
                <a:ea typeface="Cambria" pitchFamily="34" charset="-122"/>
                <a:cs typeface="Cambria" pitchFamily="34" charset="-120"/>
              </a:rPr>
              <a:t>Team and daily operating rhythm</a:t>
            </a:r>
            <a:endParaRPr lang="en-US" sz="30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900" dirty="0">
                <a:solidFill>
                  <a:srgbClr val="5F6F69"/>
                </a:solidFill>
                <a:latin typeface="Calibri" pitchFamily="34" charset="0"/>
                <a:ea typeface="Calibri" pitchFamily="34" charset="-122"/>
                <a:cs typeface="Calibri" pitchFamily="34" charset="-120"/>
              </a:rPr>
              <a:t>Lion's Mane Facility  ·  Hamirpur, HP  ·  Project Plan</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900" dirty="0">
                <a:solidFill>
                  <a:srgbClr val="5F6F69"/>
                </a:solidFill>
                <a:latin typeface="Calibri" pitchFamily="34" charset="0"/>
                <a:ea typeface="Calibri" pitchFamily="34" charset="-122"/>
                <a:cs typeface="Calibri" pitchFamily="34" charset="-120"/>
              </a:rPr>
              <a:t>30</a:t>
            </a:r>
            <a:endParaRPr lang="en-US" sz="900" dirty="0"/>
          </a:p>
        </p:txBody>
      </p:sp>
      <p:sp>
        <p:nvSpPr>
          <p:cNvPr id="6" name="Shape 4"/>
          <p:cNvSpPr/>
          <p:nvPr/>
        </p:nvSpPr>
        <p:spPr>
          <a:xfrm>
            <a:off x="1691640" y="1463040"/>
            <a:ext cx="3200400" cy="868680"/>
          </a:xfrm>
          <a:prstGeom prst="roundRect">
            <a:avLst>
              <a:gd name="adj" fmla="val 8421"/>
            </a:avLst>
          </a:prstGeom>
          <a:solidFill>
            <a:srgbClr val="14302A"/>
          </a:solidFill>
          <a:ln w="9525">
            <a:solidFill>
              <a:srgbClr val="14302A"/>
            </a:solidFill>
            <a:prstDash val="solid"/>
          </a:ln>
        </p:spPr>
      </p:sp>
      <p:sp>
        <p:nvSpPr>
          <p:cNvPr id="7" name="Text 5"/>
          <p:cNvSpPr txBox="1"/>
          <p:nvPr/>
        </p:nvSpPr>
        <p:spPr>
          <a:xfrm>
            <a:off x="1783080" y="1554480"/>
            <a:ext cx="301752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Promoter / Facility Head</a:t>
            </a:r>
            <a:endParaRPr lang="en-US" sz="1250" dirty="0"/>
          </a:p>
        </p:txBody>
      </p:sp>
      <p:sp>
        <p:nvSpPr>
          <p:cNvPr id="8" name="Text 6"/>
          <p:cNvSpPr txBox="1"/>
          <p:nvPr/>
        </p:nvSpPr>
        <p:spPr>
          <a:xfrm>
            <a:off x="1783080" y="1920240"/>
            <a:ext cx="3017520" cy="347472"/>
          </a:xfrm>
          <a:prstGeom prst="rect">
            <a:avLst/>
          </a:prstGeom>
          <a:noFill/>
          <a:ln/>
        </p:spPr>
        <p:txBody>
          <a:bodyPr wrap="square" lIns="0" tIns="0" rIns="0" bIns="0" rtlCol="0" anchor="ctr"/>
          <a:lstStyle/>
          <a:p>
            <a:pPr algn="ctr" indent="0" marL="0">
              <a:buNone/>
            </a:pPr>
            <a:r>
              <a:rPr lang="en-US" sz="1000" dirty="0">
                <a:solidFill>
                  <a:srgbClr val="8DB596"/>
                </a:solidFill>
                <a:latin typeface="Calibri" pitchFamily="34" charset="0"/>
                <a:ea typeface="Calibri" pitchFamily="34" charset="-122"/>
                <a:cs typeface="Calibri" pitchFamily="34" charset="-120"/>
              </a:rPr>
              <a:t>Sales, finance, compliance</a:t>
            </a:r>
            <a:endParaRPr lang="en-US" sz="1000" dirty="0"/>
          </a:p>
        </p:txBody>
      </p:sp>
      <p:sp>
        <p:nvSpPr>
          <p:cNvPr id="9" name="Shape 7"/>
          <p:cNvSpPr/>
          <p:nvPr/>
        </p:nvSpPr>
        <p:spPr>
          <a:xfrm>
            <a:off x="1691640" y="2651760"/>
            <a:ext cx="3200400" cy="868680"/>
          </a:xfrm>
          <a:prstGeom prst="roundRect">
            <a:avLst>
              <a:gd name="adj" fmla="val 8421"/>
            </a:avLst>
          </a:prstGeom>
          <a:solidFill>
            <a:srgbClr val="2E5E4E"/>
          </a:solidFill>
          <a:ln w="9525">
            <a:solidFill>
              <a:srgbClr val="2E5E4E"/>
            </a:solidFill>
            <a:prstDash val="solid"/>
          </a:ln>
        </p:spPr>
      </p:sp>
      <p:sp>
        <p:nvSpPr>
          <p:cNvPr id="10" name="Text 8"/>
          <p:cNvSpPr txBox="1"/>
          <p:nvPr/>
        </p:nvSpPr>
        <p:spPr>
          <a:xfrm>
            <a:off x="1783080" y="2743200"/>
            <a:ext cx="301752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Production Manager–Mycologist</a:t>
            </a:r>
            <a:endParaRPr lang="en-US" sz="1250" dirty="0"/>
          </a:p>
        </p:txBody>
      </p:sp>
      <p:sp>
        <p:nvSpPr>
          <p:cNvPr id="11" name="Text 9"/>
          <p:cNvSpPr txBox="1"/>
          <p:nvPr/>
        </p:nvSpPr>
        <p:spPr>
          <a:xfrm>
            <a:off x="1783080" y="3108960"/>
            <a:ext cx="3017520" cy="347472"/>
          </a:xfrm>
          <a:prstGeom prst="rect">
            <a:avLst/>
          </a:prstGeom>
          <a:noFill/>
          <a:ln/>
        </p:spPr>
        <p:txBody>
          <a:bodyPr wrap="square" lIns="0" tIns="0" rIns="0" bIns="0" rtlCol="0" anchor="ctr"/>
          <a:lstStyle/>
          <a:p>
            <a:pPr algn="ctr" indent="0" marL="0">
              <a:buNone/>
            </a:pPr>
            <a:r>
              <a:rPr lang="en-US" sz="1000" dirty="0">
                <a:solidFill>
                  <a:srgbClr val="8DB596"/>
                </a:solidFill>
                <a:latin typeface="Calibri" pitchFamily="34" charset="0"/>
                <a:ea typeface="Calibri" pitchFamily="34" charset="-122"/>
                <a:cs typeface="Calibri" pitchFamily="34" charset="-120"/>
              </a:rPr>
              <a:t>Strains, SOPs, QC release</a:t>
            </a:r>
            <a:endParaRPr lang="en-US" sz="1000" dirty="0"/>
          </a:p>
        </p:txBody>
      </p:sp>
      <p:sp>
        <p:nvSpPr>
          <p:cNvPr id="12" name="Shape 10"/>
          <p:cNvSpPr/>
          <p:nvPr/>
        </p:nvSpPr>
        <p:spPr>
          <a:xfrm>
            <a:off x="3291840" y="2350008"/>
            <a:ext cx="0" cy="283464"/>
          </a:xfrm>
          <a:prstGeom prst="line">
            <a:avLst/>
          </a:prstGeom>
          <a:noFill/>
          <a:ln w="19050">
            <a:solidFill>
              <a:srgbClr val="5F6F69"/>
            </a:solidFill>
            <a:prstDash val="solid"/>
            <a:tailEnd type="triangle"/>
          </a:ln>
        </p:spPr>
      </p:sp>
      <p:sp>
        <p:nvSpPr>
          <p:cNvPr id="13" name="Shape 11"/>
          <p:cNvSpPr/>
          <p:nvPr/>
        </p:nvSpPr>
        <p:spPr>
          <a:xfrm>
            <a:off x="3291840" y="3538728"/>
            <a:ext cx="0" cy="283464"/>
          </a:xfrm>
          <a:prstGeom prst="line">
            <a:avLst/>
          </a:prstGeom>
          <a:noFill/>
          <a:ln w="19050">
            <a:solidFill>
              <a:srgbClr val="5F6F69"/>
            </a:solidFill>
            <a:prstDash val="solid"/>
            <a:tailEnd type="triangle"/>
          </a:ln>
        </p:spPr>
      </p:sp>
      <p:sp>
        <p:nvSpPr>
          <p:cNvPr id="14" name="Shape 12"/>
          <p:cNvSpPr/>
          <p:nvPr/>
        </p:nvSpPr>
        <p:spPr>
          <a:xfrm>
            <a:off x="1097280" y="3822192"/>
            <a:ext cx="4389120" cy="0"/>
          </a:xfrm>
          <a:prstGeom prst="line">
            <a:avLst/>
          </a:prstGeom>
          <a:noFill/>
          <a:ln w="19050">
            <a:solidFill>
              <a:srgbClr val="5F6F69"/>
            </a:solidFill>
            <a:prstDash val="solid"/>
          </a:ln>
        </p:spPr>
      </p:sp>
      <p:sp>
        <p:nvSpPr>
          <p:cNvPr id="15" name="Shape 13"/>
          <p:cNvSpPr/>
          <p:nvPr/>
        </p:nvSpPr>
        <p:spPr>
          <a:xfrm>
            <a:off x="1371600" y="3822192"/>
            <a:ext cx="0" cy="246888"/>
          </a:xfrm>
          <a:prstGeom prst="line">
            <a:avLst/>
          </a:prstGeom>
          <a:noFill/>
          <a:ln w="19050">
            <a:solidFill>
              <a:srgbClr val="5F6F69"/>
            </a:solidFill>
            <a:prstDash val="solid"/>
            <a:tailEnd type="triangle"/>
          </a:ln>
        </p:spPr>
      </p:sp>
      <p:sp>
        <p:nvSpPr>
          <p:cNvPr id="16" name="Shape 14"/>
          <p:cNvSpPr/>
          <p:nvPr/>
        </p:nvSpPr>
        <p:spPr>
          <a:xfrm>
            <a:off x="548640" y="4114800"/>
            <a:ext cx="1691640" cy="1188720"/>
          </a:xfrm>
          <a:prstGeom prst="roundRect">
            <a:avLst>
              <a:gd name="adj" fmla="val 6154"/>
            </a:avLst>
          </a:prstGeom>
          <a:solidFill>
            <a:srgbClr val="EEF4F0"/>
          </a:solidFill>
          <a:ln w="9525">
            <a:solidFill>
              <a:srgbClr val="EEF4F0"/>
            </a:solidFill>
            <a:prstDash val="solid"/>
          </a:ln>
        </p:spPr>
      </p:sp>
      <p:sp>
        <p:nvSpPr>
          <p:cNvPr id="17" name="Text 15"/>
          <p:cNvSpPr txBox="1"/>
          <p:nvPr/>
        </p:nvSpPr>
        <p:spPr>
          <a:xfrm>
            <a:off x="640080" y="4187952"/>
            <a:ext cx="1508760" cy="365760"/>
          </a:xfrm>
          <a:prstGeom prst="rect">
            <a:avLst/>
          </a:prstGeom>
          <a:noFill/>
          <a:ln/>
        </p:spPr>
        <p:txBody>
          <a:bodyPr wrap="square" lIns="0" tIns="0" rIns="0" bIns="0" rtlCol="0" anchor="t"/>
          <a:lstStyle/>
          <a:p>
            <a:pPr algn="ctr" indent="0" marL="0">
              <a:buNone/>
            </a:pPr>
            <a:r>
              <a:rPr lang="en-US" sz="1200" b="1" dirty="0">
                <a:solidFill>
                  <a:srgbClr val="14302A"/>
                </a:solidFill>
                <a:latin typeface="Calibri" pitchFamily="34" charset="0"/>
                <a:ea typeface="Calibri" pitchFamily="34" charset="-122"/>
                <a:cs typeface="Calibri" pitchFamily="34" charset="-120"/>
              </a:rPr>
              <a:t>Lab Technician</a:t>
            </a:r>
            <a:endParaRPr lang="en-US" sz="1200" dirty="0"/>
          </a:p>
        </p:txBody>
      </p:sp>
      <p:sp>
        <p:nvSpPr>
          <p:cNvPr id="18" name="Text 16"/>
          <p:cNvSpPr txBox="1"/>
          <p:nvPr/>
        </p:nvSpPr>
        <p:spPr>
          <a:xfrm>
            <a:off x="640080" y="4572000"/>
            <a:ext cx="1508760" cy="640080"/>
          </a:xfrm>
          <a:prstGeom prst="rect">
            <a:avLst/>
          </a:prstGeom>
          <a:noFill/>
          <a:ln/>
        </p:spPr>
        <p:txBody>
          <a:bodyPr wrap="square" lIns="0" tIns="0" rIns="0" bIns="0" rtlCol="0" anchor="t"/>
          <a:lstStyle/>
          <a:p>
            <a:pPr algn="ctr" indent="0" marL="0">
              <a:buNone/>
            </a:pPr>
            <a:r>
              <a:rPr lang="en-US" sz="1000" dirty="0">
                <a:solidFill>
                  <a:srgbClr val="5F6F69"/>
                </a:solidFill>
                <a:latin typeface="Calibri" pitchFamily="34" charset="0"/>
                <a:ea typeface="Calibri" pitchFamily="34" charset="-122"/>
                <a:cs typeface="Calibri" pitchFamily="34" charset="-120"/>
              </a:rPr>
              <a:t>Culture, spawn, inoculation</a:t>
            </a:r>
            <a:endParaRPr lang="en-US" sz="1000" dirty="0"/>
          </a:p>
        </p:txBody>
      </p:sp>
      <p:sp>
        <p:nvSpPr>
          <p:cNvPr id="19" name="Shape 17"/>
          <p:cNvSpPr/>
          <p:nvPr/>
        </p:nvSpPr>
        <p:spPr>
          <a:xfrm>
            <a:off x="3246120" y="3822192"/>
            <a:ext cx="0" cy="246888"/>
          </a:xfrm>
          <a:prstGeom prst="line">
            <a:avLst/>
          </a:prstGeom>
          <a:noFill/>
          <a:ln w="19050">
            <a:solidFill>
              <a:srgbClr val="5F6F69"/>
            </a:solidFill>
            <a:prstDash val="solid"/>
            <a:tailEnd type="triangle"/>
          </a:ln>
        </p:spPr>
      </p:sp>
      <p:sp>
        <p:nvSpPr>
          <p:cNvPr id="20" name="Shape 18"/>
          <p:cNvSpPr/>
          <p:nvPr/>
        </p:nvSpPr>
        <p:spPr>
          <a:xfrm>
            <a:off x="2423160" y="4114800"/>
            <a:ext cx="1691640" cy="1188720"/>
          </a:xfrm>
          <a:prstGeom prst="roundRect">
            <a:avLst>
              <a:gd name="adj" fmla="val 6154"/>
            </a:avLst>
          </a:prstGeom>
          <a:solidFill>
            <a:srgbClr val="EEF4F0"/>
          </a:solidFill>
          <a:ln w="9525">
            <a:solidFill>
              <a:srgbClr val="EEF4F0"/>
            </a:solidFill>
            <a:prstDash val="solid"/>
          </a:ln>
        </p:spPr>
      </p:sp>
      <p:sp>
        <p:nvSpPr>
          <p:cNvPr id="21" name="Text 19"/>
          <p:cNvSpPr txBox="1"/>
          <p:nvPr/>
        </p:nvSpPr>
        <p:spPr>
          <a:xfrm>
            <a:off x="2514600" y="4187952"/>
            <a:ext cx="1508760" cy="365760"/>
          </a:xfrm>
          <a:prstGeom prst="rect">
            <a:avLst/>
          </a:prstGeom>
          <a:noFill/>
          <a:ln/>
        </p:spPr>
        <p:txBody>
          <a:bodyPr wrap="square" lIns="0" tIns="0" rIns="0" bIns="0" rtlCol="0" anchor="t"/>
          <a:lstStyle/>
          <a:p>
            <a:pPr algn="ctr" indent="0" marL="0">
              <a:buNone/>
            </a:pPr>
            <a:r>
              <a:rPr lang="en-US" sz="1200" b="1" dirty="0">
                <a:solidFill>
                  <a:srgbClr val="14302A"/>
                </a:solidFill>
                <a:latin typeface="Calibri" pitchFamily="34" charset="0"/>
                <a:ea typeface="Calibri" pitchFamily="34" charset="-122"/>
                <a:cs typeface="Calibri" pitchFamily="34" charset="-120"/>
              </a:rPr>
              <a:t>Production ×2</a:t>
            </a:r>
            <a:endParaRPr lang="en-US" sz="1200" dirty="0"/>
          </a:p>
        </p:txBody>
      </p:sp>
      <p:sp>
        <p:nvSpPr>
          <p:cNvPr id="22" name="Text 20"/>
          <p:cNvSpPr txBox="1"/>
          <p:nvPr/>
        </p:nvSpPr>
        <p:spPr>
          <a:xfrm>
            <a:off x="2514600" y="4572000"/>
            <a:ext cx="1508760" cy="640080"/>
          </a:xfrm>
          <a:prstGeom prst="rect">
            <a:avLst/>
          </a:prstGeom>
          <a:noFill/>
          <a:ln/>
        </p:spPr>
        <p:txBody>
          <a:bodyPr wrap="square" lIns="0" tIns="0" rIns="0" bIns="0" rtlCol="0" anchor="t"/>
          <a:lstStyle/>
          <a:p>
            <a:pPr algn="ctr" indent="0" marL="0">
              <a:buNone/>
            </a:pPr>
            <a:r>
              <a:rPr lang="en-US" sz="1000" dirty="0">
                <a:solidFill>
                  <a:srgbClr val="5F6F69"/>
                </a:solidFill>
                <a:latin typeface="Calibri" pitchFamily="34" charset="0"/>
                <a:ea typeface="Calibri" pitchFamily="34" charset="-122"/>
                <a:cs typeface="Calibri" pitchFamily="34" charset="-120"/>
              </a:rPr>
              <a:t>Substrate &amp; autoclave; fruiting &amp; harvest</a:t>
            </a:r>
            <a:endParaRPr lang="en-US" sz="1000" dirty="0"/>
          </a:p>
        </p:txBody>
      </p:sp>
      <p:sp>
        <p:nvSpPr>
          <p:cNvPr id="23" name="Shape 21"/>
          <p:cNvSpPr/>
          <p:nvPr/>
        </p:nvSpPr>
        <p:spPr>
          <a:xfrm>
            <a:off x="5120640" y="3822192"/>
            <a:ext cx="0" cy="246888"/>
          </a:xfrm>
          <a:prstGeom prst="line">
            <a:avLst/>
          </a:prstGeom>
          <a:noFill/>
          <a:ln w="19050">
            <a:solidFill>
              <a:srgbClr val="5F6F69"/>
            </a:solidFill>
            <a:prstDash val="solid"/>
            <a:tailEnd type="triangle"/>
          </a:ln>
        </p:spPr>
      </p:sp>
      <p:sp>
        <p:nvSpPr>
          <p:cNvPr id="24" name="Shape 22"/>
          <p:cNvSpPr/>
          <p:nvPr/>
        </p:nvSpPr>
        <p:spPr>
          <a:xfrm>
            <a:off x="4297680" y="4114800"/>
            <a:ext cx="1691640" cy="1188720"/>
          </a:xfrm>
          <a:prstGeom prst="roundRect">
            <a:avLst>
              <a:gd name="adj" fmla="val 6154"/>
            </a:avLst>
          </a:prstGeom>
          <a:solidFill>
            <a:srgbClr val="EEF4F0"/>
          </a:solidFill>
          <a:ln w="9525">
            <a:solidFill>
              <a:srgbClr val="EEF4F0"/>
            </a:solidFill>
            <a:prstDash val="solid"/>
          </a:ln>
        </p:spPr>
      </p:sp>
      <p:sp>
        <p:nvSpPr>
          <p:cNvPr id="25" name="Text 23"/>
          <p:cNvSpPr txBox="1"/>
          <p:nvPr/>
        </p:nvSpPr>
        <p:spPr>
          <a:xfrm>
            <a:off x="4389120" y="4187952"/>
            <a:ext cx="1508760" cy="365760"/>
          </a:xfrm>
          <a:prstGeom prst="rect">
            <a:avLst/>
          </a:prstGeom>
          <a:noFill/>
          <a:ln/>
        </p:spPr>
        <p:txBody>
          <a:bodyPr wrap="square" lIns="0" tIns="0" rIns="0" bIns="0" rtlCol="0" anchor="t"/>
          <a:lstStyle/>
          <a:p>
            <a:pPr algn="ctr" indent="0" marL="0">
              <a:buNone/>
            </a:pPr>
            <a:r>
              <a:rPr lang="en-US" sz="1200" b="1" dirty="0">
                <a:solidFill>
                  <a:srgbClr val="14302A"/>
                </a:solidFill>
                <a:latin typeface="Calibri" pitchFamily="34" charset="0"/>
                <a:ea typeface="Calibri" pitchFamily="34" charset="-122"/>
                <a:cs typeface="Calibri" pitchFamily="34" charset="-120"/>
              </a:rPr>
              <a:t>Processing</a:t>
            </a:r>
            <a:endParaRPr lang="en-US" sz="1200" dirty="0"/>
          </a:p>
        </p:txBody>
      </p:sp>
      <p:sp>
        <p:nvSpPr>
          <p:cNvPr id="26" name="Text 24"/>
          <p:cNvSpPr txBox="1"/>
          <p:nvPr/>
        </p:nvSpPr>
        <p:spPr>
          <a:xfrm>
            <a:off x="4389120" y="4572000"/>
            <a:ext cx="1508760" cy="640080"/>
          </a:xfrm>
          <a:prstGeom prst="rect">
            <a:avLst/>
          </a:prstGeom>
          <a:noFill/>
          <a:ln/>
        </p:spPr>
        <p:txBody>
          <a:bodyPr wrap="square" lIns="0" tIns="0" rIns="0" bIns="0" rtlCol="0" anchor="t"/>
          <a:lstStyle/>
          <a:p>
            <a:pPr algn="ctr" indent="0" marL="0">
              <a:buNone/>
            </a:pPr>
            <a:r>
              <a:rPr lang="en-US" sz="1000" dirty="0">
                <a:solidFill>
                  <a:srgbClr val="5F6F69"/>
                </a:solidFill>
                <a:latin typeface="Calibri" pitchFamily="34" charset="0"/>
                <a:ea typeface="Calibri" pitchFamily="34" charset="-122"/>
                <a:cs typeface="Calibri" pitchFamily="34" charset="-120"/>
              </a:rPr>
              <a:t>Dry, mill, pack, dispatch</a:t>
            </a:r>
            <a:endParaRPr lang="en-US" sz="1000" dirty="0"/>
          </a:p>
        </p:txBody>
      </p:sp>
      <p:sp>
        <p:nvSpPr>
          <p:cNvPr id="27" name="Text 25"/>
          <p:cNvSpPr txBox="1"/>
          <p:nvPr/>
        </p:nvSpPr>
        <p:spPr>
          <a:xfrm>
            <a:off x="548640" y="5532120"/>
            <a:ext cx="5394960" cy="685800"/>
          </a:xfrm>
          <a:prstGeom prst="rect">
            <a:avLst/>
          </a:prstGeom>
          <a:noFill/>
          <a:ln/>
        </p:spPr>
        <p:txBody>
          <a:bodyPr wrap="square" lIns="0" tIns="0" rIns="0" bIns="0" rtlCol="0" anchor="t"/>
          <a:lstStyle/>
          <a:p>
            <a:pPr indent="0" marL="0">
              <a:buNone/>
            </a:pPr>
            <a:r>
              <a:rPr lang="en-US" sz="1100" i="1" dirty="0">
                <a:solidFill>
                  <a:srgbClr val="5F6F69"/>
                </a:solidFill>
                <a:latin typeface="Calibri" pitchFamily="34" charset="0"/>
                <a:ea typeface="Calibri" pitchFamily="34" charset="-122"/>
                <a:cs typeface="Calibri" pitchFamily="34" charset="-120"/>
              </a:rPr>
              <a:t>5 staff plus promoter; Phase 2 adds one production associate. Training at ICAR-DMR Solan before commissioning.</a:t>
            </a:r>
            <a:endParaRPr lang="en-US" sz="1100" dirty="0"/>
          </a:p>
        </p:txBody>
      </p:sp>
      <p:sp>
        <p:nvSpPr>
          <p:cNvPr id="28" name="Text 26"/>
          <p:cNvSpPr txBox="1"/>
          <p:nvPr/>
        </p:nvSpPr>
        <p:spPr>
          <a:xfrm>
            <a:off x="6400800" y="1463040"/>
            <a:ext cx="5212080" cy="320040"/>
          </a:xfrm>
          <a:prstGeom prst="rect">
            <a:avLst/>
          </a:prstGeom>
          <a:noFill/>
          <a:ln/>
        </p:spPr>
        <p:txBody>
          <a:bodyPr wrap="square" lIns="0" tIns="0" rIns="0" bIns="0" rtlCol="0" anchor="t"/>
          <a:lstStyle/>
          <a:p>
            <a:pPr indent="0" marL="0">
              <a:buNone/>
            </a:pPr>
            <a:r>
              <a:rPr lang="en-US" sz="1500" b="1" dirty="0">
                <a:solidFill>
                  <a:srgbClr val="14302A"/>
                </a:solidFill>
                <a:latin typeface="Cambria" pitchFamily="34" charset="0"/>
                <a:ea typeface="Cambria" pitchFamily="34" charset="-122"/>
                <a:cs typeface="Cambria" pitchFamily="34" charset="-120"/>
              </a:rPr>
              <a:t>A day in the plant</a:t>
            </a:r>
            <a:endParaRPr lang="en-US" sz="1500" dirty="0"/>
          </a:p>
        </p:txBody>
      </p:sp>
      <p:sp>
        <p:nvSpPr>
          <p:cNvPr id="29" name="Shape 27"/>
          <p:cNvSpPr/>
          <p:nvPr/>
        </p:nvSpPr>
        <p:spPr>
          <a:xfrm>
            <a:off x="7059168" y="1965960"/>
            <a:ext cx="0" cy="4160520"/>
          </a:xfrm>
          <a:prstGeom prst="line">
            <a:avLst/>
          </a:prstGeom>
          <a:noFill/>
          <a:ln w="25400">
            <a:solidFill>
              <a:srgbClr val="D3DED8"/>
            </a:solidFill>
            <a:prstDash val="solid"/>
          </a:ln>
        </p:spPr>
      </p:sp>
      <p:sp>
        <p:nvSpPr>
          <p:cNvPr id="30" name="Shape 28"/>
          <p:cNvSpPr/>
          <p:nvPr/>
        </p:nvSpPr>
        <p:spPr>
          <a:xfrm>
            <a:off x="6976872" y="1984248"/>
            <a:ext cx="164592" cy="164592"/>
          </a:xfrm>
          <a:prstGeom prst="ellipse">
            <a:avLst/>
          </a:prstGeom>
          <a:solidFill>
            <a:srgbClr val="2E5E4E"/>
          </a:solidFill>
          <a:ln w="12700">
            <a:solidFill>
              <a:srgbClr val="FFFFFF"/>
            </a:solidFill>
            <a:prstDash val="solid"/>
          </a:ln>
        </p:spPr>
      </p:sp>
      <p:sp>
        <p:nvSpPr>
          <p:cNvPr id="31" name="Text 29"/>
          <p:cNvSpPr txBox="1"/>
          <p:nvPr/>
        </p:nvSpPr>
        <p:spPr>
          <a:xfrm>
            <a:off x="6400800" y="1920240"/>
            <a:ext cx="548640" cy="292608"/>
          </a:xfrm>
          <a:prstGeom prst="rect">
            <a:avLst/>
          </a:prstGeom>
          <a:noFill/>
          <a:ln/>
        </p:spPr>
        <p:txBody>
          <a:bodyPr wrap="square" lIns="0" tIns="0" rIns="0" bIns="0" rtlCol="0" anchor="t"/>
          <a:lstStyle/>
          <a:p>
            <a:pPr indent="0" marL="0">
              <a:buNone/>
            </a:pPr>
            <a:r>
              <a:rPr lang="en-US" sz="1050" b="1" dirty="0">
                <a:solidFill>
                  <a:srgbClr val="2E5E4E"/>
                </a:solidFill>
                <a:latin typeface="Calibri" pitchFamily="34" charset="0"/>
                <a:ea typeface="Calibri" pitchFamily="34" charset="-122"/>
                <a:cs typeface="Calibri" pitchFamily="34" charset="-120"/>
              </a:rPr>
              <a:t>06:30</a:t>
            </a:r>
            <a:endParaRPr lang="en-US" sz="1050" dirty="0"/>
          </a:p>
        </p:txBody>
      </p:sp>
      <p:sp>
        <p:nvSpPr>
          <p:cNvPr id="32" name="Text 30"/>
          <p:cNvSpPr txBox="1"/>
          <p:nvPr/>
        </p:nvSpPr>
        <p:spPr>
          <a:xfrm>
            <a:off x="7315200" y="1901952"/>
            <a:ext cx="4343400" cy="365760"/>
          </a:xfrm>
          <a:prstGeom prst="rect">
            <a:avLst/>
          </a:prstGeom>
          <a:noFill/>
          <a:ln/>
        </p:spPr>
        <p:txBody>
          <a:bodyPr wrap="square" lIns="0" tIns="0" rIns="0" bIns="0" rtlCol="0" anchor="ctr"/>
          <a:lstStyle/>
          <a:p>
            <a:pPr indent="0" marL="0">
              <a:buNone/>
            </a:pPr>
            <a:r>
              <a:rPr lang="en-US" sz="1150" dirty="0">
                <a:solidFill>
                  <a:srgbClr val="1E2A26"/>
                </a:solidFill>
                <a:latin typeface="Calibri" pitchFamily="34" charset="0"/>
                <a:ea typeface="Calibri" pitchFamily="34" charset="-122"/>
                <a:cs typeface="Calibri" pitchFamily="34" charset="-120"/>
              </a:rPr>
              <a:t>Lab tech gowns in; LAF runs 30 min; UV off</a:t>
            </a:r>
            <a:endParaRPr lang="en-US" sz="1150" dirty="0"/>
          </a:p>
        </p:txBody>
      </p:sp>
      <p:sp>
        <p:nvSpPr>
          <p:cNvPr id="33" name="Shape 31"/>
          <p:cNvSpPr/>
          <p:nvPr/>
        </p:nvSpPr>
        <p:spPr>
          <a:xfrm>
            <a:off x="6976872" y="2523744"/>
            <a:ext cx="164592" cy="164592"/>
          </a:xfrm>
          <a:prstGeom prst="ellipse">
            <a:avLst/>
          </a:prstGeom>
          <a:solidFill>
            <a:srgbClr val="D9962B"/>
          </a:solidFill>
          <a:ln w="12700">
            <a:solidFill>
              <a:srgbClr val="FFFFFF"/>
            </a:solidFill>
            <a:prstDash val="solid"/>
          </a:ln>
        </p:spPr>
      </p:sp>
      <p:sp>
        <p:nvSpPr>
          <p:cNvPr id="34" name="Text 32"/>
          <p:cNvSpPr txBox="1"/>
          <p:nvPr/>
        </p:nvSpPr>
        <p:spPr>
          <a:xfrm>
            <a:off x="6400800" y="2459736"/>
            <a:ext cx="548640" cy="292608"/>
          </a:xfrm>
          <a:prstGeom prst="rect">
            <a:avLst/>
          </a:prstGeom>
          <a:noFill/>
          <a:ln/>
        </p:spPr>
        <p:txBody>
          <a:bodyPr wrap="square" lIns="0" tIns="0" rIns="0" bIns="0" rtlCol="0" anchor="t"/>
          <a:lstStyle/>
          <a:p>
            <a:pPr indent="0" marL="0">
              <a:buNone/>
            </a:pPr>
            <a:r>
              <a:rPr lang="en-US" sz="1050" b="1" dirty="0">
                <a:solidFill>
                  <a:srgbClr val="2E5E4E"/>
                </a:solidFill>
                <a:latin typeface="Calibri" pitchFamily="34" charset="0"/>
                <a:ea typeface="Calibri" pitchFamily="34" charset="-122"/>
                <a:cs typeface="Calibri" pitchFamily="34" charset="-120"/>
              </a:rPr>
              <a:t>07:00</a:t>
            </a:r>
            <a:endParaRPr lang="en-US" sz="1050" dirty="0"/>
          </a:p>
        </p:txBody>
      </p:sp>
      <p:sp>
        <p:nvSpPr>
          <p:cNvPr id="35" name="Text 33"/>
          <p:cNvSpPr txBox="1"/>
          <p:nvPr/>
        </p:nvSpPr>
        <p:spPr>
          <a:xfrm>
            <a:off x="7315200" y="2441448"/>
            <a:ext cx="4343400" cy="365760"/>
          </a:xfrm>
          <a:prstGeom prst="rect">
            <a:avLst/>
          </a:prstGeom>
          <a:noFill/>
          <a:ln/>
        </p:spPr>
        <p:txBody>
          <a:bodyPr wrap="square" lIns="0" tIns="0" rIns="0" bIns="0" rtlCol="0" anchor="ctr"/>
          <a:lstStyle/>
          <a:p>
            <a:pPr indent="0" marL="0">
              <a:buNone/>
            </a:pPr>
            <a:r>
              <a:rPr lang="en-US" sz="1150" dirty="0">
                <a:solidFill>
                  <a:srgbClr val="1E2A26"/>
                </a:solidFill>
                <a:latin typeface="Calibri" pitchFamily="34" charset="0"/>
                <a:ea typeface="Calibri" pitchFamily="34" charset="-122"/>
                <a:cs typeface="Calibri" pitchFamily="34" charset="-120"/>
              </a:rPr>
              <a:t>Inoculate yesterday's cooled blocks (60) and spawn bags</a:t>
            </a:r>
            <a:endParaRPr lang="en-US" sz="1150" dirty="0"/>
          </a:p>
        </p:txBody>
      </p:sp>
      <p:sp>
        <p:nvSpPr>
          <p:cNvPr id="36" name="Shape 34"/>
          <p:cNvSpPr/>
          <p:nvPr/>
        </p:nvSpPr>
        <p:spPr>
          <a:xfrm>
            <a:off x="6976872" y="3063240"/>
            <a:ext cx="164592" cy="164592"/>
          </a:xfrm>
          <a:prstGeom prst="ellipse">
            <a:avLst/>
          </a:prstGeom>
          <a:solidFill>
            <a:srgbClr val="2E5E4E"/>
          </a:solidFill>
          <a:ln w="12700">
            <a:solidFill>
              <a:srgbClr val="FFFFFF"/>
            </a:solidFill>
            <a:prstDash val="solid"/>
          </a:ln>
        </p:spPr>
      </p:sp>
      <p:sp>
        <p:nvSpPr>
          <p:cNvPr id="37" name="Text 35"/>
          <p:cNvSpPr txBox="1"/>
          <p:nvPr/>
        </p:nvSpPr>
        <p:spPr>
          <a:xfrm>
            <a:off x="6400800" y="2999232"/>
            <a:ext cx="548640" cy="292608"/>
          </a:xfrm>
          <a:prstGeom prst="rect">
            <a:avLst/>
          </a:prstGeom>
          <a:noFill/>
          <a:ln/>
        </p:spPr>
        <p:txBody>
          <a:bodyPr wrap="square" lIns="0" tIns="0" rIns="0" bIns="0" rtlCol="0" anchor="t"/>
          <a:lstStyle/>
          <a:p>
            <a:pPr indent="0" marL="0">
              <a:buNone/>
            </a:pPr>
            <a:r>
              <a:rPr lang="en-US" sz="1050" b="1" dirty="0">
                <a:solidFill>
                  <a:srgbClr val="2E5E4E"/>
                </a:solidFill>
                <a:latin typeface="Calibri" pitchFamily="34" charset="0"/>
                <a:ea typeface="Calibri" pitchFamily="34" charset="-122"/>
                <a:cs typeface="Calibri" pitchFamily="34" charset="-120"/>
              </a:rPr>
              <a:t>08:00</a:t>
            </a:r>
            <a:endParaRPr lang="en-US" sz="1050" dirty="0"/>
          </a:p>
        </p:txBody>
      </p:sp>
      <p:sp>
        <p:nvSpPr>
          <p:cNvPr id="38" name="Text 36"/>
          <p:cNvSpPr txBox="1"/>
          <p:nvPr/>
        </p:nvSpPr>
        <p:spPr>
          <a:xfrm>
            <a:off x="7315200" y="2980944"/>
            <a:ext cx="4343400" cy="365760"/>
          </a:xfrm>
          <a:prstGeom prst="rect">
            <a:avLst/>
          </a:prstGeom>
          <a:noFill/>
          <a:ln/>
        </p:spPr>
        <p:txBody>
          <a:bodyPr wrap="square" lIns="0" tIns="0" rIns="0" bIns="0" rtlCol="0" anchor="ctr"/>
          <a:lstStyle/>
          <a:p>
            <a:pPr indent="0" marL="0">
              <a:buNone/>
            </a:pPr>
            <a:r>
              <a:rPr lang="en-US" sz="1150" dirty="0">
                <a:solidFill>
                  <a:srgbClr val="1E2A26"/>
                </a:solidFill>
                <a:latin typeface="Calibri" pitchFamily="34" charset="0"/>
                <a:ea typeface="Calibri" pitchFamily="34" charset="-122"/>
                <a:cs typeface="Calibri" pitchFamily="34" charset="-120"/>
              </a:rPr>
              <a:t>Mix and bag batch 1; autoclave cycle 1 starts</a:t>
            </a:r>
            <a:endParaRPr lang="en-US" sz="1150" dirty="0"/>
          </a:p>
        </p:txBody>
      </p:sp>
      <p:sp>
        <p:nvSpPr>
          <p:cNvPr id="39" name="Shape 37"/>
          <p:cNvSpPr/>
          <p:nvPr/>
        </p:nvSpPr>
        <p:spPr>
          <a:xfrm>
            <a:off x="6976872" y="3602736"/>
            <a:ext cx="164592" cy="164592"/>
          </a:xfrm>
          <a:prstGeom prst="ellipse">
            <a:avLst/>
          </a:prstGeom>
          <a:solidFill>
            <a:srgbClr val="2E5E4E"/>
          </a:solidFill>
          <a:ln w="12700">
            <a:solidFill>
              <a:srgbClr val="FFFFFF"/>
            </a:solidFill>
            <a:prstDash val="solid"/>
          </a:ln>
        </p:spPr>
      </p:sp>
      <p:sp>
        <p:nvSpPr>
          <p:cNvPr id="40" name="Text 38"/>
          <p:cNvSpPr txBox="1"/>
          <p:nvPr/>
        </p:nvSpPr>
        <p:spPr>
          <a:xfrm>
            <a:off x="6400800" y="3538728"/>
            <a:ext cx="548640" cy="292608"/>
          </a:xfrm>
          <a:prstGeom prst="rect">
            <a:avLst/>
          </a:prstGeom>
          <a:noFill/>
          <a:ln/>
        </p:spPr>
        <p:txBody>
          <a:bodyPr wrap="square" lIns="0" tIns="0" rIns="0" bIns="0" rtlCol="0" anchor="t"/>
          <a:lstStyle/>
          <a:p>
            <a:pPr indent="0" marL="0">
              <a:buNone/>
            </a:pPr>
            <a:r>
              <a:rPr lang="en-US" sz="1050" b="1" dirty="0">
                <a:solidFill>
                  <a:srgbClr val="2E5E4E"/>
                </a:solidFill>
                <a:latin typeface="Calibri" pitchFamily="34" charset="0"/>
                <a:ea typeface="Calibri" pitchFamily="34" charset="-122"/>
                <a:cs typeface="Calibri" pitchFamily="34" charset="-120"/>
              </a:rPr>
              <a:t>10:00</a:t>
            </a:r>
            <a:endParaRPr lang="en-US" sz="1050" dirty="0"/>
          </a:p>
        </p:txBody>
      </p:sp>
      <p:sp>
        <p:nvSpPr>
          <p:cNvPr id="41" name="Text 39"/>
          <p:cNvSpPr txBox="1"/>
          <p:nvPr/>
        </p:nvSpPr>
        <p:spPr>
          <a:xfrm>
            <a:off x="7315200" y="3520440"/>
            <a:ext cx="4343400" cy="365760"/>
          </a:xfrm>
          <a:prstGeom prst="rect">
            <a:avLst/>
          </a:prstGeom>
          <a:noFill/>
          <a:ln/>
        </p:spPr>
        <p:txBody>
          <a:bodyPr wrap="square" lIns="0" tIns="0" rIns="0" bIns="0" rtlCol="0" anchor="ctr"/>
          <a:lstStyle/>
          <a:p>
            <a:pPr indent="0" marL="0">
              <a:buNone/>
            </a:pPr>
            <a:r>
              <a:rPr lang="en-US" sz="1150" dirty="0">
                <a:solidFill>
                  <a:srgbClr val="1E2A26"/>
                </a:solidFill>
                <a:latin typeface="Calibri" pitchFamily="34" charset="0"/>
                <a:ea typeface="Calibri" pitchFamily="34" charset="-122"/>
                <a:cs typeface="Calibri" pitchFamily="34" charset="-120"/>
              </a:rPr>
              <a:t>Fruiting rooms: harvest, CO₂/RH checks, remove spent blocks</a:t>
            </a:r>
            <a:endParaRPr lang="en-US" sz="1150" dirty="0"/>
          </a:p>
        </p:txBody>
      </p:sp>
      <p:sp>
        <p:nvSpPr>
          <p:cNvPr id="42" name="Shape 40"/>
          <p:cNvSpPr/>
          <p:nvPr/>
        </p:nvSpPr>
        <p:spPr>
          <a:xfrm>
            <a:off x="6976872" y="4142232"/>
            <a:ext cx="164592" cy="164592"/>
          </a:xfrm>
          <a:prstGeom prst="ellipse">
            <a:avLst/>
          </a:prstGeom>
          <a:solidFill>
            <a:srgbClr val="2E5E4E"/>
          </a:solidFill>
          <a:ln w="12700">
            <a:solidFill>
              <a:srgbClr val="FFFFFF"/>
            </a:solidFill>
            <a:prstDash val="solid"/>
          </a:ln>
        </p:spPr>
      </p:sp>
      <p:sp>
        <p:nvSpPr>
          <p:cNvPr id="43" name="Text 41"/>
          <p:cNvSpPr txBox="1"/>
          <p:nvPr/>
        </p:nvSpPr>
        <p:spPr>
          <a:xfrm>
            <a:off x="6400800" y="4078224"/>
            <a:ext cx="548640" cy="292608"/>
          </a:xfrm>
          <a:prstGeom prst="rect">
            <a:avLst/>
          </a:prstGeom>
          <a:noFill/>
          <a:ln/>
        </p:spPr>
        <p:txBody>
          <a:bodyPr wrap="square" lIns="0" tIns="0" rIns="0" bIns="0" rtlCol="0" anchor="t"/>
          <a:lstStyle/>
          <a:p>
            <a:pPr indent="0" marL="0">
              <a:buNone/>
            </a:pPr>
            <a:r>
              <a:rPr lang="en-US" sz="1050" b="1" dirty="0">
                <a:solidFill>
                  <a:srgbClr val="2E5E4E"/>
                </a:solidFill>
                <a:latin typeface="Calibri" pitchFamily="34" charset="0"/>
                <a:ea typeface="Calibri" pitchFamily="34" charset="-122"/>
                <a:cs typeface="Calibri" pitchFamily="34" charset="-120"/>
              </a:rPr>
              <a:t>12:00</a:t>
            </a:r>
            <a:endParaRPr lang="en-US" sz="1050" dirty="0"/>
          </a:p>
        </p:txBody>
      </p:sp>
      <p:sp>
        <p:nvSpPr>
          <p:cNvPr id="44" name="Text 42"/>
          <p:cNvSpPr txBox="1"/>
          <p:nvPr/>
        </p:nvSpPr>
        <p:spPr>
          <a:xfrm>
            <a:off x="7315200" y="4059936"/>
            <a:ext cx="4343400" cy="365760"/>
          </a:xfrm>
          <a:prstGeom prst="rect">
            <a:avLst/>
          </a:prstGeom>
          <a:noFill/>
          <a:ln/>
        </p:spPr>
        <p:txBody>
          <a:bodyPr wrap="square" lIns="0" tIns="0" rIns="0" bIns="0" rtlCol="0" anchor="ctr"/>
          <a:lstStyle/>
          <a:p>
            <a:pPr indent="0" marL="0">
              <a:buNone/>
            </a:pPr>
            <a:r>
              <a:rPr lang="en-US" sz="1150" dirty="0">
                <a:solidFill>
                  <a:srgbClr val="1E2A26"/>
                </a:solidFill>
                <a:latin typeface="Calibri" pitchFamily="34" charset="0"/>
                <a:ea typeface="Calibri" pitchFamily="34" charset="-122"/>
                <a:cs typeface="Calibri" pitchFamily="34" charset="-120"/>
              </a:rPr>
              <a:t>Slice harvest and load dehydrator</a:t>
            </a:r>
            <a:endParaRPr lang="en-US" sz="1150" dirty="0"/>
          </a:p>
        </p:txBody>
      </p:sp>
      <p:sp>
        <p:nvSpPr>
          <p:cNvPr id="45" name="Shape 43"/>
          <p:cNvSpPr/>
          <p:nvPr/>
        </p:nvSpPr>
        <p:spPr>
          <a:xfrm>
            <a:off x="6976872" y="4681728"/>
            <a:ext cx="164592" cy="164592"/>
          </a:xfrm>
          <a:prstGeom prst="ellipse">
            <a:avLst/>
          </a:prstGeom>
          <a:solidFill>
            <a:srgbClr val="2E5E4E"/>
          </a:solidFill>
          <a:ln w="12700">
            <a:solidFill>
              <a:srgbClr val="FFFFFF"/>
            </a:solidFill>
            <a:prstDash val="solid"/>
          </a:ln>
        </p:spPr>
      </p:sp>
      <p:sp>
        <p:nvSpPr>
          <p:cNvPr id="46" name="Text 44"/>
          <p:cNvSpPr txBox="1"/>
          <p:nvPr/>
        </p:nvSpPr>
        <p:spPr>
          <a:xfrm>
            <a:off x="6400800" y="4617720"/>
            <a:ext cx="548640" cy="292608"/>
          </a:xfrm>
          <a:prstGeom prst="rect">
            <a:avLst/>
          </a:prstGeom>
          <a:noFill/>
          <a:ln/>
        </p:spPr>
        <p:txBody>
          <a:bodyPr wrap="square" lIns="0" tIns="0" rIns="0" bIns="0" rtlCol="0" anchor="t"/>
          <a:lstStyle/>
          <a:p>
            <a:pPr indent="0" marL="0">
              <a:buNone/>
            </a:pPr>
            <a:r>
              <a:rPr lang="en-US" sz="1050" b="1" dirty="0">
                <a:solidFill>
                  <a:srgbClr val="2E5E4E"/>
                </a:solidFill>
                <a:latin typeface="Calibri" pitchFamily="34" charset="0"/>
                <a:ea typeface="Calibri" pitchFamily="34" charset="-122"/>
                <a:cs typeface="Calibri" pitchFamily="34" charset="-120"/>
              </a:rPr>
              <a:t>14:00</a:t>
            </a:r>
            <a:endParaRPr lang="en-US" sz="1050" dirty="0"/>
          </a:p>
        </p:txBody>
      </p:sp>
      <p:sp>
        <p:nvSpPr>
          <p:cNvPr id="47" name="Text 45"/>
          <p:cNvSpPr txBox="1"/>
          <p:nvPr/>
        </p:nvSpPr>
        <p:spPr>
          <a:xfrm>
            <a:off x="7315200" y="4599432"/>
            <a:ext cx="4343400" cy="365760"/>
          </a:xfrm>
          <a:prstGeom prst="rect">
            <a:avLst/>
          </a:prstGeom>
          <a:noFill/>
          <a:ln/>
        </p:spPr>
        <p:txBody>
          <a:bodyPr wrap="square" lIns="0" tIns="0" rIns="0" bIns="0" rtlCol="0" anchor="ctr"/>
          <a:lstStyle/>
          <a:p>
            <a:pPr indent="0" marL="0">
              <a:buNone/>
            </a:pPr>
            <a:r>
              <a:rPr lang="en-US" sz="1150" dirty="0">
                <a:solidFill>
                  <a:srgbClr val="1E2A26"/>
                </a:solidFill>
                <a:latin typeface="Calibri" pitchFamily="34" charset="0"/>
                <a:ea typeface="Calibri" pitchFamily="34" charset="-122"/>
                <a:cs typeface="Calibri" pitchFamily="34" charset="-120"/>
              </a:rPr>
              <a:t>Mix batch 2; autoclave cycle 2; unload cycle 1 to clean side</a:t>
            </a:r>
            <a:endParaRPr lang="en-US" sz="1150" dirty="0"/>
          </a:p>
        </p:txBody>
      </p:sp>
      <p:sp>
        <p:nvSpPr>
          <p:cNvPr id="48" name="Shape 46"/>
          <p:cNvSpPr/>
          <p:nvPr/>
        </p:nvSpPr>
        <p:spPr>
          <a:xfrm>
            <a:off x="6976872" y="5221224"/>
            <a:ext cx="164592" cy="164592"/>
          </a:xfrm>
          <a:prstGeom prst="ellipse">
            <a:avLst/>
          </a:prstGeom>
          <a:solidFill>
            <a:srgbClr val="2E5E4E"/>
          </a:solidFill>
          <a:ln w="12700">
            <a:solidFill>
              <a:srgbClr val="FFFFFF"/>
            </a:solidFill>
            <a:prstDash val="solid"/>
          </a:ln>
        </p:spPr>
      </p:sp>
      <p:sp>
        <p:nvSpPr>
          <p:cNvPr id="49" name="Text 47"/>
          <p:cNvSpPr txBox="1"/>
          <p:nvPr/>
        </p:nvSpPr>
        <p:spPr>
          <a:xfrm>
            <a:off x="6400800" y="5157216"/>
            <a:ext cx="548640" cy="292608"/>
          </a:xfrm>
          <a:prstGeom prst="rect">
            <a:avLst/>
          </a:prstGeom>
          <a:noFill/>
          <a:ln/>
        </p:spPr>
        <p:txBody>
          <a:bodyPr wrap="square" lIns="0" tIns="0" rIns="0" bIns="0" rtlCol="0" anchor="t"/>
          <a:lstStyle/>
          <a:p>
            <a:pPr indent="0" marL="0">
              <a:buNone/>
            </a:pPr>
            <a:r>
              <a:rPr lang="en-US" sz="1050" b="1" dirty="0">
                <a:solidFill>
                  <a:srgbClr val="2E5E4E"/>
                </a:solidFill>
                <a:latin typeface="Calibri" pitchFamily="34" charset="0"/>
                <a:ea typeface="Calibri" pitchFamily="34" charset="-122"/>
                <a:cs typeface="Calibri" pitchFamily="34" charset="-120"/>
              </a:rPr>
              <a:t>16:00</a:t>
            </a:r>
            <a:endParaRPr lang="en-US" sz="1050" dirty="0"/>
          </a:p>
        </p:txBody>
      </p:sp>
      <p:sp>
        <p:nvSpPr>
          <p:cNvPr id="50" name="Text 48"/>
          <p:cNvSpPr txBox="1"/>
          <p:nvPr/>
        </p:nvSpPr>
        <p:spPr>
          <a:xfrm>
            <a:off x="7315200" y="5138928"/>
            <a:ext cx="4343400" cy="365760"/>
          </a:xfrm>
          <a:prstGeom prst="rect">
            <a:avLst/>
          </a:prstGeom>
          <a:noFill/>
          <a:ln/>
        </p:spPr>
        <p:txBody>
          <a:bodyPr wrap="square" lIns="0" tIns="0" rIns="0" bIns="0" rtlCol="0" anchor="ctr"/>
          <a:lstStyle/>
          <a:p>
            <a:pPr indent="0" marL="0">
              <a:buNone/>
            </a:pPr>
            <a:r>
              <a:rPr lang="en-US" sz="1150" dirty="0">
                <a:solidFill>
                  <a:srgbClr val="1E2A26"/>
                </a:solidFill>
                <a:latin typeface="Calibri" pitchFamily="34" charset="0"/>
                <a:ea typeface="Calibri" pitchFamily="34" charset="-122"/>
                <a:cs typeface="Calibri" pitchFamily="34" charset="-120"/>
              </a:rPr>
              <a:t>Mill and pack yesterday's dry lot; lot coding</a:t>
            </a:r>
            <a:endParaRPr lang="en-US" sz="1150" dirty="0"/>
          </a:p>
        </p:txBody>
      </p:sp>
      <p:sp>
        <p:nvSpPr>
          <p:cNvPr id="51" name="Shape 49"/>
          <p:cNvSpPr/>
          <p:nvPr/>
        </p:nvSpPr>
        <p:spPr>
          <a:xfrm>
            <a:off x="6976872" y="5760720"/>
            <a:ext cx="164592" cy="164592"/>
          </a:xfrm>
          <a:prstGeom prst="ellipse">
            <a:avLst/>
          </a:prstGeom>
          <a:solidFill>
            <a:srgbClr val="2E5E4E"/>
          </a:solidFill>
          <a:ln w="12700">
            <a:solidFill>
              <a:srgbClr val="FFFFFF"/>
            </a:solidFill>
            <a:prstDash val="solid"/>
          </a:ln>
        </p:spPr>
      </p:sp>
      <p:sp>
        <p:nvSpPr>
          <p:cNvPr id="52" name="Text 50"/>
          <p:cNvSpPr txBox="1"/>
          <p:nvPr/>
        </p:nvSpPr>
        <p:spPr>
          <a:xfrm>
            <a:off x="6400800" y="5696712"/>
            <a:ext cx="548640" cy="292608"/>
          </a:xfrm>
          <a:prstGeom prst="rect">
            <a:avLst/>
          </a:prstGeom>
          <a:noFill/>
          <a:ln/>
        </p:spPr>
        <p:txBody>
          <a:bodyPr wrap="square" lIns="0" tIns="0" rIns="0" bIns="0" rtlCol="0" anchor="t"/>
          <a:lstStyle/>
          <a:p>
            <a:pPr indent="0" marL="0">
              <a:buNone/>
            </a:pPr>
            <a:r>
              <a:rPr lang="en-US" sz="1050" b="1" dirty="0">
                <a:solidFill>
                  <a:srgbClr val="2E5E4E"/>
                </a:solidFill>
                <a:latin typeface="Calibri" pitchFamily="34" charset="0"/>
                <a:ea typeface="Calibri" pitchFamily="34" charset="-122"/>
                <a:cs typeface="Calibri" pitchFamily="34" charset="-120"/>
              </a:rPr>
              <a:t>17:30</a:t>
            </a:r>
            <a:endParaRPr lang="en-US" sz="1050" dirty="0"/>
          </a:p>
        </p:txBody>
      </p:sp>
      <p:sp>
        <p:nvSpPr>
          <p:cNvPr id="53" name="Text 51"/>
          <p:cNvSpPr txBox="1"/>
          <p:nvPr/>
        </p:nvSpPr>
        <p:spPr>
          <a:xfrm>
            <a:off x="7315200" y="5678424"/>
            <a:ext cx="4343400" cy="365760"/>
          </a:xfrm>
          <a:prstGeom prst="rect">
            <a:avLst/>
          </a:prstGeom>
          <a:noFill/>
          <a:ln/>
        </p:spPr>
        <p:txBody>
          <a:bodyPr wrap="square" lIns="0" tIns="0" rIns="0" bIns="0" rtlCol="0" anchor="ctr"/>
          <a:lstStyle/>
          <a:p>
            <a:pPr indent="0" marL="0">
              <a:buNone/>
            </a:pPr>
            <a:r>
              <a:rPr lang="en-US" sz="1150" dirty="0">
                <a:solidFill>
                  <a:srgbClr val="1E2A26"/>
                </a:solidFill>
                <a:latin typeface="Calibri" pitchFamily="34" charset="0"/>
                <a:ea typeface="Calibri" pitchFamily="34" charset="-122"/>
                <a:cs typeface="Calibri" pitchFamily="34" charset="-120"/>
              </a:rPr>
              <a:t>Sanitation clean → dirty; logs signed off</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D9962B"/>
                </a:solidFill>
                <a:latin typeface="Calibri" pitchFamily="34" charset="0"/>
                <a:ea typeface="Calibri" pitchFamily="34" charset="-122"/>
                <a:cs typeface="Calibri" pitchFamily="34" charset="-120"/>
              </a:rPr>
              <a:t>13 · IMPLEMENTATION</a:t>
            </a:r>
            <a:endParaRPr lang="en-US" sz="11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14302A"/>
                </a:solidFill>
                <a:latin typeface="Cambria" pitchFamily="34" charset="0"/>
                <a:ea typeface="Cambria" pitchFamily="34" charset="-122"/>
                <a:cs typeface="Cambria" pitchFamily="34" charset="-120"/>
              </a:rPr>
              <a:t>Nine months from approval to steady state</a:t>
            </a:r>
            <a:endParaRPr lang="en-US" sz="30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900" dirty="0">
                <a:solidFill>
                  <a:srgbClr val="5F6F69"/>
                </a:solidFill>
                <a:latin typeface="Calibri" pitchFamily="34" charset="0"/>
                <a:ea typeface="Calibri" pitchFamily="34" charset="-122"/>
                <a:cs typeface="Calibri" pitchFamily="34" charset="-120"/>
              </a:rPr>
              <a:t>Lion's Mane Facility  ·  Hamirpur, HP  ·  Project Plan</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900" dirty="0">
                <a:solidFill>
                  <a:srgbClr val="5F6F69"/>
                </a:solidFill>
                <a:latin typeface="Calibri" pitchFamily="34" charset="0"/>
                <a:ea typeface="Calibri" pitchFamily="34" charset="-122"/>
                <a:cs typeface="Calibri" pitchFamily="34" charset="-120"/>
              </a:rPr>
              <a:t>31</a:t>
            </a:r>
            <a:endParaRPr lang="en-US" sz="900" dirty="0"/>
          </a:p>
        </p:txBody>
      </p:sp>
      <p:sp>
        <p:nvSpPr>
          <p:cNvPr id="6" name="Text 4"/>
          <p:cNvSpPr txBox="1"/>
          <p:nvPr/>
        </p:nvSpPr>
        <p:spPr>
          <a:xfrm>
            <a:off x="4114800" y="1417320"/>
            <a:ext cx="838200" cy="274320"/>
          </a:xfrm>
          <a:prstGeom prst="rect">
            <a:avLst/>
          </a:prstGeom>
          <a:noFill/>
          <a:ln/>
        </p:spPr>
        <p:txBody>
          <a:bodyPr wrap="square" lIns="0" tIns="0" rIns="0" bIns="0" rtlCol="0" anchor="t"/>
          <a:lstStyle/>
          <a:p>
            <a:pPr algn="ctr" indent="0" marL="0">
              <a:buNone/>
            </a:pPr>
            <a:r>
              <a:rPr lang="en-US" sz="1100" b="1" dirty="0">
                <a:solidFill>
                  <a:srgbClr val="5F6F69"/>
                </a:solidFill>
                <a:latin typeface="Calibri" pitchFamily="34" charset="0"/>
                <a:ea typeface="Calibri" pitchFamily="34" charset="-122"/>
                <a:cs typeface="Calibri" pitchFamily="34" charset="-120"/>
              </a:rPr>
              <a:t>M1</a:t>
            </a:r>
            <a:endParaRPr lang="en-US" sz="1100" dirty="0"/>
          </a:p>
        </p:txBody>
      </p:sp>
      <p:sp>
        <p:nvSpPr>
          <p:cNvPr id="7" name="Shape 5"/>
          <p:cNvSpPr/>
          <p:nvPr/>
        </p:nvSpPr>
        <p:spPr>
          <a:xfrm>
            <a:off x="4114800" y="1737360"/>
            <a:ext cx="0" cy="4526280"/>
          </a:xfrm>
          <a:prstGeom prst="line">
            <a:avLst/>
          </a:prstGeom>
          <a:noFill/>
          <a:ln w="9525">
            <a:solidFill>
              <a:srgbClr val="E5ECE8"/>
            </a:solidFill>
            <a:prstDash val="solid"/>
          </a:ln>
        </p:spPr>
      </p:sp>
      <p:sp>
        <p:nvSpPr>
          <p:cNvPr id="8" name="Text 6"/>
          <p:cNvSpPr txBox="1"/>
          <p:nvPr/>
        </p:nvSpPr>
        <p:spPr>
          <a:xfrm>
            <a:off x="4953000" y="1417320"/>
            <a:ext cx="838200" cy="274320"/>
          </a:xfrm>
          <a:prstGeom prst="rect">
            <a:avLst/>
          </a:prstGeom>
          <a:noFill/>
          <a:ln/>
        </p:spPr>
        <p:txBody>
          <a:bodyPr wrap="square" lIns="0" tIns="0" rIns="0" bIns="0" rtlCol="0" anchor="t"/>
          <a:lstStyle/>
          <a:p>
            <a:pPr algn="ctr" indent="0" marL="0">
              <a:buNone/>
            </a:pPr>
            <a:r>
              <a:rPr lang="en-US" sz="1100" b="1" dirty="0">
                <a:solidFill>
                  <a:srgbClr val="5F6F69"/>
                </a:solidFill>
                <a:latin typeface="Calibri" pitchFamily="34" charset="0"/>
                <a:ea typeface="Calibri" pitchFamily="34" charset="-122"/>
                <a:cs typeface="Calibri" pitchFamily="34" charset="-120"/>
              </a:rPr>
              <a:t>M2</a:t>
            </a:r>
            <a:endParaRPr lang="en-US" sz="1100" dirty="0"/>
          </a:p>
        </p:txBody>
      </p:sp>
      <p:sp>
        <p:nvSpPr>
          <p:cNvPr id="9" name="Shape 7"/>
          <p:cNvSpPr/>
          <p:nvPr/>
        </p:nvSpPr>
        <p:spPr>
          <a:xfrm>
            <a:off x="4953000" y="1737360"/>
            <a:ext cx="0" cy="4526280"/>
          </a:xfrm>
          <a:prstGeom prst="line">
            <a:avLst/>
          </a:prstGeom>
          <a:noFill/>
          <a:ln w="9525">
            <a:solidFill>
              <a:srgbClr val="E5ECE8"/>
            </a:solidFill>
            <a:prstDash val="solid"/>
          </a:ln>
        </p:spPr>
      </p:sp>
      <p:sp>
        <p:nvSpPr>
          <p:cNvPr id="10" name="Text 8"/>
          <p:cNvSpPr txBox="1"/>
          <p:nvPr/>
        </p:nvSpPr>
        <p:spPr>
          <a:xfrm>
            <a:off x="5791200" y="1417320"/>
            <a:ext cx="838200" cy="274320"/>
          </a:xfrm>
          <a:prstGeom prst="rect">
            <a:avLst/>
          </a:prstGeom>
          <a:noFill/>
          <a:ln/>
        </p:spPr>
        <p:txBody>
          <a:bodyPr wrap="square" lIns="0" tIns="0" rIns="0" bIns="0" rtlCol="0" anchor="t"/>
          <a:lstStyle/>
          <a:p>
            <a:pPr algn="ctr" indent="0" marL="0">
              <a:buNone/>
            </a:pPr>
            <a:r>
              <a:rPr lang="en-US" sz="1100" b="1" dirty="0">
                <a:solidFill>
                  <a:srgbClr val="5F6F69"/>
                </a:solidFill>
                <a:latin typeface="Calibri" pitchFamily="34" charset="0"/>
                <a:ea typeface="Calibri" pitchFamily="34" charset="-122"/>
                <a:cs typeface="Calibri" pitchFamily="34" charset="-120"/>
              </a:rPr>
              <a:t>M3</a:t>
            </a:r>
            <a:endParaRPr lang="en-US" sz="1100" dirty="0"/>
          </a:p>
        </p:txBody>
      </p:sp>
      <p:sp>
        <p:nvSpPr>
          <p:cNvPr id="11" name="Shape 9"/>
          <p:cNvSpPr/>
          <p:nvPr/>
        </p:nvSpPr>
        <p:spPr>
          <a:xfrm>
            <a:off x="5791200" y="1737360"/>
            <a:ext cx="0" cy="4526280"/>
          </a:xfrm>
          <a:prstGeom prst="line">
            <a:avLst/>
          </a:prstGeom>
          <a:noFill/>
          <a:ln w="9525">
            <a:solidFill>
              <a:srgbClr val="E5ECE8"/>
            </a:solidFill>
            <a:prstDash val="solid"/>
          </a:ln>
        </p:spPr>
      </p:sp>
      <p:sp>
        <p:nvSpPr>
          <p:cNvPr id="12" name="Text 10"/>
          <p:cNvSpPr txBox="1"/>
          <p:nvPr/>
        </p:nvSpPr>
        <p:spPr>
          <a:xfrm>
            <a:off x="6629400" y="1417320"/>
            <a:ext cx="838200" cy="274320"/>
          </a:xfrm>
          <a:prstGeom prst="rect">
            <a:avLst/>
          </a:prstGeom>
          <a:noFill/>
          <a:ln/>
        </p:spPr>
        <p:txBody>
          <a:bodyPr wrap="square" lIns="0" tIns="0" rIns="0" bIns="0" rtlCol="0" anchor="t"/>
          <a:lstStyle/>
          <a:p>
            <a:pPr algn="ctr" indent="0" marL="0">
              <a:buNone/>
            </a:pPr>
            <a:r>
              <a:rPr lang="en-US" sz="1100" b="1" dirty="0">
                <a:solidFill>
                  <a:srgbClr val="5F6F69"/>
                </a:solidFill>
                <a:latin typeface="Calibri" pitchFamily="34" charset="0"/>
                <a:ea typeface="Calibri" pitchFamily="34" charset="-122"/>
                <a:cs typeface="Calibri" pitchFamily="34" charset="-120"/>
              </a:rPr>
              <a:t>M4</a:t>
            </a:r>
            <a:endParaRPr lang="en-US" sz="1100" dirty="0"/>
          </a:p>
        </p:txBody>
      </p:sp>
      <p:sp>
        <p:nvSpPr>
          <p:cNvPr id="13" name="Shape 11"/>
          <p:cNvSpPr/>
          <p:nvPr/>
        </p:nvSpPr>
        <p:spPr>
          <a:xfrm>
            <a:off x="6629400" y="1737360"/>
            <a:ext cx="0" cy="4526280"/>
          </a:xfrm>
          <a:prstGeom prst="line">
            <a:avLst/>
          </a:prstGeom>
          <a:noFill/>
          <a:ln w="9525">
            <a:solidFill>
              <a:srgbClr val="E5ECE8"/>
            </a:solidFill>
            <a:prstDash val="solid"/>
          </a:ln>
        </p:spPr>
      </p:sp>
      <p:sp>
        <p:nvSpPr>
          <p:cNvPr id="14" name="Text 12"/>
          <p:cNvSpPr txBox="1"/>
          <p:nvPr/>
        </p:nvSpPr>
        <p:spPr>
          <a:xfrm>
            <a:off x="7467600" y="1417320"/>
            <a:ext cx="838200" cy="274320"/>
          </a:xfrm>
          <a:prstGeom prst="rect">
            <a:avLst/>
          </a:prstGeom>
          <a:noFill/>
          <a:ln/>
        </p:spPr>
        <p:txBody>
          <a:bodyPr wrap="square" lIns="0" tIns="0" rIns="0" bIns="0" rtlCol="0" anchor="t"/>
          <a:lstStyle/>
          <a:p>
            <a:pPr algn="ctr" indent="0" marL="0">
              <a:buNone/>
            </a:pPr>
            <a:r>
              <a:rPr lang="en-US" sz="1100" b="1" dirty="0">
                <a:solidFill>
                  <a:srgbClr val="5F6F69"/>
                </a:solidFill>
                <a:latin typeface="Calibri" pitchFamily="34" charset="0"/>
                <a:ea typeface="Calibri" pitchFamily="34" charset="-122"/>
                <a:cs typeface="Calibri" pitchFamily="34" charset="-120"/>
              </a:rPr>
              <a:t>M5</a:t>
            </a:r>
            <a:endParaRPr lang="en-US" sz="1100" dirty="0"/>
          </a:p>
        </p:txBody>
      </p:sp>
      <p:sp>
        <p:nvSpPr>
          <p:cNvPr id="15" name="Shape 13"/>
          <p:cNvSpPr/>
          <p:nvPr/>
        </p:nvSpPr>
        <p:spPr>
          <a:xfrm>
            <a:off x="7467600" y="1737360"/>
            <a:ext cx="0" cy="4526280"/>
          </a:xfrm>
          <a:prstGeom prst="line">
            <a:avLst/>
          </a:prstGeom>
          <a:noFill/>
          <a:ln w="9525">
            <a:solidFill>
              <a:srgbClr val="E5ECE8"/>
            </a:solidFill>
            <a:prstDash val="solid"/>
          </a:ln>
        </p:spPr>
      </p:sp>
      <p:sp>
        <p:nvSpPr>
          <p:cNvPr id="16" name="Text 14"/>
          <p:cNvSpPr txBox="1"/>
          <p:nvPr/>
        </p:nvSpPr>
        <p:spPr>
          <a:xfrm>
            <a:off x="8305800" y="1417320"/>
            <a:ext cx="838200" cy="274320"/>
          </a:xfrm>
          <a:prstGeom prst="rect">
            <a:avLst/>
          </a:prstGeom>
          <a:noFill/>
          <a:ln/>
        </p:spPr>
        <p:txBody>
          <a:bodyPr wrap="square" lIns="0" tIns="0" rIns="0" bIns="0" rtlCol="0" anchor="t"/>
          <a:lstStyle/>
          <a:p>
            <a:pPr algn="ctr" indent="0" marL="0">
              <a:buNone/>
            </a:pPr>
            <a:r>
              <a:rPr lang="en-US" sz="1100" b="1" dirty="0">
                <a:solidFill>
                  <a:srgbClr val="5F6F69"/>
                </a:solidFill>
                <a:latin typeface="Calibri" pitchFamily="34" charset="0"/>
                <a:ea typeface="Calibri" pitchFamily="34" charset="-122"/>
                <a:cs typeface="Calibri" pitchFamily="34" charset="-120"/>
              </a:rPr>
              <a:t>M6</a:t>
            </a:r>
            <a:endParaRPr lang="en-US" sz="1100" dirty="0"/>
          </a:p>
        </p:txBody>
      </p:sp>
      <p:sp>
        <p:nvSpPr>
          <p:cNvPr id="17" name="Shape 15"/>
          <p:cNvSpPr/>
          <p:nvPr/>
        </p:nvSpPr>
        <p:spPr>
          <a:xfrm>
            <a:off x="8305800" y="1737360"/>
            <a:ext cx="0" cy="4526280"/>
          </a:xfrm>
          <a:prstGeom prst="line">
            <a:avLst/>
          </a:prstGeom>
          <a:noFill/>
          <a:ln w="9525">
            <a:solidFill>
              <a:srgbClr val="E5ECE8"/>
            </a:solidFill>
            <a:prstDash val="solid"/>
          </a:ln>
        </p:spPr>
      </p:sp>
      <p:sp>
        <p:nvSpPr>
          <p:cNvPr id="18" name="Text 16"/>
          <p:cNvSpPr txBox="1"/>
          <p:nvPr/>
        </p:nvSpPr>
        <p:spPr>
          <a:xfrm>
            <a:off x="9144000" y="1417320"/>
            <a:ext cx="838200" cy="274320"/>
          </a:xfrm>
          <a:prstGeom prst="rect">
            <a:avLst/>
          </a:prstGeom>
          <a:noFill/>
          <a:ln/>
        </p:spPr>
        <p:txBody>
          <a:bodyPr wrap="square" lIns="0" tIns="0" rIns="0" bIns="0" rtlCol="0" anchor="t"/>
          <a:lstStyle/>
          <a:p>
            <a:pPr algn="ctr" indent="0" marL="0">
              <a:buNone/>
            </a:pPr>
            <a:r>
              <a:rPr lang="en-US" sz="1100" b="1" dirty="0">
                <a:solidFill>
                  <a:srgbClr val="5F6F69"/>
                </a:solidFill>
                <a:latin typeface="Calibri" pitchFamily="34" charset="0"/>
                <a:ea typeface="Calibri" pitchFamily="34" charset="-122"/>
                <a:cs typeface="Calibri" pitchFamily="34" charset="-120"/>
              </a:rPr>
              <a:t>M7</a:t>
            </a:r>
            <a:endParaRPr lang="en-US" sz="1100" dirty="0"/>
          </a:p>
        </p:txBody>
      </p:sp>
      <p:sp>
        <p:nvSpPr>
          <p:cNvPr id="19" name="Shape 17"/>
          <p:cNvSpPr/>
          <p:nvPr/>
        </p:nvSpPr>
        <p:spPr>
          <a:xfrm>
            <a:off x="9144000" y="1737360"/>
            <a:ext cx="0" cy="4526280"/>
          </a:xfrm>
          <a:prstGeom prst="line">
            <a:avLst/>
          </a:prstGeom>
          <a:noFill/>
          <a:ln w="9525">
            <a:solidFill>
              <a:srgbClr val="E5ECE8"/>
            </a:solidFill>
            <a:prstDash val="solid"/>
          </a:ln>
        </p:spPr>
      </p:sp>
      <p:sp>
        <p:nvSpPr>
          <p:cNvPr id="20" name="Text 18"/>
          <p:cNvSpPr txBox="1"/>
          <p:nvPr/>
        </p:nvSpPr>
        <p:spPr>
          <a:xfrm>
            <a:off x="9982200" y="1417320"/>
            <a:ext cx="838200" cy="274320"/>
          </a:xfrm>
          <a:prstGeom prst="rect">
            <a:avLst/>
          </a:prstGeom>
          <a:noFill/>
          <a:ln/>
        </p:spPr>
        <p:txBody>
          <a:bodyPr wrap="square" lIns="0" tIns="0" rIns="0" bIns="0" rtlCol="0" anchor="t"/>
          <a:lstStyle/>
          <a:p>
            <a:pPr algn="ctr" indent="0" marL="0">
              <a:buNone/>
            </a:pPr>
            <a:r>
              <a:rPr lang="en-US" sz="1100" b="1" dirty="0">
                <a:solidFill>
                  <a:srgbClr val="5F6F69"/>
                </a:solidFill>
                <a:latin typeface="Calibri" pitchFamily="34" charset="0"/>
                <a:ea typeface="Calibri" pitchFamily="34" charset="-122"/>
                <a:cs typeface="Calibri" pitchFamily="34" charset="-120"/>
              </a:rPr>
              <a:t>M8</a:t>
            </a:r>
            <a:endParaRPr lang="en-US" sz="1100" dirty="0"/>
          </a:p>
        </p:txBody>
      </p:sp>
      <p:sp>
        <p:nvSpPr>
          <p:cNvPr id="21" name="Shape 19"/>
          <p:cNvSpPr/>
          <p:nvPr/>
        </p:nvSpPr>
        <p:spPr>
          <a:xfrm>
            <a:off x="9982200" y="1737360"/>
            <a:ext cx="0" cy="4526280"/>
          </a:xfrm>
          <a:prstGeom prst="line">
            <a:avLst/>
          </a:prstGeom>
          <a:noFill/>
          <a:ln w="9525">
            <a:solidFill>
              <a:srgbClr val="E5ECE8"/>
            </a:solidFill>
            <a:prstDash val="solid"/>
          </a:ln>
        </p:spPr>
      </p:sp>
      <p:sp>
        <p:nvSpPr>
          <p:cNvPr id="22" name="Text 20"/>
          <p:cNvSpPr txBox="1"/>
          <p:nvPr/>
        </p:nvSpPr>
        <p:spPr>
          <a:xfrm>
            <a:off x="10820400" y="1417320"/>
            <a:ext cx="838200" cy="274320"/>
          </a:xfrm>
          <a:prstGeom prst="rect">
            <a:avLst/>
          </a:prstGeom>
          <a:noFill/>
          <a:ln/>
        </p:spPr>
        <p:txBody>
          <a:bodyPr wrap="square" lIns="0" tIns="0" rIns="0" bIns="0" rtlCol="0" anchor="t"/>
          <a:lstStyle/>
          <a:p>
            <a:pPr algn="ctr" indent="0" marL="0">
              <a:buNone/>
            </a:pPr>
            <a:r>
              <a:rPr lang="en-US" sz="1100" b="1" dirty="0">
                <a:solidFill>
                  <a:srgbClr val="5F6F69"/>
                </a:solidFill>
                <a:latin typeface="Calibri" pitchFamily="34" charset="0"/>
                <a:ea typeface="Calibri" pitchFamily="34" charset="-122"/>
                <a:cs typeface="Calibri" pitchFamily="34" charset="-120"/>
              </a:rPr>
              <a:t>M9</a:t>
            </a:r>
            <a:endParaRPr lang="en-US" sz="1100" dirty="0"/>
          </a:p>
        </p:txBody>
      </p:sp>
      <p:sp>
        <p:nvSpPr>
          <p:cNvPr id="23" name="Shape 21"/>
          <p:cNvSpPr/>
          <p:nvPr/>
        </p:nvSpPr>
        <p:spPr>
          <a:xfrm>
            <a:off x="10820400" y="1737360"/>
            <a:ext cx="0" cy="4526280"/>
          </a:xfrm>
          <a:prstGeom prst="line">
            <a:avLst/>
          </a:prstGeom>
          <a:noFill/>
          <a:ln w="9525">
            <a:solidFill>
              <a:srgbClr val="E5ECE8"/>
            </a:solidFill>
            <a:prstDash val="solid"/>
          </a:ln>
        </p:spPr>
      </p:sp>
      <p:sp>
        <p:nvSpPr>
          <p:cNvPr id="24" name="Text 22"/>
          <p:cNvSpPr txBox="1"/>
          <p:nvPr/>
        </p:nvSpPr>
        <p:spPr>
          <a:xfrm>
            <a:off x="548640" y="1783080"/>
            <a:ext cx="3474720" cy="292608"/>
          </a:xfrm>
          <a:prstGeom prst="rect">
            <a:avLst/>
          </a:prstGeom>
          <a:noFill/>
          <a:ln/>
        </p:spPr>
        <p:txBody>
          <a:bodyPr wrap="square" lIns="0" tIns="0" rIns="0" bIns="0" rtlCol="0" anchor="ctr"/>
          <a:lstStyle/>
          <a:p>
            <a:pPr indent="0" marL="0">
              <a:buNone/>
            </a:pPr>
            <a:r>
              <a:rPr lang="en-US" sz="1050" dirty="0">
                <a:solidFill>
                  <a:srgbClr val="1E2A26"/>
                </a:solidFill>
                <a:latin typeface="Calibri" pitchFamily="34" charset="0"/>
                <a:ea typeface="Calibri" pitchFamily="34" charset="-122"/>
                <a:cs typeface="Calibri" pitchFamily="34" charset="-120"/>
              </a:rPr>
              <a:t>DPR, bank and subsidy applications</a:t>
            </a:r>
            <a:endParaRPr lang="en-US" sz="1050" dirty="0"/>
          </a:p>
        </p:txBody>
      </p:sp>
      <p:sp>
        <p:nvSpPr>
          <p:cNvPr id="25" name="Shape 23"/>
          <p:cNvSpPr/>
          <p:nvPr/>
        </p:nvSpPr>
        <p:spPr>
          <a:xfrm>
            <a:off x="4114800" y="1819656"/>
            <a:ext cx="1257300" cy="237744"/>
          </a:xfrm>
          <a:prstGeom prst="roundRect">
            <a:avLst>
              <a:gd name="adj" fmla="val 23077"/>
            </a:avLst>
          </a:prstGeom>
          <a:solidFill>
            <a:srgbClr val="2E5E4E"/>
          </a:solidFill>
          <a:ln w="12700">
            <a:solidFill>
              <a:srgbClr val="2E5E4E"/>
            </a:solidFill>
            <a:prstDash val="solid"/>
          </a:ln>
        </p:spPr>
      </p:sp>
      <p:sp>
        <p:nvSpPr>
          <p:cNvPr id="26" name="Text 24"/>
          <p:cNvSpPr txBox="1"/>
          <p:nvPr/>
        </p:nvSpPr>
        <p:spPr>
          <a:xfrm>
            <a:off x="548640" y="2125980"/>
            <a:ext cx="3474720" cy="292608"/>
          </a:xfrm>
          <a:prstGeom prst="rect">
            <a:avLst/>
          </a:prstGeom>
          <a:noFill/>
          <a:ln/>
        </p:spPr>
        <p:txBody>
          <a:bodyPr wrap="square" lIns="0" tIns="0" rIns="0" bIns="0" rtlCol="0" anchor="ctr"/>
          <a:lstStyle/>
          <a:p>
            <a:pPr indent="0" marL="0">
              <a:buNone/>
            </a:pPr>
            <a:r>
              <a:rPr lang="en-US" sz="1050" dirty="0">
                <a:solidFill>
                  <a:srgbClr val="1E2A26"/>
                </a:solidFill>
                <a:latin typeface="Calibri" pitchFamily="34" charset="0"/>
                <a:ea typeface="Calibri" pitchFamily="34" charset="-122"/>
                <a:cs typeface="Calibri" pitchFamily="34" charset="-120"/>
              </a:rPr>
              <a:t>Order mother culture (ICAR-DMR) + backup</a:t>
            </a:r>
            <a:endParaRPr lang="en-US" sz="1050" dirty="0"/>
          </a:p>
        </p:txBody>
      </p:sp>
      <p:sp>
        <p:nvSpPr>
          <p:cNvPr id="27" name="Shape 25"/>
          <p:cNvSpPr/>
          <p:nvPr/>
        </p:nvSpPr>
        <p:spPr>
          <a:xfrm>
            <a:off x="4114800" y="2162556"/>
            <a:ext cx="1676400" cy="237744"/>
          </a:xfrm>
          <a:prstGeom prst="roundRect">
            <a:avLst>
              <a:gd name="adj" fmla="val 23077"/>
            </a:avLst>
          </a:prstGeom>
          <a:solidFill>
            <a:srgbClr val="8DB596"/>
          </a:solidFill>
          <a:ln w="12700">
            <a:solidFill>
              <a:srgbClr val="8DB596"/>
            </a:solidFill>
            <a:prstDash val="solid"/>
          </a:ln>
        </p:spPr>
      </p:sp>
      <p:sp>
        <p:nvSpPr>
          <p:cNvPr id="28" name="Text 26"/>
          <p:cNvSpPr txBox="1"/>
          <p:nvPr/>
        </p:nvSpPr>
        <p:spPr>
          <a:xfrm>
            <a:off x="548640" y="2468880"/>
            <a:ext cx="3474720" cy="292608"/>
          </a:xfrm>
          <a:prstGeom prst="rect">
            <a:avLst/>
          </a:prstGeom>
          <a:noFill/>
          <a:ln/>
        </p:spPr>
        <p:txBody>
          <a:bodyPr wrap="square" lIns="0" tIns="0" rIns="0" bIns="0" rtlCol="0" anchor="ctr"/>
          <a:lstStyle/>
          <a:p>
            <a:pPr indent="0" marL="0">
              <a:buNone/>
            </a:pPr>
            <a:r>
              <a:rPr lang="en-US" sz="1050" dirty="0">
                <a:solidFill>
                  <a:srgbClr val="1E2A26"/>
                </a:solidFill>
                <a:latin typeface="Calibri" pitchFamily="34" charset="0"/>
                <a:ea typeface="Calibri" pitchFamily="34" charset="-122"/>
                <a:cs typeface="Calibri" pitchFamily="34" charset="-120"/>
              </a:rPr>
              <a:t>Udyam, GST, Horticulture, HPSPCB CTE</a:t>
            </a:r>
            <a:endParaRPr lang="en-US" sz="1050" dirty="0"/>
          </a:p>
        </p:txBody>
      </p:sp>
      <p:sp>
        <p:nvSpPr>
          <p:cNvPr id="29" name="Shape 27"/>
          <p:cNvSpPr/>
          <p:nvPr/>
        </p:nvSpPr>
        <p:spPr>
          <a:xfrm>
            <a:off x="4114800" y="2505456"/>
            <a:ext cx="1257300" cy="237744"/>
          </a:xfrm>
          <a:prstGeom prst="roundRect">
            <a:avLst>
              <a:gd name="adj" fmla="val 23077"/>
            </a:avLst>
          </a:prstGeom>
          <a:solidFill>
            <a:srgbClr val="2E5E4E"/>
          </a:solidFill>
          <a:ln w="12700">
            <a:solidFill>
              <a:srgbClr val="2E5E4E"/>
            </a:solidFill>
            <a:prstDash val="solid"/>
          </a:ln>
        </p:spPr>
      </p:sp>
      <p:sp>
        <p:nvSpPr>
          <p:cNvPr id="30" name="Text 28"/>
          <p:cNvSpPr txBox="1"/>
          <p:nvPr/>
        </p:nvSpPr>
        <p:spPr>
          <a:xfrm>
            <a:off x="548640" y="2811780"/>
            <a:ext cx="3474720" cy="292608"/>
          </a:xfrm>
          <a:prstGeom prst="rect">
            <a:avLst/>
          </a:prstGeom>
          <a:noFill/>
          <a:ln/>
        </p:spPr>
        <p:txBody>
          <a:bodyPr wrap="square" lIns="0" tIns="0" rIns="0" bIns="0" rtlCol="0" anchor="ctr"/>
          <a:lstStyle/>
          <a:p>
            <a:pPr indent="0" marL="0">
              <a:buNone/>
            </a:pPr>
            <a:r>
              <a:rPr lang="en-US" sz="1050" dirty="0">
                <a:solidFill>
                  <a:srgbClr val="1E2A26"/>
                </a:solidFill>
                <a:latin typeface="Calibri" pitchFamily="34" charset="0"/>
                <a:ea typeface="Calibri" pitchFamily="34" charset="-122"/>
                <a:cs typeface="Calibri" pitchFamily="34" charset="-120"/>
              </a:rPr>
              <a:t>In-principle subsidy approval (pre-purchase)</a:t>
            </a:r>
            <a:endParaRPr lang="en-US" sz="1050" dirty="0"/>
          </a:p>
        </p:txBody>
      </p:sp>
      <p:sp>
        <p:nvSpPr>
          <p:cNvPr id="31" name="Shape 29"/>
          <p:cNvSpPr/>
          <p:nvPr/>
        </p:nvSpPr>
        <p:spPr>
          <a:xfrm>
            <a:off x="5372100" y="2848356"/>
            <a:ext cx="419100" cy="237744"/>
          </a:xfrm>
          <a:prstGeom prst="roundRect">
            <a:avLst>
              <a:gd name="adj" fmla="val 23077"/>
            </a:avLst>
          </a:prstGeom>
          <a:solidFill>
            <a:srgbClr val="D9962B"/>
          </a:solidFill>
          <a:ln w="12700">
            <a:solidFill>
              <a:srgbClr val="D9962B"/>
            </a:solidFill>
            <a:prstDash val="solid"/>
          </a:ln>
        </p:spPr>
      </p:sp>
      <p:sp>
        <p:nvSpPr>
          <p:cNvPr id="32" name="Text 30"/>
          <p:cNvSpPr txBox="1"/>
          <p:nvPr/>
        </p:nvSpPr>
        <p:spPr>
          <a:xfrm>
            <a:off x="548640" y="3154680"/>
            <a:ext cx="3474720" cy="292608"/>
          </a:xfrm>
          <a:prstGeom prst="rect">
            <a:avLst/>
          </a:prstGeom>
          <a:noFill/>
          <a:ln/>
        </p:spPr>
        <p:txBody>
          <a:bodyPr wrap="square" lIns="0" tIns="0" rIns="0" bIns="0" rtlCol="0" anchor="ctr"/>
          <a:lstStyle/>
          <a:p>
            <a:pPr indent="0" marL="0">
              <a:buNone/>
            </a:pPr>
            <a:r>
              <a:rPr lang="en-US" sz="1050" dirty="0">
                <a:solidFill>
                  <a:srgbClr val="1E2A26"/>
                </a:solidFill>
                <a:latin typeface="Calibri" pitchFamily="34" charset="0"/>
                <a:ea typeface="Calibri" pitchFamily="34" charset="-122"/>
                <a:cs typeface="Calibri" pitchFamily="34" charset="-120"/>
              </a:rPr>
              <a:t>Civil and clean-room build</a:t>
            </a:r>
            <a:endParaRPr lang="en-US" sz="1050" dirty="0"/>
          </a:p>
        </p:txBody>
      </p:sp>
      <p:sp>
        <p:nvSpPr>
          <p:cNvPr id="33" name="Shape 31"/>
          <p:cNvSpPr/>
          <p:nvPr/>
        </p:nvSpPr>
        <p:spPr>
          <a:xfrm>
            <a:off x="5791200" y="3191256"/>
            <a:ext cx="1676400" cy="237744"/>
          </a:xfrm>
          <a:prstGeom prst="roundRect">
            <a:avLst>
              <a:gd name="adj" fmla="val 23077"/>
            </a:avLst>
          </a:prstGeom>
          <a:solidFill>
            <a:srgbClr val="2E5E4E"/>
          </a:solidFill>
          <a:ln w="12700">
            <a:solidFill>
              <a:srgbClr val="2E5E4E"/>
            </a:solidFill>
            <a:prstDash val="solid"/>
          </a:ln>
        </p:spPr>
      </p:sp>
      <p:sp>
        <p:nvSpPr>
          <p:cNvPr id="34" name="Text 32"/>
          <p:cNvSpPr txBox="1"/>
          <p:nvPr/>
        </p:nvSpPr>
        <p:spPr>
          <a:xfrm>
            <a:off x="548640" y="3497580"/>
            <a:ext cx="3474720" cy="292608"/>
          </a:xfrm>
          <a:prstGeom prst="rect">
            <a:avLst/>
          </a:prstGeom>
          <a:noFill/>
          <a:ln/>
        </p:spPr>
        <p:txBody>
          <a:bodyPr wrap="square" lIns="0" tIns="0" rIns="0" bIns="0" rtlCol="0" anchor="ctr"/>
          <a:lstStyle/>
          <a:p>
            <a:pPr indent="0" marL="0">
              <a:buNone/>
            </a:pPr>
            <a:r>
              <a:rPr lang="en-US" sz="1050" dirty="0">
                <a:solidFill>
                  <a:srgbClr val="1E2A26"/>
                </a:solidFill>
                <a:latin typeface="Calibri" pitchFamily="34" charset="0"/>
                <a:ea typeface="Calibri" pitchFamily="34" charset="-122"/>
                <a:cs typeface="Calibri" pitchFamily="34" charset="-120"/>
              </a:rPr>
              <a:t>Equipment procurement and installation</a:t>
            </a:r>
            <a:endParaRPr lang="en-US" sz="1050" dirty="0"/>
          </a:p>
        </p:txBody>
      </p:sp>
      <p:sp>
        <p:nvSpPr>
          <p:cNvPr id="35" name="Shape 33"/>
          <p:cNvSpPr/>
          <p:nvPr/>
        </p:nvSpPr>
        <p:spPr>
          <a:xfrm>
            <a:off x="6210300" y="3534156"/>
            <a:ext cx="1257300" cy="237744"/>
          </a:xfrm>
          <a:prstGeom prst="roundRect">
            <a:avLst>
              <a:gd name="adj" fmla="val 23077"/>
            </a:avLst>
          </a:prstGeom>
          <a:solidFill>
            <a:srgbClr val="2E5E4E"/>
          </a:solidFill>
          <a:ln w="12700">
            <a:solidFill>
              <a:srgbClr val="2E5E4E"/>
            </a:solidFill>
            <a:prstDash val="solid"/>
          </a:ln>
        </p:spPr>
      </p:sp>
      <p:sp>
        <p:nvSpPr>
          <p:cNvPr id="36" name="Text 34"/>
          <p:cNvSpPr txBox="1"/>
          <p:nvPr/>
        </p:nvSpPr>
        <p:spPr>
          <a:xfrm>
            <a:off x="548640" y="3840480"/>
            <a:ext cx="3474720" cy="292608"/>
          </a:xfrm>
          <a:prstGeom prst="rect">
            <a:avLst/>
          </a:prstGeom>
          <a:noFill/>
          <a:ln/>
        </p:spPr>
        <p:txBody>
          <a:bodyPr wrap="square" lIns="0" tIns="0" rIns="0" bIns="0" rtlCol="0" anchor="ctr"/>
          <a:lstStyle/>
          <a:p>
            <a:pPr indent="0" marL="0">
              <a:buNone/>
            </a:pPr>
            <a:r>
              <a:rPr lang="en-US" sz="1050" dirty="0">
                <a:solidFill>
                  <a:srgbClr val="1E2A26"/>
                </a:solidFill>
                <a:latin typeface="Calibri" pitchFamily="34" charset="0"/>
                <a:ea typeface="Calibri" pitchFamily="34" charset="-122"/>
                <a:cs typeface="Calibri" pitchFamily="34" charset="-120"/>
              </a:rPr>
              <a:t>FSSAI, Fire NOC, HPSPCB CTO</a:t>
            </a:r>
            <a:endParaRPr lang="en-US" sz="1050" dirty="0"/>
          </a:p>
        </p:txBody>
      </p:sp>
      <p:sp>
        <p:nvSpPr>
          <p:cNvPr id="37" name="Shape 35"/>
          <p:cNvSpPr/>
          <p:nvPr/>
        </p:nvSpPr>
        <p:spPr>
          <a:xfrm>
            <a:off x="6629400" y="3877056"/>
            <a:ext cx="1257300" cy="237744"/>
          </a:xfrm>
          <a:prstGeom prst="roundRect">
            <a:avLst>
              <a:gd name="adj" fmla="val 23077"/>
            </a:avLst>
          </a:prstGeom>
          <a:solidFill>
            <a:srgbClr val="8DB596"/>
          </a:solidFill>
          <a:ln w="12700">
            <a:solidFill>
              <a:srgbClr val="8DB596"/>
            </a:solidFill>
            <a:prstDash val="solid"/>
          </a:ln>
        </p:spPr>
      </p:sp>
      <p:sp>
        <p:nvSpPr>
          <p:cNvPr id="38" name="Text 36"/>
          <p:cNvSpPr txBox="1"/>
          <p:nvPr/>
        </p:nvSpPr>
        <p:spPr>
          <a:xfrm>
            <a:off x="548640" y="4183380"/>
            <a:ext cx="3474720" cy="292608"/>
          </a:xfrm>
          <a:prstGeom prst="rect">
            <a:avLst/>
          </a:prstGeom>
          <a:noFill/>
          <a:ln/>
        </p:spPr>
        <p:txBody>
          <a:bodyPr wrap="square" lIns="0" tIns="0" rIns="0" bIns="0" rtlCol="0" anchor="ctr"/>
          <a:lstStyle/>
          <a:p>
            <a:pPr indent="0" marL="0">
              <a:buNone/>
            </a:pPr>
            <a:r>
              <a:rPr lang="en-US" sz="1050" dirty="0">
                <a:solidFill>
                  <a:srgbClr val="1E2A26"/>
                </a:solidFill>
                <a:latin typeface="Calibri" pitchFamily="34" charset="0"/>
                <a:ea typeface="Calibri" pitchFamily="34" charset="-122"/>
                <a:cs typeface="Calibri" pitchFamily="34" charset="-120"/>
              </a:rPr>
              <a:t>Commissioning and validation (BI, HEPA, ΔP)</a:t>
            </a:r>
            <a:endParaRPr lang="en-US" sz="1050" dirty="0"/>
          </a:p>
        </p:txBody>
      </p:sp>
      <p:sp>
        <p:nvSpPr>
          <p:cNvPr id="39" name="Shape 37"/>
          <p:cNvSpPr/>
          <p:nvPr/>
        </p:nvSpPr>
        <p:spPr>
          <a:xfrm>
            <a:off x="7467600" y="4219956"/>
            <a:ext cx="628650" cy="237744"/>
          </a:xfrm>
          <a:prstGeom prst="roundRect">
            <a:avLst>
              <a:gd name="adj" fmla="val 23077"/>
            </a:avLst>
          </a:prstGeom>
          <a:solidFill>
            <a:srgbClr val="D9962B"/>
          </a:solidFill>
          <a:ln w="12700">
            <a:solidFill>
              <a:srgbClr val="D9962B"/>
            </a:solidFill>
            <a:prstDash val="solid"/>
          </a:ln>
        </p:spPr>
      </p:sp>
      <p:sp>
        <p:nvSpPr>
          <p:cNvPr id="40" name="Text 38"/>
          <p:cNvSpPr txBox="1"/>
          <p:nvPr/>
        </p:nvSpPr>
        <p:spPr>
          <a:xfrm>
            <a:off x="548640" y="4526280"/>
            <a:ext cx="3474720" cy="292608"/>
          </a:xfrm>
          <a:prstGeom prst="rect">
            <a:avLst/>
          </a:prstGeom>
          <a:noFill/>
          <a:ln/>
        </p:spPr>
        <p:txBody>
          <a:bodyPr wrap="square" lIns="0" tIns="0" rIns="0" bIns="0" rtlCol="0" anchor="ctr"/>
          <a:lstStyle/>
          <a:p>
            <a:pPr indent="0" marL="0">
              <a:buNone/>
            </a:pPr>
            <a:r>
              <a:rPr lang="en-US" sz="1050" dirty="0">
                <a:solidFill>
                  <a:srgbClr val="1E2A26"/>
                </a:solidFill>
                <a:latin typeface="Calibri" pitchFamily="34" charset="0"/>
                <a:ea typeface="Calibri" pitchFamily="34" charset="-122"/>
                <a:cs typeface="Calibri" pitchFamily="34" charset="-120"/>
              </a:rPr>
              <a:t>Strain trial and pilot blocks</a:t>
            </a:r>
            <a:endParaRPr lang="en-US" sz="1050" dirty="0"/>
          </a:p>
        </p:txBody>
      </p:sp>
      <p:sp>
        <p:nvSpPr>
          <p:cNvPr id="41" name="Shape 39"/>
          <p:cNvSpPr/>
          <p:nvPr/>
        </p:nvSpPr>
        <p:spPr>
          <a:xfrm>
            <a:off x="7467600" y="4562856"/>
            <a:ext cx="1257300" cy="237744"/>
          </a:xfrm>
          <a:prstGeom prst="roundRect">
            <a:avLst>
              <a:gd name="adj" fmla="val 23077"/>
            </a:avLst>
          </a:prstGeom>
          <a:solidFill>
            <a:srgbClr val="8DB596"/>
          </a:solidFill>
          <a:ln w="12700">
            <a:solidFill>
              <a:srgbClr val="8DB596"/>
            </a:solidFill>
            <a:prstDash val="solid"/>
          </a:ln>
        </p:spPr>
      </p:sp>
      <p:sp>
        <p:nvSpPr>
          <p:cNvPr id="42" name="Text 40"/>
          <p:cNvSpPr txBox="1"/>
          <p:nvPr/>
        </p:nvSpPr>
        <p:spPr>
          <a:xfrm>
            <a:off x="548640" y="4869180"/>
            <a:ext cx="3474720" cy="292608"/>
          </a:xfrm>
          <a:prstGeom prst="rect">
            <a:avLst/>
          </a:prstGeom>
          <a:noFill/>
          <a:ln/>
        </p:spPr>
        <p:txBody>
          <a:bodyPr wrap="square" lIns="0" tIns="0" rIns="0" bIns="0" rtlCol="0" anchor="ctr"/>
          <a:lstStyle/>
          <a:p>
            <a:pPr indent="0" marL="0">
              <a:buNone/>
            </a:pPr>
            <a:r>
              <a:rPr lang="en-US" sz="1050" dirty="0">
                <a:solidFill>
                  <a:srgbClr val="1E2A26"/>
                </a:solidFill>
                <a:latin typeface="Calibri" pitchFamily="34" charset="0"/>
                <a:ea typeface="Calibri" pitchFamily="34" charset="-122"/>
                <a:cs typeface="Calibri" pitchFamily="34" charset="-120"/>
              </a:rPr>
              <a:t>Commercial ramp 30 → 60 blocks/day</a:t>
            </a:r>
            <a:endParaRPr lang="en-US" sz="1050" dirty="0"/>
          </a:p>
        </p:txBody>
      </p:sp>
      <p:sp>
        <p:nvSpPr>
          <p:cNvPr id="43" name="Shape 41"/>
          <p:cNvSpPr/>
          <p:nvPr/>
        </p:nvSpPr>
        <p:spPr>
          <a:xfrm>
            <a:off x="8305800" y="4905756"/>
            <a:ext cx="838200" cy="237744"/>
          </a:xfrm>
          <a:prstGeom prst="roundRect">
            <a:avLst>
              <a:gd name="adj" fmla="val 23077"/>
            </a:avLst>
          </a:prstGeom>
          <a:solidFill>
            <a:srgbClr val="2E5E4E"/>
          </a:solidFill>
          <a:ln w="12700">
            <a:solidFill>
              <a:srgbClr val="2E5E4E"/>
            </a:solidFill>
            <a:prstDash val="solid"/>
          </a:ln>
        </p:spPr>
      </p:sp>
      <p:sp>
        <p:nvSpPr>
          <p:cNvPr id="44" name="Text 42"/>
          <p:cNvSpPr txBox="1"/>
          <p:nvPr/>
        </p:nvSpPr>
        <p:spPr>
          <a:xfrm>
            <a:off x="548640" y="5212080"/>
            <a:ext cx="3474720" cy="292608"/>
          </a:xfrm>
          <a:prstGeom prst="rect">
            <a:avLst/>
          </a:prstGeom>
          <a:noFill/>
          <a:ln/>
        </p:spPr>
        <p:txBody>
          <a:bodyPr wrap="square" lIns="0" tIns="0" rIns="0" bIns="0" rtlCol="0" anchor="ctr"/>
          <a:lstStyle/>
          <a:p>
            <a:pPr indent="0" marL="0">
              <a:buNone/>
            </a:pPr>
            <a:r>
              <a:rPr lang="en-US" sz="1050" dirty="0">
                <a:solidFill>
                  <a:srgbClr val="1E2A26"/>
                </a:solidFill>
                <a:latin typeface="Calibri" pitchFamily="34" charset="0"/>
                <a:ea typeface="Calibri" pitchFamily="34" charset="-122"/>
                <a:cs typeface="Calibri" pitchFamily="34" charset="-120"/>
              </a:rPr>
              <a:t>First harvest, drying, NABL CoA</a:t>
            </a:r>
            <a:endParaRPr lang="en-US" sz="1050" dirty="0"/>
          </a:p>
        </p:txBody>
      </p:sp>
      <p:sp>
        <p:nvSpPr>
          <p:cNvPr id="45" name="Shape 43"/>
          <p:cNvSpPr/>
          <p:nvPr/>
        </p:nvSpPr>
        <p:spPr>
          <a:xfrm>
            <a:off x="9144000" y="5248656"/>
            <a:ext cx="838200" cy="237744"/>
          </a:xfrm>
          <a:prstGeom prst="roundRect">
            <a:avLst>
              <a:gd name="adj" fmla="val 23077"/>
            </a:avLst>
          </a:prstGeom>
          <a:solidFill>
            <a:srgbClr val="D9962B"/>
          </a:solidFill>
          <a:ln w="12700">
            <a:solidFill>
              <a:srgbClr val="D9962B"/>
            </a:solidFill>
            <a:prstDash val="solid"/>
          </a:ln>
        </p:spPr>
      </p:sp>
      <p:sp>
        <p:nvSpPr>
          <p:cNvPr id="46" name="Text 44"/>
          <p:cNvSpPr txBox="1"/>
          <p:nvPr/>
        </p:nvSpPr>
        <p:spPr>
          <a:xfrm>
            <a:off x="548640" y="5554980"/>
            <a:ext cx="3474720" cy="292608"/>
          </a:xfrm>
          <a:prstGeom prst="rect">
            <a:avLst/>
          </a:prstGeom>
          <a:noFill/>
          <a:ln/>
        </p:spPr>
        <p:txBody>
          <a:bodyPr wrap="square" lIns="0" tIns="0" rIns="0" bIns="0" rtlCol="0" anchor="ctr"/>
          <a:lstStyle/>
          <a:p>
            <a:pPr indent="0" marL="0">
              <a:buNone/>
            </a:pPr>
            <a:r>
              <a:rPr lang="en-US" sz="1050" dirty="0">
                <a:solidFill>
                  <a:srgbClr val="1E2A26"/>
                </a:solidFill>
                <a:latin typeface="Calibri" pitchFamily="34" charset="0"/>
                <a:ea typeface="Calibri" pitchFamily="34" charset="-122"/>
                <a:cs typeface="Calibri" pitchFamily="34" charset="-120"/>
              </a:rPr>
              <a:t>Buyer sampling → trial POs</a:t>
            </a:r>
            <a:endParaRPr lang="en-US" sz="1050" dirty="0"/>
          </a:p>
        </p:txBody>
      </p:sp>
      <p:sp>
        <p:nvSpPr>
          <p:cNvPr id="47" name="Shape 45"/>
          <p:cNvSpPr/>
          <p:nvPr/>
        </p:nvSpPr>
        <p:spPr>
          <a:xfrm>
            <a:off x="7886700" y="5591556"/>
            <a:ext cx="2514600" cy="237744"/>
          </a:xfrm>
          <a:prstGeom prst="roundRect">
            <a:avLst>
              <a:gd name="adj" fmla="val 23077"/>
            </a:avLst>
          </a:prstGeom>
          <a:solidFill>
            <a:srgbClr val="8DB596"/>
          </a:solidFill>
          <a:ln w="12700">
            <a:solidFill>
              <a:srgbClr val="8DB596"/>
            </a:solidFill>
            <a:prstDash val="solid"/>
          </a:ln>
        </p:spPr>
      </p:sp>
      <p:sp>
        <p:nvSpPr>
          <p:cNvPr id="48" name="Text 46"/>
          <p:cNvSpPr txBox="1"/>
          <p:nvPr/>
        </p:nvSpPr>
        <p:spPr>
          <a:xfrm>
            <a:off x="548640" y="5897880"/>
            <a:ext cx="3474720" cy="292608"/>
          </a:xfrm>
          <a:prstGeom prst="rect">
            <a:avLst/>
          </a:prstGeom>
          <a:noFill/>
          <a:ln/>
        </p:spPr>
        <p:txBody>
          <a:bodyPr wrap="square" lIns="0" tIns="0" rIns="0" bIns="0" rtlCol="0" anchor="ctr"/>
          <a:lstStyle/>
          <a:p>
            <a:pPr indent="0" marL="0">
              <a:buNone/>
            </a:pPr>
            <a:r>
              <a:rPr lang="en-US" sz="1050" dirty="0">
                <a:solidFill>
                  <a:srgbClr val="1E2A26"/>
                </a:solidFill>
                <a:latin typeface="Calibri" pitchFamily="34" charset="0"/>
                <a:ea typeface="Calibri" pitchFamily="34" charset="-122"/>
                <a:cs typeface="Calibri" pitchFamily="34" charset="-120"/>
              </a:rPr>
              <a:t>Steady-state operations</a:t>
            </a:r>
            <a:endParaRPr lang="en-US" sz="1050" dirty="0"/>
          </a:p>
        </p:txBody>
      </p:sp>
      <p:sp>
        <p:nvSpPr>
          <p:cNvPr id="49" name="Shape 47"/>
          <p:cNvSpPr/>
          <p:nvPr/>
        </p:nvSpPr>
        <p:spPr>
          <a:xfrm>
            <a:off x="9982200" y="5934456"/>
            <a:ext cx="1676400" cy="237744"/>
          </a:xfrm>
          <a:prstGeom prst="roundRect">
            <a:avLst>
              <a:gd name="adj" fmla="val 23077"/>
            </a:avLst>
          </a:prstGeom>
          <a:solidFill>
            <a:srgbClr val="14302A"/>
          </a:solidFill>
          <a:ln w="12700">
            <a:solidFill>
              <a:srgbClr val="14302A"/>
            </a:solidFill>
            <a:prstDash val="solid"/>
          </a:ln>
        </p:spPr>
      </p:sp>
      <p:sp>
        <p:nvSpPr>
          <p:cNvPr id="50" name="Shape 48"/>
          <p:cNvSpPr/>
          <p:nvPr/>
        </p:nvSpPr>
        <p:spPr>
          <a:xfrm>
            <a:off x="8997696" y="5221224"/>
            <a:ext cx="292608" cy="292608"/>
          </a:xfrm>
          <a:prstGeom prst="diamond">
            <a:avLst/>
          </a:prstGeom>
          <a:solidFill>
            <a:srgbClr val="FFFFFF"/>
          </a:solidFill>
          <a:ln w="19050">
            <a:solidFill>
              <a:srgbClr val="A36A12"/>
            </a:solidFill>
            <a:prstDash val="solid"/>
          </a:ln>
        </p:spPr>
      </p:sp>
      <p:sp>
        <p:nvSpPr>
          <p:cNvPr id="51" name="Shape 49"/>
          <p:cNvSpPr/>
          <p:nvPr/>
        </p:nvSpPr>
        <p:spPr>
          <a:xfrm>
            <a:off x="9835896" y="5907024"/>
            <a:ext cx="292608" cy="292608"/>
          </a:xfrm>
          <a:prstGeom prst="diamond">
            <a:avLst/>
          </a:prstGeom>
          <a:solidFill>
            <a:srgbClr val="FFFFFF"/>
          </a:solidFill>
          <a:ln w="19050">
            <a:solidFill>
              <a:srgbClr val="A36A12"/>
            </a:solidFill>
            <a:prstDash val="solid"/>
          </a:ln>
        </p:spPr>
      </p:sp>
      <p:sp>
        <p:nvSpPr>
          <p:cNvPr id="52" name="Text 50"/>
          <p:cNvSpPr txBox="1"/>
          <p:nvPr/>
        </p:nvSpPr>
        <p:spPr>
          <a:xfrm>
            <a:off x="4114800" y="6217920"/>
            <a:ext cx="4572000" cy="228600"/>
          </a:xfrm>
          <a:prstGeom prst="rect">
            <a:avLst/>
          </a:prstGeom>
          <a:noFill/>
          <a:ln/>
        </p:spPr>
        <p:txBody>
          <a:bodyPr wrap="square" lIns="0" tIns="0" rIns="0" bIns="0" rtlCol="0" anchor="t"/>
          <a:lstStyle/>
          <a:p>
            <a:pPr indent="0" marL="0">
              <a:buNone/>
            </a:pPr>
            <a:r>
              <a:rPr lang="en-US" sz="1050" b="1" dirty="0">
                <a:solidFill>
                  <a:srgbClr val="A36A12"/>
                </a:solidFill>
                <a:latin typeface="Calibri" pitchFamily="34" charset="0"/>
                <a:ea typeface="Calibri" pitchFamily="34" charset="-122"/>
                <a:cs typeface="Calibri" pitchFamily="34" charset="-120"/>
              </a:rPr>
              <a:t>◆ Milestones: first harvest M7 · steady state M8</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D9962B"/>
                </a:solidFill>
                <a:latin typeface="Calibri" pitchFamily="34" charset="0"/>
                <a:ea typeface="Calibri" pitchFamily="34" charset="-122"/>
                <a:cs typeface="Calibri" pitchFamily="34" charset="-120"/>
              </a:rPr>
              <a:t>14 · RISK</a:t>
            </a:r>
            <a:endParaRPr lang="en-US" sz="11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14302A"/>
                </a:solidFill>
                <a:latin typeface="Cambria" pitchFamily="34" charset="0"/>
                <a:ea typeface="Cambria" pitchFamily="34" charset="-122"/>
                <a:cs typeface="Cambria" pitchFamily="34" charset="-120"/>
              </a:rPr>
              <a:t>Risk register and mitigation</a:t>
            </a:r>
            <a:endParaRPr lang="en-US" sz="30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900" dirty="0">
                <a:solidFill>
                  <a:srgbClr val="5F6F69"/>
                </a:solidFill>
                <a:latin typeface="Calibri" pitchFamily="34" charset="0"/>
                <a:ea typeface="Calibri" pitchFamily="34" charset="-122"/>
                <a:cs typeface="Calibri" pitchFamily="34" charset="-120"/>
              </a:rPr>
              <a:t>Lion's Mane Facility  ·  Hamirpur, HP  ·  Project Plan</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900" dirty="0">
                <a:solidFill>
                  <a:srgbClr val="5F6F69"/>
                </a:solidFill>
                <a:latin typeface="Calibri" pitchFamily="34" charset="0"/>
                <a:ea typeface="Calibri" pitchFamily="34" charset="-122"/>
                <a:cs typeface="Calibri" pitchFamily="34" charset="-120"/>
              </a:rPr>
              <a:t>32</a:t>
            </a:r>
            <a:endParaRPr lang="en-US" sz="9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109960" cy="914400"/>
        </p:xfrm>
        <a:graphic>
          <a:graphicData uri="http://schemas.openxmlformats.org/drawingml/2006/table">
            <a:tbl>
              <a:tblPr/>
              <a:tblGrid>
                <a:gridCol w="3108960"/>
                <a:gridCol w="457200"/>
                <a:gridCol w="457200"/>
                <a:gridCol w="7086600"/>
              </a:tblGrid>
              <a:tr h="38404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Risk</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L</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I</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Mitigation</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2E5E4E"/>
                    </a:solidFill>
                  </a:tcPr>
                </a:tc>
              </a:tr>
              <a:tr h="384048">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Trichoderma (green mould) in blocks</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2A26"/>
                          </a:solidFill>
                          <a:latin typeface="Calibri" pitchFamily="34" charset="0"/>
                          <a:ea typeface="Calibri" pitchFamily="34" charset="-122"/>
                          <a:cs typeface="Calibri" pitchFamily="34" charset="-120"/>
                        </a:rPr>
                        <a:t>M</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BEBC8"/>
                    </a:solidFill>
                  </a:tcPr>
                </a:tc>
                <a:tc>
                  <a:txBody>
                    <a:bodyPr/>
                    <a:lstStyle/>
                    <a:p>
                      <a:pPr algn="ctr" indent="0" marL="0">
                        <a:buNone/>
                      </a:pPr>
                      <a:r>
                        <a:rPr lang="en-US" sz="1050" b="1" dirty="0">
                          <a:solidFill>
                            <a:srgbClr val="1E2A26"/>
                          </a:solidFill>
                          <a:latin typeface="Calibri" pitchFamily="34" charset="0"/>
                          <a:ea typeface="Calibri" pitchFamily="34" charset="-122"/>
                          <a:cs typeface="Calibri" pitchFamily="34" charset="-120"/>
                        </a:rPr>
                        <a:t>H</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4D9D3"/>
                    </a:solidFill>
                  </a:tcPr>
                </a:tc>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Validated sterilization, HEPA, unidirectional flow; remove infected bags unopened via back door</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Bacillus / wet spot in grain spawn</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algn="ctr" indent="0" marL="0">
                        <a:buNone/>
                      </a:pPr>
                      <a:r>
                        <a:rPr lang="en-US" sz="1050" b="1" dirty="0">
                          <a:solidFill>
                            <a:srgbClr val="1E2A26"/>
                          </a:solidFill>
                          <a:latin typeface="Calibri" pitchFamily="34" charset="0"/>
                          <a:ea typeface="Calibri" pitchFamily="34" charset="-122"/>
                          <a:cs typeface="Calibri" pitchFamily="34" charset="-120"/>
                        </a:rPr>
                        <a:t>M</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BEBC8"/>
                    </a:solidFill>
                  </a:tcPr>
                </a:tc>
                <a:tc>
                  <a:txBody>
                    <a:bodyPr/>
                    <a:lstStyle/>
                    <a:p>
                      <a:pPr algn="ctr" indent="0" marL="0">
                        <a:buNone/>
                      </a:pPr>
                      <a:r>
                        <a:rPr lang="en-US" sz="1050" b="1" dirty="0">
                          <a:solidFill>
                            <a:srgbClr val="1E2A26"/>
                          </a:solidFill>
                          <a:latin typeface="Calibri" pitchFamily="34" charset="0"/>
                          <a:ea typeface="Calibri" pitchFamily="34" charset="-122"/>
                          <a:cs typeface="Calibri" pitchFamily="34" charset="-120"/>
                        </a:rPr>
                        <a:t>M</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BEBC8"/>
                    </a:solidFill>
                  </a:tcPr>
                </a:tc>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12–16 h soak, full surface drying, 120 min cycles, LC streak test</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r>
              <a:tr h="384048">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Power outages (monsoon)</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2A26"/>
                          </a:solidFill>
                          <a:latin typeface="Calibri" pitchFamily="34" charset="0"/>
                          <a:ea typeface="Calibri" pitchFamily="34" charset="-122"/>
                          <a:cs typeface="Calibri" pitchFamily="34" charset="-120"/>
                        </a:rPr>
                        <a:t>H</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4D9D3"/>
                    </a:solidFill>
                  </a:tcPr>
                </a:tc>
                <a:tc>
                  <a:txBody>
                    <a:bodyPr/>
                    <a:lstStyle/>
                    <a:p>
                      <a:pPr algn="ctr" indent="0" marL="0">
                        <a:buNone/>
                      </a:pPr>
                      <a:r>
                        <a:rPr lang="en-US" sz="1050" b="1" dirty="0">
                          <a:solidFill>
                            <a:srgbClr val="1E2A26"/>
                          </a:solidFill>
                          <a:latin typeface="Calibri" pitchFamily="34" charset="0"/>
                          <a:ea typeface="Calibri" pitchFamily="34" charset="-122"/>
                          <a:cs typeface="Calibri" pitchFamily="34" charset="-120"/>
                        </a:rPr>
                        <a:t>H</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4D9D3"/>
                    </a:solidFill>
                  </a:tcPr>
                </a:tc>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20 kVA DG for HVAC, FAE, LAF; interrupted autoclave cycles fully re-run</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Summer heat + thermogenesis</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algn="ctr" indent="0" marL="0">
                        <a:buNone/>
                      </a:pPr>
                      <a:r>
                        <a:rPr lang="en-US" sz="1050" b="1" dirty="0">
                          <a:solidFill>
                            <a:srgbClr val="1E2A26"/>
                          </a:solidFill>
                          <a:latin typeface="Calibri" pitchFamily="34" charset="0"/>
                          <a:ea typeface="Calibri" pitchFamily="34" charset="-122"/>
                          <a:cs typeface="Calibri" pitchFamily="34" charset="-120"/>
                        </a:rPr>
                        <a:t>H</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4D9D3"/>
                    </a:solidFill>
                  </a:tcPr>
                </a:tc>
                <a:tc>
                  <a:txBody>
                    <a:bodyPr/>
                    <a:lstStyle/>
                    <a:p>
                      <a:pPr algn="ctr" indent="0" marL="0">
                        <a:buNone/>
                      </a:pPr>
                      <a:r>
                        <a:rPr lang="en-US" sz="1050" b="1" dirty="0">
                          <a:solidFill>
                            <a:srgbClr val="1E2A26"/>
                          </a:solidFill>
                          <a:latin typeface="Calibri" pitchFamily="34" charset="0"/>
                          <a:ea typeface="Calibri" pitchFamily="34" charset="-122"/>
                          <a:cs typeface="Calibri" pitchFamily="34" charset="-120"/>
                        </a:rPr>
                        <a:t>M</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BEBC8"/>
                    </a:solidFill>
                  </a:tcPr>
                </a:tc>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PUF insulation, sized copper-coil ACs, daily core-temp checks</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r>
              <a:tr h="384048">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Poor fruit quality (coral, yellowing)</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2A26"/>
                          </a:solidFill>
                          <a:latin typeface="Calibri" pitchFamily="34" charset="0"/>
                          <a:ea typeface="Calibri" pitchFamily="34" charset="-122"/>
                          <a:cs typeface="Calibri" pitchFamily="34" charset="-120"/>
                        </a:rPr>
                        <a:t>M</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BEBC8"/>
                    </a:solidFill>
                  </a:tcPr>
                </a:tc>
                <a:tc>
                  <a:txBody>
                    <a:bodyPr/>
                    <a:lstStyle/>
                    <a:p>
                      <a:pPr algn="ctr" indent="0" marL="0">
                        <a:buNone/>
                      </a:pPr>
                      <a:r>
                        <a:rPr lang="en-US" sz="1050" b="1" dirty="0">
                          <a:solidFill>
                            <a:srgbClr val="1E2A26"/>
                          </a:solidFill>
                          <a:latin typeface="Calibri" pitchFamily="34" charset="0"/>
                          <a:ea typeface="Calibri" pitchFamily="34" charset="-122"/>
                          <a:cs typeface="Calibri" pitchFamily="34" charset="-120"/>
                        </a:rPr>
                        <a:t>M</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BEBC8"/>
                    </a:solidFill>
                  </a:tcPr>
                </a:tc>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CO₂ &lt;800 ppm, fog not droplets, harvest at 0.5–1 cm spines</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Sciarid / phorid flies</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algn="ctr" indent="0" marL="0">
                        <a:buNone/>
                      </a:pPr>
                      <a:r>
                        <a:rPr lang="en-US" sz="1050" b="1" dirty="0">
                          <a:solidFill>
                            <a:srgbClr val="1E2A26"/>
                          </a:solidFill>
                          <a:latin typeface="Calibri" pitchFamily="34" charset="0"/>
                          <a:ea typeface="Calibri" pitchFamily="34" charset="-122"/>
                          <a:cs typeface="Calibri" pitchFamily="34" charset="-120"/>
                        </a:rPr>
                        <a:t>M</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BEBC8"/>
                    </a:solidFill>
                  </a:tcPr>
                </a:tc>
                <a:tc>
                  <a:txBody>
                    <a:bodyPr/>
                    <a:lstStyle/>
                    <a:p>
                      <a:pPr algn="ctr" indent="0" marL="0">
                        <a:buNone/>
                      </a:pPr>
                      <a:r>
                        <a:rPr lang="en-US" sz="1050" b="1" dirty="0">
                          <a:solidFill>
                            <a:srgbClr val="1E2A26"/>
                          </a:solidFill>
                          <a:latin typeface="Calibri" pitchFamily="34" charset="0"/>
                          <a:ea typeface="Calibri" pitchFamily="34" charset="-122"/>
                          <a:cs typeface="Calibri" pitchFamily="34" charset="-120"/>
                        </a:rPr>
                        <a:t>M</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BEBC8"/>
                    </a:solidFill>
                  </a:tcPr>
                </a:tc>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40-mesh screens, sticky traps, A/B all-in all-out; no pesticides</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r>
              <a:tr h="384048">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Strain senescence</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2A26"/>
                          </a:solidFill>
                          <a:latin typeface="Calibri" pitchFamily="34" charset="0"/>
                          <a:ea typeface="Calibri" pitchFamily="34" charset="-122"/>
                          <a:cs typeface="Calibri" pitchFamily="34" charset="-120"/>
                        </a:rPr>
                        <a:t>L</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DDEEDF"/>
                    </a:solidFill>
                  </a:tcPr>
                </a:tc>
                <a:tc>
                  <a:txBody>
                    <a:bodyPr/>
                    <a:lstStyle/>
                    <a:p>
                      <a:pPr algn="ctr" indent="0" marL="0">
                        <a:buNone/>
                      </a:pPr>
                      <a:r>
                        <a:rPr lang="en-US" sz="1050" b="1" dirty="0">
                          <a:solidFill>
                            <a:srgbClr val="1E2A26"/>
                          </a:solidFill>
                          <a:latin typeface="Calibri" pitchFamily="34" charset="0"/>
                          <a:ea typeface="Calibri" pitchFamily="34" charset="-122"/>
                          <a:cs typeface="Calibri" pitchFamily="34" charset="-120"/>
                        </a:rPr>
                        <a:t>H</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4D9D3"/>
                    </a:solidFill>
                  </a:tcPr>
                </a:tc>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G2 cap, culture bank with off-site backup, annual re-validation</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Powder clumping in monsoon</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algn="ctr" indent="0" marL="0">
                        <a:buNone/>
                      </a:pPr>
                      <a:r>
                        <a:rPr lang="en-US" sz="1050" b="1" dirty="0">
                          <a:solidFill>
                            <a:srgbClr val="1E2A26"/>
                          </a:solidFill>
                          <a:latin typeface="Calibri" pitchFamily="34" charset="0"/>
                          <a:ea typeface="Calibri" pitchFamily="34" charset="-122"/>
                          <a:cs typeface="Calibri" pitchFamily="34" charset="-120"/>
                        </a:rPr>
                        <a:t>H</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4D9D3"/>
                    </a:solidFill>
                  </a:tcPr>
                </a:tc>
                <a:tc>
                  <a:txBody>
                    <a:bodyPr/>
                    <a:lstStyle/>
                    <a:p>
                      <a:pPr algn="ctr" indent="0" marL="0">
                        <a:buNone/>
                      </a:pPr>
                      <a:r>
                        <a:rPr lang="en-US" sz="1050" b="1" dirty="0">
                          <a:solidFill>
                            <a:srgbClr val="1E2A26"/>
                          </a:solidFill>
                          <a:latin typeface="Calibri" pitchFamily="34" charset="0"/>
                          <a:ea typeface="Calibri" pitchFamily="34" charset="-122"/>
                          <a:cs typeface="Calibri" pitchFamily="34" charset="-120"/>
                        </a:rPr>
                        <a:t>M</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BEBC8"/>
                    </a:solidFill>
                  </a:tcPr>
                </a:tc>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Pack room &lt;40% RH, foil + desiccant, aw ≤0.60 release test</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r>
              <a:tr h="384048">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Autoclave breakdown (single point)</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2A26"/>
                          </a:solidFill>
                          <a:latin typeface="Calibri" pitchFamily="34" charset="0"/>
                          <a:ea typeface="Calibri" pitchFamily="34" charset="-122"/>
                          <a:cs typeface="Calibri" pitchFamily="34" charset="-120"/>
                        </a:rPr>
                        <a:t>M</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BEBC8"/>
                    </a:solidFill>
                  </a:tcPr>
                </a:tc>
                <a:tc>
                  <a:txBody>
                    <a:bodyPr/>
                    <a:lstStyle/>
                    <a:p>
                      <a:pPr algn="ctr" indent="0" marL="0">
                        <a:buNone/>
                      </a:pPr>
                      <a:r>
                        <a:rPr lang="en-US" sz="1050" b="1" dirty="0">
                          <a:solidFill>
                            <a:srgbClr val="1E2A26"/>
                          </a:solidFill>
                          <a:latin typeface="Calibri" pitchFamily="34" charset="0"/>
                          <a:ea typeface="Calibri" pitchFamily="34" charset="-122"/>
                          <a:cs typeface="Calibri" pitchFamily="34" charset="-120"/>
                        </a:rPr>
                        <a:t>H</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4D9D3"/>
                    </a:solidFill>
                  </a:tcPr>
                </a:tc>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AMC and spares kit; second autoclave in Phase 2</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B2B payment delays / demand dip</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c>
                  <a:txBody>
                    <a:bodyPr/>
                    <a:lstStyle/>
                    <a:p>
                      <a:pPr algn="ctr" indent="0" marL="0">
                        <a:buNone/>
                      </a:pPr>
                      <a:r>
                        <a:rPr lang="en-US" sz="1050" b="1" dirty="0">
                          <a:solidFill>
                            <a:srgbClr val="1E2A26"/>
                          </a:solidFill>
                          <a:latin typeface="Calibri" pitchFamily="34" charset="0"/>
                          <a:ea typeface="Calibri" pitchFamily="34" charset="-122"/>
                          <a:cs typeface="Calibri" pitchFamily="34" charset="-120"/>
                        </a:rPr>
                        <a:t>M</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BEBC8"/>
                    </a:solidFill>
                  </a:tcPr>
                </a:tc>
                <a:tc>
                  <a:txBody>
                    <a:bodyPr/>
                    <a:lstStyle/>
                    <a:p>
                      <a:pPr algn="ctr" indent="0" marL="0">
                        <a:buNone/>
                      </a:pPr>
                      <a:r>
                        <a:rPr lang="en-US" sz="1050" b="1" dirty="0">
                          <a:solidFill>
                            <a:srgbClr val="1E2A26"/>
                          </a:solidFill>
                          <a:latin typeface="Calibri" pitchFamily="34" charset="0"/>
                          <a:ea typeface="Calibri" pitchFamily="34" charset="-122"/>
                          <a:cs typeface="Calibri" pitchFamily="34" charset="-120"/>
                        </a:rPr>
                        <a:t>H</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4D9D3"/>
                    </a:solidFill>
                  </a:tcPr>
                </a:tc>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₹4 L WC buffer, 12–24 mo shelf life, B2C and fresh channels, oyster/shiitake pivot</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6F9F7"/>
                    </a:solidFill>
                  </a:tcPr>
                </a:tc>
              </a:tr>
              <a:tr h="384048">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Regulatory or claims non-compliance</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2A26"/>
                          </a:solidFill>
                          <a:latin typeface="Calibri" pitchFamily="34" charset="0"/>
                          <a:ea typeface="Calibri" pitchFamily="34" charset="-122"/>
                          <a:cs typeface="Calibri" pitchFamily="34" charset="-120"/>
                        </a:rPr>
                        <a:t>L</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DDEEDF"/>
                    </a:solidFill>
                  </a:tcPr>
                </a:tc>
                <a:tc>
                  <a:txBody>
                    <a:bodyPr/>
                    <a:lstStyle/>
                    <a:p>
                      <a:pPr algn="ctr" indent="0" marL="0">
                        <a:buNone/>
                      </a:pPr>
                      <a:r>
                        <a:rPr lang="en-US" sz="1050" b="1" dirty="0">
                          <a:solidFill>
                            <a:srgbClr val="1E2A26"/>
                          </a:solidFill>
                          <a:latin typeface="Calibri" pitchFamily="34" charset="0"/>
                          <a:ea typeface="Calibri" pitchFamily="34" charset="-122"/>
                          <a:cs typeface="Calibri" pitchFamily="34" charset="-120"/>
                        </a:rPr>
                        <a:t>H</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4D9D3"/>
                    </a:solidFill>
                  </a:tcPr>
                </a:tc>
                <a:tc>
                  <a:txBody>
                    <a:bodyPr/>
                    <a:lstStyle/>
                    <a:p>
                      <a:pPr indent="0" marL="0">
                        <a:buNone/>
                      </a:pPr>
                      <a:r>
                        <a:rPr lang="en-US" sz="1050" dirty="0">
                          <a:solidFill>
                            <a:srgbClr val="1E2A26"/>
                          </a:solidFill>
                          <a:latin typeface="Calibri" pitchFamily="34" charset="0"/>
                          <a:ea typeface="Calibri" pitchFamily="34" charset="-122"/>
                          <a:cs typeface="Calibri" pitchFamily="34" charset="-120"/>
                        </a:rPr>
                        <a:t>Pre-cleared labels, CoA per lot, regulatory consultant</a:t>
                      </a:r>
                      <a:endParaRPr lang="en-US" sz="1050" dirty="0">
                        <a:latin typeface="Calibri" charset="0"/>
                        <a:ea typeface="Calibri" charset="0"/>
                        <a:cs typeface="Calibri" charset="0"/>
                      </a:endParaRPr>
                    </a:p>
                  </a:txBody>
                  <a:tcPr marL="63500" marR="63500" marT="38100" marB="38100" anchor="ctr">
                    <a:lnL w="6350" cap="flat" cmpd="sng" algn="ctr">
                      <a:solidFill>
                        <a:srgbClr val="D3DED8"/>
                      </a:solidFill>
                      <a:prstDash val="solid"/>
                      <a:round/>
                      <a:headEnd type="none" w="med" len="med"/>
                      <a:tailEnd type="none" w="med" len="med"/>
                    </a:lnL>
                    <a:lnR w="6350" cap="flat" cmpd="sng" algn="ctr">
                      <a:solidFill>
                        <a:srgbClr val="D3DED8"/>
                      </a:solidFill>
                      <a:prstDash val="solid"/>
                      <a:round/>
                      <a:headEnd type="none" w="med" len="med"/>
                      <a:tailEnd type="none" w="med" len="med"/>
                    </a:lnR>
                    <a:lnT w="6350" cap="flat" cmpd="sng" algn="ctr">
                      <a:solidFill>
                        <a:srgbClr val="D3DED8"/>
                      </a:solidFill>
                      <a:prstDash val="solid"/>
                      <a:round/>
                      <a:headEnd type="none" w="med" len="med"/>
                      <a:tailEnd type="none" w="med" len="med"/>
                    </a:lnT>
                    <a:lnB w="6350" cap="flat" cmpd="sng" algn="ctr">
                      <a:solidFill>
                        <a:srgbClr val="D3DED8"/>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48640" y="6126480"/>
            <a:ext cx="7315200" cy="274320"/>
          </a:xfrm>
          <a:prstGeom prst="rect">
            <a:avLst/>
          </a:prstGeom>
          <a:noFill/>
          <a:ln/>
        </p:spPr>
        <p:txBody>
          <a:bodyPr wrap="square" lIns="0" tIns="0" rIns="0" bIns="0" rtlCol="0" anchor="t"/>
          <a:lstStyle/>
          <a:p>
            <a:pPr indent="0" marL="0">
              <a:buNone/>
            </a:pPr>
            <a:r>
              <a:rPr lang="en-US" sz="1000" i="1" dirty="0">
                <a:solidFill>
                  <a:srgbClr val="5F6F69"/>
                </a:solidFill>
                <a:latin typeface="Calibri" pitchFamily="34" charset="0"/>
                <a:ea typeface="Calibri" pitchFamily="34" charset="-122"/>
                <a:cs typeface="Calibri" pitchFamily="34" charset="-120"/>
              </a:rPr>
              <a:t>L = likelihood, I = impact  ·  H high · M medium · L low</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D9962B"/>
                </a:solidFill>
                <a:latin typeface="Calibri" pitchFamily="34" charset="0"/>
                <a:ea typeface="Calibri" pitchFamily="34" charset="-122"/>
                <a:cs typeface="Calibri" pitchFamily="34" charset="-120"/>
              </a:rPr>
              <a:t>14 · GOVERNANCE</a:t>
            </a:r>
            <a:endParaRPr lang="en-US" sz="11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14302A"/>
                </a:solidFill>
                <a:latin typeface="Cambria" pitchFamily="34" charset="0"/>
                <a:ea typeface="Cambria" pitchFamily="34" charset="-122"/>
                <a:cs typeface="Cambria" pitchFamily="34" charset="-120"/>
              </a:rPr>
              <a:t>KPIs we will report monthly</a:t>
            </a:r>
            <a:endParaRPr lang="en-US" sz="30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900" dirty="0">
                <a:solidFill>
                  <a:srgbClr val="5F6F69"/>
                </a:solidFill>
                <a:latin typeface="Calibri" pitchFamily="34" charset="0"/>
                <a:ea typeface="Calibri" pitchFamily="34" charset="-122"/>
                <a:cs typeface="Calibri" pitchFamily="34" charset="-120"/>
              </a:rPr>
              <a:t>Lion's Mane Facility  ·  Hamirpur, HP  ·  Project Plan</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900" dirty="0">
                <a:solidFill>
                  <a:srgbClr val="5F6F69"/>
                </a:solidFill>
                <a:latin typeface="Calibri" pitchFamily="34" charset="0"/>
                <a:ea typeface="Calibri" pitchFamily="34" charset="-122"/>
                <a:cs typeface="Calibri" pitchFamily="34" charset="-120"/>
              </a:rPr>
              <a:t>33</a:t>
            </a:r>
            <a:endParaRPr lang="en-US" sz="900" dirty="0"/>
          </a:p>
        </p:txBody>
      </p:sp>
      <p:sp>
        <p:nvSpPr>
          <p:cNvPr id="6" name="Shape 4"/>
          <p:cNvSpPr/>
          <p:nvPr/>
        </p:nvSpPr>
        <p:spPr>
          <a:xfrm>
            <a:off x="548640" y="1508760"/>
            <a:ext cx="2606040" cy="1645920"/>
          </a:xfrm>
          <a:prstGeom prst="roundRect">
            <a:avLst>
              <a:gd name="adj" fmla="val 4444"/>
            </a:avLst>
          </a:prstGeom>
          <a:solidFill>
            <a:srgbClr val="EEF4F0"/>
          </a:solidFill>
          <a:ln w="9525">
            <a:solidFill>
              <a:srgbClr val="EEF4F0"/>
            </a:solidFill>
            <a:prstDash val="solid"/>
          </a:ln>
        </p:spPr>
      </p:sp>
      <p:sp>
        <p:nvSpPr>
          <p:cNvPr id="7" name="Text 5"/>
          <p:cNvSpPr txBox="1"/>
          <p:nvPr/>
        </p:nvSpPr>
        <p:spPr>
          <a:xfrm>
            <a:off x="731520" y="1691640"/>
            <a:ext cx="2240280" cy="731520"/>
          </a:xfrm>
          <a:prstGeom prst="rect">
            <a:avLst/>
          </a:prstGeom>
          <a:noFill/>
          <a:ln/>
        </p:spPr>
        <p:txBody>
          <a:bodyPr wrap="square" lIns="0" tIns="0" rIns="0" bIns="0" rtlCol="0" anchor="ctr"/>
          <a:lstStyle/>
          <a:p>
            <a:pPr indent="0" marL="0">
              <a:buNone/>
            </a:pPr>
            <a:r>
              <a:rPr lang="en-US" sz="3000" b="1" dirty="0">
                <a:solidFill>
                  <a:srgbClr val="2E5E4E"/>
                </a:solidFill>
                <a:latin typeface="Cambria" pitchFamily="34" charset="0"/>
                <a:ea typeface="Cambria" pitchFamily="34" charset="-122"/>
                <a:cs typeface="Cambria" pitchFamily="34" charset="-120"/>
              </a:rPr>
              <a:t>&lt;5%</a:t>
            </a:r>
            <a:endParaRPr lang="en-US" sz="3000" dirty="0"/>
          </a:p>
        </p:txBody>
      </p:sp>
      <p:sp>
        <p:nvSpPr>
          <p:cNvPr id="8" name="Text 6"/>
          <p:cNvSpPr txBox="1"/>
          <p:nvPr/>
        </p:nvSpPr>
        <p:spPr>
          <a:xfrm>
            <a:off x="731520" y="2468880"/>
            <a:ext cx="2240280" cy="548640"/>
          </a:xfrm>
          <a:prstGeom prst="rect">
            <a:avLst/>
          </a:prstGeom>
          <a:noFill/>
          <a:ln/>
        </p:spPr>
        <p:txBody>
          <a:bodyPr wrap="square" lIns="0" tIns="0" rIns="0" bIns="0" rtlCol="0" anchor="t"/>
          <a:lstStyle/>
          <a:p>
            <a:pPr indent="0" marL="0">
              <a:buNone/>
            </a:pPr>
            <a:r>
              <a:rPr lang="en-US" sz="1200" dirty="0">
                <a:solidFill>
                  <a:srgbClr val="5F6F69"/>
                </a:solidFill>
                <a:latin typeface="Calibri" pitchFamily="34" charset="0"/>
                <a:ea typeface="Calibri" pitchFamily="34" charset="-122"/>
                <a:cs typeface="Calibri" pitchFamily="34" charset="-120"/>
              </a:rPr>
              <a:t>block contamination rate</a:t>
            </a:r>
            <a:endParaRPr lang="en-US" sz="1200" dirty="0"/>
          </a:p>
        </p:txBody>
      </p:sp>
      <p:sp>
        <p:nvSpPr>
          <p:cNvPr id="9" name="Shape 7"/>
          <p:cNvSpPr/>
          <p:nvPr/>
        </p:nvSpPr>
        <p:spPr>
          <a:xfrm>
            <a:off x="3355848" y="1508760"/>
            <a:ext cx="2606040" cy="1645920"/>
          </a:xfrm>
          <a:prstGeom prst="roundRect">
            <a:avLst>
              <a:gd name="adj" fmla="val 4444"/>
            </a:avLst>
          </a:prstGeom>
          <a:solidFill>
            <a:srgbClr val="EEF4F0"/>
          </a:solidFill>
          <a:ln w="9525">
            <a:solidFill>
              <a:srgbClr val="EEF4F0"/>
            </a:solidFill>
            <a:prstDash val="solid"/>
          </a:ln>
        </p:spPr>
      </p:sp>
      <p:sp>
        <p:nvSpPr>
          <p:cNvPr id="10" name="Text 8"/>
          <p:cNvSpPr txBox="1"/>
          <p:nvPr/>
        </p:nvSpPr>
        <p:spPr>
          <a:xfrm>
            <a:off x="3538728" y="1691640"/>
            <a:ext cx="2240280" cy="731520"/>
          </a:xfrm>
          <a:prstGeom prst="rect">
            <a:avLst/>
          </a:prstGeom>
          <a:noFill/>
          <a:ln/>
        </p:spPr>
        <p:txBody>
          <a:bodyPr wrap="square" lIns="0" tIns="0" rIns="0" bIns="0" rtlCol="0" anchor="ctr"/>
          <a:lstStyle/>
          <a:p>
            <a:pPr indent="0" marL="0">
              <a:buNone/>
            </a:pPr>
            <a:r>
              <a:rPr lang="en-US" sz="3000" b="1" dirty="0">
                <a:solidFill>
                  <a:srgbClr val="2E5E4E"/>
                </a:solidFill>
                <a:latin typeface="Cambria" pitchFamily="34" charset="0"/>
                <a:ea typeface="Cambria" pitchFamily="34" charset="-122"/>
                <a:cs typeface="Cambria" pitchFamily="34" charset="-120"/>
              </a:rPr>
              <a:t>&lt;2%</a:t>
            </a:r>
            <a:endParaRPr lang="en-US" sz="3000" dirty="0"/>
          </a:p>
        </p:txBody>
      </p:sp>
      <p:sp>
        <p:nvSpPr>
          <p:cNvPr id="11" name="Text 9"/>
          <p:cNvSpPr txBox="1"/>
          <p:nvPr/>
        </p:nvSpPr>
        <p:spPr>
          <a:xfrm>
            <a:off x="3538728" y="2468880"/>
            <a:ext cx="2240280" cy="548640"/>
          </a:xfrm>
          <a:prstGeom prst="rect">
            <a:avLst/>
          </a:prstGeom>
          <a:noFill/>
          <a:ln/>
        </p:spPr>
        <p:txBody>
          <a:bodyPr wrap="square" lIns="0" tIns="0" rIns="0" bIns="0" rtlCol="0" anchor="t"/>
          <a:lstStyle/>
          <a:p>
            <a:pPr indent="0" marL="0">
              <a:buNone/>
            </a:pPr>
            <a:r>
              <a:rPr lang="en-US" sz="1200" dirty="0">
                <a:solidFill>
                  <a:srgbClr val="5F6F69"/>
                </a:solidFill>
                <a:latin typeface="Calibri" pitchFamily="34" charset="0"/>
                <a:ea typeface="Calibri" pitchFamily="34" charset="-122"/>
                <a:cs typeface="Calibri" pitchFamily="34" charset="-120"/>
              </a:rPr>
              <a:t>spawn contamination rate</a:t>
            </a:r>
            <a:endParaRPr lang="en-US" sz="1200" dirty="0"/>
          </a:p>
        </p:txBody>
      </p:sp>
      <p:sp>
        <p:nvSpPr>
          <p:cNvPr id="12" name="Shape 10"/>
          <p:cNvSpPr/>
          <p:nvPr/>
        </p:nvSpPr>
        <p:spPr>
          <a:xfrm>
            <a:off x="6163056" y="1508760"/>
            <a:ext cx="2606040" cy="1645920"/>
          </a:xfrm>
          <a:prstGeom prst="roundRect">
            <a:avLst>
              <a:gd name="adj" fmla="val 4444"/>
            </a:avLst>
          </a:prstGeom>
          <a:solidFill>
            <a:srgbClr val="14302A"/>
          </a:solidFill>
          <a:ln w="9525">
            <a:solidFill>
              <a:srgbClr val="14302A"/>
            </a:solidFill>
            <a:prstDash val="solid"/>
          </a:ln>
        </p:spPr>
      </p:sp>
      <p:sp>
        <p:nvSpPr>
          <p:cNvPr id="13" name="Text 11"/>
          <p:cNvSpPr txBox="1"/>
          <p:nvPr/>
        </p:nvSpPr>
        <p:spPr>
          <a:xfrm>
            <a:off x="6345936" y="1691640"/>
            <a:ext cx="2240280" cy="731520"/>
          </a:xfrm>
          <a:prstGeom prst="rect">
            <a:avLst/>
          </a:prstGeom>
          <a:noFill/>
          <a:ln/>
        </p:spPr>
        <p:txBody>
          <a:bodyPr wrap="square" lIns="0" tIns="0" rIns="0" bIns="0" rtlCol="0" anchor="ctr"/>
          <a:lstStyle/>
          <a:p>
            <a:pPr indent="0" marL="0">
              <a:buNone/>
            </a:pPr>
            <a:r>
              <a:rPr lang="en-US" sz="3000" b="1" dirty="0">
                <a:solidFill>
                  <a:srgbClr val="D9962B"/>
                </a:solidFill>
                <a:latin typeface="Cambria" pitchFamily="34" charset="0"/>
                <a:ea typeface="Cambria" pitchFamily="34" charset="-122"/>
                <a:cs typeface="Cambria" pitchFamily="34" charset="-120"/>
              </a:rPr>
              <a:t>≥65%</a:t>
            </a:r>
            <a:endParaRPr lang="en-US" sz="3000" dirty="0"/>
          </a:p>
        </p:txBody>
      </p:sp>
      <p:sp>
        <p:nvSpPr>
          <p:cNvPr id="14" name="Text 12"/>
          <p:cNvSpPr txBox="1"/>
          <p:nvPr/>
        </p:nvSpPr>
        <p:spPr>
          <a:xfrm>
            <a:off x="6345936" y="2468880"/>
            <a:ext cx="2240280" cy="54864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biological efficiency (stretch 80%)</a:t>
            </a:r>
            <a:endParaRPr lang="en-US" sz="1200" dirty="0"/>
          </a:p>
        </p:txBody>
      </p:sp>
      <p:sp>
        <p:nvSpPr>
          <p:cNvPr id="15" name="Shape 13"/>
          <p:cNvSpPr/>
          <p:nvPr/>
        </p:nvSpPr>
        <p:spPr>
          <a:xfrm>
            <a:off x="8970264" y="1508760"/>
            <a:ext cx="2606040" cy="1645920"/>
          </a:xfrm>
          <a:prstGeom prst="roundRect">
            <a:avLst>
              <a:gd name="adj" fmla="val 4444"/>
            </a:avLst>
          </a:prstGeom>
          <a:solidFill>
            <a:srgbClr val="EEF4F0"/>
          </a:solidFill>
          <a:ln w="9525">
            <a:solidFill>
              <a:srgbClr val="EEF4F0"/>
            </a:solidFill>
            <a:prstDash val="solid"/>
          </a:ln>
        </p:spPr>
      </p:sp>
      <p:sp>
        <p:nvSpPr>
          <p:cNvPr id="16" name="Text 14"/>
          <p:cNvSpPr txBox="1"/>
          <p:nvPr/>
        </p:nvSpPr>
        <p:spPr>
          <a:xfrm>
            <a:off x="9153144" y="1691640"/>
            <a:ext cx="2240280" cy="731520"/>
          </a:xfrm>
          <a:prstGeom prst="rect">
            <a:avLst/>
          </a:prstGeom>
          <a:noFill/>
          <a:ln/>
        </p:spPr>
        <p:txBody>
          <a:bodyPr wrap="square" lIns="0" tIns="0" rIns="0" bIns="0" rtlCol="0" anchor="ctr"/>
          <a:lstStyle/>
          <a:p>
            <a:pPr indent="0" marL="0">
              <a:buNone/>
            </a:pPr>
            <a:r>
              <a:rPr lang="en-US" sz="3000" b="1" dirty="0">
                <a:solidFill>
                  <a:srgbClr val="2E5E4E"/>
                </a:solidFill>
                <a:latin typeface="Cambria" pitchFamily="34" charset="0"/>
                <a:ea typeface="Cambria" pitchFamily="34" charset="-122"/>
                <a:cs typeface="Cambria" pitchFamily="34" charset="-120"/>
              </a:rPr>
              <a:t>≤21 d</a:t>
            </a:r>
            <a:endParaRPr lang="en-US" sz="3000" dirty="0"/>
          </a:p>
        </p:txBody>
      </p:sp>
      <p:sp>
        <p:nvSpPr>
          <p:cNvPr id="17" name="Text 15"/>
          <p:cNvSpPr txBox="1"/>
          <p:nvPr/>
        </p:nvSpPr>
        <p:spPr>
          <a:xfrm>
            <a:off x="9153144" y="2468880"/>
            <a:ext cx="2240280" cy="548640"/>
          </a:xfrm>
          <a:prstGeom prst="rect">
            <a:avLst/>
          </a:prstGeom>
          <a:noFill/>
          <a:ln/>
        </p:spPr>
        <p:txBody>
          <a:bodyPr wrap="square" lIns="0" tIns="0" rIns="0" bIns="0" rtlCol="0" anchor="t"/>
          <a:lstStyle/>
          <a:p>
            <a:pPr indent="0" marL="0">
              <a:buNone/>
            </a:pPr>
            <a:r>
              <a:rPr lang="en-US" sz="1200" dirty="0">
                <a:solidFill>
                  <a:srgbClr val="5F6F69"/>
                </a:solidFill>
                <a:latin typeface="Calibri" pitchFamily="34" charset="0"/>
                <a:ea typeface="Calibri" pitchFamily="34" charset="-122"/>
                <a:cs typeface="Calibri" pitchFamily="34" charset="-120"/>
              </a:rPr>
              <a:t>block colonization time</a:t>
            </a:r>
            <a:endParaRPr lang="en-US" sz="1200" dirty="0"/>
          </a:p>
        </p:txBody>
      </p:sp>
      <p:sp>
        <p:nvSpPr>
          <p:cNvPr id="18" name="Shape 16"/>
          <p:cNvSpPr/>
          <p:nvPr/>
        </p:nvSpPr>
        <p:spPr>
          <a:xfrm>
            <a:off x="548640" y="3383280"/>
            <a:ext cx="2606040" cy="1645920"/>
          </a:xfrm>
          <a:prstGeom prst="roundRect">
            <a:avLst>
              <a:gd name="adj" fmla="val 4444"/>
            </a:avLst>
          </a:prstGeom>
          <a:solidFill>
            <a:srgbClr val="EEF4F0"/>
          </a:solidFill>
          <a:ln w="9525">
            <a:solidFill>
              <a:srgbClr val="EEF4F0"/>
            </a:solidFill>
            <a:prstDash val="solid"/>
          </a:ln>
        </p:spPr>
      </p:sp>
      <p:sp>
        <p:nvSpPr>
          <p:cNvPr id="19" name="Text 17"/>
          <p:cNvSpPr txBox="1"/>
          <p:nvPr/>
        </p:nvSpPr>
        <p:spPr>
          <a:xfrm>
            <a:off x="731520" y="3566160"/>
            <a:ext cx="2240280" cy="731520"/>
          </a:xfrm>
          <a:prstGeom prst="rect">
            <a:avLst/>
          </a:prstGeom>
          <a:noFill/>
          <a:ln/>
        </p:spPr>
        <p:txBody>
          <a:bodyPr wrap="square" lIns="0" tIns="0" rIns="0" bIns="0" rtlCol="0" anchor="ctr"/>
          <a:lstStyle/>
          <a:p>
            <a:pPr indent="0" marL="0">
              <a:buNone/>
            </a:pPr>
            <a:r>
              <a:rPr lang="en-US" sz="3000" b="1" dirty="0">
                <a:solidFill>
                  <a:srgbClr val="2E5E4E"/>
                </a:solidFill>
                <a:latin typeface="Cambria" pitchFamily="34" charset="0"/>
                <a:ea typeface="Cambria" pitchFamily="34" charset="-122"/>
                <a:cs typeface="Cambria" pitchFamily="34" charset="-120"/>
              </a:rPr>
              <a:t>9–11 : 1</a:t>
            </a:r>
            <a:endParaRPr lang="en-US" sz="3000" dirty="0"/>
          </a:p>
        </p:txBody>
      </p:sp>
      <p:sp>
        <p:nvSpPr>
          <p:cNvPr id="20" name="Text 18"/>
          <p:cNvSpPr txBox="1"/>
          <p:nvPr/>
        </p:nvSpPr>
        <p:spPr>
          <a:xfrm>
            <a:off x="731520" y="4343400"/>
            <a:ext cx="2240280" cy="548640"/>
          </a:xfrm>
          <a:prstGeom prst="rect">
            <a:avLst/>
          </a:prstGeom>
          <a:noFill/>
          <a:ln/>
        </p:spPr>
        <p:txBody>
          <a:bodyPr wrap="square" lIns="0" tIns="0" rIns="0" bIns="0" rtlCol="0" anchor="t"/>
          <a:lstStyle/>
          <a:p>
            <a:pPr indent="0" marL="0">
              <a:buNone/>
            </a:pPr>
            <a:r>
              <a:rPr lang="en-US" sz="1200" dirty="0">
                <a:solidFill>
                  <a:srgbClr val="5F6F69"/>
                </a:solidFill>
                <a:latin typeface="Calibri" pitchFamily="34" charset="0"/>
                <a:ea typeface="Calibri" pitchFamily="34" charset="-122"/>
                <a:cs typeface="Calibri" pitchFamily="34" charset="-120"/>
              </a:rPr>
              <a:t>fresh-to-dry ratio</a:t>
            </a:r>
            <a:endParaRPr lang="en-US" sz="1200" dirty="0"/>
          </a:p>
        </p:txBody>
      </p:sp>
      <p:sp>
        <p:nvSpPr>
          <p:cNvPr id="21" name="Shape 19"/>
          <p:cNvSpPr/>
          <p:nvPr/>
        </p:nvSpPr>
        <p:spPr>
          <a:xfrm>
            <a:off x="3355848" y="3383280"/>
            <a:ext cx="2606040" cy="1645920"/>
          </a:xfrm>
          <a:prstGeom prst="roundRect">
            <a:avLst>
              <a:gd name="adj" fmla="val 4444"/>
            </a:avLst>
          </a:prstGeom>
          <a:solidFill>
            <a:srgbClr val="14302A"/>
          </a:solidFill>
          <a:ln w="9525">
            <a:solidFill>
              <a:srgbClr val="14302A"/>
            </a:solidFill>
            <a:prstDash val="solid"/>
          </a:ln>
        </p:spPr>
      </p:sp>
      <p:sp>
        <p:nvSpPr>
          <p:cNvPr id="22" name="Text 20"/>
          <p:cNvSpPr txBox="1"/>
          <p:nvPr/>
        </p:nvSpPr>
        <p:spPr>
          <a:xfrm>
            <a:off x="3538728" y="3566160"/>
            <a:ext cx="2240280" cy="731520"/>
          </a:xfrm>
          <a:prstGeom prst="rect">
            <a:avLst/>
          </a:prstGeom>
          <a:noFill/>
          <a:ln/>
        </p:spPr>
        <p:txBody>
          <a:bodyPr wrap="square" lIns="0" tIns="0" rIns="0" bIns="0" rtlCol="0" anchor="ctr"/>
          <a:lstStyle/>
          <a:p>
            <a:pPr indent="0" marL="0">
              <a:buNone/>
            </a:pPr>
            <a:r>
              <a:rPr lang="en-US" sz="3000" b="1" dirty="0">
                <a:solidFill>
                  <a:srgbClr val="D9962B"/>
                </a:solidFill>
                <a:latin typeface="Cambria" pitchFamily="34" charset="0"/>
                <a:ea typeface="Cambria" pitchFamily="34" charset="-122"/>
                <a:cs typeface="Cambria" pitchFamily="34" charset="-120"/>
              </a:rPr>
              <a:t>≤₹3,000</a:t>
            </a:r>
            <a:endParaRPr lang="en-US" sz="3000" dirty="0"/>
          </a:p>
        </p:txBody>
      </p:sp>
      <p:sp>
        <p:nvSpPr>
          <p:cNvPr id="23" name="Text 21"/>
          <p:cNvSpPr txBox="1"/>
          <p:nvPr/>
        </p:nvSpPr>
        <p:spPr>
          <a:xfrm>
            <a:off x="3538728" y="4343400"/>
            <a:ext cx="2240280" cy="54864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cash cost per kg dry</a:t>
            </a:r>
            <a:endParaRPr lang="en-US" sz="1200" dirty="0"/>
          </a:p>
        </p:txBody>
      </p:sp>
      <p:sp>
        <p:nvSpPr>
          <p:cNvPr id="24" name="Shape 22"/>
          <p:cNvSpPr/>
          <p:nvPr/>
        </p:nvSpPr>
        <p:spPr>
          <a:xfrm>
            <a:off x="6163056" y="3383280"/>
            <a:ext cx="2606040" cy="1645920"/>
          </a:xfrm>
          <a:prstGeom prst="roundRect">
            <a:avLst>
              <a:gd name="adj" fmla="val 4444"/>
            </a:avLst>
          </a:prstGeom>
          <a:solidFill>
            <a:srgbClr val="EEF4F0"/>
          </a:solidFill>
          <a:ln w="9525">
            <a:solidFill>
              <a:srgbClr val="EEF4F0"/>
            </a:solidFill>
            <a:prstDash val="solid"/>
          </a:ln>
        </p:spPr>
      </p:sp>
      <p:sp>
        <p:nvSpPr>
          <p:cNvPr id="25" name="Text 23"/>
          <p:cNvSpPr txBox="1"/>
          <p:nvPr/>
        </p:nvSpPr>
        <p:spPr>
          <a:xfrm>
            <a:off x="6345936" y="3566160"/>
            <a:ext cx="2240280" cy="731520"/>
          </a:xfrm>
          <a:prstGeom prst="rect">
            <a:avLst/>
          </a:prstGeom>
          <a:noFill/>
          <a:ln/>
        </p:spPr>
        <p:txBody>
          <a:bodyPr wrap="square" lIns="0" tIns="0" rIns="0" bIns="0" rtlCol="0" anchor="ctr"/>
          <a:lstStyle/>
          <a:p>
            <a:pPr indent="0" marL="0">
              <a:buNone/>
            </a:pPr>
            <a:r>
              <a:rPr lang="en-US" sz="3000" b="1" dirty="0">
                <a:solidFill>
                  <a:srgbClr val="2E5E4E"/>
                </a:solidFill>
                <a:latin typeface="Cambria" pitchFamily="34" charset="0"/>
                <a:ea typeface="Cambria" pitchFamily="34" charset="-122"/>
                <a:cs typeface="Cambria" pitchFamily="34" charset="-120"/>
              </a:rPr>
              <a:t>100%</a:t>
            </a:r>
            <a:endParaRPr lang="en-US" sz="3000" dirty="0"/>
          </a:p>
        </p:txBody>
      </p:sp>
      <p:sp>
        <p:nvSpPr>
          <p:cNvPr id="26" name="Text 24"/>
          <p:cNvSpPr txBox="1"/>
          <p:nvPr/>
        </p:nvSpPr>
        <p:spPr>
          <a:xfrm>
            <a:off x="6345936" y="4343400"/>
            <a:ext cx="2240280" cy="548640"/>
          </a:xfrm>
          <a:prstGeom prst="rect">
            <a:avLst/>
          </a:prstGeom>
          <a:noFill/>
          <a:ln/>
        </p:spPr>
        <p:txBody>
          <a:bodyPr wrap="square" lIns="0" tIns="0" rIns="0" bIns="0" rtlCol="0" anchor="t"/>
          <a:lstStyle/>
          <a:p>
            <a:pPr indent="0" marL="0">
              <a:buNone/>
            </a:pPr>
            <a:r>
              <a:rPr lang="en-US" sz="1200" dirty="0">
                <a:solidFill>
                  <a:srgbClr val="5F6F69"/>
                </a:solidFill>
                <a:latin typeface="Calibri" pitchFamily="34" charset="0"/>
                <a:ea typeface="Calibri" pitchFamily="34" charset="-122"/>
                <a:cs typeface="Calibri" pitchFamily="34" charset="-120"/>
              </a:rPr>
              <a:t>lots passing CoA first time</a:t>
            </a:r>
            <a:endParaRPr lang="en-US" sz="1200" dirty="0"/>
          </a:p>
        </p:txBody>
      </p:sp>
      <p:sp>
        <p:nvSpPr>
          <p:cNvPr id="27" name="Shape 25"/>
          <p:cNvSpPr/>
          <p:nvPr/>
        </p:nvSpPr>
        <p:spPr>
          <a:xfrm>
            <a:off x="8970264" y="3383280"/>
            <a:ext cx="2606040" cy="1645920"/>
          </a:xfrm>
          <a:prstGeom prst="roundRect">
            <a:avLst>
              <a:gd name="adj" fmla="val 4444"/>
            </a:avLst>
          </a:prstGeom>
          <a:solidFill>
            <a:srgbClr val="EEF4F0"/>
          </a:solidFill>
          <a:ln w="9525">
            <a:solidFill>
              <a:srgbClr val="EEF4F0"/>
            </a:solidFill>
            <a:prstDash val="solid"/>
          </a:ln>
        </p:spPr>
      </p:sp>
      <p:sp>
        <p:nvSpPr>
          <p:cNvPr id="28" name="Text 26"/>
          <p:cNvSpPr txBox="1"/>
          <p:nvPr/>
        </p:nvSpPr>
        <p:spPr>
          <a:xfrm>
            <a:off x="9153144" y="3566160"/>
            <a:ext cx="2240280" cy="731520"/>
          </a:xfrm>
          <a:prstGeom prst="rect">
            <a:avLst/>
          </a:prstGeom>
          <a:noFill/>
          <a:ln/>
        </p:spPr>
        <p:txBody>
          <a:bodyPr wrap="square" lIns="0" tIns="0" rIns="0" bIns="0" rtlCol="0" anchor="ctr"/>
          <a:lstStyle/>
          <a:p>
            <a:pPr indent="0" marL="0">
              <a:buNone/>
            </a:pPr>
            <a:r>
              <a:rPr lang="en-US" sz="3000" b="1" dirty="0">
                <a:solidFill>
                  <a:srgbClr val="2E5E4E"/>
                </a:solidFill>
                <a:latin typeface="Cambria" pitchFamily="34" charset="0"/>
                <a:ea typeface="Cambria" pitchFamily="34" charset="-122"/>
                <a:cs typeface="Cambria" pitchFamily="34" charset="-120"/>
              </a:rPr>
              <a:t>≥95%</a:t>
            </a:r>
            <a:endParaRPr lang="en-US" sz="3000" dirty="0"/>
          </a:p>
        </p:txBody>
      </p:sp>
      <p:sp>
        <p:nvSpPr>
          <p:cNvPr id="29" name="Text 27"/>
          <p:cNvSpPr txBox="1"/>
          <p:nvPr/>
        </p:nvSpPr>
        <p:spPr>
          <a:xfrm>
            <a:off x="9153144" y="4343400"/>
            <a:ext cx="2240280" cy="548640"/>
          </a:xfrm>
          <a:prstGeom prst="rect">
            <a:avLst/>
          </a:prstGeom>
          <a:noFill/>
          <a:ln/>
        </p:spPr>
        <p:txBody>
          <a:bodyPr wrap="square" lIns="0" tIns="0" rIns="0" bIns="0" rtlCol="0" anchor="t"/>
          <a:lstStyle/>
          <a:p>
            <a:pPr indent="0" marL="0">
              <a:buNone/>
            </a:pPr>
            <a:r>
              <a:rPr lang="en-US" sz="1200" dirty="0">
                <a:solidFill>
                  <a:srgbClr val="5F6F69"/>
                </a:solidFill>
                <a:latin typeface="Calibri" pitchFamily="34" charset="0"/>
                <a:ea typeface="Calibri" pitchFamily="34" charset="-122"/>
                <a:cs typeface="Calibri" pitchFamily="34" charset="-120"/>
              </a:rPr>
              <a:t>on-time B2B deliveries</a:t>
            </a:r>
            <a:endParaRPr lang="en-US" sz="1200" dirty="0"/>
          </a:p>
        </p:txBody>
      </p:sp>
      <p:sp>
        <p:nvSpPr>
          <p:cNvPr id="30" name="Shape 28"/>
          <p:cNvSpPr/>
          <p:nvPr/>
        </p:nvSpPr>
        <p:spPr>
          <a:xfrm>
            <a:off x="548640" y="5349240"/>
            <a:ext cx="11109960" cy="914400"/>
          </a:xfrm>
          <a:prstGeom prst="roundRect">
            <a:avLst>
              <a:gd name="adj" fmla="val 8000"/>
            </a:avLst>
          </a:prstGeom>
          <a:solidFill>
            <a:srgbClr val="FBF1DE"/>
          </a:solidFill>
          <a:ln w="9525">
            <a:solidFill>
              <a:srgbClr val="FBF1DE"/>
            </a:solidFill>
            <a:prstDash val="solid"/>
          </a:ln>
        </p:spPr>
      </p:sp>
      <p:sp>
        <p:nvSpPr>
          <p:cNvPr id="31" name="Text 29"/>
          <p:cNvSpPr txBox="1"/>
          <p:nvPr/>
        </p:nvSpPr>
        <p:spPr>
          <a:xfrm>
            <a:off x="777240" y="5349240"/>
            <a:ext cx="10698480" cy="914400"/>
          </a:xfrm>
          <a:prstGeom prst="rect">
            <a:avLst/>
          </a:prstGeom>
          <a:noFill/>
          <a:ln/>
        </p:spPr>
        <p:txBody>
          <a:bodyPr wrap="square" lIns="0" tIns="0" rIns="0" bIns="0" rtlCol="0" anchor="ctr"/>
          <a:lstStyle/>
          <a:p>
            <a:pPr indent="0" marL="0">
              <a:buNone/>
            </a:pPr>
            <a:r>
              <a:rPr lang="en-US" sz="1200" dirty="0">
                <a:solidFill>
                  <a:srgbClr val="1E2A26"/>
                </a:solidFill>
                <a:latin typeface="Calibri" pitchFamily="34" charset="0"/>
                <a:ea typeface="Calibri" pitchFamily="34" charset="-122"/>
                <a:cs typeface="Calibri" pitchFamily="34" charset="-120"/>
              </a:rPr>
              <a:t>Weekly production review on lot data; monthly dashboard to promoters, lenders and scientific advisors. Any contamination spike above 8% triggers a root-cause review of sterilization and pressure logs within 48 h.</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300" kern="0" dirty="0">
                <a:solidFill>
                  <a:srgbClr val="D9962B"/>
                </a:solidFill>
                <a:latin typeface="Calibri" pitchFamily="34" charset="0"/>
                <a:ea typeface="Calibri" pitchFamily="34" charset="-122"/>
                <a:cs typeface="Calibri" pitchFamily="34" charset="-120"/>
              </a:rPr>
              <a:t>15 · SUSTAINABILITY &amp; SAFETY</a:t>
            </a:r>
            <a:endParaRPr lang="en-US" sz="1100" dirty="0"/>
          </a:p>
        </p:txBody>
      </p:sp>
      <p:sp>
        <p:nvSpPr>
          <p:cNvPr id="3" name="Text 1"/>
          <p:cNvSpPr txBox="1"/>
          <p:nvPr/>
        </p:nvSpPr>
        <p:spPr>
          <a:xfrm>
            <a:off x="548640" y="548640"/>
            <a:ext cx="11064240" cy="685800"/>
          </a:xfrm>
          <a:prstGeom prst="rect">
            <a:avLst/>
          </a:prstGeom>
          <a:noFill/>
          <a:ln/>
        </p:spPr>
        <p:txBody>
          <a:bodyPr wrap="square" lIns="0" tIns="0" rIns="0" bIns="0" rtlCol="0" anchor="ctr"/>
          <a:lstStyle/>
          <a:p>
            <a:pPr indent="0" marL="0">
              <a:buNone/>
            </a:pPr>
            <a:r>
              <a:rPr lang="en-US" sz="3000" b="1" dirty="0">
                <a:solidFill>
                  <a:srgbClr val="14302A"/>
                </a:solidFill>
                <a:latin typeface="Cambria" pitchFamily="34" charset="0"/>
                <a:ea typeface="Cambria" pitchFamily="34" charset="-122"/>
                <a:cs typeface="Cambria" pitchFamily="34" charset="-120"/>
              </a:rPr>
              <a:t>A circular, safe workplace</a:t>
            </a:r>
            <a:endParaRPr lang="en-US" sz="30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900" dirty="0">
                <a:solidFill>
                  <a:srgbClr val="5F6F69"/>
                </a:solidFill>
                <a:latin typeface="Calibri" pitchFamily="34" charset="0"/>
                <a:ea typeface="Calibri" pitchFamily="34" charset="-122"/>
                <a:cs typeface="Calibri" pitchFamily="34" charset="-120"/>
              </a:rPr>
              <a:t>Lion's Mane Facility  ·  Hamirpur, HP  ·  Project Plan</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900" dirty="0">
                <a:solidFill>
                  <a:srgbClr val="5F6F69"/>
                </a:solidFill>
                <a:latin typeface="Calibri" pitchFamily="34" charset="0"/>
                <a:ea typeface="Calibri" pitchFamily="34" charset="-122"/>
                <a:cs typeface="Calibri" pitchFamily="34" charset="-120"/>
              </a:rPr>
              <a:t>34</a:t>
            </a:r>
            <a:endParaRPr lang="en-US" sz="900" dirty="0"/>
          </a:p>
        </p:txBody>
      </p:sp>
      <p:sp>
        <p:nvSpPr>
          <p:cNvPr id="6" name="Shape 4"/>
          <p:cNvSpPr/>
          <p:nvPr/>
        </p:nvSpPr>
        <p:spPr>
          <a:xfrm>
            <a:off x="548640" y="1463040"/>
            <a:ext cx="5440680" cy="4800600"/>
          </a:xfrm>
          <a:prstGeom prst="roundRect">
            <a:avLst>
              <a:gd name="adj" fmla="val 1524"/>
            </a:avLst>
          </a:prstGeom>
          <a:solidFill>
            <a:srgbClr val="EEF4F0"/>
          </a:solidFill>
          <a:ln w="9525">
            <a:solidFill>
              <a:srgbClr val="EEF4F0"/>
            </a:solidFill>
            <a:prstDash val="solid"/>
          </a:ln>
        </p:spPr>
      </p:sp>
      <p:sp>
        <p:nvSpPr>
          <p:cNvPr id="7" name="Shape 5"/>
          <p:cNvSpPr/>
          <p:nvPr/>
        </p:nvSpPr>
        <p:spPr>
          <a:xfrm>
            <a:off x="777240" y="1645920"/>
            <a:ext cx="594360" cy="594360"/>
          </a:xfrm>
          <a:prstGeom prst="ellipse">
            <a:avLst/>
          </a:prstGeom>
          <a:solidFill>
            <a:srgbClr val="2E5E4E"/>
          </a:solidFill>
          <a:ln w="12700">
            <a:solidFill>
              <a:srgbClr val="2E5E4E"/>
            </a:solidFill>
            <a:prstDash val="solid"/>
          </a:ln>
        </p:spPr>
      </p:sp>
      <p:pic>
        <p:nvPicPr>
          <p:cNvPr id="8" name="Image 0" descr="preencoded.png">    </p:cNvPr>
          <p:cNvPicPr>
            <a:picLocks noChangeAspect="1"/>
          </p:cNvPicPr>
          <p:nvPr/>
        </p:nvPicPr>
        <p:blipFill>
          <a:blip r:embed="rId1"/>
          <a:stretch>
            <a:fillRect/>
          </a:stretch>
        </p:blipFill>
        <p:spPr>
          <a:xfrm>
            <a:off x="931774" y="1800454"/>
            <a:ext cx="285293" cy="285293"/>
          </a:xfrm>
          <a:prstGeom prst="rect">
            <a:avLst/>
          </a:prstGeom>
        </p:spPr>
      </p:pic>
      <p:sp>
        <p:nvSpPr>
          <p:cNvPr id="9" name="Text 6"/>
          <p:cNvSpPr txBox="1"/>
          <p:nvPr/>
        </p:nvSpPr>
        <p:spPr>
          <a:xfrm>
            <a:off x="1554480" y="1691640"/>
            <a:ext cx="4206240" cy="502920"/>
          </a:xfrm>
          <a:prstGeom prst="rect">
            <a:avLst/>
          </a:prstGeom>
          <a:noFill/>
          <a:ln/>
        </p:spPr>
        <p:txBody>
          <a:bodyPr wrap="square" lIns="0" tIns="0" rIns="0" bIns="0" rtlCol="0" anchor="ctr"/>
          <a:lstStyle/>
          <a:p>
            <a:pPr indent="0" marL="0">
              <a:buNone/>
            </a:pPr>
            <a:r>
              <a:rPr lang="en-US" sz="1700" b="1" dirty="0">
                <a:solidFill>
                  <a:srgbClr val="14302A"/>
                </a:solidFill>
                <a:latin typeface="Cambria" pitchFamily="34" charset="0"/>
                <a:ea typeface="Cambria" pitchFamily="34" charset="-122"/>
                <a:cs typeface="Cambria" pitchFamily="34" charset="-120"/>
              </a:rPr>
              <a:t>Circular operations</a:t>
            </a:r>
            <a:endParaRPr lang="en-US" sz="1700" dirty="0"/>
          </a:p>
        </p:txBody>
      </p:sp>
      <p:sp>
        <p:nvSpPr>
          <p:cNvPr id="10" name="Text 7"/>
          <p:cNvSpPr txBox="1"/>
          <p:nvPr/>
        </p:nvSpPr>
        <p:spPr>
          <a:xfrm>
            <a:off x="777240" y="2377440"/>
            <a:ext cx="5029200" cy="37947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1E2A26"/>
                </a:solidFill>
                <a:latin typeface="Calibri" pitchFamily="34" charset="0"/>
                <a:ea typeface="Calibri" pitchFamily="34" charset="-122"/>
                <a:cs typeface="Calibri" pitchFamily="34" charset="-120"/>
              </a:rPr>
              <a:t>Spent substrate (~100–120 kg/day) goes to vermicompost and mulch for local farmers and nurseries: a small revenue line and a clean HPSPCB story.</a:t>
            </a:r>
            <a:endParaRPr lang="en-US" sz="1400" dirty="0"/>
          </a:p>
          <a:p>
            <a:pPr marL="342900" indent="-342900">
              <a:spcAft>
                <a:spcPts val="500"/>
              </a:spcAft>
              <a:buSzPct val="100000"/>
              <a:buChar char="•"/>
            </a:pPr>
            <a:r>
              <a:rPr lang="en-US" sz="1400" dirty="0">
                <a:solidFill>
                  <a:srgbClr val="1E2A26"/>
                </a:solidFill>
                <a:latin typeface="Calibri" pitchFamily="34" charset="0"/>
                <a:ea typeface="Calibri" pitchFamily="34" charset="-122"/>
                <a:cs typeface="Calibri" pitchFamily="34" charset="-120"/>
              </a:rPr>
              <a:t>Inputs are agro-industrial by-products: sawmill dust and soy hulls.</a:t>
            </a:r>
            <a:endParaRPr lang="en-US" sz="1400" dirty="0"/>
          </a:p>
          <a:p>
            <a:pPr marL="342900" indent="-342900">
              <a:spcAft>
                <a:spcPts val="500"/>
              </a:spcAft>
              <a:buSzPct val="100000"/>
              <a:buChar char="•"/>
            </a:pPr>
            <a:r>
              <a:rPr lang="en-US" sz="1400" dirty="0">
                <a:solidFill>
                  <a:srgbClr val="1E2A26"/>
                </a:solidFill>
                <a:latin typeface="Calibri" pitchFamily="34" charset="0"/>
                <a:ea typeface="Calibri" pitchFamily="34" charset="-122"/>
                <a:cs typeface="Calibri" pitchFamily="34" charset="-120"/>
              </a:rPr>
              <a:t>Water: ~95 L/day into substrate plus cleaning; RO reject reused for floor washing.</a:t>
            </a:r>
            <a:endParaRPr lang="en-US" sz="1400" dirty="0"/>
          </a:p>
          <a:p>
            <a:pPr marL="342900" indent="-342900">
              <a:spcAft>
                <a:spcPts val="500"/>
              </a:spcAft>
              <a:buSzPct val="100000"/>
              <a:buChar char="•"/>
            </a:pPr>
            <a:r>
              <a:rPr lang="en-US" sz="1400" dirty="0">
                <a:solidFill>
                  <a:srgbClr val="1E2A26"/>
                </a:solidFill>
                <a:latin typeface="Calibri" pitchFamily="34" charset="0"/>
                <a:ea typeface="Calibri" pitchFamily="34" charset="-122"/>
                <a:cs typeface="Calibri" pitchFamily="34" charset="-120"/>
              </a:rPr>
              <a:t>No pesticides or fungicides, ever; buyers test for residues.</a:t>
            </a:r>
            <a:endParaRPr lang="en-US" sz="1400" dirty="0"/>
          </a:p>
          <a:p>
            <a:pPr marL="342900" indent="-342900">
              <a:spcAft>
                <a:spcPts val="500"/>
              </a:spcAft>
              <a:buSzPct val="100000"/>
              <a:buChar char="•"/>
            </a:pPr>
            <a:r>
              <a:rPr lang="en-US" sz="1400" dirty="0">
                <a:solidFill>
                  <a:srgbClr val="1E2A26"/>
                </a:solidFill>
                <a:latin typeface="Calibri" pitchFamily="34" charset="0"/>
                <a:ea typeface="Calibri" pitchFamily="34" charset="-122"/>
                <a:cs typeface="Calibri" pitchFamily="34" charset="-120"/>
              </a:rPr>
              <a:t>Rooftop solar (20–30 kWp) evaluated in Year 2 to offset daytime cooling.</a:t>
            </a:r>
            <a:endParaRPr lang="en-US" sz="1400" dirty="0"/>
          </a:p>
        </p:txBody>
      </p:sp>
      <p:sp>
        <p:nvSpPr>
          <p:cNvPr id="11" name="Shape 8"/>
          <p:cNvSpPr/>
          <p:nvPr/>
        </p:nvSpPr>
        <p:spPr>
          <a:xfrm>
            <a:off x="6217920" y="1463040"/>
            <a:ext cx="5440680" cy="4800600"/>
          </a:xfrm>
          <a:prstGeom prst="roundRect">
            <a:avLst>
              <a:gd name="adj" fmla="val 1524"/>
            </a:avLst>
          </a:prstGeom>
          <a:solidFill>
            <a:srgbClr val="FFFFFF"/>
          </a:solidFill>
          <a:ln w="9525">
            <a:solidFill>
              <a:srgbClr val="D3DED8"/>
            </a:solidFill>
            <a:prstDash val="solid"/>
          </a:ln>
        </p:spPr>
      </p:sp>
      <p:sp>
        <p:nvSpPr>
          <p:cNvPr id="12" name="Shape 9"/>
          <p:cNvSpPr/>
          <p:nvPr/>
        </p:nvSpPr>
        <p:spPr>
          <a:xfrm>
            <a:off x="6446520" y="1645920"/>
            <a:ext cx="594360" cy="594360"/>
          </a:xfrm>
          <a:prstGeom prst="ellipse">
            <a:avLst/>
          </a:prstGeom>
          <a:solidFill>
            <a:srgbClr val="D9962B"/>
          </a:solidFill>
          <a:ln w="12700">
            <a:solidFill>
              <a:srgbClr val="D9962B"/>
            </a:solidFill>
            <a:prstDash val="solid"/>
          </a:ln>
        </p:spPr>
      </p:sp>
      <p:pic>
        <p:nvPicPr>
          <p:cNvPr id="13" name="Image 1" descr="preencoded.png">    </p:cNvPr>
          <p:cNvPicPr>
            <a:picLocks noChangeAspect="1"/>
          </p:cNvPicPr>
          <p:nvPr/>
        </p:nvPicPr>
        <p:blipFill>
          <a:blip r:embed="rId2"/>
          <a:stretch>
            <a:fillRect/>
          </a:stretch>
        </p:blipFill>
        <p:spPr>
          <a:xfrm>
            <a:off x="6601054" y="1800454"/>
            <a:ext cx="285293" cy="285293"/>
          </a:xfrm>
          <a:prstGeom prst="rect">
            <a:avLst/>
          </a:prstGeom>
        </p:spPr>
      </p:pic>
      <p:sp>
        <p:nvSpPr>
          <p:cNvPr id="14" name="Text 10"/>
          <p:cNvSpPr txBox="1"/>
          <p:nvPr/>
        </p:nvSpPr>
        <p:spPr>
          <a:xfrm>
            <a:off x="7223760" y="1691640"/>
            <a:ext cx="4206240" cy="502920"/>
          </a:xfrm>
          <a:prstGeom prst="rect">
            <a:avLst/>
          </a:prstGeom>
          <a:noFill/>
          <a:ln/>
        </p:spPr>
        <p:txBody>
          <a:bodyPr wrap="square" lIns="0" tIns="0" rIns="0" bIns="0" rtlCol="0" anchor="ctr"/>
          <a:lstStyle/>
          <a:p>
            <a:pPr indent="0" marL="0">
              <a:buNone/>
            </a:pPr>
            <a:r>
              <a:rPr lang="en-US" sz="1700" b="1" dirty="0">
                <a:solidFill>
                  <a:srgbClr val="14302A"/>
                </a:solidFill>
                <a:latin typeface="Cambria" pitchFamily="34" charset="0"/>
                <a:ea typeface="Cambria" pitchFamily="34" charset="-122"/>
                <a:cs typeface="Cambria" pitchFamily="34" charset="-120"/>
              </a:rPr>
              <a:t>Worker safety</a:t>
            </a:r>
            <a:endParaRPr lang="en-US" sz="1700" dirty="0"/>
          </a:p>
        </p:txBody>
      </p:sp>
      <p:sp>
        <p:nvSpPr>
          <p:cNvPr id="15" name="Text 11"/>
          <p:cNvSpPr txBox="1"/>
          <p:nvPr/>
        </p:nvSpPr>
        <p:spPr>
          <a:xfrm>
            <a:off x="6446520" y="2377440"/>
            <a:ext cx="5029200" cy="37947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1E2A26"/>
                </a:solidFill>
                <a:latin typeface="Calibri" pitchFamily="34" charset="0"/>
                <a:ea typeface="Calibri" pitchFamily="34" charset="-122"/>
                <a:cs typeface="Calibri" pitchFamily="34" charset="-120"/>
              </a:rPr>
              <a:t>N95 / FFP2 masks in fruiting rooms: repeated spore exposure can cause hypersensitivity pneumonitis ("mushroom worker's lung").</a:t>
            </a:r>
            <a:endParaRPr lang="en-US" sz="1400" dirty="0"/>
          </a:p>
          <a:p>
            <a:pPr marL="342900" indent="-342900">
              <a:spcAft>
                <a:spcPts val="500"/>
              </a:spcAft>
              <a:buSzPct val="100000"/>
              <a:buChar char="•"/>
            </a:pPr>
            <a:r>
              <a:rPr lang="en-US" sz="1400" dirty="0">
                <a:solidFill>
                  <a:srgbClr val="1E2A26"/>
                </a:solidFill>
                <a:latin typeface="Calibri" pitchFamily="34" charset="0"/>
                <a:ea typeface="Calibri" pitchFamily="34" charset="-122"/>
                <a:cs typeface="Calibri" pitchFamily="34" charset="-120"/>
              </a:rPr>
              <a:t>Autoclave: trained operators only, safety-valve tests, heat-resistant gloves, never open under pressure.</a:t>
            </a:r>
            <a:endParaRPr lang="en-US" sz="1400" dirty="0"/>
          </a:p>
          <a:p>
            <a:pPr marL="342900" indent="-342900">
              <a:spcAft>
                <a:spcPts val="500"/>
              </a:spcAft>
              <a:buSzPct val="100000"/>
              <a:buChar char="•"/>
            </a:pPr>
            <a:r>
              <a:rPr lang="en-US" sz="1400" dirty="0">
                <a:solidFill>
                  <a:srgbClr val="1E2A26"/>
                </a:solidFill>
                <a:latin typeface="Calibri" pitchFamily="34" charset="0"/>
                <a:ea typeface="Calibri" pitchFamily="34" charset="-122"/>
                <a:cs typeface="Calibri" pitchFamily="34" charset="-120"/>
              </a:rPr>
              <a:t>IPA is flammable: small dispensed volumes; flame only after alcohol has evaporated; CO₂ extinguisher in lab.</a:t>
            </a:r>
            <a:endParaRPr lang="en-US" sz="1400" dirty="0"/>
          </a:p>
          <a:p>
            <a:pPr marL="342900" indent="-342900">
              <a:spcAft>
                <a:spcPts val="500"/>
              </a:spcAft>
              <a:buSzPct val="100000"/>
              <a:buChar char="•"/>
            </a:pPr>
            <a:r>
              <a:rPr lang="en-US" sz="1400" dirty="0">
                <a:solidFill>
                  <a:srgbClr val="1E2A26"/>
                </a:solidFill>
                <a:latin typeface="Calibri" pitchFamily="34" charset="0"/>
                <a:ea typeface="Calibri" pitchFamily="34" charset="-122"/>
                <a:cs typeface="Calibri" pitchFamily="34" charset="-120"/>
              </a:rPr>
              <a:t>Slip-resistant epoxy in wet rooms; trolleys for loads over 20 kg.</a:t>
            </a:r>
            <a:endParaRPr lang="en-US" sz="1400" dirty="0"/>
          </a:p>
          <a:p>
            <a:pPr marL="342900" indent="-342900">
              <a:spcAft>
                <a:spcPts val="500"/>
              </a:spcAft>
              <a:buSzPct val="100000"/>
              <a:buChar char="•"/>
            </a:pPr>
            <a:r>
              <a:rPr lang="en-US" sz="1400" dirty="0">
                <a:solidFill>
                  <a:srgbClr val="1E2A26"/>
                </a:solidFill>
                <a:latin typeface="Calibri" pitchFamily="34" charset="0"/>
                <a:ea typeface="Calibri" pitchFamily="34" charset="-122"/>
                <a:cs typeface="Calibri" pitchFamily="34" charset="-120"/>
              </a:rPr>
              <a:t>First-aid kit and trained first-aider on every shift.</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4302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20000"/>
          </a:blip>
          <a:stretch>
            <a:fillRect/>
          </a:stretch>
        </p:blipFill>
        <p:spPr>
          <a:xfrm>
            <a:off x="8503920" y="3291840"/>
            <a:ext cx="3108960" cy="3108960"/>
          </a:xfrm>
          <a:prstGeom prst="rect">
            <a:avLst/>
          </a:prstGeom>
        </p:spPr>
      </p:pic>
      <p:sp>
        <p:nvSpPr>
          <p:cNvPr id="3" name="Text 0"/>
          <p:cNvSpPr txBox="1"/>
          <p:nvPr/>
        </p:nvSpPr>
        <p:spPr>
          <a:xfrm>
            <a:off x="731520" y="731520"/>
            <a:ext cx="7315200" cy="320040"/>
          </a:xfrm>
          <a:prstGeom prst="rect">
            <a:avLst/>
          </a:prstGeom>
          <a:noFill/>
          <a:ln/>
        </p:spPr>
        <p:txBody>
          <a:bodyPr wrap="square" lIns="0" tIns="0" rIns="0" bIns="0" rtlCol="0" anchor="t"/>
          <a:lstStyle/>
          <a:p>
            <a:pPr indent="0" marL="0">
              <a:buNone/>
            </a:pPr>
            <a:r>
              <a:rPr lang="en-US" sz="1300" b="1" spc="400" kern="0" dirty="0">
                <a:solidFill>
                  <a:srgbClr val="D9962B"/>
                </a:solidFill>
                <a:latin typeface="Calibri" pitchFamily="34" charset="0"/>
                <a:ea typeface="Calibri" pitchFamily="34" charset="-122"/>
                <a:cs typeface="Calibri" pitchFamily="34" charset="-120"/>
              </a:rPr>
              <a:t>DECISIONS REQUESTED</a:t>
            </a:r>
            <a:endParaRPr lang="en-US" sz="1300" dirty="0"/>
          </a:p>
        </p:txBody>
      </p:sp>
      <p:sp>
        <p:nvSpPr>
          <p:cNvPr id="4" name="Text 1"/>
          <p:cNvSpPr txBox="1"/>
          <p:nvPr/>
        </p:nvSpPr>
        <p:spPr>
          <a:xfrm>
            <a:off x="731520" y="1097280"/>
            <a:ext cx="1005840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Next steps to start the plant</a:t>
            </a:r>
            <a:endParaRPr lang="en-US" sz="3800" dirty="0"/>
          </a:p>
        </p:txBody>
      </p:sp>
      <p:sp>
        <p:nvSpPr>
          <p:cNvPr id="5" name="Shape 2"/>
          <p:cNvSpPr/>
          <p:nvPr/>
        </p:nvSpPr>
        <p:spPr>
          <a:xfrm>
            <a:off x="731520" y="2194560"/>
            <a:ext cx="548640" cy="548640"/>
          </a:xfrm>
          <a:prstGeom prst="ellipse">
            <a:avLst/>
          </a:prstGeom>
          <a:solidFill>
            <a:srgbClr val="2E5E4E"/>
          </a:solidFill>
          <a:ln w="12700">
            <a:solidFill>
              <a:srgbClr val="8DB596"/>
            </a:solidFill>
            <a:prstDash val="solid"/>
          </a:ln>
        </p:spPr>
      </p:sp>
      <p:sp>
        <p:nvSpPr>
          <p:cNvPr id="6" name="Text 3"/>
          <p:cNvSpPr txBox="1"/>
          <p:nvPr/>
        </p:nvSpPr>
        <p:spPr>
          <a:xfrm>
            <a:off x="731520" y="2194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4"/>
          <p:cNvSpPr txBox="1"/>
          <p:nvPr/>
        </p:nvSpPr>
        <p:spPr>
          <a:xfrm>
            <a:off x="1508760" y="2167128"/>
            <a:ext cx="7132320" cy="3200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Approve the phased plan</a:t>
            </a:r>
            <a:endParaRPr lang="en-US" sz="1600" dirty="0"/>
          </a:p>
        </p:txBody>
      </p:sp>
      <p:sp>
        <p:nvSpPr>
          <p:cNvPr id="8" name="Text 5"/>
          <p:cNvSpPr txBox="1"/>
          <p:nvPr/>
        </p:nvSpPr>
        <p:spPr>
          <a:xfrm>
            <a:off x="1508760" y="2487168"/>
            <a:ext cx="7132320" cy="320040"/>
          </a:xfrm>
          <a:prstGeom prst="rect">
            <a:avLst/>
          </a:prstGeom>
          <a:noFill/>
          <a:ln/>
        </p:spPr>
        <p:txBody>
          <a:bodyPr wrap="square" lIns="0" tIns="0" rIns="0" bIns="0" rtlCol="0" anchor="t"/>
          <a:lstStyle/>
          <a:p>
            <a:pPr indent="0" marL="0">
              <a:buNone/>
            </a:pPr>
            <a:r>
              <a:rPr lang="en-US" sz="1250" dirty="0">
                <a:solidFill>
                  <a:srgbClr val="8DB596"/>
                </a:solidFill>
                <a:latin typeface="Calibri" pitchFamily="34" charset="0"/>
                <a:ea typeface="Calibri" pitchFamily="34" charset="-122"/>
                <a:cs typeface="Calibri" pitchFamily="34" charset="-120"/>
              </a:rPr>
              <a:t>Phase 1 at 60 blocks/day with a right-sized ₹18.85 L budget, within the PMEGP cap.</a:t>
            </a:r>
            <a:endParaRPr lang="en-US" sz="1250" dirty="0"/>
          </a:p>
        </p:txBody>
      </p:sp>
      <p:sp>
        <p:nvSpPr>
          <p:cNvPr id="9" name="Shape 6"/>
          <p:cNvSpPr/>
          <p:nvPr/>
        </p:nvSpPr>
        <p:spPr>
          <a:xfrm>
            <a:off x="731520" y="2999232"/>
            <a:ext cx="548640" cy="548640"/>
          </a:xfrm>
          <a:prstGeom prst="ellipse">
            <a:avLst/>
          </a:prstGeom>
          <a:solidFill>
            <a:srgbClr val="2E5E4E"/>
          </a:solidFill>
          <a:ln w="12700">
            <a:solidFill>
              <a:srgbClr val="8DB596"/>
            </a:solidFill>
            <a:prstDash val="solid"/>
          </a:ln>
        </p:spPr>
      </p:sp>
      <p:sp>
        <p:nvSpPr>
          <p:cNvPr id="10" name="Text 7"/>
          <p:cNvSpPr txBox="1"/>
          <p:nvPr/>
        </p:nvSpPr>
        <p:spPr>
          <a:xfrm>
            <a:off x="731520" y="2999232"/>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1" name="Text 8"/>
          <p:cNvSpPr txBox="1"/>
          <p:nvPr/>
        </p:nvSpPr>
        <p:spPr>
          <a:xfrm>
            <a:off x="1508760" y="2971800"/>
            <a:ext cx="7132320" cy="3200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Lock the 750 sq ft layout</a:t>
            </a:r>
            <a:endParaRPr lang="en-US" sz="1600" dirty="0"/>
          </a:p>
        </p:txBody>
      </p:sp>
      <p:sp>
        <p:nvSpPr>
          <p:cNvPr id="12" name="Text 9"/>
          <p:cNvSpPr txBox="1"/>
          <p:nvPr/>
        </p:nvSpPr>
        <p:spPr>
          <a:xfrm>
            <a:off x="1508760" y="3291840"/>
            <a:ext cx="7132320" cy="320040"/>
          </a:xfrm>
          <a:prstGeom prst="rect">
            <a:avLst/>
          </a:prstGeom>
          <a:noFill/>
          <a:ln/>
        </p:spPr>
        <p:txBody>
          <a:bodyPr wrap="square" lIns="0" tIns="0" rIns="0" bIns="0" rtlCol="0" anchor="t"/>
          <a:lstStyle/>
          <a:p>
            <a:pPr indent="0" marL="0">
              <a:buNone/>
            </a:pPr>
            <a:r>
              <a:rPr lang="en-US" sz="1250" dirty="0">
                <a:solidFill>
                  <a:srgbClr val="8DB596"/>
                </a:solidFill>
                <a:latin typeface="Calibri" pitchFamily="34" charset="0"/>
                <a:ea typeface="Calibri" pitchFamily="34" charset="-122"/>
                <a:cs typeface="Calibri" pitchFamily="34" charset="-120"/>
              </a:rPr>
              <a:t>Rack every zone to plan, add a covered outdoor mixing shed, and reserve space for Phase 2.</a:t>
            </a:r>
            <a:endParaRPr lang="en-US" sz="1250" dirty="0"/>
          </a:p>
        </p:txBody>
      </p:sp>
      <p:sp>
        <p:nvSpPr>
          <p:cNvPr id="13" name="Shape 10"/>
          <p:cNvSpPr/>
          <p:nvPr/>
        </p:nvSpPr>
        <p:spPr>
          <a:xfrm>
            <a:off x="731520" y="3803904"/>
            <a:ext cx="548640" cy="548640"/>
          </a:xfrm>
          <a:prstGeom prst="ellipse">
            <a:avLst/>
          </a:prstGeom>
          <a:solidFill>
            <a:srgbClr val="2E5E4E"/>
          </a:solidFill>
          <a:ln w="12700">
            <a:solidFill>
              <a:srgbClr val="8DB596"/>
            </a:solidFill>
            <a:prstDash val="solid"/>
          </a:ln>
        </p:spPr>
      </p:sp>
      <p:sp>
        <p:nvSpPr>
          <p:cNvPr id="14" name="Text 11"/>
          <p:cNvSpPr txBox="1"/>
          <p:nvPr/>
        </p:nvSpPr>
        <p:spPr>
          <a:xfrm>
            <a:off x="731520" y="3803904"/>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5" name="Text 12"/>
          <p:cNvSpPr txBox="1"/>
          <p:nvPr/>
        </p:nvSpPr>
        <p:spPr>
          <a:xfrm>
            <a:off x="1508760" y="3776472"/>
            <a:ext cx="7132320" cy="3200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Launch DPR and subsidy route</a:t>
            </a:r>
            <a:endParaRPr lang="en-US" sz="1600" dirty="0"/>
          </a:p>
        </p:txBody>
      </p:sp>
      <p:sp>
        <p:nvSpPr>
          <p:cNvPr id="16" name="Text 13"/>
          <p:cNvSpPr txBox="1"/>
          <p:nvPr/>
        </p:nvSpPr>
        <p:spPr>
          <a:xfrm>
            <a:off x="1508760" y="4096512"/>
            <a:ext cx="7132320" cy="320040"/>
          </a:xfrm>
          <a:prstGeom prst="rect">
            <a:avLst/>
          </a:prstGeom>
          <a:noFill/>
          <a:ln/>
        </p:spPr>
        <p:txBody>
          <a:bodyPr wrap="square" lIns="0" tIns="0" rIns="0" bIns="0" rtlCol="0" anchor="t"/>
          <a:lstStyle/>
          <a:p>
            <a:pPr indent="0" marL="0">
              <a:buNone/>
            </a:pPr>
            <a:r>
              <a:rPr lang="en-US" sz="1250" dirty="0">
                <a:solidFill>
                  <a:srgbClr val="8DB596"/>
                </a:solidFill>
                <a:latin typeface="Calibri" pitchFamily="34" charset="0"/>
                <a:ea typeface="Calibri" pitchFamily="34" charset="-122"/>
                <a:cs typeface="Calibri" pitchFamily="34" charset="-120"/>
              </a:rPr>
              <a:t>PMEGP-led application with DIC Hamirpur; collect 3 proformas per major item.</a:t>
            </a:r>
            <a:endParaRPr lang="en-US" sz="1250" dirty="0"/>
          </a:p>
        </p:txBody>
      </p:sp>
      <p:sp>
        <p:nvSpPr>
          <p:cNvPr id="17" name="Shape 14"/>
          <p:cNvSpPr/>
          <p:nvPr/>
        </p:nvSpPr>
        <p:spPr>
          <a:xfrm>
            <a:off x="731520" y="4608576"/>
            <a:ext cx="548640" cy="548640"/>
          </a:xfrm>
          <a:prstGeom prst="ellipse">
            <a:avLst/>
          </a:prstGeom>
          <a:solidFill>
            <a:srgbClr val="2E5E4E"/>
          </a:solidFill>
          <a:ln w="12700">
            <a:solidFill>
              <a:srgbClr val="8DB596"/>
            </a:solidFill>
            <a:prstDash val="solid"/>
          </a:ln>
        </p:spPr>
      </p:sp>
      <p:sp>
        <p:nvSpPr>
          <p:cNvPr id="18" name="Text 15"/>
          <p:cNvSpPr txBox="1"/>
          <p:nvPr/>
        </p:nvSpPr>
        <p:spPr>
          <a:xfrm>
            <a:off x="731520" y="4608576"/>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9" name="Text 16"/>
          <p:cNvSpPr txBox="1"/>
          <p:nvPr/>
        </p:nvSpPr>
        <p:spPr>
          <a:xfrm>
            <a:off x="1508760" y="4581144"/>
            <a:ext cx="7132320" cy="3200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Place the culture order now</a:t>
            </a:r>
            <a:endParaRPr lang="en-US" sz="1600" dirty="0"/>
          </a:p>
        </p:txBody>
      </p:sp>
      <p:sp>
        <p:nvSpPr>
          <p:cNvPr id="20" name="Text 17"/>
          <p:cNvSpPr txBox="1"/>
          <p:nvPr/>
        </p:nvSpPr>
        <p:spPr>
          <a:xfrm>
            <a:off x="1508760" y="4901184"/>
            <a:ext cx="7132320" cy="320040"/>
          </a:xfrm>
          <a:prstGeom prst="rect">
            <a:avLst/>
          </a:prstGeom>
          <a:noFill/>
          <a:ln/>
        </p:spPr>
        <p:txBody>
          <a:bodyPr wrap="square" lIns="0" tIns="0" rIns="0" bIns="0" rtlCol="0" anchor="t"/>
          <a:lstStyle/>
          <a:p>
            <a:pPr indent="0" marL="0">
              <a:buNone/>
            </a:pPr>
            <a:r>
              <a:rPr lang="en-US" sz="1250" dirty="0">
                <a:solidFill>
                  <a:srgbClr val="8DB596"/>
                </a:solidFill>
                <a:latin typeface="Calibri" pitchFamily="34" charset="0"/>
                <a:ea typeface="Calibri" pitchFamily="34" charset="-122"/>
                <a:cs typeface="Calibri" pitchFamily="34" charset="-120"/>
              </a:rPr>
              <a:t>ICAR-DMR Solan has a ~2-month lead time; add a private-lab backup strain.</a:t>
            </a:r>
            <a:endParaRPr lang="en-US" sz="1250" dirty="0"/>
          </a:p>
        </p:txBody>
      </p:sp>
      <p:sp>
        <p:nvSpPr>
          <p:cNvPr id="21" name="Shape 18"/>
          <p:cNvSpPr/>
          <p:nvPr/>
        </p:nvSpPr>
        <p:spPr>
          <a:xfrm>
            <a:off x="731520" y="5413248"/>
            <a:ext cx="548640" cy="548640"/>
          </a:xfrm>
          <a:prstGeom prst="ellipse">
            <a:avLst/>
          </a:prstGeom>
          <a:solidFill>
            <a:srgbClr val="2E5E4E"/>
          </a:solidFill>
          <a:ln w="12700">
            <a:solidFill>
              <a:srgbClr val="8DB596"/>
            </a:solidFill>
            <a:prstDash val="solid"/>
          </a:ln>
        </p:spPr>
      </p:sp>
      <p:sp>
        <p:nvSpPr>
          <p:cNvPr id="22" name="Text 19"/>
          <p:cNvSpPr txBox="1"/>
          <p:nvPr/>
        </p:nvSpPr>
        <p:spPr>
          <a:xfrm>
            <a:off x="731520" y="541324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3" name="Text 20"/>
          <p:cNvSpPr txBox="1"/>
          <p:nvPr/>
        </p:nvSpPr>
        <p:spPr>
          <a:xfrm>
            <a:off x="1508760" y="5385816"/>
            <a:ext cx="7132320" cy="3200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Open buyer conversations</a:t>
            </a:r>
            <a:endParaRPr lang="en-US" sz="1600" dirty="0"/>
          </a:p>
        </p:txBody>
      </p:sp>
      <p:sp>
        <p:nvSpPr>
          <p:cNvPr id="24" name="Text 21"/>
          <p:cNvSpPr txBox="1"/>
          <p:nvPr/>
        </p:nvSpPr>
        <p:spPr>
          <a:xfrm>
            <a:off x="1508760" y="5705856"/>
            <a:ext cx="7132320" cy="320040"/>
          </a:xfrm>
          <a:prstGeom prst="rect">
            <a:avLst/>
          </a:prstGeom>
          <a:noFill/>
          <a:ln/>
        </p:spPr>
        <p:txBody>
          <a:bodyPr wrap="square" lIns="0" tIns="0" rIns="0" bIns="0" rtlCol="0" anchor="t"/>
          <a:lstStyle/>
          <a:p>
            <a:pPr indent="0" marL="0">
              <a:buNone/>
            </a:pPr>
            <a:r>
              <a:rPr lang="en-US" sz="1250" dirty="0">
                <a:solidFill>
                  <a:srgbClr val="8DB596"/>
                </a:solidFill>
                <a:latin typeface="Calibri" pitchFamily="34" charset="0"/>
                <a:ea typeface="Calibri" pitchFamily="34" charset="-122"/>
                <a:cs typeface="Calibri" pitchFamily="34" charset="-120"/>
              </a:rPr>
              <a:t>Line up 5–10 B2B buyers for pilot samples from Month 5.</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Lion's Mane Cultivation &amp; Processing Facility - Project Plan</dc:title>
  <dc:subject>PptxGenJS Presentation</dc:subject>
  <dc:creator>PptxGenJS</dc:creator>
  <cp:lastModifiedBy>PptxGenJS</cp:lastModifiedBy>
  <cp:revision>1</cp:revision>
  <dcterms:created xsi:type="dcterms:W3CDTF">2026-09-30T16:02:53Z</dcterms:created>
  <dcterms:modified xsi:type="dcterms:W3CDTF">2026-09-30T16:02:53Z</dcterms:modified>
</cp:coreProperties>
</file>