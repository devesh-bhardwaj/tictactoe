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Calibri"/>
              </a:defRPr>
            </a:pPr>
            <a:r>
              <a:rPr sz="1300" b="0" i="0" u="none" strike="noStrike">
                <a:solidFill>
                  <a:srgbClr val="1E2A26"/>
                </a:solidFill>
                <a:latin typeface="Calibri"/>
              </a:rPr>
              <a:t>Dry powder output, kg per operating day (8% loss, 10:1)</a:t>
            </a:r>
          </a:p>
        </c:rich>
      </c:tx>
      <c:layout/>
      <c:overlay val="0"/>
    </c:title>
    <c:autoTitleDeleted val="0"/>
    <c:plotArea>
      <c:layout/>
      <c:barChart>
        <c:barDir val="col"/>
        <c:grouping val="clustered"/>
        <c:varyColors val="0"/>
        <c:ser>
          <c:idx val="0"/>
          <c:order val="0"/>
          <c:tx>
            <c:strRef>
              <c:f>Sheet1!$B$1</c:f>
              <c:strCache>
                <c:ptCount val="1"/>
                <c:pt idx="0">
                  <c:v>45 blocks/day (current 2-storey building)</c:v>
                </c:pt>
              </c:strCache>
            </c:strRef>
          </c:tx>
          <c:spPr>
            <a:solidFill>
              <a:srgbClr val="8DB596"/>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 50%</c:v>
                  </c:pt>
                  <c:pt idx="1">
                    <c:v>BE 65% (base)</c:v>
                  </c:pt>
                  <c:pt idx="2">
                    <c:v>BE 80%</c:v>
                  </c:pt>
                  <c:pt idx="3">
                    <c:v>BE 100%</c:v>
                  </c:pt>
                </c:lvl>
              </c:multiLvlStrCache>
            </c:multiLvlStrRef>
          </c:cat>
          <c:val>
            <c:numRef>
              <c:f>Sheet1!$B$2:$B$5</c:f>
              <c:numCache>
                <c:formatCode>General</c:formatCode>
                <c:ptCount val="4"/>
                <c:pt idx="0">
                  <c:v>2.07</c:v>
                </c:pt>
                <c:pt idx="1">
                  <c:v>2.69</c:v>
                </c:pt>
                <c:pt idx="2">
                  <c:v>3.31</c:v>
                </c:pt>
                <c:pt idx="3">
                  <c:v>4.14</c:v>
                </c:pt>
              </c:numCache>
            </c:numRef>
          </c:val>
        </c:ser>
        <c:ser>
          <c:idx val="1"/>
          <c:order val="1"/>
          <c:tx>
            <c:strRef>
              <c:f>Sheet1!$C$1</c:f>
              <c:strCache>
                <c:ptCount val="1"/>
                <c:pt idx="0">
                  <c:v>60 blocks/day (Phase 1)</c:v>
                </c:pt>
              </c:strCache>
            </c:strRef>
          </c:tx>
          <c:spPr>
            <a:solidFill>
              <a:srgbClr val="2E5E4E"/>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 50%</c:v>
                  </c:pt>
                  <c:pt idx="1">
                    <c:v>BE 65% (base)</c:v>
                  </c:pt>
                  <c:pt idx="2">
                    <c:v>BE 80%</c:v>
                  </c:pt>
                  <c:pt idx="3">
                    <c:v>BE 100%</c:v>
                  </c:pt>
                </c:lvl>
              </c:multiLvlStrCache>
            </c:multiLvlStrRef>
          </c:cat>
          <c:val>
            <c:numRef>
              <c:f>Sheet1!$C$2:$C$5</c:f>
              <c:numCache>
                <c:formatCode>General</c:formatCode>
                <c:ptCount val="4"/>
                <c:pt idx="0">
                  <c:v>2.76</c:v>
                </c:pt>
                <c:pt idx="1">
                  <c:v>3.59</c:v>
                </c:pt>
                <c:pt idx="2">
                  <c:v>4.42</c:v>
                </c:pt>
                <c:pt idx="3">
                  <c:v>5.52</c:v>
                </c:pt>
              </c:numCache>
            </c:numRef>
          </c:val>
        </c:ser>
        <c:ser>
          <c:idx val="2"/>
          <c:order val="2"/>
          <c:tx>
            <c:strRef>
              <c:f>Sheet1!$D$1</c:f>
              <c:strCache>
                <c:ptCount val="1"/>
                <c:pt idx="0">
                  <c:v>90 blocks/day (Phase 2)</c:v>
                </c:pt>
              </c:strCache>
            </c:strRef>
          </c:tx>
          <c:spPr>
            <a:solidFill>
              <a:srgbClr val="D9962B"/>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Sheet1!$A$2:$A$5</c:f>
              <c:multiLvlStrCache>
                <c:ptCount val="4"/>
                <c:lvl>
                  <c:pt idx="0">
                    <c:v>BE 50%</c:v>
                  </c:pt>
                  <c:pt idx="1">
                    <c:v>BE 65% (base)</c:v>
                  </c:pt>
                  <c:pt idx="2">
                    <c:v>BE 80%</c:v>
                  </c:pt>
                  <c:pt idx="3">
                    <c:v>BE 100%</c:v>
                  </c:pt>
                </c:lvl>
              </c:multiLvlStrCache>
            </c:multiLvlStrRef>
          </c:cat>
          <c:val>
            <c:numRef>
              <c:f>Sheet1!$D$2:$D$5</c:f>
              <c:numCache>
                <c:formatCode>General</c:formatCode>
                <c:ptCount val="4"/>
                <c:pt idx="0">
                  <c:v>4.14</c:v>
                </c:pt>
                <c:pt idx="1">
                  <c:v>5.38</c:v>
                </c:pt>
                <c:pt idx="2">
                  <c:v>6.62</c:v>
                </c:pt>
                <c:pt idx="3">
                  <c:v>8.28</c:v>
                </c:pt>
              </c:numCache>
            </c:numRef>
          </c:val>
        </c:ser>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A26"/>
                </a:solidFill>
                <a:latin typeface="Arial"/>
              </a:defRPr>
            </a:pPr>
            <a:endParaRPr lang="en-US"/>
          </a:p>
        </c:txPr>
        <c:crossAx val="2094734552"/>
        <c:crosses val="autoZero"/>
        <c:auto val="1"/>
        <c:lblAlgn val="ctr"/>
        <c:noMultiLvlLbl val="1"/>
      </c:catAx>
      <c:valAx>
        <c:axId val="2094734552"/>
        <c:scaling>
          <c:orientation val="minMax"/>
          <c:max val="9"/>
          <c:min val="0"/>
        </c:scaling>
        <c:delete val="0"/>
        <c:axPos val="l"/>
        <c:majorGridlines>
          <c:spPr>
            <a:ln w="6350" cap="flat">
              <a:solidFill>
                <a:srgbClr val="E5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F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A26"/>
                </a:solidFill>
                <a:latin typeface="Calibri"/>
              </a:defRPr>
            </a:pPr>
            <a:r>
              <a:rPr sz="1200" b="0" i="0" u="none" strike="noStrike">
                <a:solidFill>
                  <a:srgbClr val="1E2A26"/>
                </a:solidFill>
                <a:latin typeface="Calibri"/>
              </a:rPr>
              <a:t>Daily batch: 155 kg wet @ 60% moisture</a:t>
            </a:r>
          </a:p>
        </c:rich>
      </c:tx>
      <c:layout/>
      <c:overlay val="0"/>
    </c:title>
    <c:autoTitleDeleted val="0"/>
    <c:plotArea>
      <c:layout/>
      <c:doughnutChart>
        <c:varyColors val="1"/>
        <c:ser>
          <c:idx val="0"/>
          <c:order val="0"/>
          <c:tx>
            <c:strRef>
              <c:f>Sheet1!$B$1</c:f>
              <c:strCache>
                <c:ptCount val="1"/>
                <c:pt idx="0">
                  <c:v>Daily batch</c:v>
                </c:pt>
              </c:strCache>
            </c:strRef>
          </c:tx>
          <c:spPr>
            <a:solidFill>
              <a:schemeClr val="accent1"/>
            </a:solidFill>
            <a:ln w="9525" cap="flat">
              <a:solidFill>
                <a:srgbClr val="F9F9F9"/>
              </a:solidFill>
              <a:prstDash val="solid"/>
              <a:round/>
            </a:ln>
            <a:effectLst/>
          </c:spPr>
          <c:dPt>
            <c:idx val="0"/>
            <c:bubble3D val="0"/>
            <c:spPr>
              <a:solidFill>
                <a:srgbClr val="2E5E4E"/>
              </a:solidFill>
              <a:effectLst/>
            </c:spPr>
          </c:dPt>
          <c:dPt>
            <c:idx val="1"/>
            <c:bubble3D val="0"/>
            <c:spPr>
              <a:solidFill>
                <a:srgbClr val="D9962B"/>
              </a:solidFill>
              <a:effectLst/>
            </c:spPr>
          </c:dPt>
          <c:dPt>
            <c:idx val="2"/>
            <c:bubble3D val="0"/>
            <c:spPr>
              <a:solidFill>
                <a:srgbClr val="4F8AA0"/>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Hardwood sawdust 31 kg</c:v>
                </c:pt>
                <c:pt idx="1">
                  <c:v>Soy hull 31 kg</c:v>
                </c:pt>
                <c:pt idx="2">
                  <c:v>Water 93 L</c:v>
                </c:pt>
              </c:strCache>
            </c:strRef>
          </c:cat>
          <c:val>
            <c:numRef>
              <c:f>Sheet1!$B$2:$B$4</c:f>
              <c:numCache>
                <c:ptCount val="3"/>
                <c:pt idx="0">
                  <c:v>31</c:v>
                </c:pt>
                <c:pt idx="1">
                  <c:v>31</c:v>
                </c:pt>
                <c:pt idx="2">
                  <c:v>93</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E5E4E"/>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 (Phase 2)</c:v>
                  </c:pt>
                </c:lvl>
              </c:multiLvlStrCache>
            </c:multiLvlStrRef>
          </c:cat>
          <c:val>
            <c:numRef>
              <c:f>Sheet1!$B$2:$B$4</c:f>
              <c:numCache>
                <c:formatCode>General</c:formatCode>
                <c:ptCount val="3"/>
                <c:pt idx="0">
                  <c:v>38.8</c:v>
                </c:pt>
                <c:pt idx="1">
                  <c:v>89.6</c:v>
                </c:pt>
                <c:pt idx="2">
                  <c:v>134.3</c:v>
                </c:pt>
              </c:numCache>
            </c:numRef>
          </c:val>
        </c:ser>
        <c:ser>
          <c:idx val="1"/>
          <c:order val="1"/>
          <c:tx>
            <c:strRef>
              <c:f>Sheet1!$C$1</c:f>
              <c:strCache>
                <c:ptCount val="1"/>
                <c:pt idx="0">
                  <c:v>Operating cost</c:v>
                </c:pt>
              </c:strCache>
            </c:strRef>
          </c:tx>
          <c:spPr>
            <a:solidFill>
              <a:srgbClr val="C9D5CF"/>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 (Phase 2)</c:v>
                  </c:pt>
                </c:lvl>
              </c:multiLvlStrCache>
            </c:multiLvlStrRef>
          </c:cat>
          <c:val>
            <c:numRef>
              <c:f>Sheet1!$C$2:$C$4</c:f>
              <c:numCache>
                <c:formatCode>General</c:formatCode>
                <c:ptCount val="3"/>
                <c:pt idx="0">
                  <c:v>22.8</c:v>
                </c:pt>
                <c:pt idx="1">
                  <c:v>33.1</c:v>
                </c:pt>
                <c:pt idx="2">
                  <c:v>46.8</c:v>
                </c:pt>
              </c:numCache>
            </c:numRef>
          </c:val>
        </c:ser>
        <c:ser>
          <c:idx val="2"/>
          <c:order val="2"/>
          <c:tx>
            <c:strRef>
              <c:f>Sheet1!$D$1</c:f>
              <c:strCache>
                <c:ptCount val="1"/>
                <c:pt idx="0">
                  <c:v>EBITDA</c:v>
                </c:pt>
              </c:strCache>
            </c:strRef>
          </c:tx>
          <c:spPr>
            <a:solidFill>
              <a:srgbClr val="D9962B"/>
            </a:solidFill>
            <a:effectLst/>
          </c:spPr>
          <c:invertIfNegative val="0"/>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 (Phase 2)</c:v>
                  </c:pt>
                </c:lvl>
              </c:multiLvlStrCache>
            </c:multiLvlStrRef>
          </c:cat>
          <c:val>
            <c:numRef>
              <c:f>Sheet1!$D$2:$D$4</c:f>
              <c:numCache>
                <c:formatCode>General</c:formatCode>
                <c:ptCount val="3"/>
                <c:pt idx="0">
                  <c:v>16</c:v>
                </c:pt>
                <c:pt idx="1">
                  <c:v>56.4</c:v>
                </c:pt>
                <c:pt idx="2">
                  <c:v>87.5</c:v>
                </c:pt>
              </c:numCache>
            </c:numRef>
          </c:val>
        </c:ser>
        <c:dLbls>
          <c:numFmt formatCode="0.0" sourceLinked="0"/>
          <c:txPr>
            <a:bodyPr/>
            <a:lstStyle/>
            <a:p>
              <a:pPr>
                <a:defRPr b="0" i="0" strike="noStrike" sz="1000" u="none">
                  <a:solidFill>
                    <a:srgbClr val="1E2A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A26"/>
                </a:solidFill>
                <a:latin typeface="Arial"/>
              </a:defRPr>
            </a:pPr>
            <a:endParaRPr lang="en-US"/>
          </a:p>
        </c:txPr>
        <c:crossAx val="2094734552"/>
        <c:crosses val="autoZero"/>
        <c:auto val="1"/>
        <c:lblAlgn val="ctr"/>
        <c:noMultiLvlLbl val="1"/>
      </c:catAx>
      <c:valAx>
        <c:axId val="2094734552"/>
        <c:scaling>
          <c:orientation val="minMax"/>
          <c:max val="150"/>
          <c:min val="0"/>
        </c:scaling>
        <c:delete val="0"/>
        <c:axPos val="l"/>
        <c:majorGridlines>
          <c:spPr>
            <a:ln w="6350" cap="flat">
              <a:solidFill>
                <a:srgbClr val="E5EC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F6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deck covers the biology, facility design, processing, quality, market, economics, regulatory path and implementation plan for a Lion's Mane (Hericium erinaceus) facility at Hamirpur, HP.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numbers use conservative biology (65% biological efficiency, 8% contamination loss, 10:1 fresh-to-dry). The notes' 80-100% BE is treated as upside, not the base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Scientific audiences will check the chemistry: hericenones are fruiting-body compounds, erinacines are largely mycelial. Positioning as fruiting-body-only is the honest and defensible claim. Validate the supply-gap thesis with 5-10 buyer interviews before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 advantages: genetics (ICAR-DMR Solan), feedstock (Punjab soy hull, Zirakpur sawdust), buyers (BBN cluster, Haridwar-Dehradun, NCR), incentives (special category state), and a natural cool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Mass balance: 31 kg hardwood + 31 kg soy hull + 93 L water = 155 kg wet at 60% moisture = 62 blocks of 2.5 kg. Each block holds ~1 kg dry substrate. At 65% BE and 8% losses, 60 blocks give ~36 kg fresh, ~3.6 kg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shows dry kg per operating day across block counts and BE. The base case is 65% BE. The 45-block series is what the existing 25x10 ft two-storey footprint can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Colonised blocks move to fruiting when fully white, before pins form inside the bag. Slit/X-cut initiates pinning in 5-7 days; first harvest ~12-14 days after the cut. Second flush is typically 30-50% of the first; blocks exit after two flushes.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the ICAR-DMR culture in Month 1 because of the ~2 month lead time. Run a private-lab strain in parallel as a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Spawn rate: 6 kg per 60 blocks = 100 g per 2.5 kg block (~4% of wet weight, 10% of dry substrate). On nutrient-rich Master's Mix, raising this to 150 g per block shortens colonization and closes the contamination window; trial both in Month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Recipe per notes: 31 kg hardwood + 31 kg soy hull + 93 L water = 155 kg wet, 60% moisture, ~62 blocks of 2.5 kg.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Supplemented sawdust blocks heat slowly at the core; a 90-minute cycle that is fine for small grain bags will leave survivors in 2.5 kg Master's Mix blocks. Validate by placing a thermocouple and a biological indicator in the centre of the densest block in the coldest part of the chamber.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facility is designed so that material moves only forward, people move from clean to dirty, and air pressure cascades from clean to dirty. This is the single most important design decision for contamination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notes gave slightly different incubation temperatures (21-24, 23-24, 22). We control air at 22 C so block cores stay below 27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hybrid model (commercial split ACs plus a HEPA-filtered make-up air box) is far cheaper than a full AHU cleanroom and is adequate for mushroom inoculation when combined with ISO 5 laminar flow hoods.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blocks per day x 21 days = 1,260 blocks. Racks are 4 ft wide by 2 ft deep, 9 ft tall with 8 tiers. Incubation packing density is much higher than fruiting because no fruit bodies need space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smaller fruiting rooms beat one large one: you can empty, clean and sanitize one while the other produces, which breaks pest and mould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correction. The biggest are autoclave sizing and sterilization time (contamination), fruiting density and room count (quality), and yield assumptions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substrate 6x10, clean lab 6x10, incubation 13x10, fruiting 25x10. Phase 1 requirement is about 1,220 sq ft on site plus off-site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Lion's Mane bruises and yellows quickly. Handle by the base, never squeeze the spines, and get it into the dryer the same day. For B2C packs, advise use in hot preparations (tea, coffee, cooking); heat helps release beta-glucans from chitin cell walls. This is usage guidance, not a health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starch test is the single most powerful commercial differentiator: mycelium-on-grain products typically show high starch and low beta-glucan. Quote beta-glucan and starch on every 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Erinacines concentrate in mycelium, so a future mycelial or ethanol-extract line is a scientifically distinct product, not a substitute for fruiting-body powder.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 each segment with 2-3 buyer conversations and sample requests before Month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sampling from pilot production in Month 5-6 so buyer qualification runs in parallel with the ramp. Expect 30-90 day credit terms; an early-payment discount of ~2% can pull cash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Freight rates beyond Dehradun are planning estimates based on the Dehradun quote; confirm with carriers.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Rent and land are excluded (own premises assumed). The autoclave is the largest single process item; do not economise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Labour: production manager/mycologist Rs 35k, lab technician Rs 22k, three associates at Rs 14k each. Rent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Payback: cumulative EBITDA of Rs 16 L in Year 1, then about Rs 4.7 L per month in Year 2, recovers Rs 66 L at roughly month 23. Debt service and tax are not included; the bank DPR will add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Scheme parameters change; verify current guidelines and cost norms at the DPR stage. Not financial or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FSSAI category and licence tier with a food regulatory consultant before Month 4. Not legal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Personnel move clean to dirty within a day. The lab technician does sterile work first and never enters fruiting or prep beforehand.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 path: subsidy in-principle approval gates equipment purchase; culture lead time gates the strain trial. Start both in Month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operational risks are contamination and power. Both are addressed in design (sterilization validation, pressure cascade, DG) rather than left to operators.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KPI is measurable from the lot logs, data loggers and CoAs described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Spore allergy is the most under-appreciated occupational risk in mushroom farming. Masks in fruiting rooms are mandatory.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for the five decisions. The two long-lead items, culture and subsidy approval, should start this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2000"/>
          </a:blip>
          <a:stretch>
            <a:fillRect/>
          </a:stretch>
        </p:blipFill>
        <p:spPr>
          <a:xfrm>
            <a:off x="7863840" y="1097280"/>
            <a:ext cx="4206240" cy="4206240"/>
          </a:xfrm>
          <a:prstGeom prst="rect">
            <a:avLst/>
          </a:prstGeom>
        </p:spPr>
      </p:pic>
      <p:sp>
        <p:nvSpPr>
          <p:cNvPr id="3" name="Text 0"/>
          <p:cNvSpPr txBox="1"/>
          <p:nvPr/>
        </p:nvSpPr>
        <p:spPr>
          <a:xfrm>
            <a:off x="731520" y="1188720"/>
            <a:ext cx="7315200" cy="320040"/>
          </a:xfrm>
          <a:prstGeom prst="rect">
            <a:avLst/>
          </a:prstGeom>
          <a:noFill/>
          <a:ln/>
        </p:spPr>
        <p:txBody>
          <a:bodyPr wrap="square" lIns="0" tIns="0" rIns="0" bIns="0" rtlCol="0" anchor="t"/>
          <a:lstStyle/>
          <a:p>
            <a:pPr indent="0" marL="0">
              <a:buNone/>
            </a:pPr>
            <a:r>
              <a:rPr lang="en-US" sz="1300" b="1" spc="400" kern="0" dirty="0">
                <a:solidFill>
                  <a:srgbClr val="D9962B"/>
                </a:solidFill>
                <a:latin typeface="Calibri" pitchFamily="34" charset="0"/>
                <a:ea typeface="Calibri" pitchFamily="34" charset="-122"/>
                <a:cs typeface="Calibri" pitchFamily="34" charset="-120"/>
              </a:rPr>
              <a:t>PROJECT PLAN  ·  OCTOBER 2026</a:t>
            </a:r>
            <a:endParaRPr lang="en-US" sz="1300" dirty="0"/>
          </a:p>
        </p:txBody>
      </p:sp>
      <p:sp>
        <p:nvSpPr>
          <p:cNvPr id="4" name="Text 1"/>
          <p:cNvSpPr txBox="1"/>
          <p:nvPr/>
        </p:nvSpPr>
        <p:spPr>
          <a:xfrm>
            <a:off x="731520" y="1645920"/>
            <a:ext cx="7863840" cy="17373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Lion's Mane Cultivation &amp; Processing Facility</a:t>
            </a:r>
            <a:endParaRPr lang="en-US" sz="4400" dirty="0"/>
          </a:p>
        </p:txBody>
      </p:sp>
      <p:sp>
        <p:nvSpPr>
          <p:cNvPr id="5" name="Text 2"/>
          <p:cNvSpPr txBox="1"/>
          <p:nvPr/>
        </p:nvSpPr>
        <p:spPr>
          <a:xfrm>
            <a:off x="731520" y="3474720"/>
            <a:ext cx="7315200" cy="822960"/>
          </a:xfrm>
          <a:prstGeom prst="rect">
            <a:avLst/>
          </a:prstGeom>
          <a:noFill/>
          <a:ln/>
        </p:spPr>
        <p:txBody>
          <a:bodyPr wrap="square" lIns="0" tIns="0" rIns="0" bIns="0" rtlCol="0" anchor="t"/>
          <a:lstStyle/>
          <a:p>
            <a:pPr indent="0" marL="0">
              <a:buNone/>
            </a:pPr>
            <a:r>
              <a:rPr lang="en-US" sz="1800" dirty="0">
                <a:solidFill>
                  <a:srgbClr val="8DB596"/>
                </a:solidFill>
                <a:latin typeface="Calibri" pitchFamily="34" charset="0"/>
                <a:ea typeface="Calibri" pitchFamily="34" charset="-122"/>
                <a:cs typeface="Calibri" pitchFamily="34" charset="-120"/>
              </a:rPr>
              <a:t>Commercial production of Hericium erinaceus fruiting-body powder for nutraceutical, Ayurveda and nootropic brands</a:t>
            </a:r>
            <a:endParaRPr lang="en-US" sz="1800" dirty="0"/>
          </a:p>
        </p:txBody>
      </p:sp>
      <p:sp>
        <p:nvSpPr>
          <p:cNvPr id="6" name="Text 3"/>
          <p:cNvSpPr txBox="1"/>
          <p:nvPr/>
        </p:nvSpPr>
        <p:spPr>
          <a:xfrm>
            <a:off x="731520" y="4389120"/>
            <a:ext cx="7315200" cy="3657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Hamirpur, Himachal Pradesh, India</a:t>
            </a:r>
            <a:endParaRPr lang="en-US" sz="1500" dirty="0"/>
          </a:p>
        </p:txBody>
      </p:sp>
      <p:sp>
        <p:nvSpPr>
          <p:cNvPr id="7" name="Shape 4"/>
          <p:cNvSpPr/>
          <p:nvPr/>
        </p:nvSpPr>
        <p:spPr>
          <a:xfrm>
            <a:off x="731520" y="5257800"/>
            <a:ext cx="1883664" cy="411480"/>
          </a:xfrm>
          <a:prstGeom prst="roundRect">
            <a:avLst>
              <a:gd name="adj" fmla="val 48889"/>
            </a:avLst>
          </a:prstGeom>
          <a:solidFill>
            <a:srgbClr val="2E5E4E"/>
          </a:solidFill>
          <a:ln w="9525">
            <a:solidFill>
              <a:srgbClr val="8DB596"/>
            </a:solidFill>
            <a:prstDash val="solid"/>
          </a:ln>
        </p:spPr>
      </p:sp>
      <p:sp>
        <p:nvSpPr>
          <p:cNvPr id="8" name="Text 5"/>
          <p:cNvSpPr txBox="1"/>
          <p:nvPr/>
        </p:nvSpPr>
        <p:spPr>
          <a:xfrm>
            <a:off x="731520" y="5257800"/>
            <a:ext cx="1883664" cy="41148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Fruiting-body only</a:t>
            </a:r>
            <a:endParaRPr lang="en-US" sz="1200" dirty="0"/>
          </a:p>
        </p:txBody>
      </p:sp>
      <p:sp>
        <p:nvSpPr>
          <p:cNvPr id="9" name="Shape 6"/>
          <p:cNvSpPr/>
          <p:nvPr/>
        </p:nvSpPr>
        <p:spPr>
          <a:xfrm>
            <a:off x="2843784" y="5257800"/>
            <a:ext cx="1796796" cy="411480"/>
          </a:xfrm>
          <a:prstGeom prst="roundRect">
            <a:avLst>
              <a:gd name="adj" fmla="val 48889"/>
            </a:avLst>
          </a:prstGeom>
          <a:solidFill>
            <a:srgbClr val="2E5E4E"/>
          </a:solidFill>
          <a:ln w="9525">
            <a:solidFill>
              <a:srgbClr val="8DB596"/>
            </a:solidFill>
            <a:prstDash val="solid"/>
          </a:ln>
        </p:spPr>
      </p:sp>
      <p:sp>
        <p:nvSpPr>
          <p:cNvPr id="10" name="Text 7"/>
          <p:cNvSpPr txBox="1"/>
          <p:nvPr/>
        </p:nvSpPr>
        <p:spPr>
          <a:xfrm>
            <a:off x="2843784" y="5257800"/>
            <a:ext cx="1796796" cy="41148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Lot-wise NABL CoA</a:t>
            </a:r>
            <a:endParaRPr lang="en-US" sz="1200" dirty="0"/>
          </a:p>
        </p:txBody>
      </p:sp>
      <p:sp>
        <p:nvSpPr>
          <p:cNvPr id="11" name="Shape 8"/>
          <p:cNvSpPr/>
          <p:nvPr/>
        </p:nvSpPr>
        <p:spPr>
          <a:xfrm>
            <a:off x="4869180" y="5257800"/>
            <a:ext cx="3012948" cy="411480"/>
          </a:xfrm>
          <a:prstGeom prst="roundRect">
            <a:avLst>
              <a:gd name="adj" fmla="val 48889"/>
            </a:avLst>
          </a:prstGeom>
          <a:solidFill>
            <a:srgbClr val="2E5E4E"/>
          </a:solidFill>
          <a:ln w="9525">
            <a:solidFill>
              <a:srgbClr val="8DB596"/>
            </a:solidFill>
            <a:prstDash val="solid"/>
          </a:ln>
        </p:spPr>
      </p:sp>
      <p:sp>
        <p:nvSpPr>
          <p:cNvPr id="12" name="Text 9"/>
          <p:cNvSpPr txBox="1"/>
          <p:nvPr/>
        </p:nvSpPr>
        <p:spPr>
          <a:xfrm>
            <a:off x="4869180" y="5257800"/>
            <a:ext cx="3012948" cy="41148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Unidirectional biosecure design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A phased, lab-grade Lion's Mane plant in the Himalayan foothills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08760"/>
            <a:ext cx="2606040" cy="2103120"/>
          </a:xfrm>
          <a:prstGeom prst="roundRect">
            <a:avLst>
              <a:gd name="adj" fmla="val 3478"/>
            </a:avLst>
          </a:prstGeom>
          <a:solidFill>
            <a:srgbClr val="EEF4F0"/>
          </a:solidFill>
          <a:ln w="9525">
            <a:solidFill>
              <a:srgbClr val="EEF4F0"/>
            </a:solidFill>
            <a:prstDash val="solid"/>
          </a:ln>
        </p:spPr>
      </p:sp>
      <p:sp>
        <p:nvSpPr>
          <p:cNvPr id="7" name="Text 5"/>
          <p:cNvSpPr txBox="1"/>
          <p:nvPr/>
        </p:nvSpPr>
        <p:spPr>
          <a:xfrm>
            <a:off x="777240" y="1673352"/>
            <a:ext cx="2148840" cy="105156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60 → 90</a:t>
            </a:r>
            <a:endParaRPr lang="en-US" sz="3000" dirty="0"/>
          </a:p>
        </p:txBody>
      </p:sp>
      <p:sp>
        <p:nvSpPr>
          <p:cNvPr id="8" name="Text 6"/>
          <p:cNvSpPr txBox="1"/>
          <p:nvPr/>
        </p:nvSpPr>
        <p:spPr>
          <a:xfrm>
            <a:off x="777240" y="2665476"/>
            <a:ext cx="2148840" cy="841248"/>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fruiting blocks inoculated per day</a:t>
            </a:r>
            <a:endParaRPr lang="en-US" sz="1150" dirty="0"/>
          </a:p>
          <a:p>
            <a:pPr indent="0" marL="0">
              <a:buNone/>
            </a:pPr>
            <a:r>
              <a:rPr lang="en-US" sz="1150" dirty="0">
                <a:solidFill>
                  <a:srgbClr val="5F6F69"/>
                </a:solidFill>
                <a:latin typeface="Calibri" pitchFamily="34" charset="0"/>
                <a:ea typeface="Calibri" pitchFamily="34" charset="-122"/>
                <a:cs typeface="Calibri" pitchFamily="34" charset="-120"/>
              </a:rPr>
              <a:t>(Phase 1 → Phase 2)</a:t>
            </a:r>
            <a:endParaRPr lang="en-US" sz="1150" dirty="0"/>
          </a:p>
        </p:txBody>
      </p:sp>
      <p:sp>
        <p:nvSpPr>
          <p:cNvPr id="9" name="Shape 7"/>
          <p:cNvSpPr/>
          <p:nvPr/>
        </p:nvSpPr>
        <p:spPr>
          <a:xfrm>
            <a:off x="3337560" y="1508760"/>
            <a:ext cx="2606040" cy="2103120"/>
          </a:xfrm>
          <a:prstGeom prst="roundRect">
            <a:avLst>
              <a:gd name="adj" fmla="val 3478"/>
            </a:avLst>
          </a:prstGeom>
          <a:solidFill>
            <a:srgbClr val="EEF4F0"/>
          </a:solidFill>
          <a:ln w="9525">
            <a:solidFill>
              <a:srgbClr val="EEF4F0"/>
            </a:solidFill>
            <a:prstDash val="solid"/>
          </a:ln>
        </p:spPr>
      </p:sp>
      <p:sp>
        <p:nvSpPr>
          <p:cNvPr id="10" name="Text 8"/>
          <p:cNvSpPr txBox="1"/>
          <p:nvPr/>
        </p:nvSpPr>
        <p:spPr>
          <a:xfrm>
            <a:off x="3566160" y="1673352"/>
            <a:ext cx="2148840" cy="105156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3.6 → 5.4 kg</a:t>
            </a:r>
            <a:endParaRPr lang="en-US" sz="3000" dirty="0"/>
          </a:p>
        </p:txBody>
      </p:sp>
      <p:sp>
        <p:nvSpPr>
          <p:cNvPr id="11" name="Text 9"/>
          <p:cNvSpPr txBox="1"/>
          <p:nvPr/>
        </p:nvSpPr>
        <p:spPr>
          <a:xfrm>
            <a:off x="3566160" y="2665476"/>
            <a:ext cx="2148840" cy="841248"/>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dry fruiting-body powder per operating day (base case, 65% BE)</a:t>
            </a:r>
            <a:endParaRPr lang="en-US" sz="1150" dirty="0"/>
          </a:p>
        </p:txBody>
      </p:sp>
      <p:sp>
        <p:nvSpPr>
          <p:cNvPr id="12" name="Shape 10"/>
          <p:cNvSpPr/>
          <p:nvPr/>
        </p:nvSpPr>
        <p:spPr>
          <a:xfrm>
            <a:off x="548640" y="3840480"/>
            <a:ext cx="2606040" cy="2103120"/>
          </a:xfrm>
          <a:prstGeom prst="roundRect">
            <a:avLst>
              <a:gd name="adj" fmla="val 3478"/>
            </a:avLst>
          </a:prstGeom>
          <a:solidFill>
            <a:srgbClr val="EEF4F0"/>
          </a:solidFill>
          <a:ln w="9525">
            <a:solidFill>
              <a:srgbClr val="EEF4F0"/>
            </a:solidFill>
            <a:prstDash val="solid"/>
          </a:ln>
        </p:spPr>
      </p:sp>
      <p:sp>
        <p:nvSpPr>
          <p:cNvPr id="13" name="Text 11"/>
          <p:cNvSpPr txBox="1"/>
          <p:nvPr/>
        </p:nvSpPr>
        <p:spPr>
          <a:xfrm>
            <a:off x="777240" y="4005072"/>
            <a:ext cx="2148840" cy="105156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₹66 L</a:t>
            </a:r>
            <a:endParaRPr lang="en-US" sz="3000" dirty="0"/>
          </a:p>
        </p:txBody>
      </p:sp>
      <p:sp>
        <p:nvSpPr>
          <p:cNvPr id="14" name="Text 12"/>
          <p:cNvSpPr txBox="1"/>
          <p:nvPr/>
        </p:nvSpPr>
        <p:spPr>
          <a:xfrm>
            <a:off x="777240" y="4997196"/>
            <a:ext cx="2148840" cy="841248"/>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total Phase-1 project cost incl. ₹12 L working capital</a:t>
            </a:r>
            <a:endParaRPr lang="en-US" sz="1150" dirty="0"/>
          </a:p>
        </p:txBody>
      </p:sp>
      <p:sp>
        <p:nvSpPr>
          <p:cNvPr id="15" name="Shape 13"/>
          <p:cNvSpPr/>
          <p:nvPr/>
        </p:nvSpPr>
        <p:spPr>
          <a:xfrm>
            <a:off x="3337560" y="3840480"/>
            <a:ext cx="2606040" cy="2103120"/>
          </a:xfrm>
          <a:prstGeom prst="roundRect">
            <a:avLst>
              <a:gd name="adj" fmla="val 3478"/>
            </a:avLst>
          </a:prstGeom>
          <a:solidFill>
            <a:srgbClr val="FBF1DE"/>
          </a:solidFill>
          <a:ln w="9525">
            <a:solidFill>
              <a:srgbClr val="FBF1DE"/>
            </a:solidFill>
            <a:prstDash val="solid"/>
          </a:ln>
        </p:spPr>
      </p:sp>
      <p:sp>
        <p:nvSpPr>
          <p:cNvPr id="16" name="Text 14"/>
          <p:cNvSpPr txBox="1"/>
          <p:nvPr/>
        </p:nvSpPr>
        <p:spPr>
          <a:xfrm>
            <a:off x="3566160" y="4005072"/>
            <a:ext cx="2148840" cy="1051560"/>
          </a:xfrm>
          <a:prstGeom prst="rect">
            <a:avLst/>
          </a:prstGeom>
          <a:noFill/>
          <a:ln/>
        </p:spPr>
        <p:txBody>
          <a:bodyPr wrap="square" lIns="0" tIns="0" rIns="0" bIns="0" rtlCol="0" anchor="ctr"/>
          <a:lstStyle/>
          <a:p>
            <a:pPr indent="0" marL="0">
              <a:buNone/>
            </a:pPr>
            <a:r>
              <a:rPr lang="en-US" sz="3000" b="1" dirty="0">
                <a:solidFill>
                  <a:srgbClr val="A36A12"/>
                </a:solidFill>
                <a:latin typeface="Cambria" pitchFamily="34" charset="0"/>
                <a:ea typeface="Cambria" pitchFamily="34" charset="-122"/>
                <a:cs typeface="Cambria" pitchFamily="34" charset="-120"/>
              </a:rPr>
              <a:t>~23 months</a:t>
            </a:r>
            <a:endParaRPr lang="en-US" sz="3000" dirty="0"/>
          </a:p>
        </p:txBody>
      </p:sp>
      <p:sp>
        <p:nvSpPr>
          <p:cNvPr id="17" name="Text 15"/>
          <p:cNvSpPr txBox="1"/>
          <p:nvPr/>
        </p:nvSpPr>
        <p:spPr>
          <a:xfrm>
            <a:off x="3566160" y="4997196"/>
            <a:ext cx="2148840" cy="841248"/>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EBITDA payback from project start (Phase 1, ₹8,000/kg)</a:t>
            </a:r>
            <a:endParaRPr lang="en-US" sz="1150" dirty="0"/>
          </a:p>
        </p:txBody>
      </p:sp>
      <p:sp>
        <p:nvSpPr>
          <p:cNvPr id="18" name="Shape 16"/>
          <p:cNvSpPr/>
          <p:nvPr/>
        </p:nvSpPr>
        <p:spPr>
          <a:xfrm>
            <a:off x="6355080" y="1508760"/>
            <a:ext cx="5303520" cy="4434840"/>
          </a:xfrm>
          <a:prstGeom prst="roundRect">
            <a:avLst>
              <a:gd name="adj" fmla="val 1649"/>
            </a:avLst>
          </a:prstGeom>
          <a:solidFill>
            <a:srgbClr val="FFFFFF"/>
          </a:solidFill>
          <a:ln w="9525">
            <a:solidFill>
              <a:srgbClr val="D3DED8"/>
            </a:solidFill>
            <a:prstDash val="solid"/>
          </a:ln>
        </p:spPr>
      </p:sp>
      <p:sp>
        <p:nvSpPr>
          <p:cNvPr id="19" name="Text 17"/>
          <p:cNvSpPr txBox="1"/>
          <p:nvPr/>
        </p:nvSpPr>
        <p:spPr>
          <a:xfrm>
            <a:off x="6629400" y="1691640"/>
            <a:ext cx="4754880" cy="365760"/>
          </a:xfrm>
          <a:prstGeom prst="rect">
            <a:avLst/>
          </a:prstGeom>
          <a:noFill/>
          <a:ln/>
        </p:spPr>
        <p:txBody>
          <a:bodyPr wrap="square" lIns="0" tIns="0" rIns="0" bIns="0" rtlCol="0" anchor="t"/>
          <a:lstStyle/>
          <a:p>
            <a:pPr indent="0" marL="0">
              <a:buNone/>
            </a:pPr>
            <a:r>
              <a:rPr lang="en-US" sz="1800" b="1" dirty="0">
                <a:solidFill>
                  <a:srgbClr val="14302A"/>
                </a:solidFill>
                <a:latin typeface="Cambria" pitchFamily="34" charset="0"/>
                <a:ea typeface="Cambria" pitchFamily="34" charset="-122"/>
                <a:cs typeface="Cambria" pitchFamily="34" charset="-120"/>
              </a:rPr>
              <a:t>The plan in brief</a:t>
            </a:r>
            <a:endParaRPr lang="en-US" sz="1800" dirty="0"/>
          </a:p>
        </p:txBody>
      </p:sp>
      <p:sp>
        <p:nvSpPr>
          <p:cNvPr id="20" name="Text 18"/>
          <p:cNvSpPr txBox="1"/>
          <p:nvPr/>
        </p:nvSpPr>
        <p:spPr>
          <a:xfrm>
            <a:off x="6629400" y="2148840"/>
            <a:ext cx="4800600" cy="365760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Grow Lion's Mane on "Master's Mix" (hardwood + soy hull) in a sterile, unidirectional facility: dirty → clean → spore-wet.</a:t>
            </a:r>
            <a:endParaRPr lang="en-US" sz="1350" dirty="0"/>
          </a:p>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Sell tested, fruiting-body-only dried powder to nutraceutical, Ayurveda and nootropic brands at ₹8,000–12,000/kg (B2B).</a:t>
            </a:r>
            <a:endParaRPr lang="en-US" sz="1350" dirty="0"/>
          </a:p>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Phase 1: 60 blocks/day in ~1,200 sq ft. Phase 2: 90 blocks/day to deliver the 5 kg/day target reliably.</a:t>
            </a:r>
            <a:endParaRPr lang="en-US" sz="1350" dirty="0"/>
          </a:p>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Cash cost ~₹3,000/kg vs. ₹8,000/kg base price; break-even at ~37% of Phase-1 output.</a:t>
            </a:r>
            <a:endParaRPr lang="en-US" sz="1350" dirty="0"/>
          </a:p>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Funding led by PMEGP (35% margin-money subsidy, 5% promoter share) with MIDH/NHB and PMFME as alternates.</a:t>
            </a:r>
            <a:endParaRPr lang="en-US" sz="1350" dirty="0"/>
          </a:p>
          <a:p>
            <a:pPr marL="342900" indent="-342900">
              <a:spcAft>
                <a:spcPts val="500"/>
              </a:spcAft>
              <a:buSzPct val="100000"/>
              <a:buChar char="•"/>
            </a:pPr>
            <a:r>
              <a:rPr lang="en-US" sz="1350" dirty="0">
                <a:solidFill>
                  <a:srgbClr val="1E2A26"/>
                </a:solidFill>
                <a:latin typeface="Calibri" pitchFamily="34" charset="0"/>
                <a:ea typeface="Calibri" pitchFamily="34" charset="-122"/>
                <a:cs typeface="Calibri" pitchFamily="34" charset="-120"/>
              </a:rPr>
              <a:t>First harvest ~Month 7 from project start; steady-state output from Month 8.</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01 · THE OPPORTUNITY</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Why Lion's Mane, and why now</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554480"/>
            <a:ext cx="685800" cy="685800"/>
          </a:xfrm>
          <a:prstGeom prst="ellipse">
            <a:avLst/>
          </a:prstGeom>
          <a:solidFill>
            <a:srgbClr val="2E5E4E"/>
          </a:solidFill>
          <a:ln w="12700">
            <a:solidFill>
              <a:srgbClr val="2E5E4E"/>
            </a:solidFill>
            <a:prstDash val="solid"/>
          </a:ln>
        </p:spPr>
      </p:sp>
      <p:pic>
        <p:nvPicPr>
          <p:cNvPr id="7" name="Image 0" descr="preencoded.png">    </p:cNvPr>
          <p:cNvPicPr>
            <a:picLocks noChangeAspect="1"/>
          </p:cNvPicPr>
          <p:nvPr/>
        </p:nvPicPr>
        <p:blipFill>
          <a:blip r:embed="rId1"/>
          <a:stretch>
            <a:fillRect/>
          </a:stretch>
        </p:blipFill>
        <p:spPr>
          <a:xfrm>
            <a:off x="726948" y="1732788"/>
            <a:ext cx="329184" cy="329184"/>
          </a:xfrm>
          <a:prstGeom prst="rect">
            <a:avLst/>
          </a:prstGeom>
        </p:spPr>
      </p:pic>
      <p:sp>
        <p:nvSpPr>
          <p:cNvPr id="8" name="Text 5"/>
          <p:cNvSpPr txBox="1"/>
          <p:nvPr/>
        </p:nvSpPr>
        <p:spPr>
          <a:xfrm>
            <a:off x="1463040" y="1536192"/>
            <a:ext cx="4846320" cy="365760"/>
          </a:xfrm>
          <a:prstGeom prst="rect">
            <a:avLst/>
          </a:prstGeom>
          <a:noFill/>
          <a:ln/>
        </p:spPr>
        <p:txBody>
          <a:bodyPr wrap="square" lIns="0" tIns="0" rIns="0" bIns="0" rtlCol="0" anchor="t"/>
          <a:lstStyle/>
          <a:p>
            <a:pPr indent="0" marL="0">
              <a:buNone/>
            </a:pPr>
            <a:r>
              <a:rPr lang="en-US" sz="1700" b="1" dirty="0">
                <a:solidFill>
                  <a:srgbClr val="14302A"/>
                </a:solidFill>
                <a:latin typeface="Cambria" pitchFamily="34" charset="0"/>
                <a:ea typeface="Cambria" pitchFamily="34" charset="-122"/>
                <a:cs typeface="Cambria" pitchFamily="34" charset="-120"/>
              </a:rPr>
              <a:t>Distinct bioactive profile</a:t>
            </a:r>
            <a:endParaRPr lang="en-US" sz="1700" dirty="0"/>
          </a:p>
        </p:txBody>
      </p:sp>
      <p:sp>
        <p:nvSpPr>
          <p:cNvPr id="9" name="Text 6"/>
          <p:cNvSpPr txBox="1"/>
          <p:nvPr/>
        </p:nvSpPr>
        <p:spPr>
          <a:xfrm>
            <a:off x="1463040" y="1920240"/>
            <a:ext cx="4846320" cy="1005840"/>
          </a:xfrm>
          <a:prstGeom prst="rect">
            <a:avLst/>
          </a:prstGeom>
          <a:noFill/>
          <a:ln/>
        </p:spPr>
        <p:txBody>
          <a:bodyPr wrap="square" lIns="0" tIns="0" rIns="0" bIns="0" rtlCol="0" anchor="t"/>
          <a:lstStyle/>
          <a:p>
            <a:pPr indent="0" marL="0">
              <a:buNone/>
            </a:pPr>
            <a:r>
              <a:rPr lang="en-US" sz="1200" dirty="0">
                <a:solidFill>
                  <a:srgbClr val="1E2A26"/>
                </a:solidFill>
                <a:latin typeface="Calibri" pitchFamily="34" charset="0"/>
                <a:ea typeface="Calibri" pitchFamily="34" charset="-122"/>
                <a:cs typeface="Calibri" pitchFamily="34" charset="-120"/>
              </a:rPr>
              <a:t>Fruiting bodies carry hericenones and β-glucans; erinacines sit mainly in the mycelium. Both are studied for neurotrophic (NGF-related) and cognitive-support activity. Research is ongoing, so we will make no disease claims.</a:t>
            </a:r>
            <a:endParaRPr lang="en-US" sz="1200" dirty="0"/>
          </a:p>
        </p:txBody>
      </p:sp>
      <p:sp>
        <p:nvSpPr>
          <p:cNvPr id="10" name="Shape 7"/>
          <p:cNvSpPr/>
          <p:nvPr/>
        </p:nvSpPr>
        <p:spPr>
          <a:xfrm>
            <a:off x="548640" y="3063240"/>
            <a:ext cx="685800" cy="685800"/>
          </a:xfrm>
          <a:prstGeom prst="ellipse">
            <a:avLst/>
          </a:prstGeom>
          <a:solidFill>
            <a:srgbClr val="2E5E4E"/>
          </a:solidFill>
          <a:ln w="12700">
            <a:solidFill>
              <a:srgbClr val="2E5E4E"/>
            </a:solidFill>
            <a:prstDash val="solid"/>
          </a:ln>
        </p:spPr>
      </p:sp>
      <p:pic>
        <p:nvPicPr>
          <p:cNvPr id="11" name="Image 1" descr="preencoded.png">    </p:cNvPr>
          <p:cNvPicPr>
            <a:picLocks noChangeAspect="1"/>
          </p:cNvPicPr>
          <p:nvPr/>
        </p:nvPicPr>
        <p:blipFill>
          <a:blip r:embed="rId2"/>
          <a:stretch>
            <a:fillRect/>
          </a:stretch>
        </p:blipFill>
        <p:spPr>
          <a:xfrm>
            <a:off x="726948" y="3241548"/>
            <a:ext cx="329184" cy="329184"/>
          </a:xfrm>
          <a:prstGeom prst="rect">
            <a:avLst/>
          </a:prstGeom>
        </p:spPr>
      </p:pic>
      <p:sp>
        <p:nvSpPr>
          <p:cNvPr id="12" name="Text 8"/>
          <p:cNvSpPr txBox="1"/>
          <p:nvPr/>
        </p:nvSpPr>
        <p:spPr>
          <a:xfrm>
            <a:off x="1463040" y="3044952"/>
            <a:ext cx="4846320" cy="365760"/>
          </a:xfrm>
          <a:prstGeom prst="rect">
            <a:avLst/>
          </a:prstGeom>
          <a:noFill/>
          <a:ln/>
        </p:spPr>
        <p:txBody>
          <a:bodyPr wrap="square" lIns="0" tIns="0" rIns="0" bIns="0" rtlCol="0" anchor="t"/>
          <a:lstStyle/>
          <a:p>
            <a:pPr indent="0" marL="0">
              <a:buNone/>
            </a:pPr>
            <a:r>
              <a:rPr lang="en-US" sz="1700" b="1" dirty="0">
                <a:solidFill>
                  <a:srgbClr val="14302A"/>
                </a:solidFill>
                <a:latin typeface="Cambria" pitchFamily="34" charset="0"/>
                <a:ea typeface="Cambria" pitchFamily="34" charset="-122"/>
                <a:cs typeface="Cambria" pitchFamily="34" charset="-120"/>
              </a:rPr>
              <a:t>Growing B2B pull</a:t>
            </a:r>
            <a:endParaRPr lang="en-US" sz="1700" dirty="0"/>
          </a:p>
        </p:txBody>
      </p:sp>
      <p:sp>
        <p:nvSpPr>
          <p:cNvPr id="13" name="Text 9"/>
          <p:cNvSpPr txBox="1"/>
          <p:nvPr/>
        </p:nvSpPr>
        <p:spPr>
          <a:xfrm>
            <a:off x="1463040" y="3429000"/>
            <a:ext cx="4846320" cy="1005840"/>
          </a:xfrm>
          <a:prstGeom prst="rect">
            <a:avLst/>
          </a:prstGeom>
          <a:noFill/>
          <a:ln/>
        </p:spPr>
        <p:txBody>
          <a:bodyPr wrap="square" lIns="0" tIns="0" rIns="0" bIns="0" rtlCol="0" anchor="t"/>
          <a:lstStyle/>
          <a:p>
            <a:pPr indent="0" marL="0">
              <a:buNone/>
            </a:pPr>
            <a:r>
              <a:rPr lang="en-US" sz="1200" dirty="0">
                <a:solidFill>
                  <a:srgbClr val="1E2A26"/>
                </a:solidFill>
                <a:latin typeface="Calibri" pitchFamily="34" charset="0"/>
                <a:ea typeface="Calibri" pitchFamily="34" charset="-122"/>
                <a:cs typeface="Calibri" pitchFamily="34" charset="-120"/>
              </a:rPr>
              <a:t>Nootropic supplements, mushroom coffee and tea, and Ayurveda-adjacent formulations are pulling demand for functional-mushroom ingredients from Indian brands.</a:t>
            </a:r>
            <a:endParaRPr lang="en-US" sz="1200" dirty="0"/>
          </a:p>
        </p:txBody>
      </p:sp>
      <p:sp>
        <p:nvSpPr>
          <p:cNvPr id="14" name="Shape 10"/>
          <p:cNvSpPr/>
          <p:nvPr/>
        </p:nvSpPr>
        <p:spPr>
          <a:xfrm>
            <a:off x="548640" y="4572000"/>
            <a:ext cx="685800" cy="685800"/>
          </a:xfrm>
          <a:prstGeom prst="ellipse">
            <a:avLst/>
          </a:prstGeom>
          <a:solidFill>
            <a:srgbClr val="D9962B"/>
          </a:solidFill>
          <a:ln w="12700">
            <a:solidFill>
              <a:srgbClr val="D9962B"/>
            </a:solidFill>
            <a:prstDash val="solid"/>
          </a:ln>
        </p:spPr>
      </p:sp>
      <p:pic>
        <p:nvPicPr>
          <p:cNvPr id="15" name="Image 2" descr="preencoded.png">    </p:cNvPr>
          <p:cNvPicPr>
            <a:picLocks noChangeAspect="1"/>
          </p:cNvPicPr>
          <p:nvPr/>
        </p:nvPicPr>
        <p:blipFill>
          <a:blip r:embed="rId3"/>
          <a:stretch>
            <a:fillRect/>
          </a:stretch>
        </p:blipFill>
        <p:spPr>
          <a:xfrm>
            <a:off x="726948" y="4750308"/>
            <a:ext cx="329184" cy="329184"/>
          </a:xfrm>
          <a:prstGeom prst="rect">
            <a:avLst/>
          </a:prstGeom>
        </p:spPr>
      </p:pic>
      <p:sp>
        <p:nvSpPr>
          <p:cNvPr id="16" name="Text 11"/>
          <p:cNvSpPr txBox="1"/>
          <p:nvPr/>
        </p:nvSpPr>
        <p:spPr>
          <a:xfrm>
            <a:off x="1463040" y="4553712"/>
            <a:ext cx="4846320" cy="365760"/>
          </a:xfrm>
          <a:prstGeom prst="rect">
            <a:avLst/>
          </a:prstGeom>
          <a:noFill/>
          <a:ln/>
        </p:spPr>
        <p:txBody>
          <a:bodyPr wrap="square" lIns="0" tIns="0" rIns="0" bIns="0" rtlCol="0" anchor="t"/>
          <a:lstStyle/>
          <a:p>
            <a:pPr indent="0" marL="0">
              <a:buNone/>
            </a:pPr>
            <a:r>
              <a:rPr lang="en-US" sz="1700" b="1" dirty="0">
                <a:solidFill>
                  <a:srgbClr val="14302A"/>
                </a:solidFill>
                <a:latin typeface="Cambria" pitchFamily="34" charset="0"/>
                <a:ea typeface="Cambria" pitchFamily="34" charset="-122"/>
                <a:cs typeface="Cambria" pitchFamily="34" charset="-120"/>
              </a:rPr>
              <a:t>The supply gap we target</a:t>
            </a:r>
            <a:endParaRPr lang="en-US" sz="1700" dirty="0"/>
          </a:p>
        </p:txBody>
      </p:sp>
      <p:sp>
        <p:nvSpPr>
          <p:cNvPr id="17" name="Text 12"/>
          <p:cNvSpPr txBox="1"/>
          <p:nvPr/>
        </p:nvSpPr>
        <p:spPr>
          <a:xfrm>
            <a:off x="1463040" y="4937760"/>
            <a:ext cx="4846320" cy="1005840"/>
          </a:xfrm>
          <a:prstGeom prst="rect">
            <a:avLst/>
          </a:prstGeom>
          <a:noFill/>
          <a:ln/>
        </p:spPr>
        <p:txBody>
          <a:bodyPr wrap="square" lIns="0" tIns="0" rIns="0" bIns="0" rtlCol="0" anchor="t"/>
          <a:lstStyle/>
          <a:p>
            <a:pPr indent="0" marL="0">
              <a:buNone/>
            </a:pPr>
            <a:r>
              <a:rPr lang="en-US" sz="1200" dirty="0">
                <a:solidFill>
                  <a:srgbClr val="1E2A26"/>
                </a:solidFill>
                <a:latin typeface="Calibri" pitchFamily="34" charset="0"/>
                <a:ea typeface="Calibri" pitchFamily="34" charset="-122"/>
                <a:cs typeface="Calibri" pitchFamily="34" charset="-120"/>
              </a:rPr>
              <a:t>Consistent, domestic, fruiting-body-only supply with a full certificate of analysis per lot is hard to find. Much trade material is imported or mycelium-on-grain with high starch.</a:t>
            </a:r>
            <a:endParaRPr lang="en-US" sz="1200" dirty="0"/>
          </a:p>
        </p:txBody>
      </p:sp>
      <p:sp>
        <p:nvSpPr>
          <p:cNvPr id="18" name="Shape 13"/>
          <p:cNvSpPr/>
          <p:nvPr/>
        </p:nvSpPr>
        <p:spPr>
          <a:xfrm>
            <a:off x="6858000" y="1508760"/>
            <a:ext cx="4800600" cy="4480560"/>
          </a:xfrm>
          <a:prstGeom prst="roundRect">
            <a:avLst>
              <a:gd name="adj" fmla="val 1633"/>
            </a:avLst>
          </a:prstGeom>
          <a:solidFill>
            <a:srgbClr val="14302A"/>
          </a:solidFill>
          <a:ln w="9525">
            <a:solidFill>
              <a:srgbClr val="14302A"/>
            </a:solidFill>
            <a:prstDash val="solid"/>
          </a:ln>
        </p:spPr>
      </p:sp>
      <p:sp>
        <p:nvSpPr>
          <p:cNvPr id="19" name="Text 14"/>
          <p:cNvSpPr txBox="1"/>
          <p:nvPr/>
        </p:nvSpPr>
        <p:spPr>
          <a:xfrm>
            <a:off x="7178040" y="1737360"/>
            <a:ext cx="4206240" cy="411480"/>
          </a:xfrm>
          <a:prstGeom prst="rect">
            <a:avLst/>
          </a:prstGeom>
          <a:noFill/>
          <a:ln/>
        </p:spPr>
        <p:txBody>
          <a:bodyPr wrap="square" lIns="0" tIns="0" rIns="0" bIns="0" rtlCol="0" anchor="t"/>
          <a:lstStyle/>
          <a:p>
            <a:pPr indent="0" marL="0">
              <a:buNone/>
            </a:pPr>
            <a:r>
              <a:rPr lang="en-US" sz="1900" b="1" dirty="0">
                <a:solidFill>
                  <a:srgbClr val="FFFFFF"/>
                </a:solidFill>
                <a:latin typeface="Cambria" pitchFamily="34" charset="0"/>
                <a:ea typeface="Cambria" pitchFamily="34" charset="-122"/>
                <a:cs typeface="Cambria" pitchFamily="34" charset="-120"/>
              </a:rPr>
              <a:t>Our differentiation</a:t>
            </a:r>
            <a:endParaRPr lang="en-US" sz="1900" dirty="0"/>
          </a:p>
        </p:txBody>
      </p:sp>
      <p:pic>
        <p:nvPicPr>
          <p:cNvPr id="20" name="Image 3" descr="preencoded.png">    </p:cNvPr>
          <p:cNvPicPr>
            <a:picLocks noChangeAspect="1"/>
          </p:cNvPicPr>
          <p:nvPr/>
        </p:nvPicPr>
        <p:blipFill>
          <a:blip r:embed="rId4"/>
          <a:stretch>
            <a:fillRect/>
          </a:stretch>
        </p:blipFill>
        <p:spPr>
          <a:xfrm>
            <a:off x="7178040" y="2331720"/>
            <a:ext cx="274320" cy="274320"/>
          </a:xfrm>
          <a:prstGeom prst="rect">
            <a:avLst/>
          </a:prstGeom>
        </p:spPr>
      </p:pic>
      <p:sp>
        <p:nvSpPr>
          <p:cNvPr id="21" name="Text 15"/>
          <p:cNvSpPr txBox="1"/>
          <p:nvPr/>
        </p:nvSpPr>
        <p:spPr>
          <a:xfrm>
            <a:off x="7589520" y="2286000"/>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100% fruiting body: no grain filler, verified by starch test (&lt;5%)</a:t>
            </a:r>
            <a:endParaRPr lang="en-US" sz="1250" dirty="0"/>
          </a:p>
        </p:txBody>
      </p:sp>
      <p:pic>
        <p:nvPicPr>
          <p:cNvPr id="22" name="Image 4" descr="preencoded.png">    </p:cNvPr>
          <p:cNvPicPr>
            <a:picLocks noChangeAspect="1"/>
          </p:cNvPicPr>
          <p:nvPr/>
        </p:nvPicPr>
        <p:blipFill>
          <a:blip r:embed="rId5"/>
          <a:stretch>
            <a:fillRect/>
          </a:stretch>
        </p:blipFill>
        <p:spPr>
          <a:xfrm>
            <a:off x="7178040" y="2907792"/>
            <a:ext cx="274320" cy="274320"/>
          </a:xfrm>
          <a:prstGeom prst="rect">
            <a:avLst/>
          </a:prstGeom>
        </p:spPr>
      </p:pic>
      <p:sp>
        <p:nvSpPr>
          <p:cNvPr id="23" name="Text 16"/>
          <p:cNvSpPr txBox="1"/>
          <p:nvPr/>
        </p:nvSpPr>
        <p:spPr>
          <a:xfrm>
            <a:off x="7589520" y="2862072"/>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Controlled-environment grown: zero pesticides</a:t>
            </a:r>
            <a:endParaRPr lang="en-US" sz="1250" dirty="0"/>
          </a:p>
        </p:txBody>
      </p:sp>
      <p:pic>
        <p:nvPicPr>
          <p:cNvPr id="24" name="Image 5" descr="preencoded.png">    </p:cNvPr>
          <p:cNvPicPr>
            <a:picLocks noChangeAspect="1"/>
          </p:cNvPicPr>
          <p:nvPr/>
        </p:nvPicPr>
        <p:blipFill>
          <a:blip r:embed="rId6"/>
          <a:stretch>
            <a:fillRect/>
          </a:stretch>
        </p:blipFill>
        <p:spPr>
          <a:xfrm>
            <a:off x="7178040" y="3483864"/>
            <a:ext cx="274320" cy="274320"/>
          </a:xfrm>
          <a:prstGeom prst="rect">
            <a:avLst/>
          </a:prstGeom>
        </p:spPr>
      </p:pic>
      <p:sp>
        <p:nvSpPr>
          <p:cNvPr id="25" name="Text 17"/>
          <p:cNvSpPr txBox="1"/>
          <p:nvPr/>
        </p:nvSpPr>
        <p:spPr>
          <a:xfrm>
            <a:off x="7589520" y="3438144"/>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Farm-to-dryer in under 4 hours for colour and actives</a:t>
            </a:r>
            <a:endParaRPr lang="en-US" sz="1250" dirty="0"/>
          </a:p>
        </p:txBody>
      </p:sp>
      <p:pic>
        <p:nvPicPr>
          <p:cNvPr id="26" name="Image 6" descr="preencoded.png">    </p:cNvPr>
          <p:cNvPicPr>
            <a:picLocks noChangeAspect="1"/>
          </p:cNvPicPr>
          <p:nvPr/>
        </p:nvPicPr>
        <p:blipFill>
          <a:blip r:embed="rId7"/>
          <a:stretch>
            <a:fillRect/>
          </a:stretch>
        </p:blipFill>
        <p:spPr>
          <a:xfrm>
            <a:off x="7178040" y="4059936"/>
            <a:ext cx="274320" cy="274320"/>
          </a:xfrm>
          <a:prstGeom prst="rect">
            <a:avLst/>
          </a:prstGeom>
        </p:spPr>
      </p:pic>
      <p:sp>
        <p:nvSpPr>
          <p:cNvPr id="27" name="Text 18"/>
          <p:cNvSpPr txBox="1"/>
          <p:nvPr/>
        </p:nvSpPr>
        <p:spPr>
          <a:xfrm>
            <a:off x="7589520" y="4014216"/>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Lot-coded traceability from culture to carton</a:t>
            </a:r>
            <a:endParaRPr lang="en-US" sz="1250" dirty="0"/>
          </a:p>
        </p:txBody>
      </p:sp>
      <p:pic>
        <p:nvPicPr>
          <p:cNvPr id="28" name="Image 7" descr="preencoded.png">    </p:cNvPr>
          <p:cNvPicPr>
            <a:picLocks noChangeAspect="1"/>
          </p:cNvPicPr>
          <p:nvPr/>
        </p:nvPicPr>
        <p:blipFill>
          <a:blip r:embed="rId8"/>
          <a:stretch>
            <a:fillRect/>
          </a:stretch>
        </p:blipFill>
        <p:spPr>
          <a:xfrm>
            <a:off x="7178040" y="4636008"/>
            <a:ext cx="274320" cy="274320"/>
          </a:xfrm>
          <a:prstGeom prst="rect">
            <a:avLst/>
          </a:prstGeom>
        </p:spPr>
      </p:pic>
      <p:sp>
        <p:nvSpPr>
          <p:cNvPr id="29" name="Text 19"/>
          <p:cNvSpPr txBox="1"/>
          <p:nvPr/>
        </p:nvSpPr>
        <p:spPr>
          <a:xfrm>
            <a:off x="7589520" y="4590288"/>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Third-party NABL CoA with every shipment</a:t>
            </a:r>
            <a:endParaRPr lang="en-US" sz="1250" dirty="0"/>
          </a:p>
        </p:txBody>
      </p:sp>
      <p:pic>
        <p:nvPicPr>
          <p:cNvPr id="30" name="Image 8" descr="preencoded.png">    </p:cNvPr>
          <p:cNvPicPr>
            <a:picLocks noChangeAspect="1"/>
          </p:cNvPicPr>
          <p:nvPr/>
        </p:nvPicPr>
        <p:blipFill>
          <a:blip r:embed="rId9"/>
          <a:stretch>
            <a:fillRect/>
          </a:stretch>
        </p:blipFill>
        <p:spPr>
          <a:xfrm>
            <a:off x="7178040" y="5212080"/>
            <a:ext cx="274320" cy="274320"/>
          </a:xfrm>
          <a:prstGeom prst="rect">
            <a:avLst/>
          </a:prstGeom>
        </p:spPr>
      </p:pic>
      <p:sp>
        <p:nvSpPr>
          <p:cNvPr id="31" name="Text 20"/>
          <p:cNvSpPr txBox="1"/>
          <p:nvPr/>
        </p:nvSpPr>
        <p:spPr>
          <a:xfrm>
            <a:off x="7589520" y="5166360"/>
            <a:ext cx="3840480" cy="50292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Culture sourced from ICAR-DMR Solan / accredited labs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01 · THE OPPORTUNITY</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Why Hamirpur, Himachal Pradesh</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508760"/>
            <a:ext cx="3520440" cy="2148840"/>
          </a:xfrm>
          <a:prstGeom prst="roundRect">
            <a:avLst>
              <a:gd name="adj" fmla="val 3404"/>
            </a:avLst>
          </a:prstGeom>
          <a:solidFill>
            <a:srgbClr val="EEF4F0"/>
          </a:solidFill>
          <a:ln w="9525">
            <a:solidFill>
              <a:srgbClr val="EEF4F0"/>
            </a:solidFill>
            <a:prstDash val="solid"/>
          </a:ln>
        </p:spPr>
      </p:sp>
      <p:sp>
        <p:nvSpPr>
          <p:cNvPr id="7" name="Shape 5"/>
          <p:cNvSpPr/>
          <p:nvPr/>
        </p:nvSpPr>
        <p:spPr>
          <a:xfrm>
            <a:off x="777240" y="1737360"/>
            <a:ext cx="548640" cy="548640"/>
          </a:xfrm>
          <a:prstGeom prst="ellipse">
            <a:avLst/>
          </a:prstGeom>
          <a:solidFill>
            <a:srgbClr val="2E5E4E"/>
          </a:solidFill>
          <a:ln w="12700">
            <a:solidFill>
              <a:srgbClr val="2E5E4E"/>
            </a:solidFill>
            <a:prstDash val="solid"/>
          </a:ln>
        </p:spPr>
      </p:sp>
      <p:pic>
        <p:nvPicPr>
          <p:cNvPr id="8" name="Image 0" descr="preencoded.png">    </p:cNvPr>
          <p:cNvPicPr>
            <a:picLocks noChangeAspect="1"/>
          </p:cNvPicPr>
          <p:nvPr/>
        </p:nvPicPr>
        <p:blipFill>
          <a:blip r:embed="rId1"/>
          <a:stretch>
            <a:fillRect/>
          </a:stretch>
        </p:blipFill>
        <p:spPr>
          <a:xfrm>
            <a:off x="919886" y="1880006"/>
            <a:ext cx="263347" cy="263347"/>
          </a:xfrm>
          <a:prstGeom prst="rect">
            <a:avLst/>
          </a:prstGeom>
        </p:spPr>
      </p:pic>
      <p:sp>
        <p:nvSpPr>
          <p:cNvPr id="9" name="Text 6"/>
          <p:cNvSpPr txBox="1"/>
          <p:nvPr/>
        </p:nvSpPr>
        <p:spPr>
          <a:xfrm>
            <a:off x="1463040" y="176479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Genetics on the doorstep</a:t>
            </a:r>
            <a:endParaRPr lang="en-US" sz="1500" dirty="0"/>
          </a:p>
        </p:txBody>
      </p:sp>
      <p:sp>
        <p:nvSpPr>
          <p:cNvPr id="10" name="Text 7"/>
          <p:cNvSpPr txBox="1"/>
          <p:nvPr/>
        </p:nvSpPr>
        <p:spPr>
          <a:xfrm>
            <a:off x="777240" y="242316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ICAR-Directorate of Mushroom Research, Solan: the national mushroom research centre, for certified mother cultures and technical support.</a:t>
            </a:r>
            <a:endParaRPr lang="en-US" sz="1250" dirty="0"/>
          </a:p>
        </p:txBody>
      </p:sp>
      <p:sp>
        <p:nvSpPr>
          <p:cNvPr id="11" name="Shape 8"/>
          <p:cNvSpPr/>
          <p:nvPr/>
        </p:nvSpPr>
        <p:spPr>
          <a:xfrm>
            <a:off x="4297680" y="1508760"/>
            <a:ext cx="3520440" cy="2148840"/>
          </a:xfrm>
          <a:prstGeom prst="roundRect">
            <a:avLst>
              <a:gd name="adj" fmla="val 3404"/>
            </a:avLst>
          </a:prstGeom>
          <a:solidFill>
            <a:srgbClr val="EEF4F0"/>
          </a:solidFill>
          <a:ln w="9525">
            <a:solidFill>
              <a:srgbClr val="EEF4F0"/>
            </a:solidFill>
            <a:prstDash val="solid"/>
          </a:ln>
        </p:spPr>
      </p:sp>
      <p:sp>
        <p:nvSpPr>
          <p:cNvPr id="12" name="Shape 9"/>
          <p:cNvSpPr/>
          <p:nvPr/>
        </p:nvSpPr>
        <p:spPr>
          <a:xfrm>
            <a:off x="4526280" y="1737360"/>
            <a:ext cx="548640" cy="548640"/>
          </a:xfrm>
          <a:prstGeom prst="ellipse">
            <a:avLst/>
          </a:prstGeom>
          <a:solidFill>
            <a:srgbClr val="2E5E4E"/>
          </a:solidFill>
          <a:ln w="12700">
            <a:solidFill>
              <a:srgbClr val="2E5E4E"/>
            </a:solidFill>
            <a:prstDash val="solid"/>
          </a:ln>
        </p:spPr>
      </p:sp>
      <p:pic>
        <p:nvPicPr>
          <p:cNvPr id="13" name="Image 1" descr="preencoded.png">    </p:cNvPr>
          <p:cNvPicPr>
            <a:picLocks noChangeAspect="1"/>
          </p:cNvPicPr>
          <p:nvPr/>
        </p:nvPicPr>
        <p:blipFill>
          <a:blip r:embed="rId2"/>
          <a:stretch>
            <a:fillRect/>
          </a:stretch>
        </p:blipFill>
        <p:spPr>
          <a:xfrm>
            <a:off x="4668926" y="1880006"/>
            <a:ext cx="263347" cy="263347"/>
          </a:xfrm>
          <a:prstGeom prst="rect">
            <a:avLst/>
          </a:prstGeom>
        </p:spPr>
      </p:pic>
      <p:sp>
        <p:nvSpPr>
          <p:cNvPr id="14" name="Text 10"/>
          <p:cNvSpPr txBox="1"/>
          <p:nvPr/>
        </p:nvSpPr>
        <p:spPr>
          <a:xfrm>
            <a:off x="5212080" y="176479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Feedstock corridor</a:t>
            </a:r>
            <a:endParaRPr lang="en-US" sz="1500" dirty="0"/>
          </a:p>
        </p:txBody>
      </p:sp>
      <p:sp>
        <p:nvSpPr>
          <p:cNvPr id="15" name="Text 11"/>
          <p:cNvSpPr txBox="1"/>
          <p:nvPr/>
        </p:nvSpPr>
        <p:spPr>
          <a:xfrm>
            <a:off x="4526280" y="242316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Soy hull ("soya chilka") from Punjab / Hamirpur feed mills (₹15–25/kg) and hardwood sawdust from Zirakpur sawmills (₹5/kg).</a:t>
            </a:r>
            <a:endParaRPr lang="en-US" sz="1250" dirty="0"/>
          </a:p>
        </p:txBody>
      </p:sp>
      <p:sp>
        <p:nvSpPr>
          <p:cNvPr id="16" name="Shape 12"/>
          <p:cNvSpPr/>
          <p:nvPr/>
        </p:nvSpPr>
        <p:spPr>
          <a:xfrm>
            <a:off x="8046720" y="1508760"/>
            <a:ext cx="3520440" cy="2148840"/>
          </a:xfrm>
          <a:prstGeom prst="roundRect">
            <a:avLst>
              <a:gd name="adj" fmla="val 3404"/>
            </a:avLst>
          </a:prstGeom>
          <a:solidFill>
            <a:srgbClr val="EEF4F0"/>
          </a:solidFill>
          <a:ln w="9525">
            <a:solidFill>
              <a:srgbClr val="EEF4F0"/>
            </a:solidFill>
            <a:prstDash val="solid"/>
          </a:ln>
        </p:spPr>
      </p:sp>
      <p:sp>
        <p:nvSpPr>
          <p:cNvPr id="17" name="Shape 13"/>
          <p:cNvSpPr/>
          <p:nvPr/>
        </p:nvSpPr>
        <p:spPr>
          <a:xfrm>
            <a:off x="8275320" y="1737360"/>
            <a:ext cx="548640" cy="548640"/>
          </a:xfrm>
          <a:prstGeom prst="ellipse">
            <a:avLst/>
          </a:prstGeom>
          <a:solidFill>
            <a:srgbClr val="2E5E4E"/>
          </a:solidFill>
          <a:ln w="12700">
            <a:solidFill>
              <a:srgbClr val="2E5E4E"/>
            </a:solidFill>
            <a:prstDash val="solid"/>
          </a:ln>
        </p:spPr>
      </p:sp>
      <p:pic>
        <p:nvPicPr>
          <p:cNvPr id="18" name="Image 2" descr="preencoded.png">    </p:cNvPr>
          <p:cNvPicPr>
            <a:picLocks noChangeAspect="1"/>
          </p:cNvPicPr>
          <p:nvPr/>
        </p:nvPicPr>
        <p:blipFill>
          <a:blip r:embed="rId3"/>
          <a:stretch>
            <a:fillRect/>
          </a:stretch>
        </p:blipFill>
        <p:spPr>
          <a:xfrm>
            <a:off x="8417966" y="1880006"/>
            <a:ext cx="263347" cy="263347"/>
          </a:xfrm>
          <a:prstGeom prst="rect">
            <a:avLst/>
          </a:prstGeom>
        </p:spPr>
      </p:pic>
      <p:sp>
        <p:nvSpPr>
          <p:cNvPr id="19" name="Text 14"/>
          <p:cNvSpPr txBox="1"/>
          <p:nvPr/>
        </p:nvSpPr>
        <p:spPr>
          <a:xfrm>
            <a:off x="8961120" y="176479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Buyer clusters in reach</a:t>
            </a:r>
            <a:endParaRPr lang="en-US" sz="1500" dirty="0"/>
          </a:p>
        </p:txBody>
      </p:sp>
      <p:sp>
        <p:nvSpPr>
          <p:cNvPr id="20" name="Text 15"/>
          <p:cNvSpPr txBox="1"/>
          <p:nvPr/>
        </p:nvSpPr>
        <p:spPr>
          <a:xfrm>
            <a:off x="8275320" y="242316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Baddi–Barotiwala–Nalagarh pharma &amp; nutraceutical belt (HP), Haridwar–Dehradun Ayurveda cluster (320 km), Delhi-NCR brands.</a:t>
            </a:r>
            <a:endParaRPr lang="en-US" sz="1250" dirty="0"/>
          </a:p>
        </p:txBody>
      </p:sp>
      <p:sp>
        <p:nvSpPr>
          <p:cNvPr id="21" name="Shape 16"/>
          <p:cNvSpPr/>
          <p:nvPr/>
        </p:nvSpPr>
        <p:spPr>
          <a:xfrm>
            <a:off x="548640" y="3886200"/>
            <a:ext cx="3520440" cy="2148840"/>
          </a:xfrm>
          <a:prstGeom prst="roundRect">
            <a:avLst>
              <a:gd name="adj" fmla="val 3404"/>
            </a:avLst>
          </a:prstGeom>
          <a:solidFill>
            <a:srgbClr val="EEF4F0"/>
          </a:solidFill>
          <a:ln w="9525">
            <a:solidFill>
              <a:srgbClr val="EEF4F0"/>
            </a:solidFill>
            <a:prstDash val="solid"/>
          </a:ln>
        </p:spPr>
      </p:sp>
      <p:sp>
        <p:nvSpPr>
          <p:cNvPr id="22" name="Shape 17"/>
          <p:cNvSpPr/>
          <p:nvPr/>
        </p:nvSpPr>
        <p:spPr>
          <a:xfrm>
            <a:off x="777240" y="4114800"/>
            <a:ext cx="548640" cy="548640"/>
          </a:xfrm>
          <a:prstGeom prst="ellipse">
            <a:avLst/>
          </a:prstGeom>
          <a:solidFill>
            <a:srgbClr val="2E5E4E"/>
          </a:solidFill>
          <a:ln w="12700">
            <a:solidFill>
              <a:srgbClr val="2E5E4E"/>
            </a:solidFill>
            <a:prstDash val="solid"/>
          </a:ln>
        </p:spPr>
      </p:sp>
      <p:pic>
        <p:nvPicPr>
          <p:cNvPr id="23" name="Image 3" descr="preencoded.png">    </p:cNvPr>
          <p:cNvPicPr>
            <a:picLocks noChangeAspect="1"/>
          </p:cNvPicPr>
          <p:nvPr/>
        </p:nvPicPr>
        <p:blipFill>
          <a:blip r:embed="rId4"/>
          <a:stretch>
            <a:fillRect/>
          </a:stretch>
        </p:blipFill>
        <p:spPr>
          <a:xfrm>
            <a:off x="919886" y="4257446"/>
            <a:ext cx="263347" cy="263347"/>
          </a:xfrm>
          <a:prstGeom prst="rect">
            <a:avLst/>
          </a:prstGeom>
        </p:spPr>
      </p:pic>
      <p:sp>
        <p:nvSpPr>
          <p:cNvPr id="24" name="Text 18"/>
          <p:cNvSpPr txBox="1"/>
          <p:nvPr/>
        </p:nvSpPr>
        <p:spPr>
          <a:xfrm>
            <a:off x="1463040" y="414223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Hill-state incentives</a:t>
            </a:r>
            <a:endParaRPr lang="en-US" sz="1500" dirty="0"/>
          </a:p>
        </p:txBody>
      </p:sp>
      <p:sp>
        <p:nvSpPr>
          <p:cNvPr id="25" name="Text 19"/>
          <p:cNvSpPr txBox="1"/>
          <p:nvPr/>
        </p:nvSpPr>
        <p:spPr>
          <a:xfrm>
            <a:off x="777240" y="480060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Special Category State: PMEGP 35% rural subsidy with only 5% promoter contribution; MIDH/NHB horticulture support.</a:t>
            </a:r>
            <a:endParaRPr lang="en-US" sz="1250" dirty="0"/>
          </a:p>
        </p:txBody>
      </p:sp>
      <p:sp>
        <p:nvSpPr>
          <p:cNvPr id="26" name="Shape 20"/>
          <p:cNvSpPr/>
          <p:nvPr/>
        </p:nvSpPr>
        <p:spPr>
          <a:xfrm>
            <a:off x="4297680" y="3886200"/>
            <a:ext cx="3520440" cy="2148840"/>
          </a:xfrm>
          <a:prstGeom prst="roundRect">
            <a:avLst>
              <a:gd name="adj" fmla="val 3404"/>
            </a:avLst>
          </a:prstGeom>
          <a:solidFill>
            <a:srgbClr val="FBF1DE"/>
          </a:solidFill>
          <a:ln w="9525">
            <a:solidFill>
              <a:srgbClr val="FBF1DE"/>
            </a:solidFill>
            <a:prstDash val="solid"/>
          </a:ln>
        </p:spPr>
      </p:sp>
      <p:sp>
        <p:nvSpPr>
          <p:cNvPr id="27" name="Shape 21"/>
          <p:cNvSpPr/>
          <p:nvPr/>
        </p:nvSpPr>
        <p:spPr>
          <a:xfrm>
            <a:off x="4526280" y="4114800"/>
            <a:ext cx="548640" cy="548640"/>
          </a:xfrm>
          <a:prstGeom prst="ellipse">
            <a:avLst/>
          </a:prstGeom>
          <a:solidFill>
            <a:srgbClr val="D9962B"/>
          </a:solidFill>
          <a:ln w="12700">
            <a:solidFill>
              <a:srgbClr val="D9962B"/>
            </a:solidFill>
            <a:prstDash val="solid"/>
          </a:ln>
        </p:spPr>
      </p:sp>
      <p:pic>
        <p:nvPicPr>
          <p:cNvPr id="28" name="Image 4" descr="preencoded.png">    </p:cNvPr>
          <p:cNvPicPr>
            <a:picLocks noChangeAspect="1"/>
          </p:cNvPicPr>
          <p:nvPr/>
        </p:nvPicPr>
        <p:blipFill>
          <a:blip r:embed="rId5"/>
          <a:stretch>
            <a:fillRect/>
          </a:stretch>
        </p:blipFill>
        <p:spPr>
          <a:xfrm>
            <a:off x="4668926" y="4257446"/>
            <a:ext cx="263347" cy="263347"/>
          </a:xfrm>
          <a:prstGeom prst="rect">
            <a:avLst/>
          </a:prstGeom>
        </p:spPr>
      </p:pic>
      <p:sp>
        <p:nvSpPr>
          <p:cNvPr id="29" name="Text 22"/>
          <p:cNvSpPr txBox="1"/>
          <p:nvPr/>
        </p:nvSpPr>
        <p:spPr>
          <a:xfrm>
            <a:off x="5212080" y="414223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Favourable climate window</a:t>
            </a:r>
            <a:endParaRPr lang="en-US" sz="1500" dirty="0"/>
          </a:p>
        </p:txBody>
      </p:sp>
      <p:sp>
        <p:nvSpPr>
          <p:cNvPr id="30" name="Text 23"/>
          <p:cNvSpPr txBox="1"/>
          <p:nvPr/>
        </p:nvSpPr>
        <p:spPr>
          <a:xfrm>
            <a:off x="4526280" y="480060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Cool Oct–Mar ambient suits 15–18°C fruiting and cuts HVAC load. Summers (up to ~40°C) and monsoon humidity are engineered for.</a:t>
            </a:r>
            <a:endParaRPr lang="en-US" sz="1250" dirty="0"/>
          </a:p>
        </p:txBody>
      </p:sp>
      <p:sp>
        <p:nvSpPr>
          <p:cNvPr id="31" name="Shape 24"/>
          <p:cNvSpPr/>
          <p:nvPr/>
        </p:nvSpPr>
        <p:spPr>
          <a:xfrm>
            <a:off x="8046720" y="3886200"/>
            <a:ext cx="3520440" cy="2148840"/>
          </a:xfrm>
          <a:prstGeom prst="roundRect">
            <a:avLst>
              <a:gd name="adj" fmla="val 3404"/>
            </a:avLst>
          </a:prstGeom>
          <a:solidFill>
            <a:srgbClr val="EEF4F0"/>
          </a:solidFill>
          <a:ln w="9525">
            <a:solidFill>
              <a:srgbClr val="EEF4F0"/>
            </a:solidFill>
            <a:prstDash val="solid"/>
          </a:ln>
        </p:spPr>
      </p:sp>
      <p:sp>
        <p:nvSpPr>
          <p:cNvPr id="32" name="Shape 25"/>
          <p:cNvSpPr/>
          <p:nvPr/>
        </p:nvSpPr>
        <p:spPr>
          <a:xfrm>
            <a:off x="8275320" y="4114800"/>
            <a:ext cx="548640" cy="548640"/>
          </a:xfrm>
          <a:prstGeom prst="ellipse">
            <a:avLst/>
          </a:prstGeom>
          <a:solidFill>
            <a:srgbClr val="2E5E4E"/>
          </a:solidFill>
          <a:ln w="12700">
            <a:solidFill>
              <a:srgbClr val="2E5E4E"/>
            </a:solidFill>
            <a:prstDash val="solid"/>
          </a:ln>
        </p:spPr>
      </p:sp>
      <p:pic>
        <p:nvPicPr>
          <p:cNvPr id="33" name="Image 5" descr="preencoded.png">    </p:cNvPr>
          <p:cNvPicPr>
            <a:picLocks noChangeAspect="1"/>
          </p:cNvPicPr>
          <p:nvPr/>
        </p:nvPicPr>
        <p:blipFill>
          <a:blip r:embed="rId6"/>
          <a:stretch>
            <a:fillRect/>
          </a:stretch>
        </p:blipFill>
        <p:spPr>
          <a:xfrm>
            <a:off x="8417966" y="4257446"/>
            <a:ext cx="263347" cy="263347"/>
          </a:xfrm>
          <a:prstGeom prst="rect">
            <a:avLst/>
          </a:prstGeom>
        </p:spPr>
      </p:pic>
      <p:sp>
        <p:nvSpPr>
          <p:cNvPr id="34" name="Text 26"/>
          <p:cNvSpPr txBox="1"/>
          <p:nvPr/>
        </p:nvSpPr>
        <p:spPr>
          <a:xfrm>
            <a:off x="8961120" y="4142232"/>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Skilled rural workforce</a:t>
            </a:r>
            <a:endParaRPr lang="en-US" sz="1500" dirty="0"/>
          </a:p>
        </p:txBody>
      </p:sp>
      <p:sp>
        <p:nvSpPr>
          <p:cNvPr id="35" name="Text 27"/>
          <p:cNvSpPr txBox="1"/>
          <p:nvPr/>
        </p:nvSpPr>
        <p:spPr>
          <a:xfrm>
            <a:off x="8275320" y="4800600"/>
            <a:ext cx="3063240" cy="11430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HP has an established mushroom-growing culture (Solan: "Mushroom City of India"), easing hiring and training.</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02 · BIOLOGY &amp; OUTPUT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Daily production model: substrate to powder</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600200"/>
            <a:ext cx="2011680" cy="1920240"/>
          </a:xfrm>
          <a:prstGeom prst="roundRect">
            <a:avLst>
              <a:gd name="adj" fmla="val 3810"/>
            </a:avLst>
          </a:prstGeom>
          <a:solidFill>
            <a:srgbClr val="EEF4F0"/>
          </a:solidFill>
          <a:ln w="9525">
            <a:solidFill>
              <a:srgbClr val="EEF4F0"/>
            </a:solidFill>
            <a:prstDash val="solid"/>
          </a:ln>
        </p:spPr>
      </p:sp>
      <p:sp>
        <p:nvSpPr>
          <p:cNvPr id="7" name="Text 5"/>
          <p:cNvSpPr txBox="1"/>
          <p:nvPr/>
        </p:nvSpPr>
        <p:spPr>
          <a:xfrm>
            <a:off x="640080" y="1783080"/>
            <a:ext cx="1828800" cy="640080"/>
          </a:xfrm>
          <a:prstGeom prst="rect">
            <a:avLst/>
          </a:prstGeom>
          <a:noFill/>
          <a:ln/>
        </p:spPr>
        <p:txBody>
          <a:bodyPr wrap="square" lIns="0" tIns="0" rIns="0" bIns="0" rtlCol="0" anchor="ctr"/>
          <a:lstStyle/>
          <a:p>
            <a:pPr algn="ctr" indent="0" marL="0">
              <a:buNone/>
            </a:pPr>
            <a:r>
              <a:rPr lang="en-US" sz="2600" b="1" dirty="0">
                <a:solidFill>
                  <a:srgbClr val="2E5E4E"/>
                </a:solidFill>
                <a:latin typeface="Cambria" pitchFamily="34" charset="0"/>
                <a:ea typeface="Cambria" pitchFamily="34" charset="-122"/>
                <a:cs typeface="Cambria" pitchFamily="34" charset="-120"/>
              </a:rPr>
              <a:t>155 kg</a:t>
            </a:r>
            <a:endParaRPr lang="en-US" sz="2600" dirty="0"/>
          </a:p>
        </p:txBody>
      </p:sp>
      <p:sp>
        <p:nvSpPr>
          <p:cNvPr id="8" name="Text 6"/>
          <p:cNvSpPr txBox="1"/>
          <p:nvPr/>
        </p:nvSpPr>
        <p:spPr>
          <a:xfrm>
            <a:off x="640080" y="2514600"/>
            <a:ext cx="1828800" cy="822960"/>
          </a:xfrm>
          <a:prstGeom prst="rect">
            <a:avLst/>
          </a:prstGeom>
          <a:noFill/>
          <a:ln/>
        </p:spPr>
        <p:txBody>
          <a:bodyPr wrap="square" lIns="0" tIns="0" rIns="0" bIns="0" rtlCol="0" anchor="t"/>
          <a:lstStyle/>
          <a:p>
            <a:pPr algn="ctr" indent="0" marL="0">
              <a:buNone/>
            </a:pPr>
            <a:r>
              <a:rPr lang="en-US" sz="1200" dirty="0">
                <a:solidFill>
                  <a:srgbClr val="5F6F69"/>
                </a:solidFill>
                <a:latin typeface="Calibri" pitchFamily="34" charset="0"/>
                <a:ea typeface="Calibri" pitchFamily="34" charset="-122"/>
                <a:cs typeface="Calibri" pitchFamily="34" charset="-120"/>
              </a:rPr>
              <a:t>wet Master's Mix</a:t>
            </a:r>
            <a:endParaRPr lang="en-US" sz="1200" dirty="0"/>
          </a:p>
          <a:p>
            <a:pPr algn="ctr" indent="0" marL="0">
              <a:buNone/>
            </a:pPr>
            <a:r>
              <a:rPr lang="en-US" sz="1200" dirty="0">
                <a:solidFill>
                  <a:srgbClr val="5F6F69"/>
                </a:solidFill>
                <a:latin typeface="Calibri" pitchFamily="34" charset="0"/>
                <a:ea typeface="Calibri" pitchFamily="34" charset="-122"/>
                <a:cs typeface="Calibri" pitchFamily="34" charset="-120"/>
              </a:rPr>
              <a:t>62 kg dry · 60% moisture</a:t>
            </a:r>
            <a:endParaRPr lang="en-US" sz="1200" dirty="0"/>
          </a:p>
        </p:txBody>
      </p:sp>
      <p:sp>
        <p:nvSpPr>
          <p:cNvPr id="9" name="Shape 7"/>
          <p:cNvSpPr/>
          <p:nvPr/>
        </p:nvSpPr>
        <p:spPr>
          <a:xfrm>
            <a:off x="2587752" y="2560320"/>
            <a:ext cx="219456" cy="0"/>
          </a:xfrm>
          <a:prstGeom prst="line">
            <a:avLst/>
          </a:prstGeom>
          <a:noFill/>
          <a:ln w="19050">
            <a:solidFill>
              <a:srgbClr val="D9962B"/>
            </a:solidFill>
            <a:prstDash val="solid"/>
            <a:tailEnd type="triangle"/>
          </a:ln>
        </p:spPr>
      </p:sp>
      <p:sp>
        <p:nvSpPr>
          <p:cNvPr id="10" name="Shape 8"/>
          <p:cNvSpPr/>
          <p:nvPr/>
        </p:nvSpPr>
        <p:spPr>
          <a:xfrm>
            <a:off x="2834640" y="1600200"/>
            <a:ext cx="2011680" cy="1920240"/>
          </a:xfrm>
          <a:prstGeom prst="roundRect">
            <a:avLst>
              <a:gd name="adj" fmla="val 3810"/>
            </a:avLst>
          </a:prstGeom>
          <a:solidFill>
            <a:srgbClr val="EEF4F0"/>
          </a:solidFill>
          <a:ln w="9525">
            <a:solidFill>
              <a:srgbClr val="EEF4F0"/>
            </a:solidFill>
            <a:prstDash val="solid"/>
          </a:ln>
        </p:spPr>
      </p:sp>
      <p:sp>
        <p:nvSpPr>
          <p:cNvPr id="11" name="Text 9"/>
          <p:cNvSpPr txBox="1"/>
          <p:nvPr/>
        </p:nvSpPr>
        <p:spPr>
          <a:xfrm>
            <a:off x="2926080" y="1783080"/>
            <a:ext cx="1828800" cy="640080"/>
          </a:xfrm>
          <a:prstGeom prst="rect">
            <a:avLst/>
          </a:prstGeom>
          <a:noFill/>
          <a:ln/>
        </p:spPr>
        <p:txBody>
          <a:bodyPr wrap="square" lIns="0" tIns="0" rIns="0" bIns="0" rtlCol="0" anchor="ctr"/>
          <a:lstStyle/>
          <a:p>
            <a:pPr algn="ctr" indent="0" marL="0">
              <a:buNone/>
            </a:pPr>
            <a:r>
              <a:rPr lang="en-US" sz="2600" b="1" dirty="0">
                <a:solidFill>
                  <a:srgbClr val="2E5E4E"/>
                </a:solidFill>
                <a:latin typeface="Cambria" pitchFamily="34" charset="0"/>
                <a:ea typeface="Cambria" pitchFamily="34" charset="-122"/>
                <a:cs typeface="Cambria" pitchFamily="34" charset="-120"/>
              </a:rPr>
              <a:t>60 blocks</a:t>
            </a:r>
            <a:endParaRPr lang="en-US" sz="2600" dirty="0"/>
          </a:p>
        </p:txBody>
      </p:sp>
      <p:sp>
        <p:nvSpPr>
          <p:cNvPr id="12" name="Text 10"/>
          <p:cNvSpPr txBox="1"/>
          <p:nvPr/>
        </p:nvSpPr>
        <p:spPr>
          <a:xfrm>
            <a:off x="2926080" y="2514600"/>
            <a:ext cx="1828800" cy="822960"/>
          </a:xfrm>
          <a:prstGeom prst="rect">
            <a:avLst/>
          </a:prstGeom>
          <a:noFill/>
          <a:ln/>
        </p:spPr>
        <p:txBody>
          <a:bodyPr wrap="square" lIns="0" tIns="0" rIns="0" bIns="0" rtlCol="0" anchor="t"/>
          <a:lstStyle/>
          <a:p>
            <a:pPr algn="ctr" indent="0" marL="0">
              <a:buNone/>
            </a:pPr>
            <a:r>
              <a:rPr lang="en-US" sz="1200" dirty="0">
                <a:solidFill>
                  <a:srgbClr val="5F6F69"/>
                </a:solidFill>
                <a:latin typeface="Calibri" pitchFamily="34" charset="0"/>
                <a:ea typeface="Calibri" pitchFamily="34" charset="-122"/>
                <a:cs typeface="Calibri" pitchFamily="34" charset="-120"/>
              </a:rPr>
              <a:t>× 2.5 kg, spawned with</a:t>
            </a:r>
            <a:endParaRPr lang="en-US" sz="1200" dirty="0"/>
          </a:p>
          <a:p>
            <a:pPr algn="ctr" indent="0" marL="0">
              <a:buNone/>
            </a:pPr>
            <a:r>
              <a:rPr lang="en-US" sz="1200" dirty="0">
                <a:solidFill>
                  <a:srgbClr val="5F6F69"/>
                </a:solidFill>
                <a:latin typeface="Calibri" pitchFamily="34" charset="0"/>
                <a:ea typeface="Calibri" pitchFamily="34" charset="-122"/>
                <a:cs typeface="Calibri" pitchFamily="34" charset="-120"/>
              </a:rPr>
              <a:t>6 kg grain spawn</a:t>
            </a:r>
            <a:endParaRPr lang="en-US" sz="1200" dirty="0"/>
          </a:p>
        </p:txBody>
      </p:sp>
      <p:sp>
        <p:nvSpPr>
          <p:cNvPr id="13" name="Shape 11"/>
          <p:cNvSpPr/>
          <p:nvPr/>
        </p:nvSpPr>
        <p:spPr>
          <a:xfrm>
            <a:off x="4873752" y="2560320"/>
            <a:ext cx="219456" cy="0"/>
          </a:xfrm>
          <a:prstGeom prst="line">
            <a:avLst/>
          </a:prstGeom>
          <a:noFill/>
          <a:ln w="19050">
            <a:solidFill>
              <a:srgbClr val="D9962B"/>
            </a:solidFill>
            <a:prstDash val="solid"/>
            <a:tailEnd type="triangle"/>
          </a:ln>
        </p:spPr>
      </p:sp>
      <p:sp>
        <p:nvSpPr>
          <p:cNvPr id="14" name="Shape 12"/>
          <p:cNvSpPr/>
          <p:nvPr/>
        </p:nvSpPr>
        <p:spPr>
          <a:xfrm>
            <a:off x="5120640" y="1600200"/>
            <a:ext cx="2011680" cy="1920240"/>
          </a:xfrm>
          <a:prstGeom prst="roundRect">
            <a:avLst>
              <a:gd name="adj" fmla="val 3810"/>
            </a:avLst>
          </a:prstGeom>
          <a:solidFill>
            <a:srgbClr val="EEF4F0"/>
          </a:solidFill>
          <a:ln w="9525">
            <a:solidFill>
              <a:srgbClr val="EEF4F0"/>
            </a:solidFill>
            <a:prstDash val="solid"/>
          </a:ln>
        </p:spPr>
      </p:sp>
      <p:sp>
        <p:nvSpPr>
          <p:cNvPr id="15" name="Text 13"/>
          <p:cNvSpPr txBox="1"/>
          <p:nvPr/>
        </p:nvSpPr>
        <p:spPr>
          <a:xfrm>
            <a:off x="5212080" y="1783080"/>
            <a:ext cx="1828800" cy="640080"/>
          </a:xfrm>
          <a:prstGeom prst="rect">
            <a:avLst/>
          </a:prstGeom>
          <a:noFill/>
          <a:ln/>
        </p:spPr>
        <p:txBody>
          <a:bodyPr wrap="square" lIns="0" tIns="0" rIns="0" bIns="0" rtlCol="0" anchor="ctr"/>
          <a:lstStyle/>
          <a:p>
            <a:pPr algn="ctr" indent="0" marL="0">
              <a:buNone/>
            </a:pPr>
            <a:r>
              <a:rPr lang="en-US" sz="2600" b="1" dirty="0">
                <a:solidFill>
                  <a:srgbClr val="2E5E4E"/>
                </a:solidFill>
                <a:latin typeface="Cambria" pitchFamily="34" charset="0"/>
                <a:ea typeface="Cambria" pitchFamily="34" charset="-122"/>
                <a:cs typeface="Cambria" pitchFamily="34" charset="-120"/>
              </a:rPr>
              <a:t>14–21 days</a:t>
            </a:r>
            <a:endParaRPr lang="en-US" sz="2600" dirty="0"/>
          </a:p>
        </p:txBody>
      </p:sp>
      <p:sp>
        <p:nvSpPr>
          <p:cNvPr id="16" name="Text 14"/>
          <p:cNvSpPr txBox="1"/>
          <p:nvPr/>
        </p:nvSpPr>
        <p:spPr>
          <a:xfrm>
            <a:off x="5212080" y="2514600"/>
            <a:ext cx="1828800" cy="822960"/>
          </a:xfrm>
          <a:prstGeom prst="rect">
            <a:avLst/>
          </a:prstGeom>
          <a:noFill/>
          <a:ln/>
        </p:spPr>
        <p:txBody>
          <a:bodyPr wrap="square" lIns="0" tIns="0" rIns="0" bIns="0" rtlCol="0" anchor="t"/>
          <a:lstStyle/>
          <a:p>
            <a:pPr algn="ctr" indent="0" marL="0">
              <a:buNone/>
            </a:pPr>
            <a:r>
              <a:rPr lang="en-US" sz="1200" dirty="0">
                <a:solidFill>
                  <a:srgbClr val="5F6F69"/>
                </a:solidFill>
                <a:latin typeface="Calibri" pitchFamily="34" charset="0"/>
                <a:ea typeface="Calibri" pitchFamily="34" charset="-122"/>
                <a:cs typeface="Calibri" pitchFamily="34" charset="-120"/>
              </a:rPr>
              <a:t>dark incubation</a:t>
            </a:r>
            <a:endParaRPr lang="en-US" sz="1200" dirty="0"/>
          </a:p>
          <a:p>
            <a:pPr algn="ctr" indent="0" marL="0">
              <a:buNone/>
            </a:pPr>
            <a:r>
              <a:rPr lang="en-US" sz="1200" dirty="0">
                <a:solidFill>
                  <a:srgbClr val="5F6F69"/>
                </a:solidFill>
                <a:latin typeface="Calibri" pitchFamily="34" charset="0"/>
                <a:ea typeface="Calibri" pitchFamily="34" charset="-122"/>
                <a:cs typeface="Calibri" pitchFamily="34" charset="-120"/>
              </a:rPr>
              <a:t>at 21–24°C</a:t>
            </a:r>
            <a:endParaRPr lang="en-US" sz="1200" dirty="0"/>
          </a:p>
        </p:txBody>
      </p:sp>
      <p:sp>
        <p:nvSpPr>
          <p:cNvPr id="17" name="Shape 15"/>
          <p:cNvSpPr/>
          <p:nvPr/>
        </p:nvSpPr>
        <p:spPr>
          <a:xfrm>
            <a:off x="7159752" y="2560320"/>
            <a:ext cx="219456" cy="0"/>
          </a:xfrm>
          <a:prstGeom prst="line">
            <a:avLst/>
          </a:prstGeom>
          <a:noFill/>
          <a:ln w="19050">
            <a:solidFill>
              <a:srgbClr val="D9962B"/>
            </a:solidFill>
            <a:prstDash val="solid"/>
            <a:tailEnd type="triangle"/>
          </a:ln>
        </p:spPr>
      </p:sp>
      <p:sp>
        <p:nvSpPr>
          <p:cNvPr id="18" name="Shape 16"/>
          <p:cNvSpPr/>
          <p:nvPr/>
        </p:nvSpPr>
        <p:spPr>
          <a:xfrm>
            <a:off x="7406640" y="1600200"/>
            <a:ext cx="2011680" cy="1920240"/>
          </a:xfrm>
          <a:prstGeom prst="roundRect">
            <a:avLst>
              <a:gd name="adj" fmla="val 3810"/>
            </a:avLst>
          </a:prstGeom>
          <a:solidFill>
            <a:srgbClr val="EEF4F0"/>
          </a:solidFill>
          <a:ln w="9525">
            <a:solidFill>
              <a:srgbClr val="EEF4F0"/>
            </a:solidFill>
            <a:prstDash val="solid"/>
          </a:ln>
        </p:spPr>
      </p:sp>
      <p:sp>
        <p:nvSpPr>
          <p:cNvPr id="19" name="Text 17"/>
          <p:cNvSpPr txBox="1"/>
          <p:nvPr/>
        </p:nvSpPr>
        <p:spPr>
          <a:xfrm>
            <a:off x="7498080" y="1783080"/>
            <a:ext cx="1828800" cy="640080"/>
          </a:xfrm>
          <a:prstGeom prst="rect">
            <a:avLst/>
          </a:prstGeom>
          <a:noFill/>
          <a:ln/>
        </p:spPr>
        <p:txBody>
          <a:bodyPr wrap="square" lIns="0" tIns="0" rIns="0" bIns="0" rtlCol="0" anchor="ctr"/>
          <a:lstStyle/>
          <a:p>
            <a:pPr algn="ctr" indent="0" marL="0">
              <a:buNone/>
            </a:pPr>
            <a:r>
              <a:rPr lang="en-US" sz="2600" b="1" dirty="0">
                <a:solidFill>
                  <a:srgbClr val="2E5E4E"/>
                </a:solidFill>
                <a:latin typeface="Cambria" pitchFamily="34" charset="0"/>
                <a:ea typeface="Cambria" pitchFamily="34" charset="-122"/>
                <a:cs typeface="Cambria" pitchFamily="34" charset="-120"/>
              </a:rPr>
              <a:t>~36 kg</a:t>
            </a:r>
            <a:endParaRPr lang="en-US" sz="2600" dirty="0"/>
          </a:p>
        </p:txBody>
      </p:sp>
      <p:sp>
        <p:nvSpPr>
          <p:cNvPr id="20" name="Text 18"/>
          <p:cNvSpPr txBox="1"/>
          <p:nvPr/>
        </p:nvSpPr>
        <p:spPr>
          <a:xfrm>
            <a:off x="7498080" y="2514600"/>
            <a:ext cx="1828800" cy="822960"/>
          </a:xfrm>
          <a:prstGeom prst="rect">
            <a:avLst/>
          </a:prstGeom>
          <a:noFill/>
          <a:ln/>
        </p:spPr>
        <p:txBody>
          <a:bodyPr wrap="square" lIns="0" tIns="0" rIns="0" bIns="0" rtlCol="0" anchor="t"/>
          <a:lstStyle/>
          <a:p>
            <a:pPr algn="ctr" indent="0" marL="0">
              <a:buNone/>
            </a:pPr>
            <a:r>
              <a:rPr lang="en-US" sz="1200" dirty="0">
                <a:solidFill>
                  <a:srgbClr val="5F6F69"/>
                </a:solidFill>
                <a:latin typeface="Calibri" pitchFamily="34" charset="0"/>
                <a:ea typeface="Calibri" pitchFamily="34" charset="-122"/>
                <a:cs typeface="Calibri" pitchFamily="34" charset="-120"/>
              </a:rPr>
              <a:t>fresh mushrooms</a:t>
            </a:r>
            <a:endParaRPr lang="en-US" sz="1200" dirty="0"/>
          </a:p>
          <a:p>
            <a:pPr algn="ctr" indent="0" marL="0">
              <a:buNone/>
            </a:pPr>
            <a:r>
              <a:rPr lang="en-US" sz="1200" dirty="0">
                <a:solidFill>
                  <a:srgbClr val="5F6F69"/>
                </a:solidFill>
                <a:latin typeface="Calibri" pitchFamily="34" charset="0"/>
                <a:ea typeface="Calibri" pitchFamily="34" charset="-122"/>
                <a:cs typeface="Calibri" pitchFamily="34" charset="-120"/>
              </a:rPr>
              <a:t>(65% BE, 8% loss)</a:t>
            </a:r>
            <a:endParaRPr lang="en-US" sz="1200" dirty="0"/>
          </a:p>
        </p:txBody>
      </p:sp>
      <p:sp>
        <p:nvSpPr>
          <p:cNvPr id="21" name="Shape 19"/>
          <p:cNvSpPr/>
          <p:nvPr/>
        </p:nvSpPr>
        <p:spPr>
          <a:xfrm>
            <a:off x="9445752" y="2560320"/>
            <a:ext cx="219456" cy="0"/>
          </a:xfrm>
          <a:prstGeom prst="line">
            <a:avLst/>
          </a:prstGeom>
          <a:noFill/>
          <a:ln w="19050">
            <a:solidFill>
              <a:srgbClr val="D9962B"/>
            </a:solidFill>
            <a:prstDash val="solid"/>
            <a:tailEnd type="triangle"/>
          </a:ln>
        </p:spPr>
      </p:sp>
      <p:sp>
        <p:nvSpPr>
          <p:cNvPr id="22" name="Shape 20"/>
          <p:cNvSpPr/>
          <p:nvPr/>
        </p:nvSpPr>
        <p:spPr>
          <a:xfrm>
            <a:off x="9692640" y="1600200"/>
            <a:ext cx="2011680" cy="1920240"/>
          </a:xfrm>
          <a:prstGeom prst="roundRect">
            <a:avLst>
              <a:gd name="adj" fmla="val 3810"/>
            </a:avLst>
          </a:prstGeom>
          <a:solidFill>
            <a:srgbClr val="14302A"/>
          </a:solidFill>
          <a:ln w="9525">
            <a:solidFill>
              <a:srgbClr val="14302A"/>
            </a:solidFill>
            <a:prstDash val="solid"/>
          </a:ln>
        </p:spPr>
      </p:sp>
      <p:sp>
        <p:nvSpPr>
          <p:cNvPr id="23" name="Text 21"/>
          <p:cNvSpPr txBox="1"/>
          <p:nvPr/>
        </p:nvSpPr>
        <p:spPr>
          <a:xfrm>
            <a:off x="9784080" y="1783080"/>
            <a:ext cx="1828800" cy="64008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~3.6 kg</a:t>
            </a:r>
            <a:endParaRPr lang="en-US" sz="2600" dirty="0"/>
          </a:p>
        </p:txBody>
      </p:sp>
      <p:sp>
        <p:nvSpPr>
          <p:cNvPr id="24" name="Text 22"/>
          <p:cNvSpPr txBox="1"/>
          <p:nvPr/>
        </p:nvSpPr>
        <p:spPr>
          <a:xfrm>
            <a:off x="9784080" y="2514600"/>
            <a:ext cx="1828800" cy="822960"/>
          </a:xfrm>
          <a:prstGeom prst="rect">
            <a:avLst/>
          </a:prstGeom>
          <a:noFill/>
          <a:ln/>
        </p:spPr>
        <p:txBody>
          <a:bodyPr wrap="square" lIns="0" tIns="0" rIns="0" bIns="0" rtlCol="0" anchor="t"/>
          <a:lstStyle/>
          <a:p>
            <a:pPr algn="ctr" indent="0" marL="0">
              <a:buNone/>
            </a:pPr>
            <a:r>
              <a:rPr lang="en-US" sz="1200" dirty="0">
                <a:solidFill>
                  <a:srgbClr val="8DB596"/>
                </a:solidFill>
                <a:latin typeface="Calibri" pitchFamily="34" charset="0"/>
                <a:ea typeface="Calibri" pitchFamily="34" charset="-122"/>
                <a:cs typeface="Calibri" pitchFamily="34" charset="-120"/>
              </a:rPr>
              <a:t>dry powder</a:t>
            </a:r>
            <a:endParaRPr lang="en-US" sz="1200" dirty="0"/>
          </a:p>
          <a:p>
            <a:pPr algn="ctr" indent="0" marL="0">
              <a:buNone/>
            </a:pPr>
            <a:r>
              <a:rPr lang="en-US" sz="1200" dirty="0">
                <a:solidFill>
                  <a:srgbClr val="8DB596"/>
                </a:solidFill>
                <a:latin typeface="Calibri" pitchFamily="34" charset="0"/>
                <a:ea typeface="Calibri" pitchFamily="34" charset="-122"/>
                <a:cs typeface="Calibri" pitchFamily="34" charset="-120"/>
              </a:rPr>
              <a:t>(10:1 fresh-to-dry)</a:t>
            </a:r>
            <a:endParaRPr lang="en-US" sz="1200" dirty="0"/>
          </a:p>
        </p:txBody>
      </p:sp>
      <p:sp>
        <p:nvSpPr>
          <p:cNvPr id="25" name="Shape 23"/>
          <p:cNvSpPr/>
          <p:nvPr/>
        </p:nvSpPr>
        <p:spPr>
          <a:xfrm>
            <a:off x="548640" y="3886200"/>
            <a:ext cx="5486400" cy="2240280"/>
          </a:xfrm>
          <a:prstGeom prst="roundRect">
            <a:avLst>
              <a:gd name="adj" fmla="val 3265"/>
            </a:avLst>
          </a:prstGeom>
          <a:solidFill>
            <a:srgbClr val="FFFFFF"/>
          </a:solidFill>
          <a:ln w="9525">
            <a:solidFill>
              <a:srgbClr val="D3DED8"/>
            </a:solidFill>
            <a:prstDash val="solid"/>
          </a:ln>
        </p:spPr>
      </p:sp>
      <p:sp>
        <p:nvSpPr>
          <p:cNvPr id="26" name="Text 24"/>
          <p:cNvSpPr txBox="1"/>
          <p:nvPr/>
        </p:nvSpPr>
        <p:spPr>
          <a:xfrm>
            <a:off x="777240" y="4023360"/>
            <a:ext cx="502920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Planning assumptions (conservative)</a:t>
            </a:r>
            <a:endParaRPr lang="en-US" sz="1500" dirty="0"/>
          </a:p>
        </p:txBody>
      </p:sp>
      <p:sp>
        <p:nvSpPr>
          <p:cNvPr id="27" name="Text 25"/>
          <p:cNvSpPr txBox="1"/>
          <p:nvPr/>
        </p:nvSpPr>
        <p:spPr>
          <a:xfrm>
            <a:off x="777240" y="4434840"/>
            <a:ext cx="5074920" cy="164592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Biological efficiency (BE) 65% across two flushes: fresh weight ÷ dry substrate weight.</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Contamination / culling loss 8% of blocks.</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Fresh-to-dry ratio 10:1 (Lion's Mane is ~90% water).</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26 inoculation days per month → ~93 kg dry powder per month.</a:t>
            </a:r>
            <a:endParaRPr lang="en-US" sz="1250" dirty="0"/>
          </a:p>
        </p:txBody>
      </p:sp>
      <p:sp>
        <p:nvSpPr>
          <p:cNvPr id="28" name="Shape 26"/>
          <p:cNvSpPr/>
          <p:nvPr/>
        </p:nvSpPr>
        <p:spPr>
          <a:xfrm>
            <a:off x="6309360" y="3886200"/>
            <a:ext cx="5349240" cy="2240280"/>
          </a:xfrm>
          <a:prstGeom prst="roundRect">
            <a:avLst>
              <a:gd name="adj" fmla="val 3265"/>
            </a:avLst>
          </a:prstGeom>
          <a:solidFill>
            <a:srgbClr val="FBF1DE"/>
          </a:solidFill>
          <a:ln w="9525">
            <a:solidFill>
              <a:srgbClr val="FBF1DE"/>
            </a:solidFill>
            <a:prstDash val="solid"/>
          </a:ln>
        </p:spPr>
      </p:sp>
      <p:sp>
        <p:nvSpPr>
          <p:cNvPr id="29" name="Text 27"/>
          <p:cNvSpPr txBox="1"/>
          <p:nvPr/>
        </p:nvSpPr>
        <p:spPr>
          <a:xfrm>
            <a:off x="6537960" y="4023360"/>
            <a:ext cx="4937760" cy="365760"/>
          </a:xfrm>
          <a:prstGeom prst="rect">
            <a:avLst/>
          </a:prstGeom>
          <a:noFill/>
          <a:ln/>
        </p:spPr>
        <p:txBody>
          <a:bodyPr wrap="square" lIns="0" tIns="0" rIns="0" bIns="0" rtlCol="0" anchor="t"/>
          <a:lstStyle/>
          <a:p>
            <a:pPr indent="0" marL="0">
              <a:buNone/>
            </a:pPr>
            <a:r>
              <a:rPr lang="en-US" sz="1500" b="1" dirty="0">
                <a:solidFill>
                  <a:srgbClr val="A36A12"/>
                </a:solidFill>
                <a:latin typeface="Cambria" pitchFamily="34" charset="0"/>
                <a:ea typeface="Cambria" pitchFamily="34" charset="-122"/>
                <a:cs typeface="Cambria" pitchFamily="34" charset="-120"/>
              </a:rPr>
              <a:t>Expert note on the 5 kg/day target</a:t>
            </a:r>
            <a:endParaRPr lang="en-US" sz="1500" dirty="0"/>
          </a:p>
        </p:txBody>
      </p:sp>
      <p:sp>
        <p:nvSpPr>
          <p:cNvPr id="30" name="Text 28"/>
          <p:cNvSpPr txBox="1"/>
          <p:nvPr/>
        </p:nvSpPr>
        <p:spPr>
          <a:xfrm>
            <a:off x="6537960" y="4434840"/>
            <a:ext cx="4937760" cy="16002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The notes assume 80–100% BE, which gives 4.4–5.5 kg/day from 60 blocks. That is achievable on Master's Mix with a well-adapted strain, but lenders and buyers should see a plan that works at 65%. At 65% BE, 5 kg/day needs ~90 blocks/day, so we commission at 60 and design the building to expand to 90.</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02 · BIOLOGY &amp; OUTPUT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Yield sensitivity: what it takes to hit 5 kg/day</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6</a:t>
            </a:r>
            <a:endParaRPr lang="en-US" sz="900" dirty="0"/>
          </a:p>
        </p:txBody>
      </p:sp>
      <p:graphicFrame>
        <p:nvGraphicFramePr>
          <p:cNvPr id="6" name="Chart 0" descr=""/>
          <p:cNvGraphicFramePr/>
          <p:nvPr/>
        </p:nvGraphicFramePr>
        <p:xfrm>
          <a:off x="548640" y="146304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229600" y="1508760"/>
            <a:ext cx="3429000" cy="1417320"/>
          </a:xfrm>
          <a:prstGeom prst="roundRect">
            <a:avLst>
              <a:gd name="adj" fmla="val 5161"/>
            </a:avLst>
          </a:prstGeom>
          <a:solidFill>
            <a:srgbClr val="14302A"/>
          </a:solidFill>
          <a:ln w="9525">
            <a:solidFill>
              <a:srgbClr val="14302A"/>
            </a:solidFill>
            <a:prstDash val="solid"/>
          </a:ln>
        </p:spPr>
      </p:sp>
      <p:sp>
        <p:nvSpPr>
          <p:cNvPr id="8" name="Text 5"/>
          <p:cNvSpPr txBox="1"/>
          <p:nvPr/>
        </p:nvSpPr>
        <p:spPr>
          <a:xfrm>
            <a:off x="8458200" y="1673352"/>
            <a:ext cx="2971800" cy="7086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90 blocks</a:t>
            </a:r>
            <a:endParaRPr lang="en-US" sz="3000" dirty="0"/>
          </a:p>
        </p:txBody>
      </p:sp>
      <p:sp>
        <p:nvSpPr>
          <p:cNvPr id="9" name="Text 6"/>
          <p:cNvSpPr txBox="1"/>
          <p:nvPr/>
        </p:nvSpPr>
        <p:spPr>
          <a:xfrm>
            <a:off x="8458200" y="2288286"/>
            <a:ext cx="2971800" cy="566928"/>
          </a:xfrm>
          <a:prstGeom prst="rect">
            <a:avLst/>
          </a:prstGeom>
          <a:noFill/>
          <a:ln/>
        </p:spPr>
        <p:txBody>
          <a:bodyPr wrap="square" lIns="0" tIns="0" rIns="0" bIns="0" rtlCol="0" anchor="t"/>
          <a:lstStyle/>
          <a:p>
            <a:pPr indent="0" marL="0">
              <a:buNone/>
            </a:pPr>
            <a:r>
              <a:rPr lang="en-US" sz="1150" dirty="0">
                <a:solidFill>
                  <a:srgbClr val="C9D9CF"/>
                </a:solidFill>
                <a:latin typeface="Calibri" pitchFamily="34" charset="0"/>
                <a:ea typeface="Calibri" pitchFamily="34" charset="-122"/>
                <a:cs typeface="Calibri" pitchFamily="34" charset="-120"/>
              </a:rPr>
              <a:t>needed for 5+ kg/day at base 65% BE</a:t>
            </a:r>
            <a:endParaRPr lang="en-US" sz="1150" dirty="0"/>
          </a:p>
        </p:txBody>
      </p:sp>
      <p:sp>
        <p:nvSpPr>
          <p:cNvPr id="10" name="Shape 7"/>
          <p:cNvSpPr/>
          <p:nvPr/>
        </p:nvSpPr>
        <p:spPr>
          <a:xfrm>
            <a:off x="8229600" y="3108960"/>
            <a:ext cx="3429000" cy="1417320"/>
          </a:xfrm>
          <a:prstGeom prst="roundRect">
            <a:avLst>
              <a:gd name="adj" fmla="val 5161"/>
            </a:avLst>
          </a:prstGeom>
          <a:solidFill>
            <a:srgbClr val="EEF4F0"/>
          </a:solidFill>
          <a:ln w="9525">
            <a:solidFill>
              <a:srgbClr val="EEF4F0"/>
            </a:solidFill>
            <a:prstDash val="solid"/>
          </a:ln>
        </p:spPr>
      </p:sp>
      <p:sp>
        <p:nvSpPr>
          <p:cNvPr id="11" name="Text 8"/>
          <p:cNvSpPr txBox="1"/>
          <p:nvPr/>
        </p:nvSpPr>
        <p:spPr>
          <a:xfrm>
            <a:off x="8458200" y="3273552"/>
            <a:ext cx="2971800" cy="70866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93 → 140 kg</a:t>
            </a:r>
            <a:endParaRPr lang="en-US" sz="3000" dirty="0"/>
          </a:p>
        </p:txBody>
      </p:sp>
      <p:sp>
        <p:nvSpPr>
          <p:cNvPr id="12" name="Text 9"/>
          <p:cNvSpPr txBox="1"/>
          <p:nvPr/>
        </p:nvSpPr>
        <p:spPr>
          <a:xfrm>
            <a:off x="8458200" y="3888486"/>
            <a:ext cx="2971800" cy="566928"/>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dry powder per month, Phase 1 → Phase 2</a:t>
            </a:r>
            <a:endParaRPr lang="en-US" sz="1150" dirty="0"/>
          </a:p>
        </p:txBody>
      </p:sp>
      <p:sp>
        <p:nvSpPr>
          <p:cNvPr id="13" name="Shape 10"/>
          <p:cNvSpPr/>
          <p:nvPr/>
        </p:nvSpPr>
        <p:spPr>
          <a:xfrm>
            <a:off x="8229600" y="4709160"/>
            <a:ext cx="3429000" cy="1508760"/>
          </a:xfrm>
          <a:prstGeom prst="roundRect">
            <a:avLst>
              <a:gd name="adj" fmla="val 4848"/>
            </a:avLst>
          </a:prstGeom>
          <a:solidFill>
            <a:srgbClr val="FBF1DE"/>
          </a:solidFill>
          <a:ln w="9525">
            <a:solidFill>
              <a:srgbClr val="FBF1DE"/>
            </a:solidFill>
            <a:prstDash val="solid"/>
          </a:ln>
        </p:spPr>
      </p:sp>
      <p:sp>
        <p:nvSpPr>
          <p:cNvPr id="14" name="Text 11"/>
          <p:cNvSpPr txBox="1"/>
          <p:nvPr/>
        </p:nvSpPr>
        <p:spPr>
          <a:xfrm>
            <a:off x="8412480" y="4828032"/>
            <a:ext cx="3063240" cy="132588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Every +10 points of BE adds ~0.55 kg/day at 60 blocks. Strain selection and sterilization quality are the cheapest ways to grow output.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02 · BIOLOGY &amp; OUTPUT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Crop cycle: ~60 days from liquid culture to first harvest</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2651760" y="1600200"/>
            <a:ext cx="0" cy="2788920"/>
          </a:xfrm>
          <a:prstGeom prst="line">
            <a:avLst/>
          </a:prstGeom>
          <a:noFill/>
          <a:ln w="9525">
            <a:solidFill>
              <a:srgbClr val="E5ECE8"/>
            </a:solidFill>
            <a:prstDash val="solid"/>
          </a:ln>
        </p:spPr>
      </p:sp>
      <p:sp>
        <p:nvSpPr>
          <p:cNvPr id="7" name="Text 5"/>
          <p:cNvSpPr txBox="1"/>
          <p:nvPr/>
        </p:nvSpPr>
        <p:spPr>
          <a:xfrm>
            <a:off x="2377440"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-28</a:t>
            </a:r>
            <a:endParaRPr lang="en-US" sz="950" dirty="0"/>
          </a:p>
        </p:txBody>
      </p:sp>
      <p:sp>
        <p:nvSpPr>
          <p:cNvPr id="8" name="Shape 6"/>
          <p:cNvSpPr/>
          <p:nvPr/>
        </p:nvSpPr>
        <p:spPr>
          <a:xfrm>
            <a:off x="3447757" y="1600200"/>
            <a:ext cx="0" cy="2788920"/>
          </a:xfrm>
          <a:prstGeom prst="line">
            <a:avLst/>
          </a:prstGeom>
          <a:noFill/>
          <a:ln w="9525">
            <a:solidFill>
              <a:srgbClr val="E5ECE8"/>
            </a:solidFill>
            <a:prstDash val="solid"/>
          </a:ln>
        </p:spPr>
      </p:sp>
      <p:sp>
        <p:nvSpPr>
          <p:cNvPr id="9" name="Text 7"/>
          <p:cNvSpPr txBox="1"/>
          <p:nvPr/>
        </p:nvSpPr>
        <p:spPr>
          <a:xfrm>
            <a:off x="3173437"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-21</a:t>
            </a:r>
            <a:endParaRPr lang="en-US" sz="950" dirty="0"/>
          </a:p>
        </p:txBody>
      </p:sp>
      <p:sp>
        <p:nvSpPr>
          <p:cNvPr id="10" name="Shape 8"/>
          <p:cNvSpPr/>
          <p:nvPr/>
        </p:nvSpPr>
        <p:spPr>
          <a:xfrm>
            <a:off x="4243754" y="1600200"/>
            <a:ext cx="0" cy="2788920"/>
          </a:xfrm>
          <a:prstGeom prst="line">
            <a:avLst/>
          </a:prstGeom>
          <a:noFill/>
          <a:ln w="9525">
            <a:solidFill>
              <a:srgbClr val="E5ECE8"/>
            </a:solidFill>
            <a:prstDash val="solid"/>
          </a:ln>
        </p:spPr>
      </p:sp>
      <p:sp>
        <p:nvSpPr>
          <p:cNvPr id="11" name="Text 9"/>
          <p:cNvSpPr txBox="1"/>
          <p:nvPr/>
        </p:nvSpPr>
        <p:spPr>
          <a:xfrm>
            <a:off x="3969434"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-14</a:t>
            </a:r>
            <a:endParaRPr lang="en-US" sz="950" dirty="0"/>
          </a:p>
        </p:txBody>
      </p:sp>
      <p:sp>
        <p:nvSpPr>
          <p:cNvPr id="12" name="Shape 10"/>
          <p:cNvSpPr/>
          <p:nvPr/>
        </p:nvSpPr>
        <p:spPr>
          <a:xfrm>
            <a:off x="5039751" y="1600200"/>
            <a:ext cx="0" cy="2788920"/>
          </a:xfrm>
          <a:prstGeom prst="line">
            <a:avLst/>
          </a:prstGeom>
          <a:noFill/>
          <a:ln w="9525">
            <a:solidFill>
              <a:srgbClr val="E5ECE8"/>
            </a:solidFill>
            <a:prstDash val="solid"/>
          </a:ln>
        </p:spPr>
      </p:sp>
      <p:sp>
        <p:nvSpPr>
          <p:cNvPr id="13" name="Text 11"/>
          <p:cNvSpPr txBox="1"/>
          <p:nvPr/>
        </p:nvSpPr>
        <p:spPr>
          <a:xfrm>
            <a:off x="4765431"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-7</a:t>
            </a:r>
            <a:endParaRPr lang="en-US" sz="950" dirty="0"/>
          </a:p>
        </p:txBody>
      </p:sp>
      <p:sp>
        <p:nvSpPr>
          <p:cNvPr id="14" name="Shape 12"/>
          <p:cNvSpPr/>
          <p:nvPr/>
        </p:nvSpPr>
        <p:spPr>
          <a:xfrm>
            <a:off x="5835748" y="1600200"/>
            <a:ext cx="0" cy="2788920"/>
          </a:xfrm>
          <a:prstGeom prst="line">
            <a:avLst/>
          </a:prstGeom>
          <a:noFill/>
          <a:ln w="9525">
            <a:solidFill>
              <a:srgbClr val="E5ECE8"/>
            </a:solidFill>
            <a:prstDash val="solid"/>
          </a:ln>
        </p:spPr>
      </p:sp>
      <p:sp>
        <p:nvSpPr>
          <p:cNvPr id="15" name="Text 13"/>
          <p:cNvSpPr txBox="1"/>
          <p:nvPr/>
        </p:nvSpPr>
        <p:spPr>
          <a:xfrm>
            <a:off x="5561428"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0</a:t>
            </a:r>
            <a:endParaRPr lang="en-US" sz="950" dirty="0"/>
          </a:p>
        </p:txBody>
      </p:sp>
      <p:sp>
        <p:nvSpPr>
          <p:cNvPr id="16" name="Shape 14"/>
          <p:cNvSpPr/>
          <p:nvPr/>
        </p:nvSpPr>
        <p:spPr>
          <a:xfrm>
            <a:off x="6631745" y="1600200"/>
            <a:ext cx="0" cy="2788920"/>
          </a:xfrm>
          <a:prstGeom prst="line">
            <a:avLst/>
          </a:prstGeom>
          <a:noFill/>
          <a:ln w="9525">
            <a:solidFill>
              <a:srgbClr val="E5ECE8"/>
            </a:solidFill>
            <a:prstDash val="solid"/>
          </a:ln>
        </p:spPr>
      </p:sp>
      <p:sp>
        <p:nvSpPr>
          <p:cNvPr id="17" name="Text 15"/>
          <p:cNvSpPr txBox="1"/>
          <p:nvPr/>
        </p:nvSpPr>
        <p:spPr>
          <a:xfrm>
            <a:off x="6357425"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+7</a:t>
            </a:r>
            <a:endParaRPr lang="en-US" sz="950" dirty="0"/>
          </a:p>
        </p:txBody>
      </p:sp>
      <p:sp>
        <p:nvSpPr>
          <p:cNvPr id="18" name="Shape 16"/>
          <p:cNvSpPr/>
          <p:nvPr/>
        </p:nvSpPr>
        <p:spPr>
          <a:xfrm>
            <a:off x="7427742" y="1600200"/>
            <a:ext cx="0" cy="2788920"/>
          </a:xfrm>
          <a:prstGeom prst="line">
            <a:avLst/>
          </a:prstGeom>
          <a:noFill/>
          <a:ln w="9525">
            <a:solidFill>
              <a:srgbClr val="E5ECE8"/>
            </a:solidFill>
            <a:prstDash val="solid"/>
          </a:ln>
        </p:spPr>
      </p:sp>
      <p:sp>
        <p:nvSpPr>
          <p:cNvPr id="19" name="Text 17"/>
          <p:cNvSpPr txBox="1"/>
          <p:nvPr/>
        </p:nvSpPr>
        <p:spPr>
          <a:xfrm>
            <a:off x="7153422"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+14</a:t>
            </a:r>
            <a:endParaRPr lang="en-US" sz="950" dirty="0"/>
          </a:p>
        </p:txBody>
      </p:sp>
      <p:sp>
        <p:nvSpPr>
          <p:cNvPr id="20" name="Shape 18"/>
          <p:cNvSpPr/>
          <p:nvPr/>
        </p:nvSpPr>
        <p:spPr>
          <a:xfrm>
            <a:off x="8223738" y="1600200"/>
            <a:ext cx="0" cy="2788920"/>
          </a:xfrm>
          <a:prstGeom prst="line">
            <a:avLst/>
          </a:prstGeom>
          <a:noFill/>
          <a:ln w="9525">
            <a:solidFill>
              <a:srgbClr val="E5ECE8"/>
            </a:solidFill>
            <a:prstDash val="solid"/>
          </a:ln>
        </p:spPr>
      </p:sp>
      <p:sp>
        <p:nvSpPr>
          <p:cNvPr id="21" name="Text 19"/>
          <p:cNvSpPr txBox="1"/>
          <p:nvPr/>
        </p:nvSpPr>
        <p:spPr>
          <a:xfrm>
            <a:off x="7949418"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+21</a:t>
            </a:r>
            <a:endParaRPr lang="en-US" sz="950" dirty="0"/>
          </a:p>
        </p:txBody>
      </p:sp>
      <p:sp>
        <p:nvSpPr>
          <p:cNvPr id="22" name="Shape 20"/>
          <p:cNvSpPr/>
          <p:nvPr/>
        </p:nvSpPr>
        <p:spPr>
          <a:xfrm>
            <a:off x="9019735" y="1600200"/>
            <a:ext cx="0" cy="2788920"/>
          </a:xfrm>
          <a:prstGeom prst="line">
            <a:avLst/>
          </a:prstGeom>
          <a:noFill/>
          <a:ln w="9525">
            <a:solidFill>
              <a:srgbClr val="E5ECE8"/>
            </a:solidFill>
            <a:prstDash val="solid"/>
          </a:ln>
        </p:spPr>
      </p:sp>
      <p:sp>
        <p:nvSpPr>
          <p:cNvPr id="23" name="Text 21"/>
          <p:cNvSpPr txBox="1"/>
          <p:nvPr/>
        </p:nvSpPr>
        <p:spPr>
          <a:xfrm>
            <a:off x="8745415"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+28</a:t>
            </a:r>
            <a:endParaRPr lang="en-US" sz="950" dirty="0"/>
          </a:p>
        </p:txBody>
      </p:sp>
      <p:sp>
        <p:nvSpPr>
          <p:cNvPr id="24" name="Shape 22"/>
          <p:cNvSpPr/>
          <p:nvPr/>
        </p:nvSpPr>
        <p:spPr>
          <a:xfrm>
            <a:off x="9815732" y="1600200"/>
            <a:ext cx="0" cy="2788920"/>
          </a:xfrm>
          <a:prstGeom prst="line">
            <a:avLst/>
          </a:prstGeom>
          <a:noFill/>
          <a:ln w="9525">
            <a:solidFill>
              <a:srgbClr val="E5ECE8"/>
            </a:solidFill>
            <a:prstDash val="solid"/>
          </a:ln>
        </p:spPr>
      </p:sp>
      <p:sp>
        <p:nvSpPr>
          <p:cNvPr id="25" name="Text 23"/>
          <p:cNvSpPr txBox="1"/>
          <p:nvPr/>
        </p:nvSpPr>
        <p:spPr>
          <a:xfrm>
            <a:off x="9541412"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+35</a:t>
            </a:r>
            <a:endParaRPr lang="en-US" sz="950" dirty="0"/>
          </a:p>
        </p:txBody>
      </p:sp>
      <p:sp>
        <p:nvSpPr>
          <p:cNvPr id="26" name="Shape 24"/>
          <p:cNvSpPr/>
          <p:nvPr/>
        </p:nvSpPr>
        <p:spPr>
          <a:xfrm>
            <a:off x="10611729" y="1600200"/>
            <a:ext cx="0" cy="2788920"/>
          </a:xfrm>
          <a:prstGeom prst="line">
            <a:avLst/>
          </a:prstGeom>
          <a:noFill/>
          <a:ln w="9525">
            <a:solidFill>
              <a:srgbClr val="E5ECE8"/>
            </a:solidFill>
            <a:prstDash val="solid"/>
          </a:ln>
        </p:spPr>
      </p:sp>
      <p:sp>
        <p:nvSpPr>
          <p:cNvPr id="27" name="Text 25"/>
          <p:cNvSpPr txBox="1"/>
          <p:nvPr/>
        </p:nvSpPr>
        <p:spPr>
          <a:xfrm>
            <a:off x="10337409"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+42</a:t>
            </a:r>
            <a:endParaRPr lang="en-US" sz="950" dirty="0"/>
          </a:p>
        </p:txBody>
      </p:sp>
      <p:sp>
        <p:nvSpPr>
          <p:cNvPr id="28" name="Shape 26"/>
          <p:cNvSpPr/>
          <p:nvPr/>
        </p:nvSpPr>
        <p:spPr>
          <a:xfrm>
            <a:off x="11407726" y="1600200"/>
            <a:ext cx="0" cy="2788920"/>
          </a:xfrm>
          <a:prstGeom prst="line">
            <a:avLst/>
          </a:prstGeom>
          <a:noFill/>
          <a:ln w="9525">
            <a:solidFill>
              <a:srgbClr val="E5ECE8"/>
            </a:solidFill>
            <a:prstDash val="solid"/>
          </a:ln>
        </p:spPr>
      </p:sp>
      <p:sp>
        <p:nvSpPr>
          <p:cNvPr id="29" name="Text 27"/>
          <p:cNvSpPr txBox="1"/>
          <p:nvPr/>
        </p:nvSpPr>
        <p:spPr>
          <a:xfrm>
            <a:off x="11133406" y="4434840"/>
            <a:ext cx="548640" cy="228600"/>
          </a:xfrm>
          <a:prstGeom prst="rect">
            <a:avLst/>
          </a:prstGeom>
          <a:noFill/>
          <a:ln/>
        </p:spPr>
        <p:txBody>
          <a:bodyPr wrap="square" lIns="0" tIns="0" rIns="0" bIns="0" rtlCol="0" anchor="t"/>
          <a:lstStyle/>
          <a:p>
            <a:pPr algn="ctr" indent="0" marL="0">
              <a:buNone/>
            </a:pPr>
            <a:r>
              <a:rPr lang="en-US" sz="950" dirty="0">
                <a:solidFill>
                  <a:srgbClr val="5F6F69"/>
                </a:solidFill>
                <a:latin typeface="Calibri" pitchFamily="34" charset="0"/>
                <a:ea typeface="Calibri" pitchFamily="34" charset="-122"/>
                <a:cs typeface="Calibri" pitchFamily="34" charset="-120"/>
              </a:rPr>
              <a:t>+49</a:t>
            </a:r>
            <a:endParaRPr lang="en-US" sz="950" dirty="0"/>
          </a:p>
        </p:txBody>
      </p:sp>
      <p:sp>
        <p:nvSpPr>
          <p:cNvPr id="30" name="Text 28"/>
          <p:cNvSpPr txBox="1"/>
          <p:nvPr/>
        </p:nvSpPr>
        <p:spPr>
          <a:xfrm>
            <a:off x="2651760" y="4663440"/>
            <a:ext cx="886968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Days relative to block inoculation (day 0)</a:t>
            </a:r>
            <a:endParaRPr lang="en-US" sz="1000" dirty="0"/>
          </a:p>
        </p:txBody>
      </p:sp>
      <p:sp>
        <p:nvSpPr>
          <p:cNvPr id="31" name="Text 29"/>
          <p:cNvSpPr txBox="1"/>
          <p:nvPr/>
        </p:nvSpPr>
        <p:spPr>
          <a:xfrm>
            <a:off x="548640" y="1691640"/>
            <a:ext cx="2057400" cy="384048"/>
          </a:xfrm>
          <a:prstGeom prst="rect">
            <a:avLst/>
          </a:prstGeom>
          <a:noFill/>
          <a:ln/>
        </p:spPr>
        <p:txBody>
          <a:bodyPr wrap="square" lIns="0" tIns="0" rIns="0" bIns="0" rtlCol="0" anchor="ctr"/>
          <a:lstStyle/>
          <a:p>
            <a:pPr indent="0" marL="0">
              <a:buNone/>
            </a:pPr>
            <a:r>
              <a:rPr lang="en-US" sz="1150" b="1" dirty="0">
                <a:solidFill>
                  <a:srgbClr val="1E2A26"/>
                </a:solidFill>
                <a:latin typeface="Calibri" pitchFamily="34" charset="0"/>
                <a:ea typeface="Calibri" pitchFamily="34" charset="-122"/>
                <a:cs typeface="Calibri" pitchFamily="34" charset="-120"/>
              </a:rPr>
              <a:t>Liquid culture + QC</a:t>
            </a:r>
            <a:endParaRPr lang="en-US" sz="1150" dirty="0"/>
          </a:p>
        </p:txBody>
      </p:sp>
      <p:sp>
        <p:nvSpPr>
          <p:cNvPr id="32" name="Shape 30"/>
          <p:cNvSpPr/>
          <p:nvPr/>
        </p:nvSpPr>
        <p:spPr>
          <a:xfrm>
            <a:off x="2651760" y="1691640"/>
            <a:ext cx="795997" cy="384048"/>
          </a:xfrm>
          <a:prstGeom prst="roundRect">
            <a:avLst>
              <a:gd name="adj" fmla="val 19048"/>
            </a:avLst>
          </a:prstGeom>
          <a:solidFill>
            <a:srgbClr val="8DB596"/>
          </a:solidFill>
          <a:ln w="12700">
            <a:solidFill>
              <a:srgbClr val="8DB596"/>
            </a:solidFill>
            <a:prstDash val="solid"/>
          </a:ln>
        </p:spPr>
      </p:sp>
      <p:sp>
        <p:nvSpPr>
          <p:cNvPr id="33" name="Text 31"/>
          <p:cNvSpPr txBox="1"/>
          <p:nvPr/>
        </p:nvSpPr>
        <p:spPr>
          <a:xfrm>
            <a:off x="2651760" y="1691640"/>
            <a:ext cx="795997"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7 d</a:t>
            </a:r>
            <a:endParaRPr lang="en-US" sz="1050" dirty="0"/>
          </a:p>
        </p:txBody>
      </p:sp>
      <p:sp>
        <p:nvSpPr>
          <p:cNvPr id="34" name="Text 32"/>
          <p:cNvSpPr txBox="1"/>
          <p:nvPr/>
        </p:nvSpPr>
        <p:spPr>
          <a:xfrm>
            <a:off x="548640" y="2221992"/>
            <a:ext cx="2057400" cy="384048"/>
          </a:xfrm>
          <a:prstGeom prst="rect">
            <a:avLst/>
          </a:prstGeom>
          <a:noFill/>
          <a:ln/>
        </p:spPr>
        <p:txBody>
          <a:bodyPr wrap="square" lIns="0" tIns="0" rIns="0" bIns="0" rtlCol="0" anchor="ctr"/>
          <a:lstStyle/>
          <a:p>
            <a:pPr indent="0" marL="0">
              <a:buNone/>
            </a:pPr>
            <a:r>
              <a:rPr lang="en-US" sz="1150" b="1" dirty="0">
                <a:solidFill>
                  <a:srgbClr val="1E2A26"/>
                </a:solidFill>
                <a:latin typeface="Calibri" pitchFamily="34" charset="0"/>
                <a:ea typeface="Calibri" pitchFamily="34" charset="-122"/>
                <a:cs typeface="Calibri" pitchFamily="34" charset="-120"/>
              </a:rPr>
              <a:t>Grain spawn run</a:t>
            </a:r>
            <a:endParaRPr lang="en-US" sz="1150" dirty="0"/>
          </a:p>
        </p:txBody>
      </p:sp>
      <p:sp>
        <p:nvSpPr>
          <p:cNvPr id="35" name="Shape 33"/>
          <p:cNvSpPr/>
          <p:nvPr/>
        </p:nvSpPr>
        <p:spPr>
          <a:xfrm>
            <a:off x="3447757" y="2221992"/>
            <a:ext cx="2387991" cy="384048"/>
          </a:xfrm>
          <a:prstGeom prst="roundRect">
            <a:avLst>
              <a:gd name="adj" fmla="val 19048"/>
            </a:avLst>
          </a:prstGeom>
          <a:solidFill>
            <a:srgbClr val="8DB596"/>
          </a:solidFill>
          <a:ln w="12700">
            <a:solidFill>
              <a:srgbClr val="8DB596"/>
            </a:solidFill>
            <a:prstDash val="solid"/>
          </a:ln>
        </p:spPr>
      </p:sp>
      <p:sp>
        <p:nvSpPr>
          <p:cNvPr id="36" name="Text 34"/>
          <p:cNvSpPr txBox="1"/>
          <p:nvPr/>
        </p:nvSpPr>
        <p:spPr>
          <a:xfrm>
            <a:off x="3447757" y="2221992"/>
            <a:ext cx="2387991"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 d</a:t>
            </a:r>
            <a:endParaRPr lang="en-US" sz="1050" dirty="0"/>
          </a:p>
        </p:txBody>
      </p:sp>
      <p:sp>
        <p:nvSpPr>
          <p:cNvPr id="37" name="Text 35"/>
          <p:cNvSpPr txBox="1"/>
          <p:nvPr/>
        </p:nvSpPr>
        <p:spPr>
          <a:xfrm>
            <a:off x="548640" y="2752344"/>
            <a:ext cx="2057400" cy="384048"/>
          </a:xfrm>
          <a:prstGeom prst="rect">
            <a:avLst/>
          </a:prstGeom>
          <a:noFill/>
          <a:ln/>
        </p:spPr>
        <p:txBody>
          <a:bodyPr wrap="square" lIns="0" tIns="0" rIns="0" bIns="0" rtlCol="0" anchor="ctr"/>
          <a:lstStyle/>
          <a:p>
            <a:pPr indent="0" marL="0">
              <a:buNone/>
            </a:pPr>
            <a:r>
              <a:rPr lang="en-US" sz="1150" b="1" dirty="0">
                <a:solidFill>
                  <a:srgbClr val="1E2A26"/>
                </a:solidFill>
                <a:latin typeface="Calibri" pitchFamily="34" charset="0"/>
                <a:ea typeface="Calibri" pitchFamily="34" charset="-122"/>
                <a:cs typeface="Calibri" pitchFamily="34" charset="-120"/>
              </a:rPr>
              <a:t>Block incubation (dark)</a:t>
            </a:r>
            <a:endParaRPr lang="en-US" sz="1150" dirty="0"/>
          </a:p>
        </p:txBody>
      </p:sp>
      <p:sp>
        <p:nvSpPr>
          <p:cNvPr id="38" name="Shape 36"/>
          <p:cNvSpPr/>
          <p:nvPr/>
        </p:nvSpPr>
        <p:spPr>
          <a:xfrm>
            <a:off x="5835748" y="2752344"/>
            <a:ext cx="2387991" cy="384048"/>
          </a:xfrm>
          <a:prstGeom prst="roundRect">
            <a:avLst>
              <a:gd name="adj" fmla="val 19048"/>
            </a:avLst>
          </a:prstGeom>
          <a:solidFill>
            <a:srgbClr val="2E5E4E"/>
          </a:solidFill>
          <a:ln w="12700">
            <a:solidFill>
              <a:srgbClr val="2E5E4E"/>
            </a:solidFill>
            <a:prstDash val="solid"/>
          </a:ln>
        </p:spPr>
      </p:sp>
      <p:sp>
        <p:nvSpPr>
          <p:cNvPr id="39" name="Text 37"/>
          <p:cNvSpPr txBox="1"/>
          <p:nvPr/>
        </p:nvSpPr>
        <p:spPr>
          <a:xfrm>
            <a:off x="5835748" y="2752344"/>
            <a:ext cx="2387991"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 d</a:t>
            </a:r>
            <a:endParaRPr lang="en-US" sz="1050" dirty="0"/>
          </a:p>
        </p:txBody>
      </p:sp>
      <p:sp>
        <p:nvSpPr>
          <p:cNvPr id="40" name="Text 38"/>
          <p:cNvSpPr txBox="1"/>
          <p:nvPr/>
        </p:nvSpPr>
        <p:spPr>
          <a:xfrm>
            <a:off x="548640" y="3282696"/>
            <a:ext cx="2057400" cy="384048"/>
          </a:xfrm>
          <a:prstGeom prst="rect">
            <a:avLst/>
          </a:prstGeom>
          <a:noFill/>
          <a:ln/>
        </p:spPr>
        <p:txBody>
          <a:bodyPr wrap="square" lIns="0" tIns="0" rIns="0" bIns="0" rtlCol="0" anchor="ctr"/>
          <a:lstStyle/>
          <a:p>
            <a:pPr indent="0" marL="0">
              <a:buNone/>
            </a:pPr>
            <a:r>
              <a:rPr lang="en-US" sz="1150" b="1" dirty="0">
                <a:solidFill>
                  <a:srgbClr val="1E2A26"/>
                </a:solidFill>
                <a:latin typeface="Calibri" pitchFamily="34" charset="0"/>
                <a:ea typeface="Calibri" pitchFamily="34" charset="-122"/>
                <a:cs typeface="Calibri" pitchFamily="34" charset="-120"/>
              </a:rPr>
              <a:t>Flush 1: pin → harvest</a:t>
            </a:r>
            <a:endParaRPr lang="en-US" sz="1150" dirty="0"/>
          </a:p>
        </p:txBody>
      </p:sp>
      <p:sp>
        <p:nvSpPr>
          <p:cNvPr id="41" name="Shape 39"/>
          <p:cNvSpPr/>
          <p:nvPr/>
        </p:nvSpPr>
        <p:spPr>
          <a:xfrm>
            <a:off x="8223738" y="3282696"/>
            <a:ext cx="1591994" cy="384048"/>
          </a:xfrm>
          <a:prstGeom prst="roundRect">
            <a:avLst>
              <a:gd name="adj" fmla="val 19048"/>
            </a:avLst>
          </a:prstGeom>
          <a:solidFill>
            <a:srgbClr val="D9962B"/>
          </a:solidFill>
          <a:ln w="12700">
            <a:solidFill>
              <a:srgbClr val="D9962B"/>
            </a:solidFill>
            <a:prstDash val="solid"/>
          </a:ln>
        </p:spPr>
      </p:sp>
      <p:sp>
        <p:nvSpPr>
          <p:cNvPr id="42" name="Text 40"/>
          <p:cNvSpPr txBox="1"/>
          <p:nvPr/>
        </p:nvSpPr>
        <p:spPr>
          <a:xfrm>
            <a:off x="8223738" y="3282696"/>
            <a:ext cx="1591994" cy="384048"/>
          </a:xfrm>
          <a:prstGeom prst="rect">
            <a:avLst/>
          </a:prstGeom>
          <a:noFill/>
          <a:ln/>
        </p:spPr>
        <p:txBody>
          <a:bodyPr wrap="square" lIns="0" tIns="0" rIns="0" bIns="0" rtlCol="0" anchor="ctr"/>
          <a:lstStyle/>
          <a:p>
            <a:pPr algn="ctr" indent="0" marL="0">
              <a:buNone/>
            </a:pPr>
            <a:r>
              <a:rPr lang="en-US" sz="1050" b="1" dirty="0">
                <a:solidFill>
                  <a:srgbClr val="1E2A26"/>
                </a:solidFill>
                <a:latin typeface="Calibri" pitchFamily="34" charset="0"/>
                <a:ea typeface="Calibri" pitchFamily="34" charset="-122"/>
                <a:cs typeface="Calibri" pitchFamily="34" charset="-120"/>
              </a:rPr>
              <a:t>14 d</a:t>
            </a:r>
            <a:endParaRPr lang="en-US" sz="1050" dirty="0"/>
          </a:p>
        </p:txBody>
      </p:sp>
      <p:sp>
        <p:nvSpPr>
          <p:cNvPr id="43" name="Text 41"/>
          <p:cNvSpPr txBox="1"/>
          <p:nvPr/>
        </p:nvSpPr>
        <p:spPr>
          <a:xfrm>
            <a:off x="548640" y="3813048"/>
            <a:ext cx="2057400" cy="384048"/>
          </a:xfrm>
          <a:prstGeom prst="rect">
            <a:avLst/>
          </a:prstGeom>
          <a:noFill/>
          <a:ln/>
        </p:spPr>
        <p:txBody>
          <a:bodyPr wrap="square" lIns="0" tIns="0" rIns="0" bIns="0" rtlCol="0" anchor="ctr"/>
          <a:lstStyle/>
          <a:p>
            <a:pPr indent="0" marL="0">
              <a:buNone/>
            </a:pPr>
            <a:r>
              <a:rPr lang="en-US" sz="1150" b="1" dirty="0">
                <a:solidFill>
                  <a:srgbClr val="1E2A26"/>
                </a:solidFill>
                <a:latin typeface="Calibri" pitchFamily="34" charset="0"/>
                <a:ea typeface="Calibri" pitchFamily="34" charset="-122"/>
                <a:cs typeface="Calibri" pitchFamily="34" charset="-120"/>
              </a:rPr>
              <a:t>Flush 2 → block exit</a:t>
            </a:r>
            <a:endParaRPr lang="en-US" sz="1150" dirty="0"/>
          </a:p>
        </p:txBody>
      </p:sp>
      <p:sp>
        <p:nvSpPr>
          <p:cNvPr id="44" name="Shape 42"/>
          <p:cNvSpPr/>
          <p:nvPr/>
        </p:nvSpPr>
        <p:spPr>
          <a:xfrm>
            <a:off x="9815732" y="3813048"/>
            <a:ext cx="1591994" cy="384048"/>
          </a:xfrm>
          <a:prstGeom prst="roundRect">
            <a:avLst>
              <a:gd name="adj" fmla="val 19048"/>
            </a:avLst>
          </a:prstGeom>
          <a:solidFill>
            <a:srgbClr val="E8C07A"/>
          </a:solidFill>
          <a:ln w="12700">
            <a:solidFill>
              <a:srgbClr val="E8C07A"/>
            </a:solidFill>
            <a:prstDash val="solid"/>
          </a:ln>
        </p:spPr>
      </p:sp>
      <p:sp>
        <p:nvSpPr>
          <p:cNvPr id="45" name="Text 43"/>
          <p:cNvSpPr txBox="1"/>
          <p:nvPr/>
        </p:nvSpPr>
        <p:spPr>
          <a:xfrm>
            <a:off x="9815732" y="3813048"/>
            <a:ext cx="1591994" cy="384048"/>
          </a:xfrm>
          <a:prstGeom prst="rect">
            <a:avLst/>
          </a:prstGeom>
          <a:noFill/>
          <a:ln/>
        </p:spPr>
        <p:txBody>
          <a:bodyPr wrap="square" lIns="0" tIns="0" rIns="0" bIns="0" rtlCol="0" anchor="ctr"/>
          <a:lstStyle/>
          <a:p>
            <a:pPr algn="ctr" indent="0" marL="0">
              <a:buNone/>
            </a:pPr>
            <a:r>
              <a:rPr lang="en-US" sz="1050" b="1" dirty="0">
                <a:solidFill>
                  <a:srgbClr val="1E2A26"/>
                </a:solidFill>
                <a:latin typeface="Calibri" pitchFamily="34" charset="0"/>
                <a:ea typeface="Calibri" pitchFamily="34" charset="-122"/>
                <a:cs typeface="Calibri" pitchFamily="34" charset="-120"/>
              </a:rPr>
              <a:t>14 d</a:t>
            </a:r>
            <a:endParaRPr lang="en-US" sz="1050" dirty="0"/>
          </a:p>
        </p:txBody>
      </p:sp>
      <p:sp>
        <p:nvSpPr>
          <p:cNvPr id="46" name="Text 44"/>
          <p:cNvSpPr txBox="1"/>
          <p:nvPr/>
        </p:nvSpPr>
        <p:spPr>
          <a:xfrm>
            <a:off x="548640" y="4983480"/>
            <a:ext cx="7315200" cy="274320"/>
          </a:xfrm>
          <a:prstGeom prst="rect">
            <a:avLst/>
          </a:prstGeom>
          <a:noFill/>
          <a:ln/>
        </p:spPr>
        <p:txBody>
          <a:bodyPr wrap="square" lIns="0" tIns="0" rIns="0" bIns="0" rtlCol="0" anchor="t"/>
          <a:lstStyle/>
          <a:p>
            <a:pPr indent="0" marL="0">
              <a:buNone/>
            </a:pPr>
            <a:r>
              <a:rPr lang="en-US" sz="1200" b="1" dirty="0">
                <a:solidFill>
                  <a:srgbClr val="14302A"/>
                </a:solidFill>
                <a:latin typeface="Calibri" pitchFamily="34" charset="0"/>
                <a:ea typeface="Calibri" pitchFamily="34" charset="-122"/>
                <a:cs typeface="Calibri" pitchFamily="34" charset="-120"/>
              </a:rPr>
              <a:t>Steady-state pipeline inventory (Phase 1)</a:t>
            </a:r>
            <a:endParaRPr lang="en-US" sz="1200" dirty="0"/>
          </a:p>
        </p:txBody>
      </p:sp>
      <p:sp>
        <p:nvSpPr>
          <p:cNvPr id="47" name="Shape 45"/>
          <p:cNvSpPr/>
          <p:nvPr/>
        </p:nvSpPr>
        <p:spPr>
          <a:xfrm>
            <a:off x="548640" y="5303520"/>
            <a:ext cx="2633472" cy="914400"/>
          </a:xfrm>
          <a:prstGeom prst="roundRect">
            <a:avLst>
              <a:gd name="adj" fmla="val 8000"/>
            </a:avLst>
          </a:prstGeom>
          <a:solidFill>
            <a:srgbClr val="EEF4F0"/>
          </a:solidFill>
          <a:ln w="9525">
            <a:solidFill>
              <a:srgbClr val="EEF4F0"/>
            </a:solidFill>
            <a:prstDash val="solid"/>
          </a:ln>
        </p:spPr>
      </p:sp>
      <p:sp>
        <p:nvSpPr>
          <p:cNvPr id="48" name="Text 46"/>
          <p:cNvSpPr txBox="1"/>
          <p:nvPr/>
        </p:nvSpPr>
        <p:spPr>
          <a:xfrm>
            <a:off x="731520" y="5349240"/>
            <a:ext cx="1097280" cy="822960"/>
          </a:xfrm>
          <a:prstGeom prst="rect">
            <a:avLst/>
          </a:prstGeom>
          <a:noFill/>
          <a:ln/>
        </p:spPr>
        <p:txBody>
          <a:bodyPr wrap="square" lIns="0" tIns="0" rIns="0" bIns="0" rtlCol="0" anchor="ctr"/>
          <a:lstStyle/>
          <a:p>
            <a:pPr indent="0" marL="0">
              <a:buNone/>
            </a:pPr>
            <a:r>
              <a:rPr lang="en-US" sz="2000" b="1" dirty="0">
                <a:solidFill>
                  <a:srgbClr val="2E5E4E"/>
                </a:solidFill>
                <a:latin typeface="Cambria" pitchFamily="34" charset="0"/>
                <a:ea typeface="Cambria" pitchFamily="34" charset="-122"/>
                <a:cs typeface="Cambria" pitchFamily="34" charset="-120"/>
              </a:rPr>
              <a:t>~60</a:t>
            </a:r>
            <a:endParaRPr lang="en-US" sz="2000" dirty="0"/>
          </a:p>
        </p:txBody>
      </p:sp>
      <p:sp>
        <p:nvSpPr>
          <p:cNvPr id="49" name="Text 47"/>
          <p:cNvSpPr txBox="1"/>
          <p:nvPr/>
        </p:nvSpPr>
        <p:spPr>
          <a:xfrm>
            <a:off x="1828800" y="5349240"/>
            <a:ext cx="1280160" cy="822960"/>
          </a:xfrm>
          <a:prstGeom prst="rect">
            <a:avLst/>
          </a:prstGeom>
          <a:noFill/>
          <a:ln/>
        </p:spPr>
        <p:txBody>
          <a:bodyPr wrap="square" lIns="0" tIns="0" rIns="0" bIns="0" rtlCol="0" anchor="ctr"/>
          <a:lstStyle/>
          <a:p>
            <a:pPr indent="0" marL="0">
              <a:buNone/>
            </a:pPr>
            <a:r>
              <a:rPr lang="en-US" sz="1050" dirty="0">
                <a:solidFill>
                  <a:srgbClr val="5F6F69"/>
                </a:solidFill>
                <a:latin typeface="Calibri" pitchFamily="34" charset="0"/>
                <a:ea typeface="Calibri" pitchFamily="34" charset="-122"/>
                <a:cs typeface="Calibri" pitchFamily="34" charset="-120"/>
              </a:rPr>
              <a:t>grain-spawn bags colonizing at any time</a:t>
            </a:r>
            <a:endParaRPr lang="en-US" sz="1050" dirty="0"/>
          </a:p>
        </p:txBody>
      </p:sp>
      <p:sp>
        <p:nvSpPr>
          <p:cNvPr id="50" name="Shape 48"/>
          <p:cNvSpPr/>
          <p:nvPr/>
        </p:nvSpPr>
        <p:spPr>
          <a:xfrm>
            <a:off x="3364992" y="5303520"/>
            <a:ext cx="2633472" cy="914400"/>
          </a:xfrm>
          <a:prstGeom prst="roundRect">
            <a:avLst>
              <a:gd name="adj" fmla="val 8000"/>
            </a:avLst>
          </a:prstGeom>
          <a:solidFill>
            <a:srgbClr val="EEF4F0"/>
          </a:solidFill>
          <a:ln w="9525">
            <a:solidFill>
              <a:srgbClr val="EEF4F0"/>
            </a:solidFill>
            <a:prstDash val="solid"/>
          </a:ln>
        </p:spPr>
      </p:sp>
      <p:sp>
        <p:nvSpPr>
          <p:cNvPr id="51" name="Text 49"/>
          <p:cNvSpPr txBox="1"/>
          <p:nvPr/>
        </p:nvSpPr>
        <p:spPr>
          <a:xfrm>
            <a:off x="3547872" y="5349240"/>
            <a:ext cx="1097280" cy="822960"/>
          </a:xfrm>
          <a:prstGeom prst="rect">
            <a:avLst/>
          </a:prstGeom>
          <a:noFill/>
          <a:ln/>
        </p:spPr>
        <p:txBody>
          <a:bodyPr wrap="square" lIns="0" tIns="0" rIns="0" bIns="0" rtlCol="0" anchor="ctr"/>
          <a:lstStyle/>
          <a:p>
            <a:pPr indent="0" marL="0">
              <a:buNone/>
            </a:pPr>
            <a:r>
              <a:rPr lang="en-US" sz="2000" b="1" dirty="0">
                <a:solidFill>
                  <a:srgbClr val="2E5E4E"/>
                </a:solidFill>
                <a:latin typeface="Cambria" pitchFamily="34" charset="0"/>
                <a:ea typeface="Cambria" pitchFamily="34" charset="-122"/>
                <a:cs typeface="Cambria" pitchFamily="34" charset="-120"/>
              </a:rPr>
              <a:t>~1,260</a:t>
            </a:r>
            <a:endParaRPr lang="en-US" sz="2000" dirty="0"/>
          </a:p>
        </p:txBody>
      </p:sp>
      <p:sp>
        <p:nvSpPr>
          <p:cNvPr id="52" name="Text 50"/>
          <p:cNvSpPr txBox="1"/>
          <p:nvPr/>
        </p:nvSpPr>
        <p:spPr>
          <a:xfrm>
            <a:off x="4645152" y="5349240"/>
            <a:ext cx="1280160" cy="822960"/>
          </a:xfrm>
          <a:prstGeom prst="rect">
            <a:avLst/>
          </a:prstGeom>
          <a:noFill/>
          <a:ln/>
        </p:spPr>
        <p:txBody>
          <a:bodyPr wrap="square" lIns="0" tIns="0" rIns="0" bIns="0" rtlCol="0" anchor="ctr"/>
          <a:lstStyle/>
          <a:p>
            <a:pPr indent="0" marL="0">
              <a:buNone/>
            </a:pPr>
            <a:r>
              <a:rPr lang="en-US" sz="1050" dirty="0">
                <a:solidFill>
                  <a:srgbClr val="5F6F69"/>
                </a:solidFill>
                <a:latin typeface="Calibri" pitchFamily="34" charset="0"/>
                <a:ea typeface="Calibri" pitchFamily="34" charset="-122"/>
                <a:cs typeface="Calibri" pitchFamily="34" charset="-120"/>
              </a:rPr>
              <a:t>blocks in incubation (60 × 21 days)</a:t>
            </a:r>
            <a:endParaRPr lang="en-US" sz="1050" dirty="0"/>
          </a:p>
        </p:txBody>
      </p:sp>
      <p:sp>
        <p:nvSpPr>
          <p:cNvPr id="53" name="Shape 51"/>
          <p:cNvSpPr/>
          <p:nvPr/>
        </p:nvSpPr>
        <p:spPr>
          <a:xfrm>
            <a:off x="6181344" y="5303520"/>
            <a:ext cx="2633472" cy="914400"/>
          </a:xfrm>
          <a:prstGeom prst="roundRect">
            <a:avLst>
              <a:gd name="adj" fmla="val 8000"/>
            </a:avLst>
          </a:prstGeom>
          <a:solidFill>
            <a:srgbClr val="EEF4F0"/>
          </a:solidFill>
          <a:ln w="9525">
            <a:solidFill>
              <a:srgbClr val="EEF4F0"/>
            </a:solidFill>
            <a:prstDash val="solid"/>
          </a:ln>
        </p:spPr>
      </p:sp>
      <p:sp>
        <p:nvSpPr>
          <p:cNvPr id="54" name="Text 52"/>
          <p:cNvSpPr txBox="1"/>
          <p:nvPr/>
        </p:nvSpPr>
        <p:spPr>
          <a:xfrm>
            <a:off x="6364224" y="5349240"/>
            <a:ext cx="1097280" cy="822960"/>
          </a:xfrm>
          <a:prstGeom prst="rect">
            <a:avLst/>
          </a:prstGeom>
          <a:noFill/>
          <a:ln/>
        </p:spPr>
        <p:txBody>
          <a:bodyPr wrap="square" lIns="0" tIns="0" rIns="0" bIns="0" rtlCol="0" anchor="ctr"/>
          <a:lstStyle/>
          <a:p>
            <a:pPr indent="0" marL="0">
              <a:buNone/>
            </a:pPr>
            <a:r>
              <a:rPr lang="en-US" sz="2000" b="1" dirty="0">
                <a:solidFill>
                  <a:srgbClr val="2E5E4E"/>
                </a:solidFill>
                <a:latin typeface="Cambria" pitchFamily="34" charset="0"/>
                <a:ea typeface="Cambria" pitchFamily="34" charset="-122"/>
                <a:cs typeface="Cambria" pitchFamily="34" charset="-120"/>
              </a:rPr>
              <a:t>~1,500</a:t>
            </a:r>
            <a:endParaRPr lang="en-US" sz="2000" dirty="0"/>
          </a:p>
        </p:txBody>
      </p:sp>
      <p:sp>
        <p:nvSpPr>
          <p:cNvPr id="55" name="Text 53"/>
          <p:cNvSpPr txBox="1"/>
          <p:nvPr/>
        </p:nvSpPr>
        <p:spPr>
          <a:xfrm>
            <a:off x="7461504" y="5349240"/>
            <a:ext cx="1280160" cy="822960"/>
          </a:xfrm>
          <a:prstGeom prst="rect">
            <a:avLst/>
          </a:prstGeom>
          <a:noFill/>
          <a:ln/>
        </p:spPr>
        <p:txBody>
          <a:bodyPr wrap="square" lIns="0" tIns="0" rIns="0" bIns="0" rtlCol="0" anchor="ctr"/>
          <a:lstStyle/>
          <a:p>
            <a:pPr indent="0" marL="0">
              <a:buNone/>
            </a:pPr>
            <a:r>
              <a:rPr lang="en-US" sz="1050" dirty="0">
                <a:solidFill>
                  <a:srgbClr val="5F6F69"/>
                </a:solidFill>
                <a:latin typeface="Calibri" pitchFamily="34" charset="0"/>
                <a:ea typeface="Calibri" pitchFamily="34" charset="-122"/>
                <a:cs typeface="Calibri" pitchFamily="34" charset="-120"/>
              </a:rPr>
              <a:t>blocks fruiting (60 × ~25 days)</a:t>
            </a:r>
            <a:endParaRPr lang="en-US" sz="1050" dirty="0"/>
          </a:p>
        </p:txBody>
      </p:sp>
      <p:sp>
        <p:nvSpPr>
          <p:cNvPr id="56" name="Shape 54"/>
          <p:cNvSpPr/>
          <p:nvPr/>
        </p:nvSpPr>
        <p:spPr>
          <a:xfrm>
            <a:off x="8997696" y="5303520"/>
            <a:ext cx="2633472" cy="914400"/>
          </a:xfrm>
          <a:prstGeom prst="roundRect">
            <a:avLst>
              <a:gd name="adj" fmla="val 8000"/>
            </a:avLst>
          </a:prstGeom>
          <a:solidFill>
            <a:srgbClr val="EEF4F0"/>
          </a:solidFill>
          <a:ln w="9525">
            <a:solidFill>
              <a:srgbClr val="EEF4F0"/>
            </a:solidFill>
            <a:prstDash val="solid"/>
          </a:ln>
        </p:spPr>
      </p:sp>
      <p:sp>
        <p:nvSpPr>
          <p:cNvPr id="57" name="Text 55"/>
          <p:cNvSpPr txBox="1"/>
          <p:nvPr/>
        </p:nvSpPr>
        <p:spPr>
          <a:xfrm>
            <a:off x="9180576" y="5349240"/>
            <a:ext cx="1097280" cy="822960"/>
          </a:xfrm>
          <a:prstGeom prst="rect">
            <a:avLst/>
          </a:prstGeom>
          <a:noFill/>
          <a:ln/>
        </p:spPr>
        <p:txBody>
          <a:bodyPr wrap="square" lIns="0" tIns="0" rIns="0" bIns="0" rtlCol="0" anchor="ctr"/>
          <a:lstStyle/>
          <a:p>
            <a:pPr indent="0" marL="0">
              <a:buNone/>
            </a:pPr>
            <a:r>
              <a:rPr lang="en-US" sz="2000" b="1" dirty="0">
                <a:solidFill>
                  <a:srgbClr val="2E5E4E"/>
                </a:solidFill>
                <a:latin typeface="Cambria" pitchFamily="34" charset="0"/>
                <a:ea typeface="Cambria" pitchFamily="34" charset="-122"/>
                <a:cs typeface="Cambria" pitchFamily="34" charset="-120"/>
              </a:rPr>
              <a:t>35–55 kg</a:t>
            </a:r>
            <a:endParaRPr lang="en-US" sz="2000" dirty="0"/>
          </a:p>
        </p:txBody>
      </p:sp>
      <p:sp>
        <p:nvSpPr>
          <p:cNvPr id="58" name="Text 56"/>
          <p:cNvSpPr txBox="1"/>
          <p:nvPr/>
        </p:nvSpPr>
        <p:spPr>
          <a:xfrm>
            <a:off x="10277856" y="5349240"/>
            <a:ext cx="1280160" cy="822960"/>
          </a:xfrm>
          <a:prstGeom prst="rect">
            <a:avLst/>
          </a:prstGeom>
          <a:noFill/>
          <a:ln/>
        </p:spPr>
        <p:txBody>
          <a:bodyPr wrap="square" lIns="0" tIns="0" rIns="0" bIns="0" rtlCol="0" anchor="ctr"/>
          <a:lstStyle/>
          <a:p>
            <a:pPr indent="0" marL="0">
              <a:buNone/>
            </a:pPr>
            <a:r>
              <a:rPr lang="en-US" sz="1050" dirty="0">
                <a:solidFill>
                  <a:srgbClr val="5F6F69"/>
                </a:solidFill>
                <a:latin typeface="Calibri" pitchFamily="34" charset="0"/>
                <a:ea typeface="Calibri" pitchFamily="34" charset="-122"/>
                <a:cs typeface="Calibri" pitchFamily="34" charset="-120"/>
              </a:rPr>
              <a:t>fresh harvest to process daily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03 · GENETICS &amp; SPAWN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Culture management: the strain is the business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822960" y="1508760"/>
            <a:ext cx="1143000" cy="1143000"/>
          </a:xfrm>
          <a:prstGeom prst="ellipse">
            <a:avLst/>
          </a:prstGeom>
          <a:solidFill>
            <a:srgbClr val="2E5E4E"/>
          </a:solidFill>
          <a:ln w="12700">
            <a:solidFill>
              <a:srgbClr val="FFFFFF"/>
            </a:solidFill>
            <a:prstDash val="solid"/>
          </a:ln>
        </p:spPr>
      </p:sp>
      <p:sp>
        <p:nvSpPr>
          <p:cNvPr id="7" name="Text 5"/>
          <p:cNvSpPr txBox="1"/>
          <p:nvPr/>
        </p:nvSpPr>
        <p:spPr>
          <a:xfrm>
            <a:off x="822960"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8" name="Text 6"/>
          <p:cNvSpPr txBox="1"/>
          <p:nvPr/>
        </p:nvSpPr>
        <p:spPr>
          <a:xfrm>
            <a:off x="548640"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Master slant</a:t>
            </a:r>
            <a:endParaRPr lang="en-US" sz="1300" dirty="0"/>
          </a:p>
        </p:txBody>
      </p:sp>
      <p:sp>
        <p:nvSpPr>
          <p:cNvPr id="9" name="Text 7"/>
          <p:cNvSpPr txBox="1"/>
          <p:nvPr/>
        </p:nvSpPr>
        <p:spPr>
          <a:xfrm>
            <a:off x="548640"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4°C culture bank</a:t>
            </a:r>
            <a:endParaRPr lang="en-US" sz="1100" dirty="0"/>
          </a:p>
        </p:txBody>
      </p:sp>
      <p:sp>
        <p:nvSpPr>
          <p:cNvPr id="10" name="Shape 8"/>
          <p:cNvSpPr/>
          <p:nvPr/>
        </p:nvSpPr>
        <p:spPr>
          <a:xfrm>
            <a:off x="1993392" y="2075688"/>
            <a:ext cx="713232" cy="0"/>
          </a:xfrm>
          <a:prstGeom prst="line">
            <a:avLst/>
          </a:prstGeom>
          <a:noFill/>
          <a:ln w="19050">
            <a:solidFill>
              <a:srgbClr val="5F6F69"/>
            </a:solidFill>
            <a:prstDash val="solid"/>
            <a:tailEnd type="triangle"/>
          </a:ln>
        </p:spPr>
      </p:sp>
      <p:sp>
        <p:nvSpPr>
          <p:cNvPr id="11" name="Shape 9"/>
          <p:cNvSpPr/>
          <p:nvPr/>
        </p:nvSpPr>
        <p:spPr>
          <a:xfrm>
            <a:off x="2734056" y="1508760"/>
            <a:ext cx="1143000" cy="1143000"/>
          </a:xfrm>
          <a:prstGeom prst="ellipse">
            <a:avLst/>
          </a:prstGeom>
          <a:solidFill>
            <a:srgbClr val="2E5E4E"/>
          </a:solidFill>
          <a:ln w="12700">
            <a:solidFill>
              <a:srgbClr val="FFFFFF"/>
            </a:solidFill>
            <a:prstDash val="solid"/>
          </a:ln>
        </p:spPr>
      </p:sp>
      <p:sp>
        <p:nvSpPr>
          <p:cNvPr id="12" name="Text 10"/>
          <p:cNvSpPr txBox="1"/>
          <p:nvPr/>
        </p:nvSpPr>
        <p:spPr>
          <a:xfrm>
            <a:off x="2734056"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3" name="Text 11"/>
          <p:cNvSpPr txBox="1"/>
          <p:nvPr/>
        </p:nvSpPr>
        <p:spPr>
          <a:xfrm>
            <a:off x="2459736"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P1 agar plate</a:t>
            </a:r>
            <a:endParaRPr lang="en-US" sz="1300" dirty="0"/>
          </a:p>
        </p:txBody>
      </p:sp>
      <p:sp>
        <p:nvSpPr>
          <p:cNvPr id="14" name="Text 12"/>
          <p:cNvSpPr txBox="1"/>
          <p:nvPr/>
        </p:nvSpPr>
        <p:spPr>
          <a:xfrm>
            <a:off x="2459736"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clean transfer</a:t>
            </a:r>
            <a:endParaRPr lang="en-US" sz="1100" dirty="0"/>
          </a:p>
        </p:txBody>
      </p:sp>
      <p:sp>
        <p:nvSpPr>
          <p:cNvPr id="15" name="Shape 13"/>
          <p:cNvSpPr/>
          <p:nvPr/>
        </p:nvSpPr>
        <p:spPr>
          <a:xfrm>
            <a:off x="3904488" y="2075688"/>
            <a:ext cx="713232" cy="0"/>
          </a:xfrm>
          <a:prstGeom prst="line">
            <a:avLst/>
          </a:prstGeom>
          <a:noFill/>
          <a:ln w="19050">
            <a:solidFill>
              <a:srgbClr val="5F6F69"/>
            </a:solidFill>
            <a:prstDash val="solid"/>
            <a:tailEnd type="triangle"/>
          </a:ln>
        </p:spPr>
      </p:sp>
      <p:sp>
        <p:nvSpPr>
          <p:cNvPr id="16" name="Shape 14"/>
          <p:cNvSpPr/>
          <p:nvPr/>
        </p:nvSpPr>
        <p:spPr>
          <a:xfrm>
            <a:off x="4645152" y="1508760"/>
            <a:ext cx="1143000" cy="1143000"/>
          </a:xfrm>
          <a:prstGeom prst="ellipse">
            <a:avLst/>
          </a:prstGeom>
          <a:solidFill>
            <a:srgbClr val="2E5E4E"/>
          </a:solidFill>
          <a:ln w="12700">
            <a:solidFill>
              <a:srgbClr val="FFFFFF"/>
            </a:solidFill>
            <a:prstDash val="solid"/>
          </a:ln>
        </p:spPr>
      </p:sp>
      <p:sp>
        <p:nvSpPr>
          <p:cNvPr id="17" name="Text 15"/>
          <p:cNvSpPr txBox="1"/>
          <p:nvPr/>
        </p:nvSpPr>
        <p:spPr>
          <a:xfrm>
            <a:off x="4645152"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18" name="Text 16"/>
          <p:cNvSpPr txBox="1"/>
          <p:nvPr/>
        </p:nvSpPr>
        <p:spPr>
          <a:xfrm>
            <a:off x="4370832"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Liquid culture</a:t>
            </a:r>
            <a:endParaRPr lang="en-US" sz="1300" dirty="0"/>
          </a:p>
        </p:txBody>
      </p:sp>
      <p:sp>
        <p:nvSpPr>
          <p:cNvPr id="19" name="Text 17"/>
          <p:cNvSpPr txBox="1"/>
          <p:nvPr/>
        </p:nvSpPr>
        <p:spPr>
          <a:xfrm>
            <a:off x="4370832"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streak-tested 72 h</a:t>
            </a:r>
            <a:endParaRPr lang="en-US" sz="1100" dirty="0"/>
          </a:p>
        </p:txBody>
      </p:sp>
      <p:sp>
        <p:nvSpPr>
          <p:cNvPr id="20" name="Shape 18"/>
          <p:cNvSpPr/>
          <p:nvPr/>
        </p:nvSpPr>
        <p:spPr>
          <a:xfrm>
            <a:off x="5815584" y="2075688"/>
            <a:ext cx="713232" cy="0"/>
          </a:xfrm>
          <a:prstGeom prst="line">
            <a:avLst/>
          </a:prstGeom>
          <a:noFill/>
          <a:ln w="19050">
            <a:solidFill>
              <a:srgbClr val="5F6F69"/>
            </a:solidFill>
            <a:prstDash val="solid"/>
            <a:tailEnd type="triangle"/>
          </a:ln>
        </p:spPr>
      </p:sp>
      <p:sp>
        <p:nvSpPr>
          <p:cNvPr id="21" name="Shape 19"/>
          <p:cNvSpPr/>
          <p:nvPr/>
        </p:nvSpPr>
        <p:spPr>
          <a:xfrm>
            <a:off x="6556248" y="1508760"/>
            <a:ext cx="1143000" cy="1143000"/>
          </a:xfrm>
          <a:prstGeom prst="ellipse">
            <a:avLst/>
          </a:prstGeom>
          <a:solidFill>
            <a:srgbClr val="2E5E4E"/>
          </a:solidFill>
          <a:ln w="12700">
            <a:solidFill>
              <a:srgbClr val="FFFFFF"/>
            </a:solidFill>
            <a:prstDash val="solid"/>
          </a:ln>
        </p:spPr>
      </p:sp>
      <p:sp>
        <p:nvSpPr>
          <p:cNvPr id="22" name="Text 20"/>
          <p:cNvSpPr txBox="1"/>
          <p:nvPr/>
        </p:nvSpPr>
        <p:spPr>
          <a:xfrm>
            <a:off x="6556248"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4</a:t>
            </a:r>
            <a:endParaRPr lang="en-US" sz="2800" dirty="0"/>
          </a:p>
        </p:txBody>
      </p:sp>
      <p:sp>
        <p:nvSpPr>
          <p:cNvPr id="23" name="Text 21"/>
          <p:cNvSpPr txBox="1"/>
          <p:nvPr/>
        </p:nvSpPr>
        <p:spPr>
          <a:xfrm>
            <a:off x="6281928"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G1 grain spawn</a:t>
            </a:r>
            <a:endParaRPr lang="en-US" sz="1300" dirty="0"/>
          </a:p>
        </p:txBody>
      </p:sp>
      <p:sp>
        <p:nvSpPr>
          <p:cNvPr id="24" name="Text 22"/>
          <p:cNvSpPr txBox="1"/>
          <p:nvPr/>
        </p:nvSpPr>
        <p:spPr>
          <a:xfrm>
            <a:off x="6281928"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mother spawn</a:t>
            </a:r>
            <a:endParaRPr lang="en-US" sz="1100" dirty="0"/>
          </a:p>
        </p:txBody>
      </p:sp>
      <p:sp>
        <p:nvSpPr>
          <p:cNvPr id="25" name="Shape 23"/>
          <p:cNvSpPr/>
          <p:nvPr/>
        </p:nvSpPr>
        <p:spPr>
          <a:xfrm>
            <a:off x="7726680" y="2075688"/>
            <a:ext cx="713232" cy="0"/>
          </a:xfrm>
          <a:prstGeom prst="line">
            <a:avLst/>
          </a:prstGeom>
          <a:noFill/>
          <a:ln w="19050">
            <a:solidFill>
              <a:srgbClr val="5F6F69"/>
            </a:solidFill>
            <a:prstDash val="solid"/>
            <a:tailEnd type="triangle"/>
          </a:ln>
        </p:spPr>
      </p:sp>
      <p:sp>
        <p:nvSpPr>
          <p:cNvPr id="26" name="Shape 24"/>
          <p:cNvSpPr/>
          <p:nvPr/>
        </p:nvSpPr>
        <p:spPr>
          <a:xfrm>
            <a:off x="8467344" y="1508760"/>
            <a:ext cx="1143000" cy="1143000"/>
          </a:xfrm>
          <a:prstGeom prst="ellipse">
            <a:avLst/>
          </a:prstGeom>
          <a:solidFill>
            <a:srgbClr val="D9962B"/>
          </a:solidFill>
          <a:ln w="12700">
            <a:solidFill>
              <a:srgbClr val="FFFFFF"/>
            </a:solidFill>
            <a:prstDash val="solid"/>
          </a:ln>
        </p:spPr>
      </p:sp>
      <p:sp>
        <p:nvSpPr>
          <p:cNvPr id="27" name="Text 25"/>
          <p:cNvSpPr txBox="1"/>
          <p:nvPr/>
        </p:nvSpPr>
        <p:spPr>
          <a:xfrm>
            <a:off x="8467344"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5</a:t>
            </a:r>
            <a:endParaRPr lang="en-US" sz="2800" dirty="0"/>
          </a:p>
        </p:txBody>
      </p:sp>
      <p:sp>
        <p:nvSpPr>
          <p:cNvPr id="28" name="Text 26"/>
          <p:cNvSpPr txBox="1"/>
          <p:nvPr/>
        </p:nvSpPr>
        <p:spPr>
          <a:xfrm>
            <a:off x="8193024"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G2 grain spawn</a:t>
            </a:r>
            <a:endParaRPr lang="en-US" sz="1300" dirty="0"/>
          </a:p>
        </p:txBody>
      </p:sp>
      <p:sp>
        <p:nvSpPr>
          <p:cNvPr id="29" name="Text 27"/>
          <p:cNvSpPr txBox="1"/>
          <p:nvPr/>
        </p:nvSpPr>
        <p:spPr>
          <a:xfrm>
            <a:off x="8193024"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hard stop</a:t>
            </a:r>
            <a:endParaRPr lang="en-US" sz="1100" dirty="0"/>
          </a:p>
        </p:txBody>
      </p:sp>
      <p:sp>
        <p:nvSpPr>
          <p:cNvPr id="30" name="Shape 28"/>
          <p:cNvSpPr/>
          <p:nvPr/>
        </p:nvSpPr>
        <p:spPr>
          <a:xfrm>
            <a:off x="9637776" y="2075688"/>
            <a:ext cx="713232" cy="0"/>
          </a:xfrm>
          <a:prstGeom prst="line">
            <a:avLst/>
          </a:prstGeom>
          <a:noFill/>
          <a:ln w="19050">
            <a:solidFill>
              <a:srgbClr val="5F6F69"/>
            </a:solidFill>
            <a:prstDash val="solid"/>
            <a:tailEnd type="triangle"/>
          </a:ln>
        </p:spPr>
      </p:sp>
      <p:sp>
        <p:nvSpPr>
          <p:cNvPr id="31" name="Shape 29"/>
          <p:cNvSpPr/>
          <p:nvPr/>
        </p:nvSpPr>
        <p:spPr>
          <a:xfrm>
            <a:off x="10378440" y="1508760"/>
            <a:ext cx="1143000" cy="1143000"/>
          </a:xfrm>
          <a:prstGeom prst="ellipse">
            <a:avLst/>
          </a:prstGeom>
          <a:solidFill>
            <a:srgbClr val="14302A"/>
          </a:solidFill>
          <a:ln w="12700">
            <a:solidFill>
              <a:srgbClr val="FFFFFF"/>
            </a:solidFill>
            <a:prstDash val="solid"/>
          </a:ln>
        </p:spPr>
      </p:sp>
      <p:sp>
        <p:nvSpPr>
          <p:cNvPr id="32" name="Text 30"/>
          <p:cNvSpPr txBox="1"/>
          <p:nvPr/>
        </p:nvSpPr>
        <p:spPr>
          <a:xfrm>
            <a:off x="10378440" y="1508760"/>
            <a:ext cx="1143000" cy="114300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6</a:t>
            </a:r>
            <a:endParaRPr lang="en-US" sz="2800" dirty="0"/>
          </a:p>
        </p:txBody>
      </p:sp>
      <p:sp>
        <p:nvSpPr>
          <p:cNvPr id="33" name="Text 31"/>
          <p:cNvSpPr txBox="1"/>
          <p:nvPr/>
        </p:nvSpPr>
        <p:spPr>
          <a:xfrm>
            <a:off x="10104120" y="2743200"/>
            <a:ext cx="1691640" cy="320040"/>
          </a:xfrm>
          <a:prstGeom prst="rect">
            <a:avLst/>
          </a:prstGeom>
          <a:noFill/>
          <a:ln/>
        </p:spPr>
        <p:txBody>
          <a:bodyPr wrap="square" lIns="0" tIns="0" rIns="0" bIns="0" rtlCol="0" anchor="t"/>
          <a:lstStyle/>
          <a:p>
            <a:pPr algn="ctr" indent="0" marL="0">
              <a:buNone/>
            </a:pPr>
            <a:r>
              <a:rPr lang="en-US" sz="1300" b="1" dirty="0">
                <a:solidFill>
                  <a:srgbClr val="14302A"/>
                </a:solidFill>
                <a:latin typeface="Calibri" pitchFamily="34" charset="0"/>
                <a:ea typeface="Calibri" pitchFamily="34" charset="-122"/>
                <a:cs typeface="Calibri" pitchFamily="34" charset="-120"/>
              </a:rPr>
              <a:t>Fruiting blocks</a:t>
            </a:r>
            <a:endParaRPr lang="en-US" sz="1300" dirty="0"/>
          </a:p>
        </p:txBody>
      </p:sp>
      <p:sp>
        <p:nvSpPr>
          <p:cNvPr id="34" name="Text 32"/>
          <p:cNvSpPr txBox="1"/>
          <p:nvPr/>
        </p:nvSpPr>
        <p:spPr>
          <a:xfrm>
            <a:off x="10104120" y="3044952"/>
            <a:ext cx="1691640" cy="274320"/>
          </a:xfrm>
          <a:prstGeom prst="rect">
            <a:avLst/>
          </a:prstGeom>
          <a:noFill/>
          <a:ln/>
        </p:spPr>
        <p:txBody>
          <a:bodyPr wrap="square" lIns="0" tIns="0" rIns="0" bIns="0" rtlCol="0" anchor="t"/>
          <a:lstStyle/>
          <a:p>
            <a:pPr algn="ctr" indent="0" marL="0">
              <a:buNone/>
            </a:pPr>
            <a:r>
              <a:rPr lang="en-US" sz="1100" dirty="0">
                <a:solidFill>
                  <a:srgbClr val="5F6F69"/>
                </a:solidFill>
                <a:latin typeface="Calibri" pitchFamily="34" charset="0"/>
                <a:ea typeface="Calibri" pitchFamily="34" charset="-122"/>
                <a:cs typeface="Calibri" pitchFamily="34" charset="-120"/>
              </a:rPr>
              <a:t>1:10 onward</a:t>
            </a:r>
            <a:endParaRPr lang="en-US" sz="1100" dirty="0"/>
          </a:p>
        </p:txBody>
      </p:sp>
      <p:sp>
        <p:nvSpPr>
          <p:cNvPr id="35" name="Shape 33"/>
          <p:cNvSpPr/>
          <p:nvPr/>
        </p:nvSpPr>
        <p:spPr>
          <a:xfrm>
            <a:off x="548640" y="3611880"/>
            <a:ext cx="5486400" cy="2606040"/>
          </a:xfrm>
          <a:prstGeom prst="roundRect">
            <a:avLst>
              <a:gd name="adj" fmla="val 2807"/>
            </a:avLst>
          </a:prstGeom>
          <a:solidFill>
            <a:srgbClr val="EEF4F0"/>
          </a:solidFill>
          <a:ln w="9525">
            <a:solidFill>
              <a:srgbClr val="EEF4F0"/>
            </a:solidFill>
            <a:prstDash val="solid"/>
          </a:ln>
        </p:spPr>
      </p:sp>
      <p:sp>
        <p:nvSpPr>
          <p:cNvPr id="36" name="Text 34"/>
          <p:cNvSpPr txBox="1"/>
          <p:nvPr/>
        </p:nvSpPr>
        <p:spPr>
          <a:xfrm>
            <a:off x="777240" y="3749040"/>
            <a:ext cx="502920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Non-negotiable rules</a:t>
            </a:r>
            <a:endParaRPr lang="en-US" sz="1500" dirty="0"/>
          </a:p>
        </p:txBody>
      </p:sp>
      <p:sp>
        <p:nvSpPr>
          <p:cNvPr id="37" name="Text 35"/>
          <p:cNvSpPr txBox="1"/>
          <p:nvPr/>
        </p:nvSpPr>
        <p:spPr>
          <a:xfrm>
            <a:off x="777240" y="4160520"/>
            <a:ext cx="507492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Never expand beyond G2: each extra generation risks senescence (slow runs, weak, deformed fruit).</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Every liquid-culture batch is streaked on agar and held 72 h before use; bacteria in LC are invisible.</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Culture bank: 3 backup slants per strain, sub-cultured every 3–6 months; one set held off-site.</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Re-isolate by tissue culture from the best fruit bodies; re-validate before commercial use.</a:t>
            </a:r>
            <a:endParaRPr lang="en-US" sz="1200" dirty="0"/>
          </a:p>
        </p:txBody>
      </p:sp>
      <p:sp>
        <p:nvSpPr>
          <p:cNvPr id="38" name="Shape 36"/>
          <p:cNvSpPr/>
          <p:nvPr/>
        </p:nvSpPr>
        <p:spPr>
          <a:xfrm>
            <a:off x="6309360" y="3611880"/>
            <a:ext cx="5349240" cy="2606040"/>
          </a:xfrm>
          <a:prstGeom prst="roundRect">
            <a:avLst>
              <a:gd name="adj" fmla="val 2807"/>
            </a:avLst>
          </a:prstGeom>
          <a:solidFill>
            <a:srgbClr val="FFFFFF"/>
          </a:solidFill>
          <a:ln w="9525">
            <a:solidFill>
              <a:srgbClr val="D3DED8"/>
            </a:solidFill>
            <a:prstDash val="solid"/>
          </a:ln>
        </p:spPr>
      </p:sp>
      <p:sp>
        <p:nvSpPr>
          <p:cNvPr id="39" name="Text 37"/>
          <p:cNvSpPr txBox="1"/>
          <p:nvPr/>
        </p:nvSpPr>
        <p:spPr>
          <a:xfrm>
            <a:off x="6537960" y="3749040"/>
            <a:ext cx="493776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Sourcing &amp; strain selection</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37960" y="4160520"/>
          <a:ext cx="4937760" cy="914400"/>
        </p:xfrm>
        <a:graphic>
          <a:graphicData uri="http://schemas.openxmlformats.org/drawingml/2006/table">
            <a:tbl>
              <a:tblPr/>
              <a:tblGrid>
                <a:gridCol w="1920240"/>
                <a:gridCol w="1554480"/>
                <a:gridCol w="146304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Source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Lead time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329184">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ICAR-DMR, Solan (Govt.)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~2 months, in-person pickup</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Primary certified strain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29184">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Private labs (e.g., Nuvedo, BM Mushroom)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Days, courier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Backup / comparison strain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41" name="Text 38"/>
          <p:cNvSpPr txBox="1"/>
          <p:nvPr/>
        </p:nvSpPr>
        <p:spPr>
          <a:xfrm>
            <a:off x="6537960" y="5349240"/>
            <a:ext cx="4937760" cy="777240"/>
          </a:xfrm>
          <a:prstGeom prst="rect">
            <a:avLst/>
          </a:prstGeom>
          <a:noFill/>
          <a:ln/>
        </p:spPr>
        <p:txBody>
          <a:bodyPr wrap="square" lIns="0" tIns="0" rIns="0" bIns="0" rtlCol="0" anchor="t"/>
          <a:lstStyle/>
          <a:p>
            <a:pPr indent="0" marL="0">
              <a:buNone/>
            </a:pPr>
            <a:r>
              <a:rPr lang="en-US" sz="1100" dirty="0">
                <a:solidFill>
                  <a:srgbClr val="1E2A26"/>
                </a:solidFill>
                <a:latin typeface="Calibri" pitchFamily="34" charset="0"/>
                <a:ea typeface="Calibri" pitchFamily="34" charset="-122"/>
                <a:cs typeface="Calibri" pitchFamily="34" charset="-120"/>
              </a:rPr>
              <a:t>Month-5 strain trial: 2–3 strains × 30 blocks each, scored on colonization days, BE, fruit density and β-glucan. Winner becomes the production strain.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03 · GENETICS &amp; SPAWN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Grain spawn SOP: daily batch for 60 blocks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48640" y="1463040"/>
            <a:ext cx="2103120" cy="868680"/>
          </a:xfrm>
          <a:prstGeom prst="roundRect">
            <a:avLst>
              <a:gd name="adj" fmla="val 8421"/>
            </a:avLst>
          </a:prstGeom>
          <a:solidFill>
            <a:srgbClr val="EEF4F0"/>
          </a:solidFill>
          <a:ln w="9525">
            <a:solidFill>
              <a:srgbClr val="EEF4F0"/>
            </a:solidFill>
            <a:prstDash val="solid"/>
          </a:ln>
        </p:spPr>
      </p:sp>
      <p:sp>
        <p:nvSpPr>
          <p:cNvPr id="7" name="Text 5"/>
          <p:cNvSpPr txBox="1"/>
          <p:nvPr/>
        </p:nvSpPr>
        <p:spPr>
          <a:xfrm>
            <a:off x="685800" y="1490472"/>
            <a:ext cx="1828800" cy="457200"/>
          </a:xfrm>
          <a:prstGeom prst="rect">
            <a:avLst/>
          </a:prstGeom>
          <a:noFill/>
          <a:ln/>
        </p:spPr>
        <p:txBody>
          <a:bodyPr wrap="square" lIns="0" tIns="0" rIns="0" bIns="0" rtlCol="0" anchor="ctr"/>
          <a:lstStyle/>
          <a:p>
            <a:pPr algn="ctr" indent="0" marL="0">
              <a:buNone/>
            </a:pPr>
            <a:r>
              <a:rPr lang="en-US" sz="1900" b="1" dirty="0">
                <a:solidFill>
                  <a:srgbClr val="2E5E4E"/>
                </a:solidFill>
                <a:latin typeface="Cambria" pitchFamily="34" charset="0"/>
                <a:ea typeface="Cambria" pitchFamily="34" charset="-122"/>
                <a:cs typeface="Cambria" pitchFamily="34" charset="-120"/>
              </a:rPr>
              <a:t>3.15 kg</a:t>
            </a:r>
            <a:endParaRPr lang="en-US" sz="1900" dirty="0"/>
          </a:p>
        </p:txBody>
      </p:sp>
      <p:sp>
        <p:nvSpPr>
          <p:cNvPr id="8" name="Text 6"/>
          <p:cNvSpPr txBox="1"/>
          <p:nvPr/>
        </p:nvSpPr>
        <p:spPr>
          <a:xfrm>
            <a:off x="640080" y="1920240"/>
            <a:ext cx="1920240" cy="320040"/>
          </a:xfrm>
          <a:prstGeom prst="rect">
            <a:avLst/>
          </a:prstGeom>
          <a:noFill/>
          <a:ln/>
        </p:spPr>
        <p:txBody>
          <a:bodyPr wrap="square" lIns="0" tIns="0" rIns="0" bIns="0" rtlCol="0" anchor="t"/>
          <a:lstStyle/>
          <a:p>
            <a:pPr algn="ctr" indent="0" marL="0">
              <a:buNone/>
            </a:pPr>
            <a:r>
              <a:rPr lang="en-US" sz="1050" dirty="0">
                <a:solidFill>
                  <a:srgbClr val="5F6F69"/>
                </a:solidFill>
                <a:latin typeface="Calibri" pitchFamily="34" charset="0"/>
                <a:ea typeface="Calibri" pitchFamily="34" charset="-122"/>
                <a:cs typeface="Calibri" pitchFamily="34" charset="-120"/>
              </a:rPr>
              <a:t>dry millet / sorghum</a:t>
            </a:r>
            <a:endParaRPr lang="en-US" sz="1050" dirty="0"/>
          </a:p>
        </p:txBody>
      </p:sp>
      <p:sp>
        <p:nvSpPr>
          <p:cNvPr id="9" name="Shape 7"/>
          <p:cNvSpPr/>
          <p:nvPr/>
        </p:nvSpPr>
        <p:spPr>
          <a:xfrm>
            <a:off x="2807208" y="1463040"/>
            <a:ext cx="2103120" cy="868680"/>
          </a:xfrm>
          <a:prstGeom prst="roundRect">
            <a:avLst>
              <a:gd name="adj" fmla="val 8421"/>
            </a:avLst>
          </a:prstGeom>
          <a:solidFill>
            <a:srgbClr val="EEF4F0"/>
          </a:solidFill>
          <a:ln w="9525">
            <a:solidFill>
              <a:srgbClr val="EEF4F0"/>
            </a:solidFill>
            <a:prstDash val="solid"/>
          </a:ln>
        </p:spPr>
      </p:sp>
      <p:sp>
        <p:nvSpPr>
          <p:cNvPr id="10" name="Text 8"/>
          <p:cNvSpPr txBox="1"/>
          <p:nvPr/>
        </p:nvSpPr>
        <p:spPr>
          <a:xfrm>
            <a:off x="2944368" y="1490472"/>
            <a:ext cx="1828800" cy="457200"/>
          </a:xfrm>
          <a:prstGeom prst="rect">
            <a:avLst/>
          </a:prstGeom>
          <a:noFill/>
          <a:ln/>
        </p:spPr>
        <p:txBody>
          <a:bodyPr wrap="square" lIns="0" tIns="0" rIns="0" bIns="0" rtlCol="0" anchor="ctr"/>
          <a:lstStyle/>
          <a:p>
            <a:pPr algn="ctr" indent="0" marL="0">
              <a:buNone/>
            </a:pPr>
            <a:r>
              <a:rPr lang="en-US" sz="1900" b="1" dirty="0">
                <a:solidFill>
                  <a:srgbClr val="2E5E4E"/>
                </a:solidFill>
                <a:latin typeface="Cambria" pitchFamily="34" charset="0"/>
                <a:ea typeface="Cambria" pitchFamily="34" charset="-122"/>
                <a:cs typeface="Cambria" pitchFamily="34" charset="-120"/>
              </a:rPr>
              <a:t>3 L</a:t>
            </a:r>
            <a:endParaRPr lang="en-US" sz="1900" dirty="0"/>
          </a:p>
        </p:txBody>
      </p:sp>
      <p:sp>
        <p:nvSpPr>
          <p:cNvPr id="11" name="Text 9"/>
          <p:cNvSpPr txBox="1"/>
          <p:nvPr/>
        </p:nvSpPr>
        <p:spPr>
          <a:xfrm>
            <a:off x="2898648" y="1920240"/>
            <a:ext cx="1920240" cy="320040"/>
          </a:xfrm>
          <a:prstGeom prst="rect">
            <a:avLst/>
          </a:prstGeom>
          <a:noFill/>
          <a:ln/>
        </p:spPr>
        <p:txBody>
          <a:bodyPr wrap="square" lIns="0" tIns="0" rIns="0" bIns="0" rtlCol="0" anchor="t"/>
          <a:lstStyle/>
          <a:p>
            <a:pPr algn="ctr" indent="0" marL="0">
              <a:buNone/>
            </a:pPr>
            <a:r>
              <a:rPr lang="en-US" sz="1050" dirty="0">
                <a:solidFill>
                  <a:srgbClr val="5F6F69"/>
                </a:solidFill>
                <a:latin typeface="Calibri" pitchFamily="34" charset="0"/>
                <a:ea typeface="Calibri" pitchFamily="34" charset="-122"/>
                <a:cs typeface="Calibri" pitchFamily="34" charset="-120"/>
              </a:rPr>
              <a:t>water for soak</a:t>
            </a:r>
            <a:endParaRPr lang="en-US" sz="1050" dirty="0"/>
          </a:p>
        </p:txBody>
      </p:sp>
      <p:sp>
        <p:nvSpPr>
          <p:cNvPr id="12" name="Shape 10"/>
          <p:cNvSpPr/>
          <p:nvPr/>
        </p:nvSpPr>
        <p:spPr>
          <a:xfrm>
            <a:off x="5065776" y="1463040"/>
            <a:ext cx="2103120" cy="868680"/>
          </a:xfrm>
          <a:prstGeom prst="roundRect">
            <a:avLst>
              <a:gd name="adj" fmla="val 8421"/>
            </a:avLst>
          </a:prstGeom>
          <a:solidFill>
            <a:srgbClr val="EEF4F0"/>
          </a:solidFill>
          <a:ln w="9525">
            <a:solidFill>
              <a:srgbClr val="EEF4F0"/>
            </a:solidFill>
            <a:prstDash val="solid"/>
          </a:ln>
        </p:spPr>
      </p:sp>
      <p:sp>
        <p:nvSpPr>
          <p:cNvPr id="13" name="Text 11"/>
          <p:cNvSpPr txBox="1"/>
          <p:nvPr/>
        </p:nvSpPr>
        <p:spPr>
          <a:xfrm>
            <a:off x="5202936" y="1490472"/>
            <a:ext cx="1828800" cy="457200"/>
          </a:xfrm>
          <a:prstGeom prst="rect">
            <a:avLst/>
          </a:prstGeom>
          <a:noFill/>
          <a:ln/>
        </p:spPr>
        <p:txBody>
          <a:bodyPr wrap="square" lIns="0" tIns="0" rIns="0" bIns="0" rtlCol="0" anchor="ctr"/>
          <a:lstStyle/>
          <a:p>
            <a:pPr algn="ctr" indent="0" marL="0">
              <a:buNone/>
            </a:pPr>
            <a:r>
              <a:rPr lang="en-US" sz="1900" b="1" dirty="0">
                <a:solidFill>
                  <a:srgbClr val="2E5E4E"/>
                </a:solidFill>
                <a:latin typeface="Cambria" pitchFamily="34" charset="0"/>
                <a:ea typeface="Cambria" pitchFamily="34" charset="-122"/>
                <a:cs typeface="Cambria" pitchFamily="34" charset="-120"/>
              </a:rPr>
              <a:t>31.5 g</a:t>
            </a:r>
            <a:endParaRPr lang="en-US" sz="1900" dirty="0"/>
          </a:p>
        </p:txBody>
      </p:sp>
      <p:sp>
        <p:nvSpPr>
          <p:cNvPr id="14" name="Text 12"/>
          <p:cNvSpPr txBox="1"/>
          <p:nvPr/>
        </p:nvSpPr>
        <p:spPr>
          <a:xfrm>
            <a:off x="5157216" y="1920240"/>
            <a:ext cx="1920240" cy="320040"/>
          </a:xfrm>
          <a:prstGeom prst="rect">
            <a:avLst/>
          </a:prstGeom>
          <a:noFill/>
          <a:ln/>
        </p:spPr>
        <p:txBody>
          <a:bodyPr wrap="square" lIns="0" tIns="0" rIns="0" bIns="0" rtlCol="0" anchor="t"/>
          <a:lstStyle/>
          <a:p>
            <a:pPr algn="ctr" indent="0" marL="0">
              <a:buNone/>
            </a:pPr>
            <a:r>
              <a:rPr lang="en-US" sz="1050" dirty="0">
                <a:solidFill>
                  <a:srgbClr val="5F6F69"/>
                </a:solidFill>
                <a:latin typeface="Calibri" pitchFamily="34" charset="0"/>
                <a:ea typeface="Calibri" pitchFamily="34" charset="-122"/>
                <a:cs typeface="Calibri" pitchFamily="34" charset="-120"/>
              </a:rPr>
              <a:t>gypsum (CaSO₄), 1%</a:t>
            </a:r>
            <a:endParaRPr lang="en-US" sz="1050" dirty="0"/>
          </a:p>
        </p:txBody>
      </p:sp>
      <p:sp>
        <p:nvSpPr>
          <p:cNvPr id="15" name="Shape 13"/>
          <p:cNvSpPr/>
          <p:nvPr/>
        </p:nvSpPr>
        <p:spPr>
          <a:xfrm>
            <a:off x="7324344" y="1463040"/>
            <a:ext cx="2103120" cy="868680"/>
          </a:xfrm>
          <a:prstGeom prst="roundRect">
            <a:avLst>
              <a:gd name="adj" fmla="val 8421"/>
            </a:avLst>
          </a:prstGeom>
          <a:solidFill>
            <a:srgbClr val="EEF4F0"/>
          </a:solidFill>
          <a:ln w="9525">
            <a:solidFill>
              <a:srgbClr val="EEF4F0"/>
            </a:solidFill>
            <a:prstDash val="solid"/>
          </a:ln>
        </p:spPr>
      </p:sp>
      <p:sp>
        <p:nvSpPr>
          <p:cNvPr id="16" name="Text 14"/>
          <p:cNvSpPr txBox="1"/>
          <p:nvPr/>
        </p:nvSpPr>
        <p:spPr>
          <a:xfrm>
            <a:off x="7461504" y="1490472"/>
            <a:ext cx="1828800" cy="457200"/>
          </a:xfrm>
          <a:prstGeom prst="rect">
            <a:avLst/>
          </a:prstGeom>
          <a:noFill/>
          <a:ln/>
        </p:spPr>
        <p:txBody>
          <a:bodyPr wrap="square" lIns="0" tIns="0" rIns="0" bIns="0" rtlCol="0" anchor="ctr"/>
          <a:lstStyle/>
          <a:p>
            <a:pPr algn="ctr" indent="0" marL="0">
              <a:buNone/>
            </a:pPr>
            <a:r>
              <a:rPr lang="en-US" sz="1900" b="1" dirty="0">
                <a:solidFill>
                  <a:srgbClr val="2E5E4E"/>
                </a:solidFill>
                <a:latin typeface="Cambria" pitchFamily="34" charset="0"/>
                <a:ea typeface="Cambria" pitchFamily="34" charset="-122"/>
                <a:cs typeface="Cambria" pitchFamily="34" charset="-120"/>
              </a:rPr>
              <a:t>30 ml</a:t>
            </a:r>
            <a:endParaRPr lang="en-US" sz="1900" dirty="0"/>
          </a:p>
        </p:txBody>
      </p:sp>
      <p:sp>
        <p:nvSpPr>
          <p:cNvPr id="17" name="Text 15"/>
          <p:cNvSpPr txBox="1"/>
          <p:nvPr/>
        </p:nvSpPr>
        <p:spPr>
          <a:xfrm>
            <a:off x="7415784" y="1920240"/>
            <a:ext cx="1920240" cy="320040"/>
          </a:xfrm>
          <a:prstGeom prst="rect">
            <a:avLst/>
          </a:prstGeom>
          <a:noFill/>
          <a:ln/>
        </p:spPr>
        <p:txBody>
          <a:bodyPr wrap="square" lIns="0" tIns="0" rIns="0" bIns="0" rtlCol="0" anchor="t"/>
          <a:lstStyle/>
          <a:p>
            <a:pPr algn="ctr" indent="0" marL="0">
              <a:buNone/>
            </a:pPr>
            <a:r>
              <a:rPr lang="en-US" sz="1050" dirty="0">
                <a:solidFill>
                  <a:srgbClr val="5F6F69"/>
                </a:solidFill>
                <a:latin typeface="Calibri" pitchFamily="34" charset="0"/>
                <a:ea typeface="Calibri" pitchFamily="34" charset="-122"/>
                <a:cs typeface="Calibri" pitchFamily="34" charset="-120"/>
              </a:rPr>
              <a:t>liquid culture</a:t>
            </a:r>
            <a:endParaRPr lang="en-US" sz="1050" dirty="0"/>
          </a:p>
        </p:txBody>
      </p:sp>
      <p:sp>
        <p:nvSpPr>
          <p:cNvPr id="18" name="Shape 16"/>
          <p:cNvSpPr/>
          <p:nvPr/>
        </p:nvSpPr>
        <p:spPr>
          <a:xfrm>
            <a:off x="9582912" y="1463040"/>
            <a:ext cx="2103120" cy="868680"/>
          </a:xfrm>
          <a:prstGeom prst="roundRect">
            <a:avLst>
              <a:gd name="adj" fmla="val 8421"/>
            </a:avLst>
          </a:prstGeom>
          <a:solidFill>
            <a:srgbClr val="14302A"/>
          </a:solidFill>
          <a:ln w="9525">
            <a:solidFill>
              <a:srgbClr val="14302A"/>
            </a:solidFill>
            <a:prstDash val="solid"/>
          </a:ln>
        </p:spPr>
      </p:sp>
      <p:sp>
        <p:nvSpPr>
          <p:cNvPr id="19" name="Text 17"/>
          <p:cNvSpPr txBox="1"/>
          <p:nvPr/>
        </p:nvSpPr>
        <p:spPr>
          <a:xfrm>
            <a:off x="9720072" y="1490472"/>
            <a:ext cx="18288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6 kg</a:t>
            </a:r>
            <a:endParaRPr lang="en-US" sz="1900" dirty="0"/>
          </a:p>
        </p:txBody>
      </p:sp>
      <p:sp>
        <p:nvSpPr>
          <p:cNvPr id="20" name="Text 18"/>
          <p:cNvSpPr txBox="1"/>
          <p:nvPr/>
        </p:nvSpPr>
        <p:spPr>
          <a:xfrm>
            <a:off x="9674352" y="1920240"/>
            <a:ext cx="1920240" cy="320040"/>
          </a:xfrm>
          <a:prstGeom prst="rect">
            <a:avLst/>
          </a:prstGeom>
          <a:noFill/>
          <a:ln/>
        </p:spPr>
        <p:txBody>
          <a:bodyPr wrap="square" lIns="0" tIns="0" rIns="0" bIns="0" rtlCol="0" anchor="t"/>
          <a:lstStyle/>
          <a:p>
            <a:pPr algn="ctr" indent="0" marL="0">
              <a:buNone/>
            </a:pPr>
            <a:r>
              <a:rPr lang="en-US" sz="1050" dirty="0">
                <a:solidFill>
                  <a:srgbClr val="8DB596"/>
                </a:solidFill>
                <a:latin typeface="Calibri" pitchFamily="34" charset="0"/>
                <a:ea typeface="Calibri" pitchFamily="34" charset="-122"/>
                <a:cs typeface="Calibri" pitchFamily="34" charset="-120"/>
              </a:rPr>
              <a:t>spawn = 3 × 2 kg bags</a:t>
            </a:r>
            <a:endParaRPr lang="en-US" sz="1050" dirty="0"/>
          </a:p>
        </p:txBody>
      </p:sp>
      <p:sp>
        <p:nvSpPr>
          <p:cNvPr id="21" name="Shape 19"/>
          <p:cNvSpPr/>
          <p:nvPr/>
        </p:nvSpPr>
        <p:spPr>
          <a:xfrm>
            <a:off x="548640" y="2606040"/>
            <a:ext cx="2633472" cy="3611880"/>
          </a:xfrm>
          <a:prstGeom prst="roundRect">
            <a:avLst>
              <a:gd name="adj" fmla="val 2778"/>
            </a:avLst>
          </a:prstGeom>
          <a:solidFill>
            <a:srgbClr val="FFFFFF"/>
          </a:solidFill>
          <a:ln w="9525">
            <a:solidFill>
              <a:srgbClr val="D3DED8"/>
            </a:solidFill>
            <a:prstDash val="solid"/>
          </a:ln>
        </p:spPr>
      </p:sp>
      <p:sp>
        <p:nvSpPr>
          <p:cNvPr id="22" name="Text 20"/>
          <p:cNvSpPr txBox="1"/>
          <p:nvPr/>
        </p:nvSpPr>
        <p:spPr>
          <a:xfrm>
            <a:off x="731520" y="2743200"/>
            <a:ext cx="2286000" cy="274320"/>
          </a:xfrm>
          <a:prstGeom prst="rect">
            <a:avLst/>
          </a:prstGeom>
          <a:noFill/>
          <a:ln/>
        </p:spPr>
        <p:txBody>
          <a:bodyPr wrap="square" lIns="0" tIns="0" rIns="0" bIns="0" rtlCol="0" anchor="t"/>
          <a:lstStyle/>
          <a:p>
            <a:pPr indent="0" marL="0">
              <a:buNone/>
            </a:pPr>
            <a:r>
              <a:rPr lang="en-US" sz="1000" b="1" spc="100" kern="0" dirty="0">
                <a:solidFill>
                  <a:srgbClr val="D9962B"/>
                </a:solidFill>
                <a:latin typeface="Calibri" pitchFamily="34" charset="0"/>
                <a:ea typeface="Calibri" pitchFamily="34" charset="-122"/>
                <a:cs typeface="Calibri" pitchFamily="34" charset="-120"/>
              </a:rPr>
              <a:t>PHASE 1 · DAY 0</a:t>
            </a:r>
            <a:endParaRPr lang="en-US" sz="1000" dirty="0"/>
          </a:p>
        </p:txBody>
      </p:sp>
      <p:sp>
        <p:nvSpPr>
          <p:cNvPr id="23" name="Text 21"/>
          <p:cNvSpPr txBox="1"/>
          <p:nvPr/>
        </p:nvSpPr>
        <p:spPr>
          <a:xfrm>
            <a:off x="731520" y="2999232"/>
            <a:ext cx="2286000" cy="41148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Hydrate</a:t>
            </a:r>
            <a:endParaRPr lang="en-US" sz="1600" dirty="0"/>
          </a:p>
        </p:txBody>
      </p:sp>
      <p:sp>
        <p:nvSpPr>
          <p:cNvPr id="24" name="Text 22"/>
          <p:cNvSpPr txBox="1"/>
          <p:nvPr/>
        </p:nvSpPr>
        <p:spPr>
          <a:xfrm>
            <a:off x="731520" y="3474720"/>
            <a:ext cx="2304288"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Rinse grain in cold water until it runs clear.</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Cold-soak 12–16 h under 5 cm of water with the gypsum, to germinate Bacillus endospores so heat can kill them.</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Simmer 15 min: chalky centre gone, hulls intact.</a:t>
            </a:r>
            <a:endParaRPr lang="en-US" sz="1250" dirty="0"/>
          </a:p>
        </p:txBody>
      </p:sp>
      <p:sp>
        <p:nvSpPr>
          <p:cNvPr id="25" name="Shape 23"/>
          <p:cNvSpPr/>
          <p:nvPr/>
        </p:nvSpPr>
        <p:spPr>
          <a:xfrm>
            <a:off x="3364992" y="2606040"/>
            <a:ext cx="2633472" cy="3611880"/>
          </a:xfrm>
          <a:prstGeom prst="roundRect">
            <a:avLst>
              <a:gd name="adj" fmla="val 2778"/>
            </a:avLst>
          </a:prstGeom>
          <a:solidFill>
            <a:srgbClr val="FFFFFF"/>
          </a:solidFill>
          <a:ln w="9525">
            <a:solidFill>
              <a:srgbClr val="D3DED8"/>
            </a:solidFill>
            <a:prstDash val="solid"/>
          </a:ln>
        </p:spPr>
      </p:sp>
      <p:sp>
        <p:nvSpPr>
          <p:cNvPr id="26" name="Text 24"/>
          <p:cNvSpPr txBox="1"/>
          <p:nvPr/>
        </p:nvSpPr>
        <p:spPr>
          <a:xfrm>
            <a:off x="3547872" y="2743200"/>
            <a:ext cx="2286000" cy="274320"/>
          </a:xfrm>
          <a:prstGeom prst="rect">
            <a:avLst/>
          </a:prstGeom>
          <a:noFill/>
          <a:ln/>
        </p:spPr>
        <p:txBody>
          <a:bodyPr wrap="square" lIns="0" tIns="0" rIns="0" bIns="0" rtlCol="0" anchor="t"/>
          <a:lstStyle/>
          <a:p>
            <a:pPr indent="0" marL="0">
              <a:buNone/>
            </a:pPr>
            <a:r>
              <a:rPr lang="en-US" sz="1000" b="1" spc="100" kern="0" dirty="0">
                <a:solidFill>
                  <a:srgbClr val="D9962B"/>
                </a:solidFill>
                <a:latin typeface="Calibri" pitchFamily="34" charset="0"/>
                <a:ea typeface="Calibri" pitchFamily="34" charset="-122"/>
                <a:cs typeface="Calibri" pitchFamily="34" charset="-120"/>
              </a:rPr>
              <a:t>PHASE 2 · DAY 1</a:t>
            </a:r>
            <a:endParaRPr lang="en-US" sz="1000" dirty="0"/>
          </a:p>
        </p:txBody>
      </p:sp>
      <p:sp>
        <p:nvSpPr>
          <p:cNvPr id="27" name="Text 25"/>
          <p:cNvSpPr txBox="1"/>
          <p:nvPr/>
        </p:nvSpPr>
        <p:spPr>
          <a:xfrm>
            <a:off x="3547872" y="2999232"/>
            <a:ext cx="2286000" cy="41148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Dry, bag, sterilize</a:t>
            </a:r>
            <a:endParaRPr lang="en-US" sz="1600" dirty="0"/>
          </a:p>
        </p:txBody>
      </p:sp>
      <p:sp>
        <p:nvSpPr>
          <p:cNvPr id="28" name="Text 26"/>
          <p:cNvSpPr txBox="1"/>
          <p:nvPr/>
        </p:nvSpPr>
        <p:spPr>
          <a:xfrm>
            <a:off x="3547872" y="3474720"/>
            <a:ext cx="2304288"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Drain; surface-dry on mesh with a fan 45–60 min. Grain must not stick to the hand.</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Fill 2 kg per filter-patch bag with injection port.</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121°C / 15 PSI for 120 min; let pressure fall naturally.</a:t>
            </a:r>
            <a:endParaRPr lang="en-US" sz="1250" dirty="0"/>
          </a:p>
        </p:txBody>
      </p:sp>
      <p:sp>
        <p:nvSpPr>
          <p:cNvPr id="29" name="Shape 27"/>
          <p:cNvSpPr/>
          <p:nvPr/>
        </p:nvSpPr>
        <p:spPr>
          <a:xfrm>
            <a:off x="6181344" y="2606040"/>
            <a:ext cx="2633472" cy="3611880"/>
          </a:xfrm>
          <a:prstGeom prst="roundRect">
            <a:avLst>
              <a:gd name="adj" fmla="val 2778"/>
            </a:avLst>
          </a:prstGeom>
          <a:solidFill>
            <a:srgbClr val="FFFFFF"/>
          </a:solidFill>
          <a:ln w="9525">
            <a:solidFill>
              <a:srgbClr val="D3DED8"/>
            </a:solidFill>
            <a:prstDash val="solid"/>
          </a:ln>
        </p:spPr>
      </p:sp>
      <p:sp>
        <p:nvSpPr>
          <p:cNvPr id="30" name="Text 28"/>
          <p:cNvSpPr txBox="1"/>
          <p:nvPr/>
        </p:nvSpPr>
        <p:spPr>
          <a:xfrm>
            <a:off x="6364224" y="2743200"/>
            <a:ext cx="2286000" cy="274320"/>
          </a:xfrm>
          <a:prstGeom prst="rect">
            <a:avLst/>
          </a:prstGeom>
          <a:noFill/>
          <a:ln/>
        </p:spPr>
        <p:txBody>
          <a:bodyPr wrap="square" lIns="0" tIns="0" rIns="0" bIns="0" rtlCol="0" anchor="t"/>
          <a:lstStyle/>
          <a:p>
            <a:pPr indent="0" marL="0">
              <a:buNone/>
            </a:pPr>
            <a:r>
              <a:rPr lang="en-US" sz="1000" b="1" spc="100" kern="0" dirty="0">
                <a:solidFill>
                  <a:srgbClr val="D9962B"/>
                </a:solidFill>
                <a:latin typeface="Calibri" pitchFamily="34" charset="0"/>
                <a:ea typeface="Calibri" pitchFamily="34" charset="-122"/>
                <a:cs typeface="Calibri" pitchFamily="34" charset="-120"/>
              </a:rPr>
              <a:t>PHASE 3 · DAY 2</a:t>
            </a:r>
            <a:endParaRPr lang="en-US" sz="1000" dirty="0"/>
          </a:p>
        </p:txBody>
      </p:sp>
      <p:sp>
        <p:nvSpPr>
          <p:cNvPr id="31" name="Text 29"/>
          <p:cNvSpPr txBox="1"/>
          <p:nvPr/>
        </p:nvSpPr>
        <p:spPr>
          <a:xfrm>
            <a:off x="6364224" y="2999232"/>
            <a:ext cx="2286000" cy="41148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Inoculate</a:t>
            </a:r>
            <a:endParaRPr lang="en-US" sz="1600" dirty="0"/>
          </a:p>
        </p:txBody>
      </p:sp>
      <p:sp>
        <p:nvSpPr>
          <p:cNvPr id="32" name="Text 30"/>
          <p:cNvSpPr txBox="1"/>
          <p:nvPr/>
        </p:nvSpPr>
        <p:spPr>
          <a:xfrm>
            <a:off x="6364224" y="3474720"/>
            <a:ext cx="2304288"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Cool 12 h in the positive-pressure lab to &lt;25°C.</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LAF on 30 min; wipe bags, gloves and syringe with 70% IPA.</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Flame needle, cool, inject 10 ml LC per bag; seal, shake 30 s.</a:t>
            </a:r>
            <a:endParaRPr lang="en-US" sz="1250" dirty="0"/>
          </a:p>
        </p:txBody>
      </p:sp>
      <p:sp>
        <p:nvSpPr>
          <p:cNvPr id="33" name="Shape 31"/>
          <p:cNvSpPr/>
          <p:nvPr/>
        </p:nvSpPr>
        <p:spPr>
          <a:xfrm>
            <a:off x="8997696" y="2606040"/>
            <a:ext cx="2633472" cy="3611880"/>
          </a:xfrm>
          <a:prstGeom prst="roundRect">
            <a:avLst>
              <a:gd name="adj" fmla="val 2778"/>
            </a:avLst>
          </a:prstGeom>
          <a:solidFill>
            <a:srgbClr val="FBF1DE"/>
          </a:solidFill>
          <a:ln w="9525">
            <a:solidFill>
              <a:srgbClr val="FBF1DE"/>
            </a:solidFill>
            <a:prstDash val="solid"/>
          </a:ln>
        </p:spPr>
      </p:sp>
      <p:sp>
        <p:nvSpPr>
          <p:cNvPr id="34" name="Text 32"/>
          <p:cNvSpPr txBox="1"/>
          <p:nvPr/>
        </p:nvSpPr>
        <p:spPr>
          <a:xfrm>
            <a:off x="9180576" y="2743200"/>
            <a:ext cx="2286000" cy="274320"/>
          </a:xfrm>
          <a:prstGeom prst="rect">
            <a:avLst/>
          </a:prstGeom>
          <a:noFill/>
          <a:ln/>
        </p:spPr>
        <p:txBody>
          <a:bodyPr wrap="square" lIns="0" tIns="0" rIns="0" bIns="0" rtlCol="0" anchor="t"/>
          <a:lstStyle/>
          <a:p>
            <a:pPr indent="0" marL="0">
              <a:buNone/>
            </a:pPr>
            <a:r>
              <a:rPr lang="en-US" sz="1000" b="1" spc="100" kern="0" dirty="0">
                <a:solidFill>
                  <a:srgbClr val="D9962B"/>
                </a:solidFill>
                <a:latin typeface="Calibri" pitchFamily="34" charset="0"/>
                <a:ea typeface="Calibri" pitchFamily="34" charset="-122"/>
                <a:cs typeface="Calibri" pitchFamily="34" charset="-120"/>
              </a:rPr>
              <a:t>PHASE 4 · DAY 8–21</a:t>
            </a:r>
            <a:endParaRPr lang="en-US" sz="1000" dirty="0"/>
          </a:p>
        </p:txBody>
      </p:sp>
      <p:sp>
        <p:nvSpPr>
          <p:cNvPr id="35" name="Text 33"/>
          <p:cNvSpPr txBox="1"/>
          <p:nvPr/>
        </p:nvSpPr>
        <p:spPr>
          <a:xfrm>
            <a:off x="9180576" y="2999232"/>
            <a:ext cx="2286000" cy="41148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Break &amp; mature</a:t>
            </a:r>
            <a:endParaRPr lang="en-US" sz="1600" dirty="0"/>
          </a:p>
        </p:txBody>
      </p:sp>
      <p:sp>
        <p:nvSpPr>
          <p:cNvPr id="36" name="Text 34"/>
          <p:cNvSpPr txBox="1"/>
          <p:nvPr/>
        </p:nvSpPr>
        <p:spPr>
          <a:xfrm>
            <a:off x="9180576" y="3474720"/>
            <a:ext cx="2304288" cy="26517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Incubate dark at 21–23°C.</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At ~30% coverage (day 8–10) break and shake to redistribute.</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Use when fully white (day 14–21). Discard any bag with wet, sour or discoloured patches.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04 · SUBSTRATE</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Master's Mix: formulation, sourcing and handling</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10</a:t>
            </a:r>
            <a:endParaRPr lang="en-US" sz="900" dirty="0"/>
          </a:p>
        </p:txBody>
      </p:sp>
      <p:graphicFrame>
        <p:nvGraphicFramePr>
          <p:cNvPr id="6" name="Chart 0" descr=""/>
          <p:cNvGraphicFramePr/>
          <p:nvPr/>
        </p:nvGraphicFramePr>
        <p:xfrm>
          <a:off x="457200" y="1417320"/>
          <a:ext cx="384048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5120640"/>
            <a:ext cx="3657600" cy="1097280"/>
          </a:xfrm>
          <a:prstGeom prst="roundRect">
            <a:avLst>
              <a:gd name="adj" fmla="val 6667"/>
            </a:avLst>
          </a:prstGeom>
          <a:solidFill>
            <a:srgbClr val="EEF4F0"/>
          </a:solidFill>
          <a:ln w="9525">
            <a:solidFill>
              <a:srgbClr val="EEF4F0"/>
            </a:solidFill>
            <a:prstDash val="solid"/>
          </a:ln>
        </p:spPr>
      </p:sp>
      <p:sp>
        <p:nvSpPr>
          <p:cNvPr id="8" name="Text 5"/>
          <p:cNvSpPr txBox="1"/>
          <p:nvPr/>
        </p:nvSpPr>
        <p:spPr>
          <a:xfrm>
            <a:off x="731520" y="5212080"/>
            <a:ext cx="3291840" cy="91440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50 : 50 hardwood : soy hull (dry basis), hydrated to 60–62%. Squeeze test: a few drops, never a stream.</a:t>
            </a:r>
            <a:endParaRPr lang="en-US" sz="1150" dirty="0"/>
          </a:p>
        </p:txBody>
      </p:sp>
      <p:sp>
        <p:nvSpPr>
          <p:cNvPr id="9" name="Shape 6"/>
          <p:cNvSpPr/>
          <p:nvPr/>
        </p:nvSpPr>
        <p:spPr>
          <a:xfrm>
            <a:off x="4526280" y="1508760"/>
            <a:ext cx="3383280" cy="2194560"/>
          </a:xfrm>
          <a:prstGeom prst="roundRect">
            <a:avLst>
              <a:gd name="adj" fmla="val 3333"/>
            </a:avLst>
          </a:prstGeom>
          <a:solidFill>
            <a:srgbClr val="FFFFFF"/>
          </a:solidFill>
          <a:ln w="9525">
            <a:solidFill>
              <a:srgbClr val="D3DED8"/>
            </a:solidFill>
            <a:prstDash val="solid"/>
          </a:ln>
        </p:spPr>
      </p:sp>
      <p:sp>
        <p:nvSpPr>
          <p:cNvPr id="10" name="Text 7"/>
          <p:cNvSpPr txBox="1"/>
          <p:nvPr/>
        </p:nvSpPr>
        <p:spPr>
          <a:xfrm>
            <a:off x="4709160" y="1627632"/>
            <a:ext cx="3017520" cy="32004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Wood selection</a:t>
            </a:r>
            <a:endParaRPr lang="en-US" sz="1500" dirty="0"/>
          </a:p>
        </p:txBody>
      </p:sp>
      <p:pic>
        <p:nvPicPr>
          <p:cNvPr id="11" name="Image 0" descr="preencoded.png">    </p:cNvPr>
          <p:cNvPicPr>
            <a:picLocks noChangeAspect="1"/>
          </p:cNvPicPr>
          <p:nvPr/>
        </p:nvPicPr>
        <p:blipFill>
          <a:blip r:embed="rId2"/>
          <a:stretch>
            <a:fillRect/>
          </a:stretch>
        </p:blipFill>
        <p:spPr>
          <a:xfrm>
            <a:off x="4709160" y="2057400"/>
            <a:ext cx="237744" cy="237744"/>
          </a:xfrm>
          <a:prstGeom prst="rect">
            <a:avLst/>
          </a:prstGeom>
        </p:spPr>
      </p:pic>
      <p:sp>
        <p:nvSpPr>
          <p:cNvPr id="12" name="Text 8"/>
          <p:cNvSpPr txBox="1"/>
          <p:nvPr/>
        </p:nvSpPr>
        <p:spPr>
          <a:xfrm>
            <a:off x="5029200" y="2011680"/>
            <a:ext cx="2743200" cy="50292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Approved: Mango, Poplar, Safeda/Eucalyptus, Oak</a:t>
            </a:r>
            <a:endParaRPr lang="en-US" sz="1150" dirty="0"/>
          </a:p>
        </p:txBody>
      </p:sp>
      <p:pic>
        <p:nvPicPr>
          <p:cNvPr id="13" name="Image 1" descr="preencoded.png">    </p:cNvPr>
          <p:cNvPicPr>
            <a:picLocks noChangeAspect="1"/>
          </p:cNvPicPr>
          <p:nvPr/>
        </p:nvPicPr>
        <p:blipFill>
          <a:blip r:embed="rId3"/>
          <a:stretch>
            <a:fillRect/>
          </a:stretch>
        </p:blipFill>
        <p:spPr>
          <a:xfrm>
            <a:off x="4709160" y="2651760"/>
            <a:ext cx="237744" cy="237744"/>
          </a:xfrm>
          <a:prstGeom prst="rect">
            <a:avLst/>
          </a:prstGeom>
        </p:spPr>
      </p:pic>
      <p:sp>
        <p:nvSpPr>
          <p:cNvPr id="14" name="Text 9"/>
          <p:cNvSpPr txBox="1"/>
          <p:nvPr/>
        </p:nvSpPr>
        <p:spPr>
          <a:xfrm>
            <a:off x="5029200" y="2606040"/>
            <a:ext cx="2743200" cy="82296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Excluded: softwoods (Pine, Deodar) and resinous or anti-fungal hardwoods (Teak, Sal, Hollock)</a:t>
            </a:r>
            <a:endParaRPr lang="en-US" sz="1150" dirty="0"/>
          </a:p>
        </p:txBody>
      </p:sp>
      <p:sp>
        <p:nvSpPr>
          <p:cNvPr id="15" name="Shape 10"/>
          <p:cNvSpPr/>
          <p:nvPr/>
        </p:nvSpPr>
        <p:spPr>
          <a:xfrm>
            <a:off x="4526280" y="3931920"/>
            <a:ext cx="3383280" cy="2286000"/>
          </a:xfrm>
          <a:prstGeom prst="roundRect">
            <a:avLst>
              <a:gd name="adj" fmla="val 3200"/>
            </a:avLst>
          </a:prstGeom>
          <a:solidFill>
            <a:srgbClr val="FFFFFF"/>
          </a:solidFill>
          <a:ln w="9525">
            <a:solidFill>
              <a:srgbClr val="D3DED8"/>
            </a:solidFill>
            <a:prstDash val="solid"/>
          </a:ln>
        </p:spPr>
      </p:sp>
      <p:sp>
        <p:nvSpPr>
          <p:cNvPr id="16" name="Text 11"/>
          <p:cNvSpPr txBox="1"/>
          <p:nvPr/>
        </p:nvSpPr>
        <p:spPr>
          <a:xfrm>
            <a:off x="4709160" y="4050792"/>
            <a:ext cx="3017520" cy="32004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Suppliers (from site notes)</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709160" y="4434840"/>
          <a:ext cx="3017520" cy="914400"/>
        </p:xfrm>
        <a:graphic>
          <a:graphicData uri="http://schemas.openxmlformats.org/drawingml/2006/table">
            <a:tbl>
              <a:tblPr/>
              <a:tblGrid>
                <a:gridCol w="731520"/>
                <a:gridCol w="1737360"/>
                <a:gridCol w="54864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Input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Supplier</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₹/kg</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329184">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Sawdust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Rajinder Singh &amp; Bros, Zirakpur</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5</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29184">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Soy hull</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Shri Kulkanda Feeds</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18" name="Text 12"/>
          <p:cNvSpPr txBox="1"/>
          <p:nvPr/>
        </p:nvSpPr>
        <p:spPr>
          <a:xfrm>
            <a:off x="4709160" y="5532120"/>
            <a:ext cx="3017520" cy="457200"/>
          </a:xfrm>
          <a:prstGeom prst="rect">
            <a:avLst/>
          </a:prstGeom>
          <a:noFill/>
          <a:ln/>
        </p:spPr>
        <p:txBody>
          <a:bodyPr wrap="square" lIns="0" tIns="0" rIns="0" bIns="0" rtlCol="0" anchor="t"/>
          <a:lstStyle/>
          <a:p>
            <a:pPr indent="0" marL="0">
              <a:buNone/>
            </a:pPr>
            <a:r>
              <a:rPr lang="en-US" sz="1100" b="1" dirty="0">
                <a:solidFill>
                  <a:srgbClr val="2E5E4E"/>
                </a:solidFill>
                <a:latin typeface="Calibri" pitchFamily="34" charset="0"/>
                <a:ea typeface="Calibri" pitchFamily="34" charset="-122"/>
                <a:cs typeface="Calibri" pitchFamily="34" charset="-120"/>
              </a:rPr>
              <a:t>Budget ~₹45,000/month incl. freight</a:t>
            </a:r>
            <a:endParaRPr lang="en-US" sz="1100" dirty="0"/>
          </a:p>
        </p:txBody>
      </p:sp>
      <p:sp>
        <p:nvSpPr>
          <p:cNvPr id="19" name="Shape 13"/>
          <p:cNvSpPr/>
          <p:nvPr/>
        </p:nvSpPr>
        <p:spPr>
          <a:xfrm>
            <a:off x="8183880" y="1508760"/>
            <a:ext cx="3474720" cy="4709160"/>
          </a:xfrm>
          <a:prstGeom prst="roundRect">
            <a:avLst>
              <a:gd name="adj" fmla="val 2105"/>
            </a:avLst>
          </a:prstGeom>
          <a:solidFill>
            <a:srgbClr val="FBF1DE"/>
          </a:solidFill>
          <a:ln w="9525">
            <a:solidFill>
              <a:srgbClr val="FBF1DE"/>
            </a:solidFill>
            <a:prstDash val="solid"/>
          </a:ln>
        </p:spPr>
      </p:sp>
      <p:sp>
        <p:nvSpPr>
          <p:cNvPr id="20" name="Text 14"/>
          <p:cNvSpPr txBox="1"/>
          <p:nvPr/>
        </p:nvSpPr>
        <p:spPr>
          <a:xfrm>
            <a:off x="8366760" y="1645920"/>
            <a:ext cx="3108960" cy="548640"/>
          </a:xfrm>
          <a:prstGeom prst="rect">
            <a:avLst/>
          </a:prstGeom>
          <a:noFill/>
          <a:ln/>
        </p:spPr>
        <p:txBody>
          <a:bodyPr wrap="square" lIns="0" tIns="0" rIns="0" bIns="0" rtlCol="0" anchor="t"/>
          <a:lstStyle/>
          <a:p>
            <a:pPr indent="0" marL="0">
              <a:buNone/>
            </a:pPr>
            <a:r>
              <a:rPr lang="en-US" sz="1500" b="1" dirty="0">
                <a:solidFill>
                  <a:srgbClr val="A36A12"/>
                </a:solidFill>
                <a:latin typeface="Cambria" pitchFamily="34" charset="0"/>
                <a:ea typeface="Cambria" pitchFamily="34" charset="-122"/>
                <a:cs typeface="Cambria" pitchFamily="34" charset="-120"/>
              </a:rPr>
              <a:t>Handling rules for a "hot" substrate</a:t>
            </a:r>
            <a:endParaRPr lang="en-US" sz="1500" dirty="0"/>
          </a:p>
        </p:txBody>
      </p:sp>
      <p:sp>
        <p:nvSpPr>
          <p:cNvPr id="21" name="Text 15"/>
          <p:cNvSpPr txBox="1"/>
          <p:nvPr/>
        </p:nvSpPr>
        <p:spPr>
          <a:xfrm>
            <a:off x="8366760" y="2240280"/>
            <a:ext cx="3154680" cy="38862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Master's Mix is very nutritious, so contaminants love it as much as Lion's Mane does.</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Mix, bag and start sterilizing within 4 h of hydration; a wet mix left overnight sours (bacterial load rises).</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Screen sawdust to 2–5 mm with some fines; avoid pure dust, which packs and goes anaerobic.</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Buy hulls fresh, store dry off-site (Zone 0); reject mouldy or damp lots.</a:t>
            </a:r>
            <a:endParaRPr lang="en-US" sz="1200" dirty="0"/>
          </a:p>
          <a:p>
            <a:pPr marL="342900" indent="-342900">
              <a:spcAft>
                <a:spcPts val="500"/>
              </a:spcAft>
              <a:buSzPct val="100000"/>
              <a:buChar char="•"/>
            </a:pPr>
            <a:r>
              <a:rPr lang="en-US" sz="1200" dirty="0">
                <a:solidFill>
                  <a:srgbClr val="1E2A26"/>
                </a:solidFill>
                <a:latin typeface="Calibri" pitchFamily="34" charset="0"/>
                <a:ea typeface="Calibri" pitchFamily="34" charset="-122"/>
                <a:cs typeface="Calibri" pitchFamily="34" charset="-120"/>
              </a:rPr>
              <a:t>Record lot numbers of every input batch for traceability.</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04 · SUBSTRATE</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Sterilization: the #1 determinant of contamination rate</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103120"/>
                <a:gridCol w="2011680"/>
                <a:gridCol w="2560320"/>
              </a:tblGrid>
              <a:tr h="47548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Parameter</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Grain spawn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Substrate blocks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Temperature / pressure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121°C @ 15 PSI</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121°C @ 15 PSI</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Hold time at temperature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120 min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150–180 min (dense 2.5 kg blocks)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Load per cycle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3 × 2 kg bags (with blocks)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30 × 2.5 kg blocks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Cycles per 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 (Phase 1) · 3 (Phase 2)</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Total cycle time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~4.5 h</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~5.5–6 h incl. heat-up &amp; cool-down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Cooling before inoculation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 h, &lt;25°C</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 h, &lt;25–28°C core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Validation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BI + core thermocouple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BI in densest block, weekly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bl>
          </a:graphicData>
        </a:graphic>
      </p:graphicFrame>
      <p:sp>
        <p:nvSpPr>
          <p:cNvPr id="7" name="Shape 4"/>
          <p:cNvSpPr/>
          <p:nvPr/>
        </p:nvSpPr>
        <p:spPr>
          <a:xfrm>
            <a:off x="7498080" y="1508760"/>
            <a:ext cx="4160520" cy="2148840"/>
          </a:xfrm>
          <a:prstGeom prst="roundRect">
            <a:avLst>
              <a:gd name="adj" fmla="val 3404"/>
            </a:avLst>
          </a:prstGeom>
          <a:solidFill>
            <a:srgbClr val="14302A"/>
          </a:solidFill>
          <a:ln w="9525">
            <a:solidFill>
              <a:srgbClr val="14302A"/>
            </a:solidFill>
            <a:prstDash val="solid"/>
          </a:ln>
        </p:spPr>
      </p:sp>
      <p:sp>
        <p:nvSpPr>
          <p:cNvPr id="8" name="Text 5"/>
          <p:cNvSpPr txBox="1"/>
          <p:nvPr/>
        </p:nvSpPr>
        <p:spPr>
          <a:xfrm>
            <a:off x="7726680" y="1645920"/>
            <a:ext cx="374904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Autoclave sizing</a:t>
            </a:r>
            <a:endParaRPr lang="en-US" sz="1600" dirty="0"/>
          </a:p>
        </p:txBody>
      </p:sp>
      <p:sp>
        <p:nvSpPr>
          <p:cNvPr id="9" name="Text 6"/>
          <p:cNvSpPr txBox="1"/>
          <p:nvPr/>
        </p:nvSpPr>
        <p:spPr>
          <a:xfrm>
            <a:off x="7726680" y="2057400"/>
            <a:ext cx="3749040" cy="150876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30 blocks × ~5 L each = ~150 L of load, plus racking and steam circulation space. Specify a 400–500 L horizontal SS-304 autoclave, ideally double-door pass-through into the clean lab. A 150–200 L vertical unit cannot hold 30 blocks.</a:t>
            </a:r>
            <a:endParaRPr lang="en-US" sz="1150" dirty="0"/>
          </a:p>
        </p:txBody>
      </p:sp>
      <p:sp>
        <p:nvSpPr>
          <p:cNvPr id="10" name="Shape 7"/>
          <p:cNvSpPr/>
          <p:nvPr/>
        </p:nvSpPr>
        <p:spPr>
          <a:xfrm>
            <a:off x="7498080" y="3840480"/>
            <a:ext cx="4160520" cy="2377440"/>
          </a:xfrm>
          <a:prstGeom prst="roundRect">
            <a:avLst>
              <a:gd name="adj" fmla="val 3077"/>
            </a:avLst>
          </a:prstGeom>
          <a:solidFill>
            <a:srgbClr val="FBF1DE"/>
          </a:solidFill>
          <a:ln w="9525">
            <a:solidFill>
              <a:srgbClr val="FBF1DE"/>
            </a:solidFill>
            <a:prstDash val="solid"/>
          </a:ln>
        </p:spPr>
      </p:sp>
      <p:sp>
        <p:nvSpPr>
          <p:cNvPr id="11" name="Text 8"/>
          <p:cNvSpPr txBox="1"/>
          <p:nvPr/>
        </p:nvSpPr>
        <p:spPr>
          <a:xfrm>
            <a:off x="7726680" y="3959352"/>
            <a:ext cx="3749040" cy="365760"/>
          </a:xfrm>
          <a:prstGeom prst="rect">
            <a:avLst/>
          </a:prstGeom>
          <a:noFill/>
          <a:ln/>
        </p:spPr>
        <p:txBody>
          <a:bodyPr wrap="square" lIns="0" tIns="0" rIns="0" bIns="0" rtlCol="0" anchor="t"/>
          <a:lstStyle/>
          <a:p>
            <a:pPr indent="0" marL="0">
              <a:buNone/>
            </a:pPr>
            <a:r>
              <a:rPr lang="en-US" sz="1600" b="1" dirty="0">
                <a:solidFill>
                  <a:srgbClr val="A36A12"/>
                </a:solidFill>
                <a:latin typeface="Cambria" pitchFamily="34" charset="0"/>
                <a:ea typeface="Cambria" pitchFamily="34" charset="-122"/>
                <a:cs typeface="Cambria" pitchFamily="34" charset="-120"/>
              </a:rPr>
              <a:t>Golden rules</a:t>
            </a:r>
            <a:endParaRPr lang="en-US" sz="1600" dirty="0"/>
          </a:p>
        </p:txBody>
      </p:sp>
      <p:sp>
        <p:nvSpPr>
          <p:cNvPr id="12" name="Text 9"/>
          <p:cNvSpPr txBox="1"/>
          <p:nvPr/>
        </p:nvSpPr>
        <p:spPr>
          <a:xfrm>
            <a:off x="7726680" y="4370832"/>
            <a:ext cx="3794760" cy="17830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An interrupted cycle is a failed cycle: restart from zero, never inoculate.</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Unload straight to the clean side; blocks never re-enter the dirty room.</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Log time, temperature and pressure for every cycle, with lot codes.</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Geobacillus stearothermophilus biological indicators weekly and after any repair.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05 · FACILITY DESIGN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Unidirectional biosecure zoning: dirty → clean → spore-wet</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548640" y="1554480"/>
            <a:ext cx="1719072" cy="2011680"/>
          </a:xfrm>
          <a:prstGeom prst="roundRect">
            <a:avLst>
              <a:gd name="adj" fmla="val 4255"/>
            </a:avLst>
          </a:prstGeom>
          <a:solidFill>
            <a:srgbClr val="D9D9D9"/>
          </a:solidFill>
          <a:ln w="9525">
            <a:solidFill>
              <a:srgbClr val="D9D9D9"/>
            </a:solidFill>
            <a:prstDash val="solid"/>
          </a:ln>
        </p:spPr>
      </p:sp>
      <p:sp>
        <p:nvSpPr>
          <p:cNvPr id="7" name="Text 5"/>
          <p:cNvSpPr txBox="1"/>
          <p:nvPr/>
        </p:nvSpPr>
        <p:spPr>
          <a:xfrm>
            <a:off x="658368" y="1645920"/>
            <a:ext cx="1499616" cy="274320"/>
          </a:xfrm>
          <a:prstGeom prst="rect">
            <a:avLst/>
          </a:prstGeom>
          <a:noFill/>
          <a:ln/>
        </p:spPr>
        <p:txBody>
          <a:bodyPr wrap="square" lIns="0" tIns="0" rIns="0" bIns="0" rtlCol="0" anchor="t"/>
          <a:lstStyle/>
          <a:p>
            <a:pPr indent="0" marL="0">
              <a:buNone/>
            </a:pPr>
            <a:r>
              <a:rPr lang="en-US" sz="1000" b="1" spc="200" kern="0" dirty="0">
                <a:solidFill>
                  <a:srgbClr val="1E2A26"/>
                </a:solidFill>
                <a:latin typeface="Calibri" pitchFamily="34" charset="0"/>
                <a:ea typeface="Calibri" pitchFamily="34" charset="-122"/>
                <a:cs typeface="Calibri" pitchFamily="34" charset="-120"/>
              </a:rPr>
              <a:t>ZONE 0</a:t>
            </a:r>
            <a:endParaRPr lang="en-US" sz="1000" dirty="0"/>
          </a:p>
        </p:txBody>
      </p:sp>
      <p:sp>
        <p:nvSpPr>
          <p:cNvPr id="8" name="Text 6"/>
          <p:cNvSpPr txBox="1"/>
          <p:nvPr/>
        </p:nvSpPr>
        <p:spPr>
          <a:xfrm>
            <a:off x="658368" y="1920240"/>
            <a:ext cx="1499616" cy="640080"/>
          </a:xfrm>
          <a:prstGeom prst="rect">
            <a:avLst/>
          </a:prstGeom>
          <a:noFill/>
          <a:ln/>
        </p:spPr>
        <p:txBody>
          <a:bodyPr wrap="square" lIns="0" tIns="0" rIns="0" bIns="0" rtlCol="0" anchor="t"/>
          <a:lstStyle/>
          <a:p>
            <a:pPr indent="0" marL="0">
              <a:buNone/>
            </a:pPr>
            <a:r>
              <a:rPr lang="en-US" sz="1400" b="1" dirty="0">
                <a:solidFill>
                  <a:srgbClr val="1E2A26"/>
                </a:solidFill>
                <a:latin typeface="Cambria" pitchFamily="34" charset="0"/>
                <a:ea typeface="Cambria" pitchFamily="34" charset="-122"/>
                <a:cs typeface="Cambria" pitchFamily="34" charset="-120"/>
              </a:rPr>
              <a:t>Bulk store</a:t>
            </a:r>
            <a:endParaRPr lang="en-US" sz="1400" dirty="0"/>
          </a:p>
        </p:txBody>
      </p:sp>
      <p:sp>
        <p:nvSpPr>
          <p:cNvPr id="9" name="Text 7"/>
          <p:cNvSpPr txBox="1"/>
          <p:nvPr/>
        </p:nvSpPr>
        <p:spPr>
          <a:xfrm>
            <a:off x="658368" y="2560320"/>
            <a:ext cx="1499616" cy="45720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Off-site, 1 km</a:t>
            </a:r>
            <a:endParaRPr lang="en-US" sz="1050" dirty="0"/>
          </a:p>
        </p:txBody>
      </p:sp>
      <p:sp>
        <p:nvSpPr>
          <p:cNvPr id="10" name="Shape 8"/>
          <p:cNvSpPr/>
          <p:nvPr/>
        </p:nvSpPr>
        <p:spPr>
          <a:xfrm>
            <a:off x="658368" y="3090672"/>
            <a:ext cx="1499616" cy="310896"/>
          </a:xfrm>
          <a:prstGeom prst="roundRect">
            <a:avLst>
              <a:gd name="adj" fmla="val 44118"/>
            </a:avLst>
          </a:prstGeom>
          <a:solidFill>
            <a:srgbClr val="FFFFFF"/>
          </a:solidFill>
          <a:ln w="12700">
            <a:solidFill>
              <a:srgbClr val="FFFFFF"/>
            </a:solidFill>
            <a:prstDash val="solid"/>
          </a:ln>
        </p:spPr>
      </p:sp>
      <p:sp>
        <p:nvSpPr>
          <p:cNvPr id="11" name="Text 9"/>
          <p:cNvSpPr txBox="1"/>
          <p:nvPr/>
        </p:nvSpPr>
        <p:spPr>
          <a:xfrm>
            <a:off x="658368"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Isolated</a:t>
            </a:r>
            <a:endParaRPr lang="en-US" sz="1000" dirty="0"/>
          </a:p>
        </p:txBody>
      </p:sp>
      <p:sp>
        <p:nvSpPr>
          <p:cNvPr id="12" name="Shape 10"/>
          <p:cNvSpPr/>
          <p:nvPr/>
        </p:nvSpPr>
        <p:spPr>
          <a:xfrm>
            <a:off x="2276856" y="2560320"/>
            <a:ext cx="164592" cy="0"/>
          </a:xfrm>
          <a:prstGeom prst="line">
            <a:avLst/>
          </a:prstGeom>
          <a:noFill/>
          <a:ln w="19050">
            <a:solidFill>
              <a:srgbClr val="1E2A26"/>
            </a:solidFill>
            <a:prstDash val="solid"/>
            <a:tailEnd type="triangle"/>
          </a:ln>
        </p:spPr>
      </p:sp>
      <p:sp>
        <p:nvSpPr>
          <p:cNvPr id="13" name="Shape 11"/>
          <p:cNvSpPr/>
          <p:nvPr/>
        </p:nvSpPr>
        <p:spPr>
          <a:xfrm>
            <a:off x="2450592" y="1554480"/>
            <a:ext cx="1719072" cy="2011680"/>
          </a:xfrm>
          <a:prstGeom prst="roundRect">
            <a:avLst>
              <a:gd name="adj" fmla="val 4255"/>
            </a:avLst>
          </a:prstGeom>
          <a:solidFill>
            <a:srgbClr val="E8C07A"/>
          </a:solidFill>
          <a:ln w="9525">
            <a:solidFill>
              <a:srgbClr val="E8C07A"/>
            </a:solidFill>
            <a:prstDash val="solid"/>
          </a:ln>
        </p:spPr>
      </p:sp>
      <p:sp>
        <p:nvSpPr>
          <p:cNvPr id="14" name="Text 12"/>
          <p:cNvSpPr txBox="1"/>
          <p:nvPr/>
        </p:nvSpPr>
        <p:spPr>
          <a:xfrm>
            <a:off x="2560320" y="1645920"/>
            <a:ext cx="1499616" cy="274320"/>
          </a:xfrm>
          <a:prstGeom prst="rect">
            <a:avLst/>
          </a:prstGeom>
          <a:noFill/>
          <a:ln/>
        </p:spPr>
        <p:txBody>
          <a:bodyPr wrap="square" lIns="0" tIns="0" rIns="0" bIns="0" rtlCol="0" anchor="t"/>
          <a:lstStyle/>
          <a:p>
            <a:pPr indent="0" marL="0">
              <a:buNone/>
            </a:pPr>
            <a:r>
              <a:rPr lang="en-US" sz="1000" b="1" spc="200" kern="0" dirty="0">
                <a:solidFill>
                  <a:srgbClr val="1E2A26"/>
                </a:solidFill>
                <a:latin typeface="Calibri" pitchFamily="34" charset="0"/>
                <a:ea typeface="Calibri" pitchFamily="34" charset="-122"/>
                <a:cs typeface="Calibri" pitchFamily="34" charset="-120"/>
              </a:rPr>
              <a:t>ZONE 1</a:t>
            </a:r>
            <a:endParaRPr lang="en-US" sz="1000" dirty="0"/>
          </a:p>
        </p:txBody>
      </p:sp>
      <p:sp>
        <p:nvSpPr>
          <p:cNvPr id="15" name="Text 13"/>
          <p:cNvSpPr txBox="1"/>
          <p:nvPr/>
        </p:nvSpPr>
        <p:spPr>
          <a:xfrm>
            <a:off x="2560320" y="1920240"/>
            <a:ext cx="1499616" cy="640080"/>
          </a:xfrm>
          <a:prstGeom prst="rect">
            <a:avLst/>
          </a:prstGeom>
          <a:noFill/>
          <a:ln/>
        </p:spPr>
        <p:txBody>
          <a:bodyPr wrap="square" lIns="0" tIns="0" rIns="0" bIns="0" rtlCol="0" anchor="t"/>
          <a:lstStyle/>
          <a:p>
            <a:pPr indent="0" marL="0">
              <a:buNone/>
            </a:pPr>
            <a:r>
              <a:rPr lang="en-US" sz="1400" b="1" dirty="0">
                <a:solidFill>
                  <a:srgbClr val="1E2A26"/>
                </a:solidFill>
                <a:latin typeface="Cambria" pitchFamily="34" charset="0"/>
                <a:ea typeface="Cambria" pitchFamily="34" charset="-122"/>
                <a:cs typeface="Cambria" pitchFamily="34" charset="-120"/>
              </a:rPr>
              <a:t>Prep &amp; sterilization</a:t>
            </a:r>
            <a:endParaRPr lang="en-US" sz="1400" dirty="0"/>
          </a:p>
        </p:txBody>
      </p:sp>
      <p:sp>
        <p:nvSpPr>
          <p:cNvPr id="16" name="Text 14"/>
          <p:cNvSpPr txBox="1"/>
          <p:nvPr/>
        </p:nvSpPr>
        <p:spPr>
          <a:xfrm>
            <a:off x="2560320" y="2560320"/>
            <a:ext cx="1499616" cy="45720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Mix · bag · autoclave</a:t>
            </a:r>
            <a:endParaRPr lang="en-US" sz="1050" dirty="0"/>
          </a:p>
        </p:txBody>
      </p:sp>
      <p:sp>
        <p:nvSpPr>
          <p:cNvPr id="17" name="Shape 15"/>
          <p:cNvSpPr/>
          <p:nvPr/>
        </p:nvSpPr>
        <p:spPr>
          <a:xfrm>
            <a:off x="2560320" y="3090672"/>
            <a:ext cx="1499616" cy="310896"/>
          </a:xfrm>
          <a:prstGeom prst="roundRect">
            <a:avLst>
              <a:gd name="adj" fmla="val 44118"/>
            </a:avLst>
          </a:prstGeom>
          <a:solidFill>
            <a:srgbClr val="FFFFFF"/>
          </a:solidFill>
          <a:ln w="12700">
            <a:solidFill>
              <a:srgbClr val="FFFFFF"/>
            </a:solidFill>
            <a:prstDash val="solid"/>
          </a:ln>
        </p:spPr>
      </p:sp>
      <p:sp>
        <p:nvSpPr>
          <p:cNvPr id="18" name="Text 16"/>
          <p:cNvSpPr txBox="1"/>
          <p:nvPr/>
        </p:nvSpPr>
        <p:spPr>
          <a:xfrm>
            <a:off x="2560320"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Negative</a:t>
            </a:r>
            <a:endParaRPr lang="en-US" sz="1000" dirty="0"/>
          </a:p>
        </p:txBody>
      </p:sp>
      <p:sp>
        <p:nvSpPr>
          <p:cNvPr id="19" name="Shape 17"/>
          <p:cNvSpPr/>
          <p:nvPr/>
        </p:nvSpPr>
        <p:spPr>
          <a:xfrm>
            <a:off x="4178808" y="2560320"/>
            <a:ext cx="164592" cy="0"/>
          </a:xfrm>
          <a:prstGeom prst="line">
            <a:avLst/>
          </a:prstGeom>
          <a:noFill/>
          <a:ln w="19050">
            <a:solidFill>
              <a:srgbClr val="1E2A26"/>
            </a:solidFill>
            <a:prstDash val="solid"/>
            <a:tailEnd type="triangle"/>
          </a:ln>
        </p:spPr>
      </p:sp>
      <p:sp>
        <p:nvSpPr>
          <p:cNvPr id="20" name="Shape 18"/>
          <p:cNvSpPr/>
          <p:nvPr/>
        </p:nvSpPr>
        <p:spPr>
          <a:xfrm>
            <a:off x="4352544" y="1554480"/>
            <a:ext cx="1719072" cy="2011680"/>
          </a:xfrm>
          <a:prstGeom prst="roundRect">
            <a:avLst>
              <a:gd name="adj" fmla="val 4255"/>
            </a:avLst>
          </a:prstGeom>
          <a:solidFill>
            <a:srgbClr val="2E5E4E"/>
          </a:solidFill>
          <a:ln w="9525">
            <a:solidFill>
              <a:srgbClr val="2E5E4E"/>
            </a:solidFill>
            <a:prstDash val="solid"/>
          </a:ln>
        </p:spPr>
      </p:sp>
      <p:sp>
        <p:nvSpPr>
          <p:cNvPr id="21" name="Text 19"/>
          <p:cNvSpPr txBox="1"/>
          <p:nvPr/>
        </p:nvSpPr>
        <p:spPr>
          <a:xfrm>
            <a:off x="4462272" y="1645920"/>
            <a:ext cx="1499616" cy="274320"/>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ZONE 2</a:t>
            </a:r>
            <a:endParaRPr lang="en-US" sz="1000" dirty="0"/>
          </a:p>
        </p:txBody>
      </p:sp>
      <p:sp>
        <p:nvSpPr>
          <p:cNvPr id="22" name="Text 20"/>
          <p:cNvSpPr txBox="1"/>
          <p:nvPr/>
        </p:nvSpPr>
        <p:spPr>
          <a:xfrm>
            <a:off x="4462272" y="1920240"/>
            <a:ext cx="1499616"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Anteroom + clean lab</a:t>
            </a:r>
            <a:endParaRPr lang="en-US" sz="1400" dirty="0"/>
          </a:p>
        </p:txBody>
      </p:sp>
      <p:sp>
        <p:nvSpPr>
          <p:cNvPr id="23" name="Text 21"/>
          <p:cNvSpPr txBox="1"/>
          <p:nvPr/>
        </p:nvSpPr>
        <p:spPr>
          <a:xfrm>
            <a:off x="4462272" y="2560320"/>
            <a:ext cx="1499616" cy="45720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Gown · cool · inoculate</a:t>
            </a:r>
            <a:endParaRPr lang="en-US" sz="1050" dirty="0"/>
          </a:p>
        </p:txBody>
      </p:sp>
      <p:sp>
        <p:nvSpPr>
          <p:cNvPr id="24" name="Shape 22"/>
          <p:cNvSpPr/>
          <p:nvPr/>
        </p:nvSpPr>
        <p:spPr>
          <a:xfrm>
            <a:off x="4462272" y="3090672"/>
            <a:ext cx="1499616" cy="310896"/>
          </a:xfrm>
          <a:prstGeom prst="roundRect">
            <a:avLst>
              <a:gd name="adj" fmla="val 44118"/>
            </a:avLst>
          </a:prstGeom>
          <a:solidFill>
            <a:srgbClr val="FFFFFF"/>
          </a:solidFill>
          <a:ln w="12700">
            <a:solidFill>
              <a:srgbClr val="FFFFFF"/>
            </a:solidFill>
            <a:prstDash val="solid"/>
          </a:ln>
        </p:spPr>
      </p:sp>
      <p:sp>
        <p:nvSpPr>
          <p:cNvPr id="25" name="Text 23"/>
          <p:cNvSpPr txBox="1"/>
          <p:nvPr/>
        </p:nvSpPr>
        <p:spPr>
          <a:xfrm>
            <a:off x="4462272"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Positive ++</a:t>
            </a:r>
            <a:endParaRPr lang="en-US" sz="1000" dirty="0"/>
          </a:p>
        </p:txBody>
      </p:sp>
      <p:sp>
        <p:nvSpPr>
          <p:cNvPr id="26" name="Shape 24"/>
          <p:cNvSpPr/>
          <p:nvPr/>
        </p:nvSpPr>
        <p:spPr>
          <a:xfrm>
            <a:off x="6080760" y="2560320"/>
            <a:ext cx="164592" cy="0"/>
          </a:xfrm>
          <a:prstGeom prst="line">
            <a:avLst/>
          </a:prstGeom>
          <a:noFill/>
          <a:ln w="19050">
            <a:solidFill>
              <a:srgbClr val="1E2A26"/>
            </a:solidFill>
            <a:prstDash val="solid"/>
            <a:tailEnd type="triangle"/>
          </a:ln>
        </p:spPr>
      </p:sp>
      <p:sp>
        <p:nvSpPr>
          <p:cNvPr id="27" name="Shape 25"/>
          <p:cNvSpPr/>
          <p:nvPr/>
        </p:nvSpPr>
        <p:spPr>
          <a:xfrm>
            <a:off x="6254496" y="1554480"/>
            <a:ext cx="1719072" cy="2011680"/>
          </a:xfrm>
          <a:prstGeom prst="roundRect">
            <a:avLst>
              <a:gd name="adj" fmla="val 4255"/>
            </a:avLst>
          </a:prstGeom>
          <a:solidFill>
            <a:srgbClr val="4E7D6B"/>
          </a:solidFill>
          <a:ln w="9525">
            <a:solidFill>
              <a:srgbClr val="4E7D6B"/>
            </a:solidFill>
            <a:prstDash val="solid"/>
          </a:ln>
        </p:spPr>
      </p:sp>
      <p:sp>
        <p:nvSpPr>
          <p:cNvPr id="28" name="Text 26"/>
          <p:cNvSpPr txBox="1"/>
          <p:nvPr/>
        </p:nvSpPr>
        <p:spPr>
          <a:xfrm>
            <a:off x="6364224" y="1645920"/>
            <a:ext cx="1499616" cy="274320"/>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ZONE 3</a:t>
            </a:r>
            <a:endParaRPr lang="en-US" sz="1000" dirty="0"/>
          </a:p>
        </p:txBody>
      </p:sp>
      <p:sp>
        <p:nvSpPr>
          <p:cNvPr id="29" name="Text 27"/>
          <p:cNvSpPr txBox="1"/>
          <p:nvPr/>
        </p:nvSpPr>
        <p:spPr>
          <a:xfrm>
            <a:off x="6364224" y="1920240"/>
            <a:ext cx="1499616"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Incubation</a:t>
            </a:r>
            <a:endParaRPr lang="en-US" sz="1400" dirty="0"/>
          </a:p>
        </p:txBody>
      </p:sp>
      <p:sp>
        <p:nvSpPr>
          <p:cNvPr id="30" name="Text 28"/>
          <p:cNvSpPr txBox="1"/>
          <p:nvPr/>
        </p:nvSpPr>
        <p:spPr>
          <a:xfrm>
            <a:off x="6364224" y="2560320"/>
            <a:ext cx="1499616" cy="45720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Dark · 21–24°C</a:t>
            </a:r>
            <a:endParaRPr lang="en-US" sz="1050" dirty="0"/>
          </a:p>
        </p:txBody>
      </p:sp>
      <p:sp>
        <p:nvSpPr>
          <p:cNvPr id="31" name="Shape 29"/>
          <p:cNvSpPr/>
          <p:nvPr/>
        </p:nvSpPr>
        <p:spPr>
          <a:xfrm>
            <a:off x="6364224" y="3090672"/>
            <a:ext cx="1499616" cy="310896"/>
          </a:xfrm>
          <a:prstGeom prst="roundRect">
            <a:avLst>
              <a:gd name="adj" fmla="val 44118"/>
            </a:avLst>
          </a:prstGeom>
          <a:solidFill>
            <a:srgbClr val="FFFFFF"/>
          </a:solidFill>
          <a:ln w="12700">
            <a:solidFill>
              <a:srgbClr val="FFFFFF"/>
            </a:solidFill>
            <a:prstDash val="solid"/>
          </a:ln>
        </p:spPr>
      </p:sp>
      <p:sp>
        <p:nvSpPr>
          <p:cNvPr id="32" name="Text 30"/>
          <p:cNvSpPr txBox="1"/>
          <p:nvPr/>
        </p:nvSpPr>
        <p:spPr>
          <a:xfrm>
            <a:off x="6364224"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Neutral</a:t>
            </a:r>
            <a:endParaRPr lang="en-US" sz="1000" dirty="0"/>
          </a:p>
        </p:txBody>
      </p:sp>
      <p:sp>
        <p:nvSpPr>
          <p:cNvPr id="33" name="Shape 31"/>
          <p:cNvSpPr/>
          <p:nvPr/>
        </p:nvSpPr>
        <p:spPr>
          <a:xfrm>
            <a:off x="7982712" y="2560320"/>
            <a:ext cx="164592" cy="0"/>
          </a:xfrm>
          <a:prstGeom prst="line">
            <a:avLst/>
          </a:prstGeom>
          <a:noFill/>
          <a:ln w="19050">
            <a:solidFill>
              <a:srgbClr val="1E2A26"/>
            </a:solidFill>
            <a:prstDash val="solid"/>
            <a:tailEnd type="triangle"/>
          </a:ln>
        </p:spPr>
      </p:sp>
      <p:sp>
        <p:nvSpPr>
          <p:cNvPr id="34" name="Shape 32"/>
          <p:cNvSpPr/>
          <p:nvPr/>
        </p:nvSpPr>
        <p:spPr>
          <a:xfrm>
            <a:off x="8156448" y="1554480"/>
            <a:ext cx="1719072" cy="2011680"/>
          </a:xfrm>
          <a:prstGeom prst="roundRect">
            <a:avLst>
              <a:gd name="adj" fmla="val 4255"/>
            </a:avLst>
          </a:prstGeom>
          <a:solidFill>
            <a:srgbClr val="D9962B"/>
          </a:solidFill>
          <a:ln w="9525">
            <a:solidFill>
              <a:srgbClr val="D9962B"/>
            </a:solidFill>
            <a:prstDash val="solid"/>
          </a:ln>
        </p:spPr>
      </p:sp>
      <p:sp>
        <p:nvSpPr>
          <p:cNvPr id="35" name="Text 33"/>
          <p:cNvSpPr txBox="1"/>
          <p:nvPr/>
        </p:nvSpPr>
        <p:spPr>
          <a:xfrm>
            <a:off x="8266176" y="1645920"/>
            <a:ext cx="1499616" cy="274320"/>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ZONE 4</a:t>
            </a:r>
            <a:endParaRPr lang="en-US" sz="1000" dirty="0"/>
          </a:p>
        </p:txBody>
      </p:sp>
      <p:sp>
        <p:nvSpPr>
          <p:cNvPr id="36" name="Text 34"/>
          <p:cNvSpPr txBox="1"/>
          <p:nvPr/>
        </p:nvSpPr>
        <p:spPr>
          <a:xfrm>
            <a:off x="8266176" y="1920240"/>
            <a:ext cx="1499616"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Fruiting A / B</a:t>
            </a:r>
            <a:endParaRPr lang="en-US" sz="1400" dirty="0"/>
          </a:p>
        </p:txBody>
      </p:sp>
      <p:sp>
        <p:nvSpPr>
          <p:cNvPr id="37" name="Text 35"/>
          <p:cNvSpPr txBox="1"/>
          <p:nvPr/>
        </p:nvSpPr>
        <p:spPr>
          <a:xfrm>
            <a:off x="8266176" y="2560320"/>
            <a:ext cx="1499616" cy="45720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Spore-wet · 85–95% RH</a:t>
            </a:r>
            <a:endParaRPr lang="en-US" sz="1050" dirty="0"/>
          </a:p>
        </p:txBody>
      </p:sp>
      <p:sp>
        <p:nvSpPr>
          <p:cNvPr id="38" name="Shape 36"/>
          <p:cNvSpPr/>
          <p:nvPr/>
        </p:nvSpPr>
        <p:spPr>
          <a:xfrm>
            <a:off x="8266176" y="3090672"/>
            <a:ext cx="1499616" cy="310896"/>
          </a:xfrm>
          <a:prstGeom prst="roundRect">
            <a:avLst>
              <a:gd name="adj" fmla="val 44118"/>
            </a:avLst>
          </a:prstGeom>
          <a:solidFill>
            <a:srgbClr val="FFFFFF"/>
          </a:solidFill>
          <a:ln w="12700">
            <a:solidFill>
              <a:srgbClr val="FFFFFF"/>
            </a:solidFill>
            <a:prstDash val="solid"/>
          </a:ln>
        </p:spPr>
      </p:sp>
      <p:sp>
        <p:nvSpPr>
          <p:cNvPr id="39" name="Text 37"/>
          <p:cNvSpPr txBox="1"/>
          <p:nvPr/>
        </p:nvSpPr>
        <p:spPr>
          <a:xfrm>
            <a:off x="8266176"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Negative</a:t>
            </a:r>
            <a:endParaRPr lang="en-US" sz="1000" dirty="0"/>
          </a:p>
        </p:txBody>
      </p:sp>
      <p:sp>
        <p:nvSpPr>
          <p:cNvPr id="40" name="Shape 38"/>
          <p:cNvSpPr/>
          <p:nvPr/>
        </p:nvSpPr>
        <p:spPr>
          <a:xfrm>
            <a:off x="9884664" y="2560320"/>
            <a:ext cx="164592" cy="0"/>
          </a:xfrm>
          <a:prstGeom prst="line">
            <a:avLst/>
          </a:prstGeom>
          <a:noFill/>
          <a:ln w="19050">
            <a:solidFill>
              <a:srgbClr val="1E2A26"/>
            </a:solidFill>
            <a:prstDash val="solid"/>
            <a:tailEnd type="triangle"/>
          </a:ln>
        </p:spPr>
      </p:sp>
      <p:sp>
        <p:nvSpPr>
          <p:cNvPr id="41" name="Shape 39"/>
          <p:cNvSpPr/>
          <p:nvPr/>
        </p:nvSpPr>
        <p:spPr>
          <a:xfrm>
            <a:off x="10058400" y="1554480"/>
            <a:ext cx="1719072" cy="2011680"/>
          </a:xfrm>
          <a:prstGeom prst="roundRect">
            <a:avLst>
              <a:gd name="adj" fmla="val 4255"/>
            </a:avLst>
          </a:prstGeom>
          <a:solidFill>
            <a:srgbClr val="14302A"/>
          </a:solidFill>
          <a:ln w="9525">
            <a:solidFill>
              <a:srgbClr val="14302A"/>
            </a:solidFill>
            <a:prstDash val="solid"/>
          </a:ln>
        </p:spPr>
      </p:sp>
      <p:sp>
        <p:nvSpPr>
          <p:cNvPr id="42" name="Text 40"/>
          <p:cNvSpPr txBox="1"/>
          <p:nvPr/>
        </p:nvSpPr>
        <p:spPr>
          <a:xfrm>
            <a:off x="10168128" y="1645920"/>
            <a:ext cx="1499616" cy="274320"/>
          </a:xfrm>
          <a:prstGeom prst="rect">
            <a:avLst/>
          </a:prstGeom>
          <a:noFill/>
          <a:ln/>
        </p:spPr>
        <p:txBody>
          <a:bodyPr wrap="square" lIns="0" tIns="0" rIns="0" bIns="0" rtlCol="0" anchor="t"/>
          <a:lstStyle/>
          <a:p>
            <a:pPr indent="0" marL="0">
              <a:buNone/>
            </a:pPr>
            <a:r>
              <a:rPr lang="en-US" sz="1000" b="1" spc="200" kern="0" dirty="0">
                <a:solidFill>
                  <a:srgbClr val="FFFFFF"/>
                </a:solidFill>
                <a:latin typeface="Calibri" pitchFamily="34" charset="0"/>
                <a:ea typeface="Calibri" pitchFamily="34" charset="-122"/>
                <a:cs typeface="Calibri" pitchFamily="34" charset="-120"/>
              </a:rPr>
              <a:t>ZONE 5</a:t>
            </a:r>
            <a:endParaRPr lang="en-US" sz="1000" dirty="0"/>
          </a:p>
        </p:txBody>
      </p:sp>
      <p:sp>
        <p:nvSpPr>
          <p:cNvPr id="43" name="Text 41"/>
          <p:cNvSpPr txBox="1"/>
          <p:nvPr/>
        </p:nvSpPr>
        <p:spPr>
          <a:xfrm>
            <a:off x="10168128" y="1920240"/>
            <a:ext cx="1499616" cy="64008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Processing &amp; pack</a:t>
            </a:r>
            <a:endParaRPr lang="en-US" sz="1400" dirty="0"/>
          </a:p>
        </p:txBody>
      </p:sp>
      <p:sp>
        <p:nvSpPr>
          <p:cNvPr id="44" name="Text 42"/>
          <p:cNvSpPr txBox="1"/>
          <p:nvPr/>
        </p:nvSpPr>
        <p:spPr>
          <a:xfrm>
            <a:off x="10168128" y="2560320"/>
            <a:ext cx="1499616" cy="45720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Dry · mill · pack</a:t>
            </a:r>
            <a:endParaRPr lang="en-US" sz="1050" dirty="0"/>
          </a:p>
        </p:txBody>
      </p:sp>
      <p:sp>
        <p:nvSpPr>
          <p:cNvPr id="45" name="Shape 43"/>
          <p:cNvSpPr/>
          <p:nvPr/>
        </p:nvSpPr>
        <p:spPr>
          <a:xfrm>
            <a:off x="10168128" y="3090672"/>
            <a:ext cx="1499616" cy="310896"/>
          </a:xfrm>
          <a:prstGeom prst="roundRect">
            <a:avLst>
              <a:gd name="adj" fmla="val 44118"/>
            </a:avLst>
          </a:prstGeom>
          <a:solidFill>
            <a:srgbClr val="FFFFFF"/>
          </a:solidFill>
          <a:ln w="12700">
            <a:solidFill>
              <a:srgbClr val="FFFFFF"/>
            </a:solidFill>
            <a:prstDash val="solid"/>
          </a:ln>
        </p:spPr>
      </p:sp>
      <p:sp>
        <p:nvSpPr>
          <p:cNvPr id="46" name="Text 44"/>
          <p:cNvSpPr txBox="1"/>
          <p:nvPr/>
        </p:nvSpPr>
        <p:spPr>
          <a:xfrm>
            <a:off x="10168128" y="3090672"/>
            <a:ext cx="1499616" cy="310896"/>
          </a:xfrm>
          <a:prstGeom prst="rect">
            <a:avLst/>
          </a:prstGeom>
          <a:noFill/>
          <a:ln/>
        </p:spPr>
        <p:txBody>
          <a:bodyPr wrap="square" lIns="0" tIns="0" rIns="0" bIns="0" rtlCol="0" anchor="ctr"/>
          <a:lstStyle/>
          <a:p>
            <a:pPr algn="ctr" indent="0" marL="0">
              <a:buNone/>
            </a:pPr>
            <a:r>
              <a:rPr lang="en-US" sz="1000" b="1" dirty="0">
                <a:solidFill>
                  <a:srgbClr val="1E2A26"/>
                </a:solidFill>
                <a:latin typeface="Calibri" pitchFamily="34" charset="0"/>
                <a:ea typeface="Calibri" pitchFamily="34" charset="-122"/>
                <a:cs typeface="Calibri" pitchFamily="34" charset="-120"/>
              </a:rPr>
              <a:t>Positive, dry</a:t>
            </a:r>
            <a:endParaRPr lang="en-US" sz="1000" dirty="0"/>
          </a:p>
        </p:txBody>
      </p:sp>
      <p:sp>
        <p:nvSpPr>
          <p:cNvPr id="47" name="Text 45"/>
          <p:cNvSpPr txBox="1"/>
          <p:nvPr/>
        </p:nvSpPr>
        <p:spPr>
          <a:xfrm>
            <a:off x="548640" y="3703320"/>
            <a:ext cx="11064240" cy="411480"/>
          </a:xfrm>
          <a:prstGeom prst="rect">
            <a:avLst/>
          </a:prstGeom>
          <a:noFill/>
          <a:ln/>
        </p:spPr>
        <p:txBody>
          <a:bodyPr wrap="square" lIns="0" tIns="0" rIns="0" bIns="0" rtlCol="0" anchor="t"/>
          <a:lstStyle/>
          <a:p>
            <a:pPr indent="0" marL="0">
              <a:buNone/>
            </a:pPr>
            <a:r>
              <a:rPr lang="en-US" sz="1050" i="1" dirty="0">
                <a:solidFill>
                  <a:srgbClr val="5F6F69"/>
                </a:solidFill>
                <a:latin typeface="Calibri" pitchFamily="34" charset="0"/>
                <a:ea typeface="Calibri" pitchFamily="34" charset="-122"/>
                <a:cs typeface="Calibri" pitchFamily="34" charset="-120"/>
              </a:rPr>
              <a:t>Transfer points: sealed bags by van (0→1) · double-door autoclave or UV SS-304 pass box (1→2) · pass-through hatch (2→3) · stairs/lift, closed crates (3→4) · harvest crates via dedicated door (4→5)</a:t>
            </a:r>
            <a:endParaRPr lang="en-US" sz="1050" dirty="0"/>
          </a:p>
        </p:txBody>
      </p:sp>
      <p:sp>
        <p:nvSpPr>
          <p:cNvPr id="48" name="Shape 46"/>
          <p:cNvSpPr/>
          <p:nvPr/>
        </p:nvSpPr>
        <p:spPr>
          <a:xfrm>
            <a:off x="548640" y="4251960"/>
            <a:ext cx="3520440" cy="1965960"/>
          </a:xfrm>
          <a:prstGeom prst="roundRect">
            <a:avLst>
              <a:gd name="adj" fmla="val 3721"/>
            </a:avLst>
          </a:prstGeom>
          <a:solidFill>
            <a:srgbClr val="EEF4F0"/>
          </a:solidFill>
          <a:ln w="9525">
            <a:solidFill>
              <a:srgbClr val="EEF4F0"/>
            </a:solidFill>
            <a:prstDash val="solid"/>
          </a:ln>
        </p:spPr>
      </p:sp>
      <p:sp>
        <p:nvSpPr>
          <p:cNvPr id="49" name="Shape 47"/>
          <p:cNvSpPr/>
          <p:nvPr/>
        </p:nvSpPr>
        <p:spPr>
          <a:xfrm>
            <a:off x="749808" y="4434840"/>
            <a:ext cx="548640" cy="548640"/>
          </a:xfrm>
          <a:prstGeom prst="ellipse">
            <a:avLst/>
          </a:prstGeom>
          <a:solidFill>
            <a:srgbClr val="2E5E4E"/>
          </a:solidFill>
          <a:ln w="12700">
            <a:solidFill>
              <a:srgbClr val="2E5E4E"/>
            </a:solidFill>
            <a:prstDash val="solid"/>
          </a:ln>
        </p:spPr>
      </p:sp>
      <p:pic>
        <p:nvPicPr>
          <p:cNvPr id="50" name="Image 0" descr="preencoded.png">    </p:cNvPr>
          <p:cNvPicPr>
            <a:picLocks noChangeAspect="1"/>
          </p:cNvPicPr>
          <p:nvPr/>
        </p:nvPicPr>
        <p:blipFill>
          <a:blip r:embed="rId1"/>
          <a:stretch>
            <a:fillRect/>
          </a:stretch>
        </p:blipFill>
        <p:spPr>
          <a:xfrm>
            <a:off x="892454" y="4577486"/>
            <a:ext cx="263347" cy="263347"/>
          </a:xfrm>
          <a:prstGeom prst="rect">
            <a:avLst/>
          </a:prstGeom>
        </p:spPr>
      </p:pic>
      <p:sp>
        <p:nvSpPr>
          <p:cNvPr id="51" name="Text 48"/>
          <p:cNvSpPr txBox="1"/>
          <p:nvPr/>
        </p:nvSpPr>
        <p:spPr>
          <a:xfrm>
            <a:off x="1417320" y="4453128"/>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Material flow</a:t>
            </a:r>
            <a:endParaRPr lang="en-US" sz="1500" dirty="0"/>
          </a:p>
        </p:txBody>
      </p:sp>
      <p:sp>
        <p:nvSpPr>
          <p:cNvPr id="52" name="Text 49"/>
          <p:cNvSpPr txBox="1"/>
          <p:nvPr/>
        </p:nvSpPr>
        <p:spPr>
          <a:xfrm>
            <a:off x="749808" y="5074920"/>
            <a:ext cx="3154680" cy="1097280"/>
          </a:xfrm>
          <a:prstGeom prst="rect">
            <a:avLst/>
          </a:prstGeom>
          <a:noFill/>
          <a:ln/>
        </p:spPr>
        <p:txBody>
          <a:bodyPr wrap="square" lIns="0" tIns="0" rIns="0" bIns="0" rtlCol="0" anchor="t"/>
          <a:lstStyle/>
          <a:p>
            <a:pPr indent="0" marL="0">
              <a:buNone/>
            </a:pPr>
            <a:r>
              <a:rPr lang="en-US" sz="1100" dirty="0">
                <a:solidFill>
                  <a:srgbClr val="1E2A26"/>
                </a:solidFill>
                <a:latin typeface="Calibri" pitchFamily="34" charset="0"/>
                <a:ea typeface="Calibri" pitchFamily="34" charset="-122"/>
                <a:cs typeface="Calibri" pitchFamily="34" charset="-120"/>
              </a:rPr>
              <a:t>Forward only. Nothing returns upstream. Spent and contaminated blocks exit Zone 4 by the back door, never through clean zones.</a:t>
            </a:r>
            <a:endParaRPr lang="en-US" sz="1100" dirty="0"/>
          </a:p>
        </p:txBody>
      </p:sp>
      <p:sp>
        <p:nvSpPr>
          <p:cNvPr id="53" name="Shape 50"/>
          <p:cNvSpPr/>
          <p:nvPr/>
        </p:nvSpPr>
        <p:spPr>
          <a:xfrm>
            <a:off x="4297680" y="4251960"/>
            <a:ext cx="3520440" cy="1965960"/>
          </a:xfrm>
          <a:prstGeom prst="roundRect">
            <a:avLst>
              <a:gd name="adj" fmla="val 3721"/>
            </a:avLst>
          </a:prstGeom>
          <a:solidFill>
            <a:srgbClr val="EEF4F0"/>
          </a:solidFill>
          <a:ln w="9525">
            <a:solidFill>
              <a:srgbClr val="EEF4F0"/>
            </a:solidFill>
            <a:prstDash val="solid"/>
          </a:ln>
        </p:spPr>
      </p:sp>
      <p:sp>
        <p:nvSpPr>
          <p:cNvPr id="54" name="Shape 51"/>
          <p:cNvSpPr/>
          <p:nvPr/>
        </p:nvSpPr>
        <p:spPr>
          <a:xfrm>
            <a:off x="4498848" y="4434840"/>
            <a:ext cx="548640" cy="548640"/>
          </a:xfrm>
          <a:prstGeom prst="ellipse">
            <a:avLst/>
          </a:prstGeom>
          <a:solidFill>
            <a:srgbClr val="D9962B"/>
          </a:solidFill>
          <a:ln w="12700">
            <a:solidFill>
              <a:srgbClr val="D9962B"/>
            </a:solidFill>
            <a:prstDash val="solid"/>
          </a:ln>
        </p:spPr>
      </p:sp>
      <p:pic>
        <p:nvPicPr>
          <p:cNvPr id="55" name="Image 1" descr="preencoded.png">    </p:cNvPr>
          <p:cNvPicPr>
            <a:picLocks noChangeAspect="1"/>
          </p:cNvPicPr>
          <p:nvPr/>
        </p:nvPicPr>
        <p:blipFill>
          <a:blip r:embed="rId2"/>
          <a:stretch>
            <a:fillRect/>
          </a:stretch>
        </p:blipFill>
        <p:spPr>
          <a:xfrm>
            <a:off x="4641494" y="4577486"/>
            <a:ext cx="263347" cy="263347"/>
          </a:xfrm>
          <a:prstGeom prst="rect">
            <a:avLst/>
          </a:prstGeom>
        </p:spPr>
      </p:pic>
      <p:sp>
        <p:nvSpPr>
          <p:cNvPr id="56" name="Text 52"/>
          <p:cNvSpPr txBox="1"/>
          <p:nvPr/>
        </p:nvSpPr>
        <p:spPr>
          <a:xfrm>
            <a:off x="5166360" y="4453128"/>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People flow</a:t>
            </a:r>
            <a:endParaRPr lang="en-US" sz="1500" dirty="0"/>
          </a:p>
        </p:txBody>
      </p:sp>
      <p:sp>
        <p:nvSpPr>
          <p:cNvPr id="57" name="Text 53"/>
          <p:cNvSpPr txBox="1"/>
          <p:nvPr/>
        </p:nvSpPr>
        <p:spPr>
          <a:xfrm>
            <a:off x="4498848" y="5074920"/>
            <a:ext cx="3154680" cy="1097280"/>
          </a:xfrm>
          <a:prstGeom prst="rect">
            <a:avLst/>
          </a:prstGeom>
          <a:noFill/>
          <a:ln/>
        </p:spPr>
        <p:txBody>
          <a:bodyPr wrap="square" lIns="0" tIns="0" rIns="0" bIns="0" rtlCol="0" anchor="t"/>
          <a:lstStyle/>
          <a:p>
            <a:pPr indent="0" marL="0">
              <a:buNone/>
            </a:pPr>
            <a:r>
              <a:rPr lang="en-US" sz="1100" dirty="0">
                <a:solidFill>
                  <a:srgbClr val="1E2A26"/>
                </a:solidFill>
                <a:latin typeface="Calibri" pitchFamily="34" charset="0"/>
                <a:ea typeface="Calibri" pitchFamily="34" charset="-122"/>
                <a:cs typeface="Calibri" pitchFamily="34" charset="-120"/>
              </a:rPr>
              <a:t>Clean → dirty within a day. The lab technician inoculates first, freshly gowned, and never enters fruiting or prep before sterile work.</a:t>
            </a:r>
            <a:endParaRPr lang="en-US" sz="1100" dirty="0"/>
          </a:p>
        </p:txBody>
      </p:sp>
      <p:sp>
        <p:nvSpPr>
          <p:cNvPr id="58" name="Shape 54"/>
          <p:cNvSpPr/>
          <p:nvPr/>
        </p:nvSpPr>
        <p:spPr>
          <a:xfrm>
            <a:off x="8046720" y="4251960"/>
            <a:ext cx="3520440" cy="1965960"/>
          </a:xfrm>
          <a:prstGeom prst="roundRect">
            <a:avLst>
              <a:gd name="adj" fmla="val 3721"/>
            </a:avLst>
          </a:prstGeom>
          <a:solidFill>
            <a:srgbClr val="EEF4F0"/>
          </a:solidFill>
          <a:ln w="9525">
            <a:solidFill>
              <a:srgbClr val="EEF4F0"/>
            </a:solidFill>
            <a:prstDash val="solid"/>
          </a:ln>
        </p:spPr>
      </p:sp>
      <p:sp>
        <p:nvSpPr>
          <p:cNvPr id="59" name="Shape 55"/>
          <p:cNvSpPr/>
          <p:nvPr/>
        </p:nvSpPr>
        <p:spPr>
          <a:xfrm>
            <a:off x="8247888" y="4434840"/>
            <a:ext cx="548640" cy="548640"/>
          </a:xfrm>
          <a:prstGeom prst="ellipse">
            <a:avLst/>
          </a:prstGeom>
          <a:solidFill>
            <a:srgbClr val="4E7D6B"/>
          </a:solidFill>
          <a:ln w="12700">
            <a:solidFill>
              <a:srgbClr val="4E7D6B"/>
            </a:solidFill>
            <a:prstDash val="solid"/>
          </a:ln>
        </p:spPr>
      </p:sp>
      <p:pic>
        <p:nvPicPr>
          <p:cNvPr id="60" name="Image 2" descr="preencoded.png">    </p:cNvPr>
          <p:cNvPicPr>
            <a:picLocks noChangeAspect="1"/>
          </p:cNvPicPr>
          <p:nvPr/>
        </p:nvPicPr>
        <p:blipFill>
          <a:blip r:embed="rId3"/>
          <a:stretch>
            <a:fillRect/>
          </a:stretch>
        </p:blipFill>
        <p:spPr>
          <a:xfrm>
            <a:off x="8390534" y="4577486"/>
            <a:ext cx="263347" cy="263347"/>
          </a:xfrm>
          <a:prstGeom prst="rect">
            <a:avLst/>
          </a:prstGeom>
        </p:spPr>
      </p:pic>
      <p:sp>
        <p:nvSpPr>
          <p:cNvPr id="61" name="Text 56"/>
          <p:cNvSpPr txBox="1"/>
          <p:nvPr/>
        </p:nvSpPr>
        <p:spPr>
          <a:xfrm>
            <a:off x="8915400" y="4453128"/>
            <a:ext cx="2468880" cy="502920"/>
          </a:xfrm>
          <a:prstGeom prst="rect">
            <a:avLst/>
          </a:prstGeom>
          <a:noFill/>
          <a:ln/>
        </p:spPr>
        <p:txBody>
          <a:bodyPr wrap="square" lIns="0" tIns="0" rIns="0" bIns="0" rtlCol="0" anchor="ctr"/>
          <a:lstStyle/>
          <a:p>
            <a:pPr indent="0" marL="0">
              <a:buNone/>
            </a:pPr>
            <a:r>
              <a:rPr lang="en-US" sz="1500" b="1" dirty="0">
                <a:solidFill>
                  <a:srgbClr val="14302A"/>
                </a:solidFill>
                <a:latin typeface="Cambria" pitchFamily="34" charset="0"/>
                <a:ea typeface="Cambria" pitchFamily="34" charset="-122"/>
                <a:cs typeface="Cambria" pitchFamily="34" charset="-120"/>
              </a:rPr>
              <a:t>Air flow</a:t>
            </a:r>
            <a:endParaRPr lang="en-US" sz="1500" dirty="0"/>
          </a:p>
        </p:txBody>
      </p:sp>
      <p:sp>
        <p:nvSpPr>
          <p:cNvPr id="62" name="Text 57"/>
          <p:cNvSpPr txBox="1"/>
          <p:nvPr/>
        </p:nvSpPr>
        <p:spPr>
          <a:xfrm>
            <a:off x="8247888" y="5074920"/>
            <a:ext cx="3154680" cy="1097280"/>
          </a:xfrm>
          <a:prstGeom prst="rect">
            <a:avLst/>
          </a:prstGeom>
          <a:noFill/>
          <a:ln/>
        </p:spPr>
        <p:txBody>
          <a:bodyPr wrap="square" lIns="0" tIns="0" rIns="0" bIns="0" rtlCol="0" anchor="t"/>
          <a:lstStyle/>
          <a:p>
            <a:pPr indent="0" marL="0">
              <a:buNone/>
            </a:pPr>
            <a:r>
              <a:rPr lang="en-US" sz="1100" dirty="0">
                <a:solidFill>
                  <a:srgbClr val="1E2A26"/>
                </a:solidFill>
                <a:latin typeface="Calibri" pitchFamily="34" charset="0"/>
                <a:ea typeface="Calibri" pitchFamily="34" charset="-122"/>
                <a:cs typeface="Calibri" pitchFamily="34" charset="-120"/>
              </a:rPr>
              <a:t>Pressure cascades from clean to dirty: clean lab +10–15 Pa over anteroom; prep and fruiting exhaust outdoors so spores leave the building.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05 · FACILITY DESIGN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Room-by-room environmental specification</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1600200"/>
                <a:gridCol w="1188720"/>
                <a:gridCol w="960120"/>
                <a:gridCol w="960120"/>
                <a:gridCol w="1371600"/>
                <a:gridCol w="2377440"/>
                <a:gridCol w="2651760"/>
              </a:tblGrid>
              <a:tr h="36576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Zone</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Temp</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RH</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CO₂</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Light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Pressure &amp; air</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Key equipment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713232">
                <a:tc>
                  <a:txBody>
                    <a:bodyPr/>
                    <a:lstStyle/>
                    <a:p>
                      <a:pPr indent="0" marL="0">
                        <a:buNone/>
                      </a:pPr>
                      <a:r>
                        <a:rPr lang="en-US" sz="1000" b="1" dirty="0">
                          <a:solidFill>
                            <a:srgbClr val="14302A"/>
                          </a:solidFill>
                          <a:latin typeface="Calibri" pitchFamily="34" charset="0"/>
                          <a:ea typeface="Calibri" pitchFamily="34" charset="-122"/>
                          <a:cs typeface="Calibri" pitchFamily="34" charset="-120"/>
                        </a:rPr>
                        <a:t>1 · Prep &amp; sterilization</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Ambient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Ambient (steam)</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Work light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Negative; louvre exhaust outdoors</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200 L ribbon mixer, bag filler, impulse sealer (≥5 mm seal), 400–500 L autoclave</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713232">
                <a:tc>
                  <a:txBody>
                    <a:bodyPr/>
                    <a:lstStyle/>
                    <a:p>
                      <a:pPr indent="0" marL="0">
                        <a:buNone/>
                      </a:pPr>
                      <a:r>
                        <a:rPr lang="en-US" sz="1000" b="1" dirty="0">
                          <a:solidFill>
                            <a:srgbClr val="14302A"/>
                          </a:solidFill>
                          <a:latin typeface="Calibri" pitchFamily="34" charset="0"/>
                          <a:ea typeface="Calibri" pitchFamily="34" charset="-122"/>
                          <a:cs typeface="Calibri" pitchFamily="34" charset="-120"/>
                        </a:rPr>
                        <a:t>2 · Anteroom + clean lab</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20–22°C</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45–50%</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Work light; UV-C when empty</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+10–15 Pa vs anteroom; H14 HEPA intake; ISO 5 at hood, ISO 7/8 room</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2 × LAF hoods (H14, ~0.45 m/s), SS cooling racks, sealer, UV pass box</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713232">
                <a:tc>
                  <a:txBody>
                    <a:bodyPr/>
                    <a:lstStyle/>
                    <a:p>
                      <a:pPr indent="0" marL="0">
                        <a:buNone/>
                      </a:pPr>
                      <a:r>
                        <a:rPr lang="en-US" sz="1000" b="1" dirty="0">
                          <a:solidFill>
                            <a:srgbClr val="14302A"/>
                          </a:solidFill>
                          <a:latin typeface="Calibri" pitchFamily="34" charset="0"/>
                          <a:ea typeface="Calibri" pitchFamily="34" charset="-122"/>
                          <a:cs typeface="Calibri" pitchFamily="34" charset="-120"/>
                        </a:rPr>
                        <a:t>3 · Incubation</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21–24°C air; core &lt;27°C</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60–70%</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&gt;2,000 ppm is fine</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Dark</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Neutral; recirculation fans</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9-ft epoxy racks, core-temp probes, T/CO₂ controller, inverter AC</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713232">
                <a:tc>
                  <a:txBody>
                    <a:bodyPr/>
                    <a:lstStyle/>
                    <a:p>
                      <a:pPr indent="0" marL="0">
                        <a:buNone/>
                      </a:pPr>
                      <a:r>
                        <a:rPr lang="en-US" sz="1000" b="1" dirty="0">
                          <a:solidFill>
                            <a:srgbClr val="14302A"/>
                          </a:solidFill>
                          <a:latin typeface="Calibri" pitchFamily="34" charset="0"/>
                          <a:ea typeface="Calibri" pitchFamily="34" charset="-122"/>
                          <a:cs typeface="Calibri" pitchFamily="34" charset="-120"/>
                        </a:rPr>
                        <a:t>4 · Fruiting A / B</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15–18°C (max 20°C)</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85–95%</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&lt;800 ppm</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12 h, 500–1,000 lux, 6500 K</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Negative; MERV 13 intake high, exhaust 6" off floor; 6–8 ACH</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10-head ultrasonic humidifier + humidistat, CO₂-controlled FAE fans, waterproof LED</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713232">
                <a:tc>
                  <a:txBody>
                    <a:bodyPr/>
                    <a:lstStyle/>
                    <a:p>
                      <a:pPr indent="0" marL="0">
                        <a:buNone/>
                      </a:pPr>
                      <a:r>
                        <a:rPr lang="en-US" sz="1000" b="1" dirty="0">
                          <a:solidFill>
                            <a:srgbClr val="14302A"/>
                          </a:solidFill>
                          <a:latin typeface="Calibri" pitchFamily="34" charset="0"/>
                          <a:ea typeface="Calibri" pitchFamily="34" charset="-122"/>
                          <a:cs typeface="Calibri" pitchFamily="34" charset="-120"/>
                        </a:rPr>
                        <a:t>5 · Processing &amp; pack</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&lt;25°C</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&lt;40%</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Normal</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Slight positive; dehumidified</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00" dirty="0">
                          <a:solidFill>
                            <a:srgbClr val="1E2A26"/>
                          </a:solidFill>
                          <a:latin typeface="Calibri" pitchFamily="34" charset="0"/>
                          <a:ea typeface="Calibri" pitchFamily="34" charset="-122"/>
                          <a:cs typeface="Calibri" pitchFamily="34" charset="-120"/>
                        </a:rPr>
                        <a:t>Slicer, 96-tray dehydrator (45–50°C), 3 HP pulverizer, sifter, vacuum sealer</a:t>
                      </a:r>
                      <a:endParaRPr lang="en-US" sz="10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5852160"/>
            <a:ext cx="11109960" cy="457200"/>
          </a:xfrm>
          <a:prstGeom prst="roundRect">
            <a:avLst>
              <a:gd name="adj" fmla="val 16000"/>
            </a:avLst>
          </a:prstGeom>
          <a:solidFill>
            <a:srgbClr val="FBF1DE"/>
          </a:solidFill>
          <a:ln w="9525">
            <a:solidFill>
              <a:srgbClr val="FBF1DE"/>
            </a:solidFill>
            <a:prstDash val="solid"/>
          </a:ln>
        </p:spPr>
      </p:sp>
      <p:sp>
        <p:nvSpPr>
          <p:cNvPr id="8" name="Text 5"/>
          <p:cNvSpPr txBox="1"/>
          <p:nvPr/>
        </p:nvSpPr>
        <p:spPr>
          <a:xfrm>
            <a:off x="731520" y="5852160"/>
            <a:ext cx="10789920" cy="45720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Reconciled from site notes: incubation air is held at 21–24°C (setpoint 22°C) because Lion's Mane blocks run 3–5°C hotter at the core through thermogenesis.</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05 · FACILITY DESIGN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Clean-room civil &amp; HVAC engineering</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5760720" cy="914400"/>
        </p:xfrm>
        <a:graphic>
          <a:graphicData uri="http://schemas.openxmlformats.org/drawingml/2006/table">
            <a:tbl>
              <a:tblPr/>
              <a:tblGrid>
                <a:gridCol w="1463040"/>
                <a:gridCol w="429768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Specification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Walls &amp; ceiling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50–80 mm PUF sandwich panels, 40 kg/m³, PPGI finish, RTV silicone joints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Floor</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2–3 mm seamless epoxy resin; no tiles or grout lines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Corners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50R–75R extruded aluminium coving; no 90° dead zones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Airlock</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Two-door interlocked anteroom for gowning; door closers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Transfer</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Double-door autoclave or SS-304 UV pass box with interlock</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Fixtures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Flush sealed LED; SS-304 tables; no wood or bare steel</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7" name="Text 4"/>
          <p:cNvSpPr txBox="1"/>
          <p:nvPr/>
        </p:nvSpPr>
        <p:spPr>
          <a:xfrm>
            <a:off x="6675120" y="1463040"/>
            <a:ext cx="493776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Pressure cascade</a:t>
            </a:r>
            <a:endParaRPr lang="en-US" sz="1500" dirty="0"/>
          </a:p>
        </p:txBody>
      </p:sp>
      <p:sp>
        <p:nvSpPr>
          <p:cNvPr id="8" name="Shape 5"/>
          <p:cNvSpPr/>
          <p:nvPr/>
        </p:nvSpPr>
        <p:spPr>
          <a:xfrm>
            <a:off x="6675120" y="2514600"/>
            <a:ext cx="1143000" cy="731520"/>
          </a:xfrm>
          <a:prstGeom prst="roundRect">
            <a:avLst>
              <a:gd name="adj" fmla="val 7500"/>
            </a:avLst>
          </a:prstGeom>
          <a:solidFill>
            <a:srgbClr val="D9D9D9"/>
          </a:solidFill>
          <a:ln w="12700">
            <a:solidFill>
              <a:srgbClr val="D9D9D9"/>
            </a:solidFill>
            <a:prstDash val="solid"/>
          </a:ln>
        </p:spPr>
      </p:sp>
      <p:sp>
        <p:nvSpPr>
          <p:cNvPr id="9" name="Text 6"/>
          <p:cNvSpPr txBox="1"/>
          <p:nvPr/>
        </p:nvSpPr>
        <p:spPr>
          <a:xfrm>
            <a:off x="6675120" y="2587752"/>
            <a:ext cx="1143000" cy="274320"/>
          </a:xfrm>
          <a:prstGeom prst="rect">
            <a:avLst/>
          </a:prstGeom>
          <a:noFill/>
          <a:ln/>
        </p:spPr>
        <p:txBody>
          <a:bodyPr wrap="square" lIns="0" tIns="0" rIns="0" bIns="0" rtlCol="0" anchor="t"/>
          <a:lstStyle/>
          <a:p>
            <a:pPr algn="ctr" indent="0" marL="0">
              <a:buNone/>
            </a:pPr>
            <a:r>
              <a:rPr lang="en-US" sz="1050" b="1" dirty="0">
                <a:solidFill>
                  <a:srgbClr val="1E2A26"/>
                </a:solidFill>
                <a:latin typeface="Calibri" pitchFamily="34" charset="0"/>
                <a:ea typeface="Calibri" pitchFamily="34" charset="-122"/>
                <a:cs typeface="Calibri" pitchFamily="34" charset="-120"/>
              </a:rPr>
              <a:t>Outdoors</a:t>
            </a:r>
            <a:endParaRPr lang="en-US" sz="1050" dirty="0"/>
          </a:p>
        </p:txBody>
      </p:sp>
      <p:sp>
        <p:nvSpPr>
          <p:cNvPr id="10" name="Text 7"/>
          <p:cNvSpPr txBox="1"/>
          <p:nvPr/>
        </p:nvSpPr>
        <p:spPr>
          <a:xfrm>
            <a:off x="6675120" y="2862072"/>
            <a:ext cx="1143000" cy="274320"/>
          </a:xfrm>
          <a:prstGeom prst="rect">
            <a:avLst/>
          </a:prstGeom>
          <a:noFill/>
          <a:ln/>
        </p:spPr>
        <p:txBody>
          <a:bodyPr wrap="square" lIns="0" tIns="0" rIns="0" bIns="0" rtlCol="0" anchor="t"/>
          <a:lstStyle/>
          <a:p>
            <a:pPr algn="ctr" indent="0" marL="0">
              <a:buNone/>
            </a:pPr>
            <a:r>
              <a:rPr lang="en-US" sz="1050" dirty="0">
                <a:solidFill>
                  <a:srgbClr val="1E2A26"/>
                </a:solidFill>
                <a:latin typeface="Calibri" pitchFamily="34" charset="0"/>
                <a:ea typeface="Calibri" pitchFamily="34" charset="-122"/>
                <a:cs typeface="Calibri" pitchFamily="34" charset="-120"/>
              </a:rPr>
              <a:t>0 Pa</a:t>
            </a:r>
            <a:endParaRPr lang="en-US" sz="1050" dirty="0"/>
          </a:p>
        </p:txBody>
      </p:sp>
      <p:sp>
        <p:nvSpPr>
          <p:cNvPr id="11" name="Shape 8"/>
          <p:cNvSpPr/>
          <p:nvPr/>
        </p:nvSpPr>
        <p:spPr>
          <a:xfrm>
            <a:off x="7927848" y="2194560"/>
            <a:ext cx="1143000" cy="1051560"/>
          </a:xfrm>
          <a:prstGeom prst="roundRect">
            <a:avLst>
              <a:gd name="adj" fmla="val 5217"/>
            </a:avLst>
          </a:prstGeom>
          <a:solidFill>
            <a:srgbClr val="8DB596"/>
          </a:solidFill>
          <a:ln w="12700">
            <a:solidFill>
              <a:srgbClr val="8DB596"/>
            </a:solidFill>
            <a:prstDash val="solid"/>
          </a:ln>
        </p:spPr>
      </p:sp>
      <p:sp>
        <p:nvSpPr>
          <p:cNvPr id="12" name="Text 9"/>
          <p:cNvSpPr txBox="1"/>
          <p:nvPr/>
        </p:nvSpPr>
        <p:spPr>
          <a:xfrm>
            <a:off x="7927848" y="2267712"/>
            <a:ext cx="1143000" cy="274320"/>
          </a:xfrm>
          <a:prstGeom prst="rect">
            <a:avLst/>
          </a:prstGeom>
          <a:noFill/>
          <a:ln/>
        </p:spPr>
        <p:txBody>
          <a:bodyPr wrap="square" lIns="0" tIns="0" rIns="0" bIns="0" rtlCol="0" anchor="t"/>
          <a:lstStyle/>
          <a:p>
            <a:pPr algn="ctr" indent="0" marL="0">
              <a:buNone/>
            </a:pPr>
            <a:r>
              <a:rPr lang="en-US" sz="1050" b="1" dirty="0">
                <a:solidFill>
                  <a:srgbClr val="1E2A26"/>
                </a:solidFill>
                <a:latin typeface="Calibri" pitchFamily="34" charset="0"/>
                <a:ea typeface="Calibri" pitchFamily="34" charset="-122"/>
                <a:cs typeface="Calibri" pitchFamily="34" charset="-120"/>
              </a:rPr>
              <a:t>Anteroom</a:t>
            </a:r>
            <a:endParaRPr lang="en-US" sz="1050" dirty="0"/>
          </a:p>
        </p:txBody>
      </p:sp>
      <p:sp>
        <p:nvSpPr>
          <p:cNvPr id="13" name="Text 10"/>
          <p:cNvSpPr txBox="1"/>
          <p:nvPr/>
        </p:nvSpPr>
        <p:spPr>
          <a:xfrm>
            <a:off x="7927848" y="2542032"/>
            <a:ext cx="1143000" cy="274320"/>
          </a:xfrm>
          <a:prstGeom prst="rect">
            <a:avLst/>
          </a:prstGeom>
          <a:noFill/>
          <a:ln/>
        </p:spPr>
        <p:txBody>
          <a:bodyPr wrap="square" lIns="0" tIns="0" rIns="0" bIns="0" rtlCol="0" anchor="t"/>
          <a:lstStyle/>
          <a:p>
            <a:pPr algn="ctr" indent="0" marL="0">
              <a:buNone/>
            </a:pPr>
            <a:r>
              <a:rPr lang="en-US" sz="1050" dirty="0">
                <a:solidFill>
                  <a:srgbClr val="1E2A26"/>
                </a:solidFill>
                <a:latin typeface="Calibri" pitchFamily="34" charset="0"/>
                <a:ea typeface="Calibri" pitchFamily="34" charset="-122"/>
                <a:cs typeface="Calibri" pitchFamily="34" charset="-120"/>
              </a:rPr>
              <a:t>+5–10 Pa</a:t>
            </a:r>
            <a:endParaRPr lang="en-US" sz="1050" dirty="0"/>
          </a:p>
        </p:txBody>
      </p:sp>
      <p:sp>
        <p:nvSpPr>
          <p:cNvPr id="14" name="Shape 11"/>
          <p:cNvSpPr/>
          <p:nvPr/>
        </p:nvSpPr>
        <p:spPr>
          <a:xfrm>
            <a:off x="9180576" y="1874520"/>
            <a:ext cx="1143000" cy="1371600"/>
          </a:xfrm>
          <a:prstGeom prst="roundRect">
            <a:avLst>
              <a:gd name="adj" fmla="val 4800"/>
            </a:avLst>
          </a:prstGeom>
          <a:solidFill>
            <a:srgbClr val="2E5E4E"/>
          </a:solidFill>
          <a:ln w="12700">
            <a:solidFill>
              <a:srgbClr val="2E5E4E"/>
            </a:solidFill>
            <a:prstDash val="solid"/>
          </a:ln>
        </p:spPr>
      </p:sp>
      <p:sp>
        <p:nvSpPr>
          <p:cNvPr id="15" name="Text 12"/>
          <p:cNvSpPr txBox="1"/>
          <p:nvPr/>
        </p:nvSpPr>
        <p:spPr>
          <a:xfrm>
            <a:off x="9180576" y="1947672"/>
            <a:ext cx="1143000" cy="274320"/>
          </a:xfrm>
          <a:prstGeom prst="rect">
            <a:avLst/>
          </a:prstGeom>
          <a:noFill/>
          <a:ln/>
        </p:spPr>
        <p:txBody>
          <a:bodyPr wrap="square" lIns="0" tIns="0" rIns="0" bIns="0" rtlCol="0" anchor="t"/>
          <a:lstStyle/>
          <a:p>
            <a:pPr algn="ctr" indent="0" marL="0">
              <a:buNone/>
            </a:pPr>
            <a:r>
              <a:rPr lang="en-US" sz="1050" b="1" dirty="0">
                <a:solidFill>
                  <a:srgbClr val="FFFFFF"/>
                </a:solidFill>
                <a:latin typeface="Calibri" pitchFamily="34" charset="0"/>
                <a:ea typeface="Calibri" pitchFamily="34" charset="-122"/>
                <a:cs typeface="Calibri" pitchFamily="34" charset="-120"/>
              </a:rPr>
              <a:t>Clean lab</a:t>
            </a:r>
            <a:endParaRPr lang="en-US" sz="1050" dirty="0"/>
          </a:p>
        </p:txBody>
      </p:sp>
      <p:sp>
        <p:nvSpPr>
          <p:cNvPr id="16" name="Text 13"/>
          <p:cNvSpPr txBox="1"/>
          <p:nvPr/>
        </p:nvSpPr>
        <p:spPr>
          <a:xfrm>
            <a:off x="9180576" y="2221992"/>
            <a:ext cx="11430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+15–25 Pa</a:t>
            </a:r>
            <a:endParaRPr lang="en-US" sz="1050" dirty="0"/>
          </a:p>
        </p:txBody>
      </p:sp>
      <p:sp>
        <p:nvSpPr>
          <p:cNvPr id="17" name="Shape 14"/>
          <p:cNvSpPr/>
          <p:nvPr/>
        </p:nvSpPr>
        <p:spPr>
          <a:xfrm>
            <a:off x="10433304" y="1554480"/>
            <a:ext cx="1143000" cy="1691640"/>
          </a:xfrm>
          <a:prstGeom prst="roundRect">
            <a:avLst>
              <a:gd name="adj" fmla="val 4800"/>
            </a:avLst>
          </a:prstGeom>
          <a:solidFill>
            <a:srgbClr val="14302A"/>
          </a:solidFill>
          <a:ln w="12700">
            <a:solidFill>
              <a:srgbClr val="14302A"/>
            </a:solidFill>
            <a:prstDash val="solid"/>
          </a:ln>
        </p:spPr>
      </p:sp>
      <p:sp>
        <p:nvSpPr>
          <p:cNvPr id="18" name="Text 15"/>
          <p:cNvSpPr txBox="1"/>
          <p:nvPr/>
        </p:nvSpPr>
        <p:spPr>
          <a:xfrm>
            <a:off x="10433304" y="1627632"/>
            <a:ext cx="1143000" cy="274320"/>
          </a:xfrm>
          <a:prstGeom prst="rect">
            <a:avLst/>
          </a:prstGeom>
          <a:noFill/>
          <a:ln/>
        </p:spPr>
        <p:txBody>
          <a:bodyPr wrap="square" lIns="0" tIns="0" rIns="0" bIns="0" rtlCol="0" anchor="t"/>
          <a:lstStyle/>
          <a:p>
            <a:pPr algn="ctr" indent="0" marL="0">
              <a:buNone/>
            </a:pPr>
            <a:r>
              <a:rPr lang="en-US" sz="1050" b="1" dirty="0">
                <a:solidFill>
                  <a:srgbClr val="FFFFFF"/>
                </a:solidFill>
                <a:latin typeface="Calibri" pitchFamily="34" charset="0"/>
                <a:ea typeface="Calibri" pitchFamily="34" charset="-122"/>
                <a:cs typeface="Calibri" pitchFamily="34" charset="-120"/>
              </a:rPr>
              <a:t>LAF zone</a:t>
            </a:r>
            <a:endParaRPr lang="en-US" sz="1050" dirty="0"/>
          </a:p>
        </p:txBody>
      </p:sp>
      <p:sp>
        <p:nvSpPr>
          <p:cNvPr id="19" name="Text 16"/>
          <p:cNvSpPr txBox="1"/>
          <p:nvPr/>
        </p:nvSpPr>
        <p:spPr>
          <a:xfrm>
            <a:off x="10433304" y="1901952"/>
            <a:ext cx="1143000" cy="274320"/>
          </a:xfrm>
          <a:prstGeom prst="rect">
            <a:avLst/>
          </a:prstGeom>
          <a:noFill/>
          <a:ln/>
        </p:spPr>
        <p:txBody>
          <a:bodyPr wrap="square" lIns="0" tIns="0" rIns="0" bIns="0" rtlCol="0" anchor="t"/>
          <a:lstStyle/>
          <a:p>
            <a:pPr algn="ctr" indent="0" marL="0">
              <a:buNone/>
            </a:pPr>
            <a:r>
              <a:rPr lang="en-US" sz="1050" dirty="0">
                <a:solidFill>
                  <a:srgbClr val="FFFFFF"/>
                </a:solidFill>
                <a:latin typeface="Calibri" pitchFamily="34" charset="0"/>
                <a:ea typeface="Calibri" pitchFamily="34" charset="-122"/>
                <a:cs typeface="Calibri" pitchFamily="34" charset="-120"/>
              </a:rPr>
              <a:t>ISO 5</a:t>
            </a:r>
            <a:endParaRPr lang="en-US" sz="1050" dirty="0"/>
          </a:p>
        </p:txBody>
      </p:sp>
      <p:sp>
        <p:nvSpPr>
          <p:cNvPr id="20" name="Text 17"/>
          <p:cNvSpPr txBox="1"/>
          <p:nvPr/>
        </p:nvSpPr>
        <p:spPr>
          <a:xfrm>
            <a:off x="6675120" y="3337560"/>
            <a:ext cx="4983480" cy="274320"/>
          </a:xfrm>
          <a:prstGeom prst="rect">
            <a:avLst/>
          </a:prstGeom>
          <a:noFill/>
          <a:ln/>
        </p:spPr>
        <p:txBody>
          <a:bodyPr wrap="square" lIns="0" tIns="0" rIns="0" bIns="0" rtlCol="0" anchor="t"/>
          <a:lstStyle/>
          <a:p>
            <a:pPr indent="0" marL="0">
              <a:buNone/>
            </a:pPr>
            <a:r>
              <a:rPr lang="en-US" sz="1050" i="1" dirty="0">
                <a:solidFill>
                  <a:srgbClr val="5F6F69"/>
                </a:solidFill>
                <a:latin typeface="Calibri" pitchFamily="34" charset="0"/>
                <a:ea typeface="Calibri" pitchFamily="34" charset="-122"/>
                <a:cs typeface="Calibri" pitchFamily="34" charset="-120"/>
              </a:rPr>
              <a:t>Air always leaks from clean to dirty, never the reverse.</a:t>
            </a:r>
            <a:endParaRPr lang="en-US" sz="1050" dirty="0"/>
          </a:p>
        </p:txBody>
      </p:sp>
      <p:sp>
        <p:nvSpPr>
          <p:cNvPr id="21" name="Shape 18"/>
          <p:cNvSpPr/>
          <p:nvPr/>
        </p:nvSpPr>
        <p:spPr>
          <a:xfrm>
            <a:off x="6675120" y="3749040"/>
            <a:ext cx="4983480" cy="2514600"/>
          </a:xfrm>
          <a:prstGeom prst="roundRect">
            <a:avLst>
              <a:gd name="adj" fmla="val 2909"/>
            </a:avLst>
          </a:prstGeom>
          <a:solidFill>
            <a:srgbClr val="EEF4F0"/>
          </a:solidFill>
          <a:ln w="9525">
            <a:solidFill>
              <a:srgbClr val="EEF4F0"/>
            </a:solidFill>
            <a:prstDash val="solid"/>
          </a:ln>
        </p:spPr>
      </p:sp>
      <p:sp>
        <p:nvSpPr>
          <p:cNvPr id="22" name="Text 19"/>
          <p:cNvSpPr txBox="1"/>
          <p:nvPr/>
        </p:nvSpPr>
        <p:spPr>
          <a:xfrm>
            <a:off x="6903720" y="3858768"/>
            <a:ext cx="457200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Hybrid start-up HVAC</a:t>
            </a:r>
            <a:endParaRPr lang="en-US" sz="1500" dirty="0"/>
          </a:p>
        </p:txBody>
      </p:sp>
      <p:sp>
        <p:nvSpPr>
          <p:cNvPr id="23" name="Text 20"/>
          <p:cNvSpPr txBox="1"/>
          <p:nvPr/>
        </p:nvSpPr>
        <p:spPr>
          <a:xfrm>
            <a:off x="6903720" y="4251960"/>
            <a:ext cx="4617720" cy="19659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Inverter split ACs for cooling: copper coils only, as humidity and spores corrode aluminium fins.</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Inline centrifugal blower → G4 pre-filter → MERV 13 → H14 HEPA terminal box pressurizes the lab.</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Gravity relief dampers bleed excess air to the anteroom to hold the differential.</a:t>
            </a:r>
            <a:endParaRPr lang="en-US" sz="1100" dirty="0"/>
          </a:p>
          <a:p>
            <a:pPr marL="342900" indent="-342900">
              <a:spcAft>
                <a:spcPts val="500"/>
              </a:spcAft>
              <a:buSzPct val="100000"/>
              <a:buChar char="•"/>
            </a:pPr>
            <a:r>
              <a:rPr lang="en-US" sz="1100" dirty="0">
                <a:solidFill>
                  <a:srgbClr val="1E2A26"/>
                </a:solidFill>
                <a:latin typeface="Calibri" pitchFamily="34" charset="0"/>
                <a:ea typeface="Calibri" pitchFamily="34" charset="-122"/>
                <a:cs typeface="Calibri" pitchFamily="34" charset="-120"/>
              </a:rPr>
              <a:t>Magnehelic gauge at each door, logged twice daily; PAO HEPA-integrity test at commissioning, then annually.</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05 · FACILITY DESIGN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Incubation room: 1,260 blocks in the dark, heat under control</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731520" y="1828800"/>
            <a:ext cx="5486400" cy="2743200"/>
          </a:xfrm>
          <a:prstGeom prst="rect">
            <a:avLst/>
          </a:prstGeom>
          <a:solidFill>
            <a:srgbClr val="F7F9F8"/>
          </a:solidFill>
          <a:ln w="25400">
            <a:solidFill>
              <a:srgbClr val="1E2A26"/>
            </a:solidFill>
            <a:prstDash val="solid"/>
          </a:ln>
        </p:spPr>
      </p:sp>
      <p:sp>
        <p:nvSpPr>
          <p:cNvPr id="7" name="Shape 5"/>
          <p:cNvSpPr/>
          <p:nvPr/>
        </p:nvSpPr>
        <p:spPr>
          <a:xfrm>
            <a:off x="868680" y="1965960"/>
            <a:ext cx="1060704" cy="548640"/>
          </a:xfrm>
          <a:prstGeom prst="rect">
            <a:avLst/>
          </a:prstGeom>
          <a:solidFill>
            <a:srgbClr val="2E5E4E"/>
          </a:solidFill>
          <a:ln w="12700">
            <a:solidFill>
              <a:srgbClr val="FFFFFF"/>
            </a:solidFill>
            <a:prstDash val="solid"/>
          </a:ln>
        </p:spPr>
      </p:sp>
      <p:sp>
        <p:nvSpPr>
          <p:cNvPr id="8" name="Text 6"/>
          <p:cNvSpPr txBox="1"/>
          <p:nvPr/>
        </p:nvSpPr>
        <p:spPr>
          <a:xfrm>
            <a:off x="868680" y="196596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R1</a:t>
            </a:r>
            <a:endParaRPr lang="en-US" sz="1000" dirty="0"/>
          </a:p>
        </p:txBody>
      </p:sp>
      <p:sp>
        <p:nvSpPr>
          <p:cNvPr id="9" name="Shape 7"/>
          <p:cNvSpPr/>
          <p:nvPr/>
        </p:nvSpPr>
        <p:spPr>
          <a:xfrm>
            <a:off x="1965960" y="1965960"/>
            <a:ext cx="1060704" cy="548640"/>
          </a:xfrm>
          <a:prstGeom prst="rect">
            <a:avLst/>
          </a:prstGeom>
          <a:solidFill>
            <a:srgbClr val="2E5E4E"/>
          </a:solidFill>
          <a:ln w="12700">
            <a:solidFill>
              <a:srgbClr val="FFFFFF"/>
            </a:solidFill>
            <a:prstDash val="solid"/>
          </a:ln>
        </p:spPr>
      </p:sp>
      <p:sp>
        <p:nvSpPr>
          <p:cNvPr id="10" name="Text 8"/>
          <p:cNvSpPr txBox="1"/>
          <p:nvPr/>
        </p:nvSpPr>
        <p:spPr>
          <a:xfrm>
            <a:off x="1965960" y="196596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R2</a:t>
            </a:r>
            <a:endParaRPr lang="en-US" sz="1000" dirty="0"/>
          </a:p>
        </p:txBody>
      </p:sp>
      <p:sp>
        <p:nvSpPr>
          <p:cNvPr id="11" name="Shape 9"/>
          <p:cNvSpPr/>
          <p:nvPr/>
        </p:nvSpPr>
        <p:spPr>
          <a:xfrm>
            <a:off x="3063240" y="1965960"/>
            <a:ext cx="1060704" cy="548640"/>
          </a:xfrm>
          <a:prstGeom prst="rect">
            <a:avLst/>
          </a:prstGeom>
          <a:solidFill>
            <a:srgbClr val="2E5E4E"/>
          </a:solidFill>
          <a:ln w="12700">
            <a:solidFill>
              <a:srgbClr val="FFFFFF"/>
            </a:solidFill>
            <a:prstDash val="solid"/>
          </a:ln>
        </p:spPr>
      </p:sp>
      <p:sp>
        <p:nvSpPr>
          <p:cNvPr id="12" name="Text 10"/>
          <p:cNvSpPr txBox="1"/>
          <p:nvPr/>
        </p:nvSpPr>
        <p:spPr>
          <a:xfrm>
            <a:off x="3063240" y="196596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R3</a:t>
            </a:r>
            <a:endParaRPr lang="en-US" sz="1000" dirty="0"/>
          </a:p>
        </p:txBody>
      </p:sp>
      <p:sp>
        <p:nvSpPr>
          <p:cNvPr id="13" name="Shape 11"/>
          <p:cNvSpPr/>
          <p:nvPr/>
        </p:nvSpPr>
        <p:spPr>
          <a:xfrm>
            <a:off x="4160520" y="1965960"/>
            <a:ext cx="1060704" cy="548640"/>
          </a:xfrm>
          <a:prstGeom prst="rect">
            <a:avLst/>
          </a:prstGeom>
          <a:solidFill>
            <a:srgbClr val="2E5E4E"/>
          </a:solidFill>
          <a:ln w="12700">
            <a:solidFill>
              <a:srgbClr val="FFFFFF"/>
            </a:solidFill>
            <a:prstDash val="solid"/>
          </a:ln>
        </p:spPr>
      </p:sp>
      <p:sp>
        <p:nvSpPr>
          <p:cNvPr id="14" name="Text 12"/>
          <p:cNvSpPr txBox="1"/>
          <p:nvPr/>
        </p:nvSpPr>
        <p:spPr>
          <a:xfrm>
            <a:off x="4160520" y="196596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R4</a:t>
            </a:r>
            <a:endParaRPr lang="en-US" sz="1000" dirty="0"/>
          </a:p>
        </p:txBody>
      </p:sp>
      <p:sp>
        <p:nvSpPr>
          <p:cNvPr id="15" name="Shape 13"/>
          <p:cNvSpPr/>
          <p:nvPr/>
        </p:nvSpPr>
        <p:spPr>
          <a:xfrm>
            <a:off x="868680" y="3886200"/>
            <a:ext cx="1060704" cy="548640"/>
          </a:xfrm>
          <a:prstGeom prst="rect">
            <a:avLst/>
          </a:prstGeom>
          <a:solidFill>
            <a:srgbClr val="2E5E4E"/>
          </a:solidFill>
          <a:ln w="12700">
            <a:solidFill>
              <a:srgbClr val="FFFFFF"/>
            </a:solidFill>
            <a:prstDash val="solid"/>
          </a:ln>
        </p:spPr>
      </p:sp>
      <p:sp>
        <p:nvSpPr>
          <p:cNvPr id="16" name="Text 14"/>
          <p:cNvSpPr txBox="1"/>
          <p:nvPr/>
        </p:nvSpPr>
        <p:spPr>
          <a:xfrm>
            <a:off x="868680" y="388620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R5</a:t>
            </a:r>
            <a:endParaRPr lang="en-US" sz="1000" dirty="0"/>
          </a:p>
        </p:txBody>
      </p:sp>
      <p:sp>
        <p:nvSpPr>
          <p:cNvPr id="17" name="Shape 15"/>
          <p:cNvSpPr/>
          <p:nvPr/>
        </p:nvSpPr>
        <p:spPr>
          <a:xfrm>
            <a:off x="1965960" y="3886200"/>
            <a:ext cx="1060704" cy="548640"/>
          </a:xfrm>
          <a:prstGeom prst="rect">
            <a:avLst/>
          </a:prstGeom>
          <a:solidFill>
            <a:srgbClr val="2E5E4E"/>
          </a:solidFill>
          <a:ln w="12700">
            <a:solidFill>
              <a:srgbClr val="FFFFFF"/>
            </a:solidFill>
            <a:prstDash val="solid"/>
          </a:ln>
        </p:spPr>
      </p:sp>
      <p:sp>
        <p:nvSpPr>
          <p:cNvPr id="18" name="Text 16"/>
          <p:cNvSpPr txBox="1"/>
          <p:nvPr/>
        </p:nvSpPr>
        <p:spPr>
          <a:xfrm>
            <a:off x="1965960" y="388620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R6</a:t>
            </a:r>
            <a:endParaRPr lang="en-US" sz="1000" dirty="0"/>
          </a:p>
        </p:txBody>
      </p:sp>
      <p:sp>
        <p:nvSpPr>
          <p:cNvPr id="19" name="Shape 17"/>
          <p:cNvSpPr/>
          <p:nvPr/>
        </p:nvSpPr>
        <p:spPr>
          <a:xfrm>
            <a:off x="3063240" y="3886200"/>
            <a:ext cx="1060704" cy="548640"/>
          </a:xfrm>
          <a:prstGeom prst="rect">
            <a:avLst/>
          </a:prstGeom>
          <a:solidFill>
            <a:srgbClr val="2E5E4E"/>
          </a:solidFill>
          <a:ln w="12700">
            <a:solidFill>
              <a:srgbClr val="FFFFFF"/>
            </a:solidFill>
            <a:prstDash val="solid"/>
          </a:ln>
        </p:spPr>
      </p:sp>
      <p:sp>
        <p:nvSpPr>
          <p:cNvPr id="20" name="Text 18"/>
          <p:cNvSpPr txBox="1"/>
          <p:nvPr/>
        </p:nvSpPr>
        <p:spPr>
          <a:xfrm>
            <a:off x="3063240" y="388620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R7</a:t>
            </a:r>
            <a:endParaRPr lang="en-US" sz="1000" dirty="0"/>
          </a:p>
        </p:txBody>
      </p:sp>
      <p:sp>
        <p:nvSpPr>
          <p:cNvPr id="21" name="Shape 19"/>
          <p:cNvSpPr/>
          <p:nvPr/>
        </p:nvSpPr>
        <p:spPr>
          <a:xfrm>
            <a:off x="4160520" y="3886200"/>
            <a:ext cx="1060704" cy="548640"/>
          </a:xfrm>
          <a:prstGeom prst="rect">
            <a:avLst/>
          </a:prstGeom>
          <a:solidFill>
            <a:srgbClr val="2E5E4E"/>
          </a:solidFill>
          <a:ln w="12700">
            <a:solidFill>
              <a:srgbClr val="FFFFFF"/>
            </a:solidFill>
            <a:prstDash val="solid"/>
          </a:ln>
        </p:spPr>
      </p:sp>
      <p:sp>
        <p:nvSpPr>
          <p:cNvPr id="22" name="Text 20"/>
          <p:cNvSpPr txBox="1"/>
          <p:nvPr/>
        </p:nvSpPr>
        <p:spPr>
          <a:xfrm>
            <a:off x="4160520" y="3886200"/>
            <a:ext cx="1060704"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R8</a:t>
            </a:r>
            <a:endParaRPr lang="en-US" sz="1000" dirty="0"/>
          </a:p>
        </p:txBody>
      </p:sp>
      <p:sp>
        <p:nvSpPr>
          <p:cNvPr id="23" name="Shape 21"/>
          <p:cNvSpPr/>
          <p:nvPr/>
        </p:nvSpPr>
        <p:spPr>
          <a:xfrm>
            <a:off x="5586984" y="2651760"/>
            <a:ext cx="548640" cy="1097280"/>
          </a:xfrm>
          <a:prstGeom prst="rect">
            <a:avLst/>
          </a:prstGeom>
          <a:solidFill>
            <a:srgbClr val="D9962B"/>
          </a:solidFill>
          <a:ln w="12700">
            <a:solidFill>
              <a:srgbClr val="FFFFFF"/>
            </a:solidFill>
            <a:prstDash val="solid"/>
          </a:ln>
        </p:spPr>
      </p:sp>
      <p:sp>
        <p:nvSpPr>
          <p:cNvPr id="24" name="Text 22"/>
          <p:cNvSpPr txBox="1"/>
          <p:nvPr/>
        </p:nvSpPr>
        <p:spPr>
          <a:xfrm>
            <a:off x="5586984" y="2651760"/>
            <a:ext cx="548640" cy="109728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Spawn</a:t>
            </a:r>
            <a:endParaRPr lang="en-US" sz="950" dirty="0"/>
          </a:p>
        </p:txBody>
      </p:sp>
      <p:sp>
        <p:nvSpPr>
          <p:cNvPr id="25" name="Text 23"/>
          <p:cNvSpPr txBox="1"/>
          <p:nvPr/>
        </p:nvSpPr>
        <p:spPr>
          <a:xfrm>
            <a:off x="1005840" y="3063240"/>
            <a:ext cx="3657600" cy="274320"/>
          </a:xfrm>
          <a:prstGeom prst="rect">
            <a:avLst/>
          </a:prstGeom>
          <a:noFill/>
          <a:ln/>
        </p:spPr>
        <p:txBody>
          <a:bodyPr wrap="square" lIns="0" tIns="0" rIns="0" bIns="0" rtlCol="0" anchor="t"/>
          <a:lstStyle/>
          <a:p>
            <a:pPr algn="ctr" indent="0" marL="0">
              <a:buNone/>
            </a:pPr>
            <a:r>
              <a:rPr lang="en-US" sz="1050" i="1" dirty="0">
                <a:solidFill>
                  <a:srgbClr val="5F6F69"/>
                </a:solidFill>
                <a:latin typeface="Calibri" pitchFamily="34" charset="0"/>
                <a:ea typeface="Calibri" pitchFamily="34" charset="-122"/>
                <a:cs typeface="Calibri" pitchFamily="34" charset="-120"/>
              </a:rPr>
              <a:t>5 ft working aisle</a:t>
            </a:r>
            <a:endParaRPr lang="en-US" sz="1050" dirty="0"/>
          </a:p>
        </p:txBody>
      </p:sp>
      <p:sp>
        <p:nvSpPr>
          <p:cNvPr id="26" name="Shape 24"/>
          <p:cNvSpPr/>
          <p:nvPr/>
        </p:nvSpPr>
        <p:spPr>
          <a:xfrm>
            <a:off x="685800" y="2926080"/>
            <a:ext cx="91440" cy="548640"/>
          </a:xfrm>
          <a:prstGeom prst="rect">
            <a:avLst/>
          </a:prstGeom>
          <a:solidFill>
            <a:srgbClr val="FFFFFF"/>
          </a:solidFill>
          <a:ln w="12700">
            <a:solidFill>
              <a:srgbClr val="FFFFFF"/>
            </a:solidFill>
            <a:prstDash val="solid"/>
          </a:ln>
        </p:spPr>
      </p:sp>
      <p:sp>
        <p:nvSpPr>
          <p:cNvPr id="27" name="Text 25"/>
          <p:cNvSpPr txBox="1"/>
          <p:nvPr/>
        </p:nvSpPr>
        <p:spPr>
          <a:xfrm>
            <a:off x="45720" y="2926080"/>
            <a:ext cx="640080" cy="548640"/>
          </a:xfrm>
          <a:prstGeom prst="rect">
            <a:avLst/>
          </a:prstGeom>
          <a:noFill/>
          <a:ln/>
        </p:spPr>
        <p:txBody>
          <a:bodyPr wrap="square" lIns="0" tIns="0" rIns="0" bIns="0" rtlCol="0" anchor="ctr"/>
          <a:lstStyle/>
          <a:p>
            <a:pPr algn="ctr" indent="0" marL="0">
              <a:buNone/>
            </a:pPr>
            <a:r>
              <a:rPr lang="en-US" sz="850" dirty="0">
                <a:solidFill>
                  <a:srgbClr val="5F6F69"/>
                </a:solidFill>
                <a:latin typeface="Calibri" pitchFamily="34" charset="0"/>
                <a:ea typeface="Calibri" pitchFamily="34" charset="-122"/>
                <a:cs typeface="Calibri" pitchFamily="34" charset="-120"/>
              </a:rPr>
              <a:t>Hatch</a:t>
            </a:r>
            <a:endParaRPr lang="en-US" sz="850" dirty="0"/>
          </a:p>
          <a:p>
            <a:pPr algn="ctr" indent="0" marL="0">
              <a:buNone/>
            </a:pPr>
            <a:r>
              <a:rPr lang="en-US" sz="850" dirty="0">
                <a:solidFill>
                  <a:srgbClr val="5F6F69"/>
                </a:solidFill>
                <a:latin typeface="Calibri" pitchFamily="34" charset="0"/>
                <a:ea typeface="Calibri" pitchFamily="34" charset="-122"/>
                <a:cs typeface="Calibri" pitchFamily="34" charset="-120"/>
              </a:rPr>
              <a:t>from lab</a:t>
            </a:r>
            <a:endParaRPr lang="en-US" sz="850" dirty="0"/>
          </a:p>
        </p:txBody>
      </p:sp>
      <p:sp>
        <p:nvSpPr>
          <p:cNvPr id="28" name="Text 26"/>
          <p:cNvSpPr txBox="1"/>
          <p:nvPr/>
        </p:nvSpPr>
        <p:spPr>
          <a:xfrm>
            <a:off x="731520" y="1463040"/>
            <a:ext cx="5486400" cy="274320"/>
          </a:xfrm>
          <a:prstGeom prst="rect">
            <a:avLst/>
          </a:prstGeom>
          <a:noFill/>
          <a:ln/>
        </p:spPr>
        <p:txBody>
          <a:bodyPr wrap="square" lIns="0" tIns="0" rIns="0" bIns="0" rtlCol="0" anchor="t"/>
          <a:lstStyle/>
          <a:p>
            <a:pPr indent="0" marL="0">
              <a:buNone/>
            </a:pPr>
            <a:r>
              <a:rPr lang="en-US" sz="1100" b="1" dirty="0">
                <a:solidFill>
                  <a:srgbClr val="14302A"/>
                </a:solidFill>
                <a:latin typeface="Calibri" pitchFamily="34" charset="0"/>
                <a:ea typeface="Calibri" pitchFamily="34" charset="-122"/>
                <a:cs typeface="Calibri" pitchFamily="34" charset="-120"/>
              </a:rPr>
              <a:t>Plan view · 20 × 10 ft (200 sq ft) · 8 production racks + 1 spawn rack</a:t>
            </a:r>
            <a:endParaRPr lang="en-US" sz="1100" dirty="0"/>
          </a:p>
        </p:txBody>
      </p:sp>
      <p:sp>
        <p:nvSpPr>
          <p:cNvPr id="29" name="Text 27"/>
          <p:cNvSpPr txBox="1"/>
          <p:nvPr/>
        </p:nvSpPr>
        <p:spPr>
          <a:xfrm>
            <a:off x="731520" y="4709160"/>
            <a:ext cx="5486400" cy="45720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Each rack: 4 ft × 2 ft × 9 ft, 8 tiers × ~20 blocks = ~160 blocks → 8 racks ≈ 1,280 blocks</a:t>
            </a:r>
            <a:endParaRPr lang="en-US" sz="1100" dirty="0"/>
          </a:p>
        </p:txBody>
      </p:sp>
      <p:sp>
        <p:nvSpPr>
          <p:cNvPr id="30" name="Shape 28"/>
          <p:cNvSpPr/>
          <p:nvPr/>
        </p:nvSpPr>
        <p:spPr>
          <a:xfrm>
            <a:off x="6812280" y="1463040"/>
            <a:ext cx="4846320" cy="1417320"/>
          </a:xfrm>
          <a:prstGeom prst="roundRect">
            <a:avLst>
              <a:gd name="adj" fmla="val 5161"/>
            </a:avLst>
          </a:prstGeom>
          <a:solidFill>
            <a:srgbClr val="FBF1DE"/>
          </a:solidFill>
          <a:ln w="9525">
            <a:solidFill>
              <a:srgbClr val="FBF1DE"/>
            </a:solidFill>
            <a:prstDash val="solid"/>
          </a:ln>
        </p:spPr>
      </p:sp>
      <p:sp>
        <p:nvSpPr>
          <p:cNvPr id="31" name="Shape 29"/>
          <p:cNvSpPr/>
          <p:nvPr/>
        </p:nvSpPr>
        <p:spPr>
          <a:xfrm>
            <a:off x="6995160" y="1645920"/>
            <a:ext cx="502920" cy="502920"/>
          </a:xfrm>
          <a:prstGeom prst="ellipse">
            <a:avLst/>
          </a:prstGeom>
          <a:solidFill>
            <a:srgbClr val="D9962B"/>
          </a:solidFill>
          <a:ln w="12700">
            <a:solidFill>
              <a:srgbClr val="D9962B"/>
            </a:solidFill>
            <a:prstDash val="solid"/>
          </a:ln>
        </p:spPr>
      </p:sp>
      <p:pic>
        <p:nvPicPr>
          <p:cNvPr id="32" name="Image 0" descr="preencoded.png">    </p:cNvPr>
          <p:cNvPicPr>
            <a:picLocks noChangeAspect="1"/>
          </p:cNvPicPr>
          <p:nvPr/>
        </p:nvPicPr>
        <p:blipFill>
          <a:blip r:embed="rId1"/>
          <a:stretch>
            <a:fillRect/>
          </a:stretch>
        </p:blipFill>
        <p:spPr>
          <a:xfrm>
            <a:off x="7125919" y="1776679"/>
            <a:ext cx="241402" cy="241402"/>
          </a:xfrm>
          <a:prstGeom prst="rect">
            <a:avLst/>
          </a:prstGeom>
        </p:spPr>
      </p:pic>
      <p:sp>
        <p:nvSpPr>
          <p:cNvPr id="33" name="Text 30"/>
          <p:cNvSpPr txBox="1"/>
          <p:nvPr/>
        </p:nvSpPr>
        <p:spPr>
          <a:xfrm>
            <a:off x="7680960" y="1600200"/>
            <a:ext cx="3840480"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Manage thermogenesis</a:t>
            </a:r>
            <a:endParaRPr lang="en-US" sz="1400" dirty="0"/>
          </a:p>
        </p:txBody>
      </p:sp>
      <p:sp>
        <p:nvSpPr>
          <p:cNvPr id="34" name="Text 31"/>
          <p:cNvSpPr txBox="1"/>
          <p:nvPr/>
        </p:nvSpPr>
        <p:spPr>
          <a:xfrm>
            <a:off x="7680960" y="1938528"/>
            <a:ext cx="3840480" cy="91440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Colonizing mycelium generates its own heat. Hold air at 22°C; probe 5 block cores per rack daily and act above 27°C. Leave 2–3 cm between blocks and run ceiling circulation fans.</a:t>
            </a:r>
            <a:endParaRPr lang="en-US" sz="1050" dirty="0"/>
          </a:p>
        </p:txBody>
      </p:sp>
      <p:sp>
        <p:nvSpPr>
          <p:cNvPr id="35" name="Shape 32"/>
          <p:cNvSpPr/>
          <p:nvPr/>
        </p:nvSpPr>
        <p:spPr>
          <a:xfrm>
            <a:off x="6812280" y="3063240"/>
            <a:ext cx="4846320" cy="1417320"/>
          </a:xfrm>
          <a:prstGeom prst="roundRect">
            <a:avLst>
              <a:gd name="adj" fmla="val 5161"/>
            </a:avLst>
          </a:prstGeom>
          <a:solidFill>
            <a:srgbClr val="EEF4F0"/>
          </a:solidFill>
          <a:ln w="9525">
            <a:solidFill>
              <a:srgbClr val="EEF4F0"/>
            </a:solidFill>
            <a:prstDash val="solid"/>
          </a:ln>
        </p:spPr>
      </p:sp>
      <p:sp>
        <p:nvSpPr>
          <p:cNvPr id="36" name="Shape 33"/>
          <p:cNvSpPr/>
          <p:nvPr/>
        </p:nvSpPr>
        <p:spPr>
          <a:xfrm>
            <a:off x="6995160" y="3246120"/>
            <a:ext cx="502920" cy="502920"/>
          </a:xfrm>
          <a:prstGeom prst="ellipse">
            <a:avLst/>
          </a:prstGeom>
          <a:solidFill>
            <a:srgbClr val="2E5E4E"/>
          </a:solidFill>
          <a:ln w="12700">
            <a:solidFill>
              <a:srgbClr val="2E5E4E"/>
            </a:solidFill>
            <a:prstDash val="solid"/>
          </a:ln>
        </p:spPr>
      </p:sp>
      <p:pic>
        <p:nvPicPr>
          <p:cNvPr id="37" name="Image 1" descr="preencoded.png">    </p:cNvPr>
          <p:cNvPicPr>
            <a:picLocks noChangeAspect="1"/>
          </p:cNvPicPr>
          <p:nvPr/>
        </p:nvPicPr>
        <p:blipFill>
          <a:blip r:embed="rId2"/>
          <a:stretch>
            <a:fillRect/>
          </a:stretch>
        </p:blipFill>
        <p:spPr>
          <a:xfrm>
            <a:off x="7125919" y="3376879"/>
            <a:ext cx="241402" cy="241402"/>
          </a:xfrm>
          <a:prstGeom prst="rect">
            <a:avLst/>
          </a:prstGeom>
        </p:spPr>
      </p:pic>
      <p:sp>
        <p:nvSpPr>
          <p:cNvPr id="38" name="Text 34"/>
          <p:cNvSpPr txBox="1"/>
          <p:nvPr/>
        </p:nvSpPr>
        <p:spPr>
          <a:xfrm>
            <a:off x="7680960" y="3200400"/>
            <a:ext cx="3840480"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Minimal fresh air</a:t>
            </a:r>
            <a:endParaRPr lang="en-US" sz="1400" dirty="0"/>
          </a:p>
        </p:txBody>
      </p:sp>
      <p:sp>
        <p:nvSpPr>
          <p:cNvPr id="39" name="Text 35"/>
          <p:cNvSpPr txBox="1"/>
          <p:nvPr/>
        </p:nvSpPr>
        <p:spPr>
          <a:xfrm>
            <a:off x="7680960" y="3538728"/>
            <a:ext cx="3840480" cy="91440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High CO₂ (&gt;2,000 ppm) actually favours vegetative growth. Only enough exchange for worker safety; no misting; RH 60–70%.</a:t>
            </a:r>
            <a:endParaRPr lang="en-US" sz="1050" dirty="0"/>
          </a:p>
        </p:txBody>
      </p:sp>
      <p:sp>
        <p:nvSpPr>
          <p:cNvPr id="40" name="Shape 36"/>
          <p:cNvSpPr/>
          <p:nvPr/>
        </p:nvSpPr>
        <p:spPr>
          <a:xfrm>
            <a:off x="6812280" y="4663440"/>
            <a:ext cx="4846320" cy="1417320"/>
          </a:xfrm>
          <a:prstGeom prst="roundRect">
            <a:avLst>
              <a:gd name="adj" fmla="val 5161"/>
            </a:avLst>
          </a:prstGeom>
          <a:solidFill>
            <a:srgbClr val="EEF4F0"/>
          </a:solidFill>
          <a:ln w="9525">
            <a:solidFill>
              <a:srgbClr val="EEF4F0"/>
            </a:solidFill>
            <a:prstDash val="solid"/>
          </a:ln>
        </p:spPr>
      </p:sp>
      <p:sp>
        <p:nvSpPr>
          <p:cNvPr id="41" name="Shape 37"/>
          <p:cNvSpPr/>
          <p:nvPr/>
        </p:nvSpPr>
        <p:spPr>
          <a:xfrm>
            <a:off x="6995160" y="4846320"/>
            <a:ext cx="502920" cy="502920"/>
          </a:xfrm>
          <a:prstGeom prst="ellipse">
            <a:avLst/>
          </a:prstGeom>
          <a:solidFill>
            <a:srgbClr val="2E5E4E"/>
          </a:solidFill>
          <a:ln w="12700">
            <a:solidFill>
              <a:srgbClr val="2E5E4E"/>
            </a:solidFill>
            <a:prstDash val="solid"/>
          </a:ln>
        </p:spPr>
      </p:sp>
      <p:pic>
        <p:nvPicPr>
          <p:cNvPr id="42" name="Image 2" descr="preencoded.png">    </p:cNvPr>
          <p:cNvPicPr>
            <a:picLocks noChangeAspect="1"/>
          </p:cNvPicPr>
          <p:nvPr/>
        </p:nvPicPr>
        <p:blipFill>
          <a:blip r:embed="rId3"/>
          <a:stretch>
            <a:fillRect/>
          </a:stretch>
        </p:blipFill>
        <p:spPr>
          <a:xfrm>
            <a:off x="7125919" y="4977079"/>
            <a:ext cx="241402" cy="241402"/>
          </a:xfrm>
          <a:prstGeom prst="rect">
            <a:avLst/>
          </a:prstGeom>
        </p:spPr>
      </p:pic>
      <p:sp>
        <p:nvSpPr>
          <p:cNvPr id="43" name="Text 38"/>
          <p:cNvSpPr txBox="1"/>
          <p:nvPr/>
        </p:nvSpPr>
        <p:spPr>
          <a:xfrm>
            <a:off x="7680960" y="4800600"/>
            <a:ext cx="3840480"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Exit criteria</a:t>
            </a:r>
            <a:endParaRPr lang="en-US" sz="1400" dirty="0"/>
          </a:p>
        </p:txBody>
      </p:sp>
      <p:sp>
        <p:nvSpPr>
          <p:cNvPr id="44" name="Text 39"/>
          <p:cNvSpPr txBox="1"/>
          <p:nvPr/>
        </p:nvSpPr>
        <p:spPr>
          <a:xfrm>
            <a:off x="7680960" y="5138928"/>
            <a:ext cx="3840480" cy="91440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Move to fruiting at full colonization (14–21 days) or when pins start inside the bag, whichever is first. Trapped pins deform.</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05 · FACILITY DESIGN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Fruiting rooms: space for fruit bodies, air for pom-poms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594360" y="1783080"/>
            <a:ext cx="91440" cy="1325880"/>
          </a:xfrm>
          <a:prstGeom prst="rect">
            <a:avLst/>
          </a:prstGeom>
          <a:solidFill>
            <a:srgbClr val="1E2A26"/>
          </a:solidFill>
          <a:ln w="12700">
            <a:solidFill>
              <a:srgbClr val="1E2A26"/>
            </a:solidFill>
            <a:prstDash val="solid"/>
          </a:ln>
        </p:spPr>
      </p:sp>
      <p:sp>
        <p:nvSpPr>
          <p:cNvPr id="7" name="Text 5"/>
          <p:cNvSpPr txBox="1"/>
          <p:nvPr/>
        </p:nvSpPr>
        <p:spPr>
          <a:xfrm>
            <a:off x="685800" y="3182112"/>
            <a:ext cx="36576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6"</a:t>
            </a:r>
            <a:endParaRPr lang="en-US" sz="1000" dirty="0"/>
          </a:p>
        </p:txBody>
      </p:sp>
      <p:sp>
        <p:nvSpPr>
          <p:cNvPr id="8" name="Shape 6"/>
          <p:cNvSpPr/>
          <p:nvPr/>
        </p:nvSpPr>
        <p:spPr>
          <a:xfrm>
            <a:off x="1051560" y="1783080"/>
            <a:ext cx="1463040" cy="1325880"/>
          </a:xfrm>
          <a:prstGeom prst="rect">
            <a:avLst/>
          </a:prstGeom>
          <a:solidFill>
            <a:srgbClr val="2E5E4E"/>
          </a:solidFill>
          <a:ln w="12700">
            <a:solidFill>
              <a:srgbClr val="FFFFFF"/>
            </a:solidFill>
            <a:prstDash val="solid"/>
          </a:ln>
        </p:spPr>
      </p:sp>
      <p:sp>
        <p:nvSpPr>
          <p:cNvPr id="9" name="Shape 7"/>
          <p:cNvSpPr/>
          <p:nvPr/>
        </p:nvSpPr>
        <p:spPr>
          <a:xfrm>
            <a:off x="1051560" y="2004060"/>
            <a:ext cx="1463040" cy="0"/>
          </a:xfrm>
          <a:prstGeom prst="line">
            <a:avLst/>
          </a:prstGeom>
          <a:noFill/>
          <a:ln w="9525">
            <a:solidFill>
              <a:srgbClr val="8DB596"/>
            </a:solidFill>
            <a:prstDash val="solid"/>
          </a:ln>
        </p:spPr>
      </p:sp>
      <p:sp>
        <p:nvSpPr>
          <p:cNvPr id="10" name="Shape 8"/>
          <p:cNvSpPr/>
          <p:nvPr/>
        </p:nvSpPr>
        <p:spPr>
          <a:xfrm>
            <a:off x="1051560" y="2225040"/>
            <a:ext cx="1463040" cy="0"/>
          </a:xfrm>
          <a:prstGeom prst="line">
            <a:avLst/>
          </a:prstGeom>
          <a:noFill/>
          <a:ln w="9525">
            <a:solidFill>
              <a:srgbClr val="8DB596"/>
            </a:solidFill>
            <a:prstDash val="solid"/>
          </a:ln>
        </p:spPr>
      </p:sp>
      <p:sp>
        <p:nvSpPr>
          <p:cNvPr id="11" name="Shape 9"/>
          <p:cNvSpPr/>
          <p:nvPr/>
        </p:nvSpPr>
        <p:spPr>
          <a:xfrm>
            <a:off x="1051560" y="2446020"/>
            <a:ext cx="1463040" cy="0"/>
          </a:xfrm>
          <a:prstGeom prst="line">
            <a:avLst/>
          </a:prstGeom>
          <a:noFill/>
          <a:ln w="9525">
            <a:solidFill>
              <a:srgbClr val="8DB596"/>
            </a:solidFill>
            <a:prstDash val="solid"/>
          </a:ln>
        </p:spPr>
      </p:sp>
      <p:sp>
        <p:nvSpPr>
          <p:cNvPr id="12" name="Shape 10"/>
          <p:cNvSpPr/>
          <p:nvPr/>
        </p:nvSpPr>
        <p:spPr>
          <a:xfrm>
            <a:off x="1051560" y="2667000"/>
            <a:ext cx="1463040" cy="0"/>
          </a:xfrm>
          <a:prstGeom prst="line">
            <a:avLst/>
          </a:prstGeom>
          <a:noFill/>
          <a:ln w="9525">
            <a:solidFill>
              <a:srgbClr val="8DB596"/>
            </a:solidFill>
            <a:prstDash val="solid"/>
          </a:ln>
        </p:spPr>
      </p:sp>
      <p:sp>
        <p:nvSpPr>
          <p:cNvPr id="13" name="Shape 11"/>
          <p:cNvSpPr/>
          <p:nvPr/>
        </p:nvSpPr>
        <p:spPr>
          <a:xfrm>
            <a:off x="1051560" y="2887980"/>
            <a:ext cx="1463040" cy="0"/>
          </a:xfrm>
          <a:prstGeom prst="line">
            <a:avLst/>
          </a:prstGeom>
          <a:noFill/>
          <a:ln w="9525">
            <a:solidFill>
              <a:srgbClr val="8DB596"/>
            </a:solidFill>
            <a:prstDash val="solid"/>
          </a:ln>
        </p:spPr>
      </p:sp>
      <p:sp>
        <p:nvSpPr>
          <p:cNvPr id="14" name="Text 12"/>
          <p:cNvSpPr txBox="1"/>
          <p:nvPr/>
        </p:nvSpPr>
        <p:spPr>
          <a:xfrm>
            <a:off x="1051560" y="2263140"/>
            <a:ext cx="1463040" cy="365760"/>
          </a:xfrm>
          <a:prstGeom prst="rect">
            <a:avLst/>
          </a:prstGeom>
          <a:solidFill>
            <a:srgbClr val="2E5E4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Row A · 24" racks</a:t>
            </a:r>
            <a:endParaRPr lang="en-US" sz="1000" dirty="0"/>
          </a:p>
        </p:txBody>
      </p:sp>
      <p:sp>
        <p:nvSpPr>
          <p:cNvPr id="15" name="Text 13"/>
          <p:cNvSpPr txBox="1"/>
          <p:nvPr/>
        </p:nvSpPr>
        <p:spPr>
          <a:xfrm>
            <a:off x="1051560" y="3182112"/>
            <a:ext cx="146304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24"</a:t>
            </a:r>
            <a:endParaRPr lang="en-US" sz="1000" dirty="0"/>
          </a:p>
        </p:txBody>
      </p:sp>
      <p:sp>
        <p:nvSpPr>
          <p:cNvPr id="16" name="Shape 14"/>
          <p:cNvSpPr/>
          <p:nvPr/>
        </p:nvSpPr>
        <p:spPr>
          <a:xfrm>
            <a:off x="2514600" y="1783080"/>
            <a:ext cx="2194560" cy="1325880"/>
          </a:xfrm>
          <a:prstGeom prst="rect">
            <a:avLst/>
          </a:prstGeom>
          <a:solidFill>
            <a:srgbClr val="FBF1DE"/>
          </a:solidFill>
          <a:ln w="12700">
            <a:solidFill>
              <a:srgbClr val="D9962B"/>
            </a:solidFill>
            <a:prstDash val="dash"/>
          </a:ln>
        </p:spPr>
      </p:sp>
      <p:sp>
        <p:nvSpPr>
          <p:cNvPr id="17" name="Text 15"/>
          <p:cNvSpPr txBox="1"/>
          <p:nvPr/>
        </p:nvSpPr>
        <p:spPr>
          <a:xfrm>
            <a:off x="2514600" y="1874520"/>
            <a:ext cx="2194560" cy="274320"/>
          </a:xfrm>
          <a:prstGeom prst="rect">
            <a:avLst/>
          </a:prstGeom>
          <a:noFill/>
          <a:ln/>
        </p:spPr>
        <p:txBody>
          <a:bodyPr wrap="square" lIns="0" tIns="0" rIns="0" bIns="0" rtlCol="0" anchor="t"/>
          <a:lstStyle/>
          <a:p>
            <a:pPr algn="ctr" indent="0" marL="0">
              <a:buNone/>
            </a:pPr>
            <a:r>
              <a:rPr lang="en-US" sz="1000" b="1" dirty="0">
                <a:solidFill>
                  <a:srgbClr val="A36A12"/>
                </a:solidFill>
                <a:latin typeface="Calibri" pitchFamily="34" charset="0"/>
                <a:ea typeface="Calibri" pitchFamily="34" charset="-122"/>
                <a:cs typeface="Calibri" pitchFamily="34" charset="-120"/>
              </a:rPr>
              <a:t>36" harvest aisle</a:t>
            </a:r>
            <a:endParaRPr lang="en-US" sz="1000" dirty="0"/>
          </a:p>
        </p:txBody>
      </p:sp>
      <p:sp>
        <p:nvSpPr>
          <p:cNvPr id="18" name="Shape 16"/>
          <p:cNvSpPr/>
          <p:nvPr/>
        </p:nvSpPr>
        <p:spPr>
          <a:xfrm>
            <a:off x="2880360" y="2286000"/>
            <a:ext cx="1463040" cy="502920"/>
          </a:xfrm>
          <a:prstGeom prst="roundRect">
            <a:avLst>
              <a:gd name="adj" fmla="val 10909"/>
            </a:avLst>
          </a:prstGeom>
          <a:solidFill>
            <a:srgbClr val="FFFFFF"/>
          </a:solidFill>
          <a:ln w="12700">
            <a:solidFill>
              <a:srgbClr val="D9962B"/>
            </a:solidFill>
            <a:prstDash val="solid"/>
          </a:ln>
        </p:spPr>
      </p:sp>
      <p:sp>
        <p:nvSpPr>
          <p:cNvPr id="19" name="Text 17"/>
          <p:cNvSpPr txBox="1"/>
          <p:nvPr/>
        </p:nvSpPr>
        <p:spPr>
          <a:xfrm>
            <a:off x="2880360" y="2286000"/>
            <a:ext cx="1463040" cy="502920"/>
          </a:xfrm>
          <a:prstGeom prst="rect">
            <a:avLst/>
          </a:prstGeom>
          <a:noFill/>
          <a:ln/>
        </p:spPr>
        <p:txBody>
          <a:bodyPr wrap="square" lIns="0" tIns="0" rIns="0" bIns="0" rtlCol="0" anchor="ctr"/>
          <a:lstStyle/>
          <a:p>
            <a:pPr algn="ctr" indent="0" marL="0">
              <a:buNone/>
            </a:pPr>
            <a:r>
              <a:rPr lang="en-US" sz="1000" dirty="0">
                <a:solidFill>
                  <a:srgbClr val="1E2A26"/>
                </a:solidFill>
                <a:latin typeface="Calibri" pitchFamily="34" charset="0"/>
                <a:ea typeface="Calibri" pitchFamily="34" charset="-122"/>
                <a:cs typeface="Calibri" pitchFamily="34" charset="-120"/>
              </a:rPr>
              <a:t>24" cart</a:t>
            </a:r>
            <a:endParaRPr lang="en-US" sz="1000" dirty="0"/>
          </a:p>
        </p:txBody>
      </p:sp>
      <p:sp>
        <p:nvSpPr>
          <p:cNvPr id="20" name="Text 18"/>
          <p:cNvSpPr txBox="1"/>
          <p:nvPr/>
        </p:nvSpPr>
        <p:spPr>
          <a:xfrm>
            <a:off x="2514600" y="3182112"/>
            <a:ext cx="219456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36"</a:t>
            </a:r>
            <a:endParaRPr lang="en-US" sz="1000" dirty="0"/>
          </a:p>
        </p:txBody>
      </p:sp>
      <p:sp>
        <p:nvSpPr>
          <p:cNvPr id="21" name="Shape 19"/>
          <p:cNvSpPr/>
          <p:nvPr/>
        </p:nvSpPr>
        <p:spPr>
          <a:xfrm>
            <a:off x="4709160" y="1783080"/>
            <a:ext cx="1463040" cy="1325880"/>
          </a:xfrm>
          <a:prstGeom prst="rect">
            <a:avLst/>
          </a:prstGeom>
          <a:solidFill>
            <a:srgbClr val="2E5E4E"/>
          </a:solidFill>
          <a:ln w="12700">
            <a:solidFill>
              <a:srgbClr val="FFFFFF"/>
            </a:solidFill>
            <a:prstDash val="solid"/>
          </a:ln>
        </p:spPr>
      </p:sp>
      <p:sp>
        <p:nvSpPr>
          <p:cNvPr id="22" name="Shape 20"/>
          <p:cNvSpPr/>
          <p:nvPr/>
        </p:nvSpPr>
        <p:spPr>
          <a:xfrm>
            <a:off x="4709160" y="2004060"/>
            <a:ext cx="1463040" cy="0"/>
          </a:xfrm>
          <a:prstGeom prst="line">
            <a:avLst/>
          </a:prstGeom>
          <a:noFill/>
          <a:ln w="9525">
            <a:solidFill>
              <a:srgbClr val="8DB596"/>
            </a:solidFill>
            <a:prstDash val="solid"/>
          </a:ln>
        </p:spPr>
      </p:sp>
      <p:sp>
        <p:nvSpPr>
          <p:cNvPr id="23" name="Shape 21"/>
          <p:cNvSpPr/>
          <p:nvPr/>
        </p:nvSpPr>
        <p:spPr>
          <a:xfrm>
            <a:off x="4709160" y="2225040"/>
            <a:ext cx="1463040" cy="0"/>
          </a:xfrm>
          <a:prstGeom prst="line">
            <a:avLst/>
          </a:prstGeom>
          <a:noFill/>
          <a:ln w="9525">
            <a:solidFill>
              <a:srgbClr val="8DB596"/>
            </a:solidFill>
            <a:prstDash val="solid"/>
          </a:ln>
        </p:spPr>
      </p:sp>
      <p:sp>
        <p:nvSpPr>
          <p:cNvPr id="24" name="Shape 22"/>
          <p:cNvSpPr/>
          <p:nvPr/>
        </p:nvSpPr>
        <p:spPr>
          <a:xfrm>
            <a:off x="4709160" y="2446020"/>
            <a:ext cx="1463040" cy="0"/>
          </a:xfrm>
          <a:prstGeom prst="line">
            <a:avLst/>
          </a:prstGeom>
          <a:noFill/>
          <a:ln w="9525">
            <a:solidFill>
              <a:srgbClr val="8DB596"/>
            </a:solidFill>
            <a:prstDash val="solid"/>
          </a:ln>
        </p:spPr>
      </p:sp>
      <p:sp>
        <p:nvSpPr>
          <p:cNvPr id="25" name="Shape 23"/>
          <p:cNvSpPr/>
          <p:nvPr/>
        </p:nvSpPr>
        <p:spPr>
          <a:xfrm>
            <a:off x="4709160" y="2667000"/>
            <a:ext cx="1463040" cy="0"/>
          </a:xfrm>
          <a:prstGeom prst="line">
            <a:avLst/>
          </a:prstGeom>
          <a:noFill/>
          <a:ln w="9525">
            <a:solidFill>
              <a:srgbClr val="8DB596"/>
            </a:solidFill>
            <a:prstDash val="solid"/>
          </a:ln>
        </p:spPr>
      </p:sp>
      <p:sp>
        <p:nvSpPr>
          <p:cNvPr id="26" name="Shape 24"/>
          <p:cNvSpPr/>
          <p:nvPr/>
        </p:nvSpPr>
        <p:spPr>
          <a:xfrm>
            <a:off x="4709160" y="2887980"/>
            <a:ext cx="1463040" cy="0"/>
          </a:xfrm>
          <a:prstGeom prst="line">
            <a:avLst/>
          </a:prstGeom>
          <a:noFill/>
          <a:ln w="9525">
            <a:solidFill>
              <a:srgbClr val="8DB596"/>
            </a:solidFill>
            <a:prstDash val="solid"/>
          </a:ln>
        </p:spPr>
      </p:sp>
      <p:sp>
        <p:nvSpPr>
          <p:cNvPr id="27" name="Text 25"/>
          <p:cNvSpPr txBox="1"/>
          <p:nvPr/>
        </p:nvSpPr>
        <p:spPr>
          <a:xfrm>
            <a:off x="4709160" y="2263140"/>
            <a:ext cx="1463040" cy="365760"/>
          </a:xfrm>
          <a:prstGeom prst="rect">
            <a:avLst/>
          </a:prstGeom>
          <a:solidFill>
            <a:srgbClr val="2E5E4E"/>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Row B · 24" racks</a:t>
            </a:r>
            <a:endParaRPr lang="en-US" sz="1000" dirty="0"/>
          </a:p>
        </p:txBody>
      </p:sp>
      <p:sp>
        <p:nvSpPr>
          <p:cNvPr id="28" name="Text 26"/>
          <p:cNvSpPr txBox="1"/>
          <p:nvPr/>
        </p:nvSpPr>
        <p:spPr>
          <a:xfrm>
            <a:off x="4709160" y="3182112"/>
            <a:ext cx="146304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24"</a:t>
            </a:r>
            <a:endParaRPr lang="en-US" sz="1000" dirty="0"/>
          </a:p>
        </p:txBody>
      </p:sp>
      <p:sp>
        <p:nvSpPr>
          <p:cNvPr id="29" name="Text 27"/>
          <p:cNvSpPr txBox="1"/>
          <p:nvPr/>
        </p:nvSpPr>
        <p:spPr>
          <a:xfrm>
            <a:off x="6172200" y="3182112"/>
            <a:ext cx="365760" cy="22860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6"</a:t>
            </a:r>
            <a:endParaRPr lang="en-US" sz="1000" dirty="0"/>
          </a:p>
        </p:txBody>
      </p:sp>
      <p:sp>
        <p:nvSpPr>
          <p:cNvPr id="30" name="Shape 28"/>
          <p:cNvSpPr/>
          <p:nvPr/>
        </p:nvSpPr>
        <p:spPr>
          <a:xfrm>
            <a:off x="6537960" y="1783080"/>
            <a:ext cx="91440" cy="1325880"/>
          </a:xfrm>
          <a:prstGeom prst="rect">
            <a:avLst/>
          </a:prstGeom>
          <a:solidFill>
            <a:srgbClr val="1E2A26"/>
          </a:solidFill>
          <a:ln w="12700">
            <a:solidFill>
              <a:srgbClr val="1E2A26"/>
            </a:solidFill>
            <a:prstDash val="solid"/>
          </a:ln>
        </p:spPr>
      </p:sp>
      <p:sp>
        <p:nvSpPr>
          <p:cNvPr id="31" name="Text 29"/>
          <p:cNvSpPr txBox="1"/>
          <p:nvPr/>
        </p:nvSpPr>
        <p:spPr>
          <a:xfrm>
            <a:off x="594360" y="1417320"/>
            <a:ext cx="6035040" cy="274320"/>
          </a:xfrm>
          <a:prstGeom prst="rect">
            <a:avLst/>
          </a:prstGeom>
          <a:noFill/>
          <a:ln/>
        </p:spPr>
        <p:txBody>
          <a:bodyPr wrap="square" lIns="0" tIns="0" rIns="0" bIns="0" rtlCol="0" anchor="t"/>
          <a:lstStyle/>
          <a:p>
            <a:pPr indent="0" marL="0">
              <a:buNone/>
            </a:pPr>
            <a:r>
              <a:rPr lang="en-US" sz="1100" b="1" dirty="0">
                <a:solidFill>
                  <a:srgbClr val="14302A"/>
                </a:solidFill>
                <a:latin typeface="Calibri" pitchFamily="34" charset="0"/>
                <a:ea typeface="Calibri" pitchFamily="34" charset="-122"/>
                <a:cs typeface="Calibri" pitchFamily="34" charset="-120"/>
              </a:rPr>
              <a:t>Cross-section: 96" minimum clear width (10 ft room gives extra wall clearance)</a:t>
            </a:r>
            <a:endParaRPr lang="en-US" sz="1100" dirty="0"/>
          </a:p>
        </p:txBody>
      </p:sp>
      <p:sp>
        <p:nvSpPr>
          <p:cNvPr id="32" name="Text 30"/>
          <p:cNvSpPr txBox="1"/>
          <p:nvPr/>
        </p:nvSpPr>
        <p:spPr>
          <a:xfrm>
            <a:off x="594360" y="3429000"/>
            <a:ext cx="6035040" cy="457200"/>
          </a:xfrm>
          <a:prstGeom prst="rect">
            <a:avLst/>
          </a:prstGeom>
          <a:noFill/>
          <a:ln/>
        </p:spPr>
        <p:txBody>
          <a:bodyPr wrap="square" lIns="0" tIns="0" rIns="0" bIns="0" rtlCol="0" anchor="t"/>
          <a:lstStyle/>
          <a:p>
            <a:pPr indent="0" marL="0">
              <a:buNone/>
            </a:pPr>
            <a:r>
              <a:rPr lang="en-US" sz="1050" i="1" dirty="0">
                <a:solidFill>
                  <a:srgbClr val="5F6F69"/>
                </a:solidFill>
                <a:latin typeface="Calibri" pitchFamily="34" charset="0"/>
                <a:ea typeface="Calibri" pitchFamily="34" charset="-122"/>
                <a:cs typeface="Calibri" pitchFamily="34" charset="-120"/>
              </a:rPr>
              <a:t>Lowest tier 6–8" off the floor, where CO₂ pools. Tier pitch 16–18" so fruit bodies never touch the shelf above.</a:t>
            </a:r>
            <a:endParaRPr lang="en-US" sz="1050" dirty="0"/>
          </a:p>
        </p:txBody>
      </p:sp>
      <p:sp>
        <p:nvSpPr>
          <p:cNvPr id="33" name="Shape 31"/>
          <p:cNvSpPr/>
          <p:nvPr/>
        </p:nvSpPr>
        <p:spPr>
          <a:xfrm>
            <a:off x="6949440" y="1463040"/>
            <a:ext cx="4709160" cy="2423160"/>
          </a:xfrm>
          <a:prstGeom prst="roundRect">
            <a:avLst>
              <a:gd name="adj" fmla="val 3019"/>
            </a:avLst>
          </a:prstGeom>
          <a:solidFill>
            <a:srgbClr val="14302A"/>
          </a:solidFill>
          <a:ln w="9525">
            <a:solidFill>
              <a:srgbClr val="14302A"/>
            </a:solidFill>
            <a:prstDash val="solid"/>
          </a:ln>
        </p:spPr>
      </p:sp>
      <p:sp>
        <p:nvSpPr>
          <p:cNvPr id="34" name="Text 32"/>
          <p:cNvSpPr txBox="1"/>
          <p:nvPr/>
        </p:nvSpPr>
        <p:spPr>
          <a:xfrm>
            <a:off x="7178040" y="1572768"/>
            <a:ext cx="4297680" cy="320040"/>
          </a:xfrm>
          <a:prstGeom prst="rect">
            <a:avLst/>
          </a:prstGeom>
          <a:noFill/>
          <a:ln/>
        </p:spPr>
        <p:txBody>
          <a:bodyPr wrap="square" lIns="0" tIns="0" rIns="0" bIns="0" rtlCol="0" anchor="t"/>
          <a:lstStyle/>
          <a:p>
            <a:pPr indent="0" marL="0">
              <a:buNone/>
            </a:pPr>
            <a:r>
              <a:rPr lang="en-US" sz="1500" b="1" dirty="0">
                <a:solidFill>
                  <a:srgbClr val="FFFFFF"/>
                </a:solidFill>
                <a:latin typeface="Cambria" pitchFamily="34" charset="0"/>
                <a:ea typeface="Cambria" pitchFamily="34" charset="-122"/>
                <a:cs typeface="Cambria" pitchFamily="34" charset="-120"/>
              </a:rPr>
              <a:t>Capacity check</a:t>
            </a:r>
            <a:endParaRPr lang="en-US" sz="1500" dirty="0"/>
          </a:p>
        </p:txBody>
      </p:sp>
      <p:sp>
        <p:nvSpPr>
          <p:cNvPr id="35" name="Text 33"/>
          <p:cNvSpPr txBox="1"/>
          <p:nvPr/>
        </p:nvSpPr>
        <p:spPr>
          <a:xfrm>
            <a:off x="7178040" y="1938528"/>
            <a:ext cx="4343400" cy="187452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Per rack: 6 tiers × ~16 blocks (3–4" apart) = ~96 blocks</a:t>
            </a:r>
            <a:endParaRPr lang="en-US" sz="1250" dirty="0"/>
          </a:p>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Per 18 × 10 ft room: 2 rows × 4 racks = ~770 blocks</a:t>
            </a:r>
            <a:endParaRPr lang="en-US" sz="1250" dirty="0"/>
          </a:p>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Rooms A + B = ~1,540 blocks ≥ 1,500 needed (60/day × 25 days)</a:t>
            </a:r>
            <a:endParaRPr lang="en-US" sz="1250" dirty="0"/>
          </a:p>
          <a:p>
            <a:pPr marL="342900" indent="-3429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Site-note density of 30 blocks per shelf is too tight for Lion's Mane</a:t>
            </a:r>
            <a:endParaRPr lang="en-US" sz="1250" dirty="0"/>
          </a:p>
        </p:txBody>
      </p:sp>
      <p:sp>
        <p:nvSpPr>
          <p:cNvPr id="36" name="Shape 34"/>
          <p:cNvSpPr/>
          <p:nvPr/>
        </p:nvSpPr>
        <p:spPr>
          <a:xfrm>
            <a:off x="548640" y="4069080"/>
            <a:ext cx="3566160" cy="2194560"/>
          </a:xfrm>
          <a:prstGeom prst="roundRect">
            <a:avLst>
              <a:gd name="adj" fmla="val 3333"/>
            </a:avLst>
          </a:prstGeom>
          <a:solidFill>
            <a:srgbClr val="EEF4F0"/>
          </a:solidFill>
          <a:ln w="9525">
            <a:solidFill>
              <a:srgbClr val="EEF4F0"/>
            </a:solidFill>
            <a:prstDash val="solid"/>
          </a:ln>
        </p:spPr>
      </p:sp>
      <p:sp>
        <p:nvSpPr>
          <p:cNvPr id="37" name="Shape 35"/>
          <p:cNvSpPr/>
          <p:nvPr/>
        </p:nvSpPr>
        <p:spPr>
          <a:xfrm>
            <a:off x="731520" y="4206240"/>
            <a:ext cx="502920" cy="502920"/>
          </a:xfrm>
          <a:prstGeom prst="ellipse">
            <a:avLst/>
          </a:prstGeom>
          <a:solidFill>
            <a:srgbClr val="2E5E4E"/>
          </a:solidFill>
          <a:ln w="12700">
            <a:solidFill>
              <a:srgbClr val="2E5E4E"/>
            </a:solidFill>
            <a:prstDash val="solid"/>
          </a:ln>
        </p:spPr>
      </p:sp>
      <p:pic>
        <p:nvPicPr>
          <p:cNvPr id="38" name="Image 0" descr="preencoded.png">    </p:cNvPr>
          <p:cNvPicPr>
            <a:picLocks noChangeAspect="1"/>
          </p:cNvPicPr>
          <p:nvPr/>
        </p:nvPicPr>
        <p:blipFill>
          <a:blip r:embed="rId1"/>
          <a:stretch>
            <a:fillRect/>
          </a:stretch>
        </p:blipFill>
        <p:spPr>
          <a:xfrm>
            <a:off x="862279" y="4336999"/>
            <a:ext cx="241402" cy="241402"/>
          </a:xfrm>
          <a:prstGeom prst="rect">
            <a:avLst/>
          </a:prstGeom>
        </p:spPr>
      </p:pic>
      <p:sp>
        <p:nvSpPr>
          <p:cNvPr id="39" name="Text 36"/>
          <p:cNvSpPr txBox="1"/>
          <p:nvPr/>
        </p:nvSpPr>
        <p:spPr>
          <a:xfrm>
            <a:off x="1371600" y="422452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Fresh-air exchange</a:t>
            </a:r>
            <a:endParaRPr lang="en-US" sz="1400" dirty="0"/>
          </a:p>
        </p:txBody>
      </p:sp>
      <p:sp>
        <p:nvSpPr>
          <p:cNvPr id="40" name="Text 37"/>
          <p:cNvSpPr txBox="1"/>
          <p:nvPr/>
        </p:nvSpPr>
        <p:spPr>
          <a:xfrm>
            <a:off x="731520" y="4800600"/>
            <a:ext cx="3200400" cy="141732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Keep CO₂ &lt;800 ppm; above ~1,000 ppm spines elongate into coral shapes. Intake high through MERV 13 + mist, exhaust 6" off floor, 6–8 ACH on a CO₂ controller, 40-mesh insect screens.</a:t>
            </a:r>
            <a:endParaRPr lang="en-US" sz="1150" dirty="0"/>
          </a:p>
        </p:txBody>
      </p:sp>
      <p:sp>
        <p:nvSpPr>
          <p:cNvPr id="41" name="Shape 38"/>
          <p:cNvSpPr/>
          <p:nvPr/>
        </p:nvSpPr>
        <p:spPr>
          <a:xfrm>
            <a:off x="4297680" y="4069080"/>
            <a:ext cx="3566160" cy="2194560"/>
          </a:xfrm>
          <a:prstGeom prst="roundRect">
            <a:avLst>
              <a:gd name="adj" fmla="val 3333"/>
            </a:avLst>
          </a:prstGeom>
          <a:solidFill>
            <a:srgbClr val="EEF4F0"/>
          </a:solidFill>
          <a:ln w="9525">
            <a:solidFill>
              <a:srgbClr val="EEF4F0"/>
            </a:solidFill>
            <a:prstDash val="solid"/>
          </a:ln>
        </p:spPr>
      </p:sp>
      <p:sp>
        <p:nvSpPr>
          <p:cNvPr id="42" name="Shape 39"/>
          <p:cNvSpPr/>
          <p:nvPr/>
        </p:nvSpPr>
        <p:spPr>
          <a:xfrm>
            <a:off x="4480560" y="4206240"/>
            <a:ext cx="502920" cy="502920"/>
          </a:xfrm>
          <a:prstGeom prst="ellipse">
            <a:avLst/>
          </a:prstGeom>
          <a:solidFill>
            <a:srgbClr val="D9962B"/>
          </a:solidFill>
          <a:ln w="12700">
            <a:solidFill>
              <a:srgbClr val="D9962B"/>
            </a:solidFill>
            <a:prstDash val="solid"/>
          </a:ln>
        </p:spPr>
      </p:sp>
      <p:pic>
        <p:nvPicPr>
          <p:cNvPr id="43" name="Image 1" descr="preencoded.png">    </p:cNvPr>
          <p:cNvPicPr>
            <a:picLocks noChangeAspect="1"/>
          </p:cNvPicPr>
          <p:nvPr/>
        </p:nvPicPr>
        <p:blipFill>
          <a:blip r:embed="rId2"/>
          <a:stretch>
            <a:fillRect/>
          </a:stretch>
        </p:blipFill>
        <p:spPr>
          <a:xfrm>
            <a:off x="4611319" y="4336999"/>
            <a:ext cx="241402" cy="241402"/>
          </a:xfrm>
          <a:prstGeom prst="rect">
            <a:avLst/>
          </a:prstGeom>
        </p:spPr>
      </p:pic>
      <p:sp>
        <p:nvSpPr>
          <p:cNvPr id="44" name="Text 40"/>
          <p:cNvSpPr txBox="1"/>
          <p:nvPr/>
        </p:nvSpPr>
        <p:spPr>
          <a:xfrm>
            <a:off x="5120640" y="422452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Humidity without wetting</a:t>
            </a:r>
            <a:endParaRPr lang="en-US" sz="1400" dirty="0"/>
          </a:p>
        </p:txBody>
      </p:sp>
      <p:sp>
        <p:nvSpPr>
          <p:cNvPr id="45" name="Text 41"/>
          <p:cNvSpPr txBox="1"/>
          <p:nvPr/>
        </p:nvSpPr>
        <p:spPr>
          <a:xfrm>
            <a:off x="4480560" y="4800600"/>
            <a:ext cx="3200400" cy="141732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85–95% RH from a 10–12 head ultrasonic fogger on a humidistat, fed with RO water. Droplets on the fruit cause yellowing and bacterial blotch; fog the air, never the mushroom.</a:t>
            </a:r>
            <a:endParaRPr lang="en-US" sz="1150" dirty="0"/>
          </a:p>
        </p:txBody>
      </p:sp>
      <p:sp>
        <p:nvSpPr>
          <p:cNvPr id="46" name="Shape 42"/>
          <p:cNvSpPr/>
          <p:nvPr/>
        </p:nvSpPr>
        <p:spPr>
          <a:xfrm>
            <a:off x="8046720" y="4069080"/>
            <a:ext cx="3566160" cy="2194560"/>
          </a:xfrm>
          <a:prstGeom prst="roundRect">
            <a:avLst>
              <a:gd name="adj" fmla="val 3333"/>
            </a:avLst>
          </a:prstGeom>
          <a:solidFill>
            <a:srgbClr val="EEF4F0"/>
          </a:solidFill>
          <a:ln w="9525">
            <a:solidFill>
              <a:srgbClr val="EEF4F0"/>
            </a:solidFill>
            <a:prstDash val="solid"/>
          </a:ln>
        </p:spPr>
      </p:sp>
      <p:sp>
        <p:nvSpPr>
          <p:cNvPr id="47" name="Shape 43"/>
          <p:cNvSpPr/>
          <p:nvPr/>
        </p:nvSpPr>
        <p:spPr>
          <a:xfrm>
            <a:off x="8229600" y="4206240"/>
            <a:ext cx="502920" cy="502920"/>
          </a:xfrm>
          <a:prstGeom prst="ellipse">
            <a:avLst/>
          </a:prstGeom>
          <a:solidFill>
            <a:srgbClr val="2E5E4E"/>
          </a:solidFill>
          <a:ln w="12700">
            <a:solidFill>
              <a:srgbClr val="2E5E4E"/>
            </a:solidFill>
            <a:prstDash val="solid"/>
          </a:ln>
        </p:spPr>
      </p:sp>
      <p:pic>
        <p:nvPicPr>
          <p:cNvPr id="48" name="Image 2" descr="preencoded.png">    </p:cNvPr>
          <p:cNvPicPr>
            <a:picLocks noChangeAspect="1"/>
          </p:cNvPicPr>
          <p:nvPr/>
        </p:nvPicPr>
        <p:blipFill>
          <a:blip r:embed="rId3"/>
          <a:stretch>
            <a:fillRect/>
          </a:stretch>
        </p:blipFill>
        <p:spPr>
          <a:xfrm>
            <a:off x="8360359" y="4336999"/>
            <a:ext cx="241402" cy="241402"/>
          </a:xfrm>
          <a:prstGeom prst="rect">
            <a:avLst/>
          </a:prstGeom>
        </p:spPr>
      </p:pic>
      <p:sp>
        <p:nvSpPr>
          <p:cNvPr id="49" name="Text 44"/>
          <p:cNvSpPr txBox="1"/>
          <p:nvPr/>
        </p:nvSpPr>
        <p:spPr>
          <a:xfrm>
            <a:off x="8869680" y="422452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Light &amp; initiation</a:t>
            </a:r>
            <a:endParaRPr lang="en-US" sz="1400" dirty="0"/>
          </a:p>
        </p:txBody>
      </p:sp>
      <p:sp>
        <p:nvSpPr>
          <p:cNvPr id="50" name="Text 45"/>
          <p:cNvSpPr txBox="1"/>
          <p:nvPr/>
        </p:nvSpPr>
        <p:spPr>
          <a:xfrm>
            <a:off x="8229600" y="4800600"/>
            <a:ext cx="3200400" cy="141732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12 h/day at 500–1,000 lux (6500 K waterproof LED). X-cut or 3–4 cm slit facing the aisle. Harvest at 0.5–1 cm spines, still white. Run A/B all-in, all-out for deep cleans.</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06 · EXPERT DESIGN REVIEW</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Corrections applied to the site notes before build</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109960" cy="914400"/>
        </p:xfrm>
        <a:graphic>
          <a:graphicData uri="http://schemas.openxmlformats.org/drawingml/2006/table">
            <a:tbl>
              <a:tblPr/>
              <a:tblGrid>
                <a:gridCol w="365760"/>
                <a:gridCol w="1737360"/>
                <a:gridCol w="2514600"/>
                <a:gridCol w="3108960"/>
                <a:gridCol w="338328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Item</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 the notes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Recommendation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matters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Biological efficiency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80–100%</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Plan at 65%; treat 80%+ as upside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Second flush is weak; lenders need a conservative base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Autoclave size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150–200 L vertical, 30 bags/cycle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400–500 L horizontal, double-door</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30 × 2.5 kg blocks do not physically fit 200 L</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Block sterilization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90–120 min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150–180 min hold, BI-validated</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Dense supplemented blocks heat slowly at the core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Prep room size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6 × 10 ft (60 sq ft)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~200 sq ft, or covered mixing annex</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155 kg/day mixing, bagging, drainage, washing</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Fruiting density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30 blocks/shelf, one 250 sq ft room</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~16 blocks/shelf, two 180 sq ft rooms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Fruit bodies need space; A/B allows sanitation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Power budget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140–160 kWh/day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200–250 kWh/day (summer)</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Autoclave + cooling vs. 40°C summers + block heat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DG set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15–20 kVA for all loads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20 kVA for life-support; autoclave on grid</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Autoclave heaters alone can exceed 20 kVA</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12064">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14302A"/>
                          </a:solidFill>
                          <a:latin typeface="Calibri" pitchFamily="34" charset="0"/>
                          <a:ea typeface="Calibri" pitchFamily="34" charset="-122"/>
                          <a:cs typeface="Calibri" pitchFamily="34" charset="-120"/>
                        </a:rPr>
                        <a:t>Health messaging</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"Cold use blocks absorption"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b="1" dirty="0">
                          <a:solidFill>
                            <a:srgbClr val="2E5E4E"/>
                          </a:solidFill>
                          <a:latin typeface="Calibri" pitchFamily="34" charset="0"/>
                          <a:ea typeface="Calibri" pitchFamily="34" charset="-122"/>
                          <a:cs typeface="Calibri" pitchFamily="34" charset="-120"/>
                        </a:rPr>
                        <a:t>Usage guidance only, no disease claims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FSSAI restricts claims; scientists will challenge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7" name="Text 4"/>
          <p:cNvSpPr txBox="1"/>
          <p:nvPr/>
        </p:nvSpPr>
        <p:spPr>
          <a:xfrm>
            <a:off x="548640" y="6126480"/>
            <a:ext cx="11064240" cy="27432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These are the points a technical reviewer or lender is most likely to challenge; the rest of this plan already reflects them.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06 · EXPERT DESIGN REVIEW</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Space validation: the building must match the biology</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949440" cy="914400"/>
        </p:xfrm>
        <a:graphic>
          <a:graphicData uri="http://schemas.openxmlformats.org/drawingml/2006/table">
            <a:tbl>
              <a:tblPr/>
              <a:tblGrid>
                <a:gridCol w="2194560"/>
                <a:gridCol w="1554480"/>
                <a:gridCol w="1600200"/>
                <a:gridCol w="1600200"/>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Zone (sq ft)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2-storey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Phase 1 · 60/day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Phase 2 · 90/day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0 · Bulk store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Off-site (1 km)</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Off-site ~300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Off-site ~400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 · Prep &amp; sterilization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200 + 2nd autoclave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 · Anteroom + clean lab</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160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160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3 · Incubation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130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300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4 · Fruiting rooms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250 (1 room)</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360 (2 × 180)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540 (3 × 180)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5 · Processing &amp; packing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250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1148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QC lab · office · FG store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120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On-site total</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~500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~1,220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~1,570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Blocks per 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60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90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Dry output, base case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~2.7 kg/day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~3.6 kg/day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~5.4 kg/day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bl>
          </a:graphicData>
        </a:graphic>
      </p:graphicFrame>
      <p:sp>
        <p:nvSpPr>
          <p:cNvPr id="7" name="Shape 4"/>
          <p:cNvSpPr/>
          <p:nvPr/>
        </p:nvSpPr>
        <p:spPr>
          <a:xfrm>
            <a:off x="7818120" y="1463040"/>
            <a:ext cx="3840480" cy="2377440"/>
          </a:xfrm>
          <a:prstGeom prst="roundRect">
            <a:avLst>
              <a:gd name="adj" fmla="val 3077"/>
            </a:avLst>
          </a:prstGeom>
          <a:solidFill>
            <a:srgbClr val="14302A"/>
          </a:solidFill>
          <a:ln w="9525">
            <a:solidFill>
              <a:srgbClr val="14302A"/>
            </a:solidFill>
            <a:prstDash val="solid"/>
          </a:ln>
        </p:spPr>
      </p:sp>
      <p:sp>
        <p:nvSpPr>
          <p:cNvPr id="8" name="Text 5"/>
          <p:cNvSpPr txBox="1"/>
          <p:nvPr/>
        </p:nvSpPr>
        <p:spPr>
          <a:xfrm>
            <a:off x="8046720" y="1600200"/>
            <a:ext cx="3474720" cy="320040"/>
          </a:xfrm>
          <a:prstGeom prst="rect">
            <a:avLst/>
          </a:prstGeom>
          <a:noFill/>
          <a:ln/>
        </p:spPr>
        <p:txBody>
          <a:bodyPr wrap="square" lIns="0" tIns="0" rIns="0" bIns="0" rtlCol="0" anchor="t"/>
          <a:lstStyle/>
          <a:p>
            <a:pPr indent="0" marL="0">
              <a:buNone/>
            </a:pPr>
            <a:r>
              <a:rPr lang="en-US" sz="1500" b="1" dirty="0">
                <a:solidFill>
                  <a:srgbClr val="D9962B"/>
                </a:solidFill>
                <a:latin typeface="Cambria" pitchFamily="34" charset="0"/>
                <a:ea typeface="Cambria" pitchFamily="34" charset="-122"/>
                <a:cs typeface="Cambria" pitchFamily="34" charset="-120"/>
              </a:rPr>
              <a:t>Finding</a:t>
            </a:r>
            <a:endParaRPr lang="en-US" sz="1500" dirty="0"/>
          </a:p>
        </p:txBody>
      </p:sp>
      <p:sp>
        <p:nvSpPr>
          <p:cNvPr id="9" name="Text 6"/>
          <p:cNvSpPr txBox="1"/>
          <p:nvPr/>
        </p:nvSpPr>
        <p:spPr>
          <a:xfrm>
            <a:off x="8046720" y="1965960"/>
            <a:ext cx="3429000" cy="178308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The 25 × 10 ft two-storey layout is a sound micro-lab, but its incubation and fruiting space caps output at ~45 blocks/day. It cannot carry the 5 kg/day target alone.</a:t>
            </a:r>
            <a:endParaRPr lang="en-US" sz="1300" dirty="0"/>
          </a:p>
        </p:txBody>
      </p:sp>
      <p:sp>
        <p:nvSpPr>
          <p:cNvPr id="10" name="Shape 7"/>
          <p:cNvSpPr/>
          <p:nvPr/>
        </p:nvSpPr>
        <p:spPr>
          <a:xfrm>
            <a:off x="7818120" y="4023360"/>
            <a:ext cx="3840480" cy="2240280"/>
          </a:xfrm>
          <a:prstGeom prst="roundRect">
            <a:avLst>
              <a:gd name="adj" fmla="val 3265"/>
            </a:avLst>
          </a:prstGeom>
          <a:solidFill>
            <a:srgbClr val="FBF1DE"/>
          </a:solidFill>
          <a:ln w="9525">
            <a:solidFill>
              <a:srgbClr val="FBF1DE"/>
            </a:solidFill>
            <a:prstDash val="solid"/>
          </a:ln>
        </p:spPr>
      </p:sp>
      <p:sp>
        <p:nvSpPr>
          <p:cNvPr id="11" name="Text 8"/>
          <p:cNvSpPr txBox="1"/>
          <p:nvPr/>
        </p:nvSpPr>
        <p:spPr>
          <a:xfrm>
            <a:off x="8046720" y="4133088"/>
            <a:ext cx="3474720" cy="320040"/>
          </a:xfrm>
          <a:prstGeom prst="rect">
            <a:avLst/>
          </a:prstGeom>
          <a:noFill/>
          <a:ln/>
        </p:spPr>
        <p:txBody>
          <a:bodyPr wrap="square" lIns="0" tIns="0" rIns="0" bIns="0" rtlCol="0" anchor="t"/>
          <a:lstStyle/>
          <a:p>
            <a:pPr indent="0" marL="0">
              <a:buNone/>
            </a:pPr>
            <a:r>
              <a:rPr lang="en-US" sz="1500" b="1" dirty="0">
                <a:solidFill>
                  <a:srgbClr val="A36A12"/>
                </a:solidFill>
                <a:latin typeface="Cambria" pitchFamily="34" charset="0"/>
                <a:ea typeface="Cambria" pitchFamily="34" charset="-122"/>
                <a:cs typeface="Cambria" pitchFamily="34" charset="-120"/>
              </a:rPr>
              <a:t>Recommendation</a:t>
            </a:r>
            <a:endParaRPr lang="en-US" sz="1500" dirty="0"/>
          </a:p>
        </p:txBody>
      </p:sp>
      <p:sp>
        <p:nvSpPr>
          <p:cNvPr id="12" name="Text 9"/>
          <p:cNvSpPr txBox="1"/>
          <p:nvPr/>
        </p:nvSpPr>
        <p:spPr>
          <a:xfrm>
            <a:off x="8046720" y="4480560"/>
            <a:ext cx="3429000" cy="173736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Run the existing building as a Phase 0 pilot (strain trial, BE and contamination baselines, buyer samples) while ~1,200 sq ft is fitted out, close to the ~1,000 sq ft in the original notes.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07 · PROCESSING</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Post-harvest: from fresh fruit body to stable powder in 24 hours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548640" y="1508760"/>
            <a:ext cx="1444752" cy="2240280"/>
          </a:xfrm>
          <a:prstGeom prst="roundRect">
            <a:avLst>
              <a:gd name="adj" fmla="val 5063"/>
            </a:avLst>
          </a:prstGeom>
          <a:solidFill>
            <a:srgbClr val="EEF4F0"/>
          </a:solidFill>
          <a:ln w="9525">
            <a:solidFill>
              <a:srgbClr val="EEF4F0"/>
            </a:solidFill>
            <a:prstDash val="solid"/>
          </a:ln>
        </p:spPr>
      </p:sp>
      <p:sp>
        <p:nvSpPr>
          <p:cNvPr id="7" name="Text 5"/>
          <p:cNvSpPr txBox="1"/>
          <p:nvPr/>
        </p:nvSpPr>
        <p:spPr>
          <a:xfrm>
            <a:off x="6858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1</a:t>
            </a:r>
            <a:endParaRPr lang="en-US" sz="2400" dirty="0"/>
          </a:p>
        </p:txBody>
      </p:sp>
      <p:sp>
        <p:nvSpPr>
          <p:cNvPr id="8" name="Text 6"/>
          <p:cNvSpPr txBox="1"/>
          <p:nvPr/>
        </p:nvSpPr>
        <p:spPr>
          <a:xfrm>
            <a:off x="6858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Harvest</a:t>
            </a:r>
            <a:endParaRPr lang="en-US" sz="1400" dirty="0"/>
          </a:p>
        </p:txBody>
      </p:sp>
      <p:sp>
        <p:nvSpPr>
          <p:cNvPr id="9" name="Text 7"/>
          <p:cNvSpPr txBox="1"/>
          <p:nvPr/>
        </p:nvSpPr>
        <p:spPr>
          <a:xfrm>
            <a:off x="6858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Spines 0.5–1 cm, white; cut at base with a clean knife</a:t>
            </a:r>
            <a:endParaRPr lang="en-US" sz="1150" dirty="0"/>
          </a:p>
        </p:txBody>
      </p:sp>
      <p:sp>
        <p:nvSpPr>
          <p:cNvPr id="10" name="Shape 8"/>
          <p:cNvSpPr/>
          <p:nvPr/>
        </p:nvSpPr>
        <p:spPr>
          <a:xfrm>
            <a:off x="2148840" y="1508760"/>
            <a:ext cx="1444752" cy="2240280"/>
          </a:xfrm>
          <a:prstGeom prst="roundRect">
            <a:avLst>
              <a:gd name="adj" fmla="val 5063"/>
            </a:avLst>
          </a:prstGeom>
          <a:solidFill>
            <a:srgbClr val="EEF4F0"/>
          </a:solidFill>
          <a:ln w="9525">
            <a:solidFill>
              <a:srgbClr val="EEF4F0"/>
            </a:solidFill>
            <a:prstDash val="solid"/>
          </a:ln>
        </p:spPr>
      </p:sp>
      <p:sp>
        <p:nvSpPr>
          <p:cNvPr id="11" name="Text 9"/>
          <p:cNvSpPr txBox="1"/>
          <p:nvPr/>
        </p:nvSpPr>
        <p:spPr>
          <a:xfrm>
            <a:off x="22860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2</a:t>
            </a:r>
            <a:endParaRPr lang="en-US" sz="2400" dirty="0"/>
          </a:p>
        </p:txBody>
      </p:sp>
      <p:sp>
        <p:nvSpPr>
          <p:cNvPr id="12" name="Text 10"/>
          <p:cNvSpPr txBox="1"/>
          <p:nvPr/>
        </p:nvSpPr>
        <p:spPr>
          <a:xfrm>
            <a:off x="22860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Hold</a:t>
            </a:r>
            <a:endParaRPr lang="en-US" sz="1400" dirty="0"/>
          </a:p>
        </p:txBody>
      </p:sp>
      <p:sp>
        <p:nvSpPr>
          <p:cNvPr id="13" name="Text 11"/>
          <p:cNvSpPr txBox="1"/>
          <p:nvPr/>
        </p:nvSpPr>
        <p:spPr>
          <a:xfrm>
            <a:off x="22860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&lt;4 h in single-layer vented crates; 2–4°C if delayed</a:t>
            </a:r>
            <a:endParaRPr lang="en-US" sz="1150" dirty="0"/>
          </a:p>
        </p:txBody>
      </p:sp>
      <p:sp>
        <p:nvSpPr>
          <p:cNvPr id="14" name="Shape 12"/>
          <p:cNvSpPr/>
          <p:nvPr/>
        </p:nvSpPr>
        <p:spPr>
          <a:xfrm>
            <a:off x="3749040" y="1508760"/>
            <a:ext cx="1444752" cy="2240280"/>
          </a:xfrm>
          <a:prstGeom prst="roundRect">
            <a:avLst>
              <a:gd name="adj" fmla="val 5063"/>
            </a:avLst>
          </a:prstGeom>
          <a:solidFill>
            <a:srgbClr val="EEF4F0"/>
          </a:solidFill>
          <a:ln w="9525">
            <a:solidFill>
              <a:srgbClr val="EEF4F0"/>
            </a:solidFill>
            <a:prstDash val="solid"/>
          </a:ln>
        </p:spPr>
      </p:sp>
      <p:sp>
        <p:nvSpPr>
          <p:cNvPr id="15" name="Text 13"/>
          <p:cNvSpPr txBox="1"/>
          <p:nvPr/>
        </p:nvSpPr>
        <p:spPr>
          <a:xfrm>
            <a:off x="38862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3</a:t>
            </a:r>
            <a:endParaRPr lang="en-US" sz="2400" dirty="0"/>
          </a:p>
        </p:txBody>
      </p:sp>
      <p:sp>
        <p:nvSpPr>
          <p:cNvPr id="16" name="Text 14"/>
          <p:cNvSpPr txBox="1"/>
          <p:nvPr/>
        </p:nvSpPr>
        <p:spPr>
          <a:xfrm>
            <a:off x="38862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Slice</a:t>
            </a:r>
            <a:endParaRPr lang="en-US" sz="1400" dirty="0"/>
          </a:p>
        </p:txBody>
      </p:sp>
      <p:sp>
        <p:nvSpPr>
          <p:cNvPr id="17" name="Text 15"/>
          <p:cNvSpPr txBox="1"/>
          <p:nvPr/>
        </p:nvSpPr>
        <p:spPr>
          <a:xfrm>
            <a:off x="38862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8–10 mm on electric slicer for even drying</a:t>
            </a:r>
            <a:endParaRPr lang="en-US" sz="1150" dirty="0"/>
          </a:p>
        </p:txBody>
      </p:sp>
      <p:sp>
        <p:nvSpPr>
          <p:cNvPr id="18" name="Shape 16"/>
          <p:cNvSpPr/>
          <p:nvPr/>
        </p:nvSpPr>
        <p:spPr>
          <a:xfrm>
            <a:off x="5349240" y="1508760"/>
            <a:ext cx="1444752" cy="2240280"/>
          </a:xfrm>
          <a:prstGeom prst="roundRect">
            <a:avLst>
              <a:gd name="adj" fmla="val 5063"/>
            </a:avLst>
          </a:prstGeom>
          <a:solidFill>
            <a:srgbClr val="14302A"/>
          </a:solidFill>
          <a:ln w="9525">
            <a:solidFill>
              <a:srgbClr val="14302A"/>
            </a:solidFill>
            <a:prstDash val="solid"/>
          </a:ln>
        </p:spPr>
      </p:sp>
      <p:sp>
        <p:nvSpPr>
          <p:cNvPr id="19" name="Text 17"/>
          <p:cNvSpPr txBox="1"/>
          <p:nvPr/>
        </p:nvSpPr>
        <p:spPr>
          <a:xfrm>
            <a:off x="5486400" y="1600200"/>
            <a:ext cx="457200" cy="457200"/>
          </a:xfrm>
          <a:prstGeom prst="rect">
            <a:avLst/>
          </a:prstGeom>
          <a:noFill/>
          <a:ln/>
        </p:spPr>
        <p:txBody>
          <a:bodyPr wrap="square" lIns="0" tIns="0" rIns="0" bIns="0" rtlCol="0" anchor="t"/>
          <a:lstStyle/>
          <a:p>
            <a:pPr indent="0" marL="0">
              <a:buNone/>
            </a:pPr>
            <a:r>
              <a:rPr lang="en-US" sz="2400" b="1" dirty="0">
                <a:solidFill>
                  <a:srgbClr val="D9962B"/>
                </a:solidFill>
                <a:latin typeface="Cambria" pitchFamily="34" charset="0"/>
                <a:ea typeface="Cambria" pitchFamily="34" charset="-122"/>
                <a:cs typeface="Cambria" pitchFamily="34" charset="-120"/>
              </a:rPr>
              <a:t>4</a:t>
            </a:r>
            <a:endParaRPr lang="en-US" sz="2400" dirty="0"/>
          </a:p>
        </p:txBody>
      </p:sp>
      <p:sp>
        <p:nvSpPr>
          <p:cNvPr id="20" name="Text 18"/>
          <p:cNvSpPr txBox="1"/>
          <p:nvPr/>
        </p:nvSpPr>
        <p:spPr>
          <a:xfrm>
            <a:off x="5486400" y="2057400"/>
            <a:ext cx="1170432" cy="36576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Dehydrate</a:t>
            </a:r>
            <a:endParaRPr lang="en-US" sz="1400" dirty="0"/>
          </a:p>
        </p:txBody>
      </p:sp>
      <p:sp>
        <p:nvSpPr>
          <p:cNvPr id="21" name="Text 19"/>
          <p:cNvSpPr txBox="1"/>
          <p:nvPr/>
        </p:nvSpPr>
        <p:spPr>
          <a:xfrm>
            <a:off x="5486400" y="2450592"/>
            <a:ext cx="1197864"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45–50°C for 10–16 h to protect heat-labile actives</a:t>
            </a:r>
            <a:endParaRPr lang="en-US" sz="1150" dirty="0"/>
          </a:p>
        </p:txBody>
      </p:sp>
      <p:sp>
        <p:nvSpPr>
          <p:cNvPr id="22" name="Shape 20"/>
          <p:cNvSpPr/>
          <p:nvPr/>
        </p:nvSpPr>
        <p:spPr>
          <a:xfrm>
            <a:off x="6949440" y="1508760"/>
            <a:ext cx="1444752" cy="2240280"/>
          </a:xfrm>
          <a:prstGeom prst="roundRect">
            <a:avLst>
              <a:gd name="adj" fmla="val 5063"/>
            </a:avLst>
          </a:prstGeom>
          <a:solidFill>
            <a:srgbClr val="EEF4F0"/>
          </a:solidFill>
          <a:ln w="9525">
            <a:solidFill>
              <a:srgbClr val="EEF4F0"/>
            </a:solidFill>
            <a:prstDash val="solid"/>
          </a:ln>
        </p:spPr>
      </p:sp>
      <p:sp>
        <p:nvSpPr>
          <p:cNvPr id="23" name="Text 21"/>
          <p:cNvSpPr txBox="1"/>
          <p:nvPr/>
        </p:nvSpPr>
        <p:spPr>
          <a:xfrm>
            <a:off x="70866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5</a:t>
            </a:r>
            <a:endParaRPr lang="en-US" sz="2400" dirty="0"/>
          </a:p>
        </p:txBody>
      </p:sp>
      <p:sp>
        <p:nvSpPr>
          <p:cNvPr id="24" name="Text 22"/>
          <p:cNvSpPr txBox="1"/>
          <p:nvPr/>
        </p:nvSpPr>
        <p:spPr>
          <a:xfrm>
            <a:off x="70866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Verify</a:t>
            </a:r>
            <a:endParaRPr lang="en-US" sz="1400" dirty="0"/>
          </a:p>
        </p:txBody>
      </p:sp>
      <p:sp>
        <p:nvSpPr>
          <p:cNvPr id="25" name="Text 23"/>
          <p:cNvSpPr txBox="1"/>
          <p:nvPr/>
        </p:nvSpPr>
        <p:spPr>
          <a:xfrm>
            <a:off x="70866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Moisture ≤8%, aw ≤0.60; pieces snap cleanly</a:t>
            </a:r>
            <a:endParaRPr lang="en-US" sz="1150" dirty="0"/>
          </a:p>
        </p:txBody>
      </p:sp>
      <p:sp>
        <p:nvSpPr>
          <p:cNvPr id="26" name="Shape 24"/>
          <p:cNvSpPr/>
          <p:nvPr/>
        </p:nvSpPr>
        <p:spPr>
          <a:xfrm>
            <a:off x="8549640" y="1508760"/>
            <a:ext cx="1444752" cy="2240280"/>
          </a:xfrm>
          <a:prstGeom prst="roundRect">
            <a:avLst>
              <a:gd name="adj" fmla="val 5063"/>
            </a:avLst>
          </a:prstGeom>
          <a:solidFill>
            <a:srgbClr val="EEF4F0"/>
          </a:solidFill>
          <a:ln w="9525">
            <a:solidFill>
              <a:srgbClr val="EEF4F0"/>
            </a:solidFill>
            <a:prstDash val="solid"/>
          </a:ln>
        </p:spPr>
      </p:sp>
      <p:sp>
        <p:nvSpPr>
          <p:cNvPr id="27" name="Text 25"/>
          <p:cNvSpPr txBox="1"/>
          <p:nvPr/>
        </p:nvSpPr>
        <p:spPr>
          <a:xfrm>
            <a:off x="86868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6</a:t>
            </a:r>
            <a:endParaRPr lang="en-US" sz="2400" dirty="0"/>
          </a:p>
        </p:txBody>
      </p:sp>
      <p:sp>
        <p:nvSpPr>
          <p:cNvPr id="28" name="Text 26"/>
          <p:cNvSpPr txBox="1"/>
          <p:nvPr/>
        </p:nvSpPr>
        <p:spPr>
          <a:xfrm>
            <a:off x="86868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Mill &amp; sieve</a:t>
            </a:r>
            <a:endParaRPr lang="en-US" sz="1400" dirty="0"/>
          </a:p>
        </p:txBody>
      </p:sp>
      <p:sp>
        <p:nvSpPr>
          <p:cNvPr id="29" name="Text 27"/>
          <p:cNvSpPr txBox="1"/>
          <p:nvPr/>
        </p:nvSpPr>
        <p:spPr>
          <a:xfrm>
            <a:off x="86868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3 HP pulverizer; 80–100 mesh; magnet trap</a:t>
            </a:r>
            <a:endParaRPr lang="en-US" sz="1150" dirty="0"/>
          </a:p>
        </p:txBody>
      </p:sp>
      <p:sp>
        <p:nvSpPr>
          <p:cNvPr id="30" name="Shape 28"/>
          <p:cNvSpPr/>
          <p:nvPr/>
        </p:nvSpPr>
        <p:spPr>
          <a:xfrm>
            <a:off x="10149840" y="1508760"/>
            <a:ext cx="1444752" cy="2240280"/>
          </a:xfrm>
          <a:prstGeom prst="roundRect">
            <a:avLst>
              <a:gd name="adj" fmla="val 5063"/>
            </a:avLst>
          </a:prstGeom>
          <a:solidFill>
            <a:srgbClr val="EEF4F0"/>
          </a:solidFill>
          <a:ln w="9525">
            <a:solidFill>
              <a:srgbClr val="EEF4F0"/>
            </a:solidFill>
            <a:prstDash val="solid"/>
          </a:ln>
        </p:spPr>
      </p:sp>
      <p:sp>
        <p:nvSpPr>
          <p:cNvPr id="31" name="Text 29"/>
          <p:cNvSpPr txBox="1"/>
          <p:nvPr/>
        </p:nvSpPr>
        <p:spPr>
          <a:xfrm>
            <a:off x="10287000" y="1600200"/>
            <a:ext cx="457200" cy="457200"/>
          </a:xfrm>
          <a:prstGeom prst="rect">
            <a:avLst/>
          </a:prstGeom>
          <a:noFill/>
          <a:ln/>
        </p:spPr>
        <p:txBody>
          <a:bodyPr wrap="square" lIns="0" tIns="0" rIns="0" bIns="0" rtlCol="0" anchor="t"/>
          <a:lstStyle/>
          <a:p>
            <a:pPr indent="0" marL="0">
              <a:buNone/>
            </a:pPr>
            <a:r>
              <a:rPr lang="en-US" sz="2400" b="1" dirty="0">
                <a:solidFill>
                  <a:srgbClr val="2E5E4E"/>
                </a:solidFill>
                <a:latin typeface="Cambria" pitchFamily="34" charset="0"/>
                <a:ea typeface="Cambria" pitchFamily="34" charset="-122"/>
                <a:cs typeface="Cambria" pitchFamily="34" charset="-120"/>
              </a:rPr>
              <a:t>7</a:t>
            </a:r>
            <a:endParaRPr lang="en-US" sz="2400" dirty="0"/>
          </a:p>
        </p:txBody>
      </p:sp>
      <p:sp>
        <p:nvSpPr>
          <p:cNvPr id="32" name="Text 30"/>
          <p:cNvSpPr txBox="1"/>
          <p:nvPr/>
        </p:nvSpPr>
        <p:spPr>
          <a:xfrm>
            <a:off x="10287000" y="2057400"/>
            <a:ext cx="1170432" cy="36576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Pack &amp; code</a:t>
            </a:r>
            <a:endParaRPr lang="en-US" sz="1400" dirty="0"/>
          </a:p>
        </p:txBody>
      </p:sp>
      <p:sp>
        <p:nvSpPr>
          <p:cNvPr id="33" name="Text 31"/>
          <p:cNvSpPr txBox="1"/>
          <p:nvPr/>
        </p:nvSpPr>
        <p:spPr>
          <a:xfrm>
            <a:off x="10287000" y="2450592"/>
            <a:ext cx="1197864" cy="12344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&lt;40% RH room; foil + desiccant; lot code</a:t>
            </a:r>
            <a:endParaRPr lang="en-US" sz="1150" dirty="0"/>
          </a:p>
        </p:txBody>
      </p:sp>
      <p:sp>
        <p:nvSpPr>
          <p:cNvPr id="34" name="Shape 32"/>
          <p:cNvSpPr/>
          <p:nvPr/>
        </p:nvSpPr>
        <p:spPr>
          <a:xfrm>
            <a:off x="548640" y="4023360"/>
            <a:ext cx="3566160" cy="2194560"/>
          </a:xfrm>
          <a:prstGeom prst="roundRect">
            <a:avLst>
              <a:gd name="adj" fmla="val 3333"/>
            </a:avLst>
          </a:prstGeom>
          <a:solidFill>
            <a:srgbClr val="FFFFFF"/>
          </a:solidFill>
          <a:ln w="9525">
            <a:solidFill>
              <a:srgbClr val="D3DED8"/>
            </a:solidFill>
            <a:prstDash val="solid"/>
          </a:ln>
        </p:spPr>
      </p:sp>
      <p:sp>
        <p:nvSpPr>
          <p:cNvPr id="35" name="Shape 33"/>
          <p:cNvSpPr/>
          <p:nvPr/>
        </p:nvSpPr>
        <p:spPr>
          <a:xfrm>
            <a:off x="731520" y="4160520"/>
            <a:ext cx="502920" cy="502920"/>
          </a:xfrm>
          <a:prstGeom prst="ellipse">
            <a:avLst/>
          </a:prstGeom>
          <a:solidFill>
            <a:srgbClr val="2E5E4E"/>
          </a:solidFill>
          <a:ln w="12700">
            <a:solidFill>
              <a:srgbClr val="2E5E4E"/>
            </a:solidFill>
            <a:prstDash val="solid"/>
          </a:ln>
        </p:spPr>
      </p:sp>
      <p:pic>
        <p:nvPicPr>
          <p:cNvPr id="36" name="Image 0" descr="preencoded.png">    </p:cNvPr>
          <p:cNvPicPr>
            <a:picLocks noChangeAspect="1"/>
          </p:cNvPicPr>
          <p:nvPr/>
        </p:nvPicPr>
        <p:blipFill>
          <a:blip r:embed="rId1"/>
          <a:stretch>
            <a:fillRect/>
          </a:stretch>
        </p:blipFill>
        <p:spPr>
          <a:xfrm>
            <a:off x="862279" y="4291279"/>
            <a:ext cx="241402" cy="241402"/>
          </a:xfrm>
          <a:prstGeom prst="rect">
            <a:avLst/>
          </a:prstGeom>
        </p:spPr>
      </p:pic>
      <p:sp>
        <p:nvSpPr>
          <p:cNvPr id="37" name="Text 34"/>
          <p:cNvSpPr txBox="1"/>
          <p:nvPr/>
        </p:nvSpPr>
        <p:spPr>
          <a:xfrm>
            <a:off x="1371600" y="417880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Dryer sized to the harvest</a:t>
            </a:r>
            <a:endParaRPr lang="en-US" sz="1400" dirty="0"/>
          </a:p>
        </p:txBody>
      </p:sp>
      <p:sp>
        <p:nvSpPr>
          <p:cNvPr id="38" name="Text 35"/>
          <p:cNvSpPr txBox="1"/>
          <p:nvPr/>
        </p:nvSpPr>
        <p:spPr>
          <a:xfrm>
            <a:off x="731520" y="4754880"/>
            <a:ext cx="3200400" cy="13716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A 96-tray dehydrator takes ~50–55 kg fresh per overnight run, matching Phase 1 peak harvest. Phase 2 adds a second unit.</a:t>
            </a:r>
            <a:endParaRPr lang="en-US" sz="1250" dirty="0"/>
          </a:p>
        </p:txBody>
      </p:sp>
      <p:sp>
        <p:nvSpPr>
          <p:cNvPr id="39" name="Shape 36"/>
          <p:cNvSpPr/>
          <p:nvPr/>
        </p:nvSpPr>
        <p:spPr>
          <a:xfrm>
            <a:off x="4297680" y="4023360"/>
            <a:ext cx="3566160" cy="2194560"/>
          </a:xfrm>
          <a:prstGeom prst="roundRect">
            <a:avLst>
              <a:gd name="adj" fmla="val 3333"/>
            </a:avLst>
          </a:prstGeom>
          <a:solidFill>
            <a:srgbClr val="FFFFFF"/>
          </a:solidFill>
          <a:ln w="9525">
            <a:solidFill>
              <a:srgbClr val="D3DED8"/>
            </a:solidFill>
            <a:prstDash val="solid"/>
          </a:ln>
        </p:spPr>
      </p:sp>
      <p:sp>
        <p:nvSpPr>
          <p:cNvPr id="40" name="Shape 37"/>
          <p:cNvSpPr/>
          <p:nvPr/>
        </p:nvSpPr>
        <p:spPr>
          <a:xfrm>
            <a:off x="4480560" y="4160520"/>
            <a:ext cx="502920" cy="502920"/>
          </a:xfrm>
          <a:prstGeom prst="ellipse">
            <a:avLst/>
          </a:prstGeom>
          <a:solidFill>
            <a:srgbClr val="2E5E4E"/>
          </a:solidFill>
          <a:ln w="12700">
            <a:solidFill>
              <a:srgbClr val="2E5E4E"/>
            </a:solidFill>
            <a:prstDash val="solid"/>
          </a:ln>
        </p:spPr>
      </p:sp>
      <p:pic>
        <p:nvPicPr>
          <p:cNvPr id="41" name="Image 1" descr="preencoded.png">    </p:cNvPr>
          <p:cNvPicPr>
            <a:picLocks noChangeAspect="1"/>
          </p:cNvPicPr>
          <p:nvPr/>
        </p:nvPicPr>
        <p:blipFill>
          <a:blip r:embed="rId2"/>
          <a:stretch>
            <a:fillRect/>
          </a:stretch>
        </p:blipFill>
        <p:spPr>
          <a:xfrm>
            <a:off x="4611319" y="4291279"/>
            <a:ext cx="241402" cy="241402"/>
          </a:xfrm>
          <a:prstGeom prst="rect">
            <a:avLst/>
          </a:prstGeom>
        </p:spPr>
      </p:pic>
      <p:sp>
        <p:nvSpPr>
          <p:cNvPr id="42" name="Text 38"/>
          <p:cNvSpPr txBox="1"/>
          <p:nvPr/>
        </p:nvSpPr>
        <p:spPr>
          <a:xfrm>
            <a:off x="5120640" y="417880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B2B packing spec</a:t>
            </a:r>
            <a:endParaRPr lang="en-US" sz="1400" dirty="0"/>
          </a:p>
        </p:txBody>
      </p:sp>
      <p:sp>
        <p:nvSpPr>
          <p:cNvPr id="43" name="Text 39"/>
          <p:cNvSpPr txBox="1"/>
          <p:nvPr/>
        </p:nvSpPr>
        <p:spPr>
          <a:xfrm>
            <a:off x="4480560" y="4754880"/>
            <a:ext cx="3200400" cy="13716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5 kg triple-laminate aluminium foil bags with desiccant, heat-sealed (vacuum or N₂ flush), 4 per HDPE drum. Shelf life 12–24 months.</a:t>
            </a:r>
            <a:endParaRPr lang="en-US" sz="1250" dirty="0"/>
          </a:p>
        </p:txBody>
      </p:sp>
      <p:sp>
        <p:nvSpPr>
          <p:cNvPr id="44" name="Shape 40"/>
          <p:cNvSpPr/>
          <p:nvPr/>
        </p:nvSpPr>
        <p:spPr>
          <a:xfrm>
            <a:off x="8046720" y="4023360"/>
            <a:ext cx="3566160" cy="2194560"/>
          </a:xfrm>
          <a:prstGeom prst="roundRect">
            <a:avLst>
              <a:gd name="adj" fmla="val 3333"/>
            </a:avLst>
          </a:prstGeom>
          <a:solidFill>
            <a:srgbClr val="FFFFFF"/>
          </a:solidFill>
          <a:ln w="9525">
            <a:solidFill>
              <a:srgbClr val="D3DED8"/>
            </a:solidFill>
            <a:prstDash val="solid"/>
          </a:ln>
        </p:spPr>
      </p:sp>
      <p:sp>
        <p:nvSpPr>
          <p:cNvPr id="45" name="Shape 41"/>
          <p:cNvSpPr/>
          <p:nvPr/>
        </p:nvSpPr>
        <p:spPr>
          <a:xfrm>
            <a:off x="8229600" y="4160520"/>
            <a:ext cx="502920" cy="502920"/>
          </a:xfrm>
          <a:prstGeom prst="ellipse">
            <a:avLst/>
          </a:prstGeom>
          <a:solidFill>
            <a:srgbClr val="D9962B"/>
          </a:solidFill>
          <a:ln w="12700">
            <a:solidFill>
              <a:srgbClr val="D9962B"/>
            </a:solidFill>
            <a:prstDash val="solid"/>
          </a:ln>
        </p:spPr>
      </p:sp>
      <p:pic>
        <p:nvPicPr>
          <p:cNvPr id="46" name="Image 2" descr="preencoded.png">    </p:cNvPr>
          <p:cNvPicPr>
            <a:picLocks noChangeAspect="1"/>
          </p:cNvPicPr>
          <p:nvPr/>
        </p:nvPicPr>
        <p:blipFill>
          <a:blip r:embed="rId3"/>
          <a:stretch>
            <a:fillRect/>
          </a:stretch>
        </p:blipFill>
        <p:spPr>
          <a:xfrm>
            <a:off x="8360359" y="4291279"/>
            <a:ext cx="241402" cy="241402"/>
          </a:xfrm>
          <a:prstGeom prst="rect">
            <a:avLst/>
          </a:prstGeom>
        </p:spPr>
      </p:pic>
      <p:sp>
        <p:nvSpPr>
          <p:cNvPr id="47" name="Text 42"/>
          <p:cNvSpPr txBox="1"/>
          <p:nvPr/>
        </p:nvSpPr>
        <p:spPr>
          <a:xfrm>
            <a:off x="8869680" y="4178808"/>
            <a:ext cx="2651760" cy="457200"/>
          </a:xfrm>
          <a:prstGeom prst="rect">
            <a:avLst/>
          </a:prstGeom>
          <a:noFill/>
          <a:ln/>
        </p:spPr>
        <p:txBody>
          <a:bodyPr wrap="square" lIns="0" tIns="0" rIns="0" bIns="0" rtlCol="0" anchor="ctr"/>
          <a:lstStyle/>
          <a:p>
            <a:pPr indent="0" marL="0">
              <a:buNone/>
            </a:pPr>
            <a:r>
              <a:rPr lang="en-US" sz="1400" b="1" dirty="0">
                <a:solidFill>
                  <a:srgbClr val="14302A"/>
                </a:solidFill>
                <a:latin typeface="Cambria" pitchFamily="34" charset="0"/>
                <a:ea typeface="Cambria" pitchFamily="34" charset="-122"/>
                <a:cs typeface="Cambria" pitchFamily="34" charset="-120"/>
              </a:rPr>
              <a:t>Monsoon defence</a:t>
            </a:r>
            <a:endParaRPr lang="en-US" sz="1400" dirty="0"/>
          </a:p>
        </p:txBody>
      </p:sp>
      <p:sp>
        <p:nvSpPr>
          <p:cNvPr id="48" name="Text 43"/>
          <p:cNvSpPr txBox="1"/>
          <p:nvPr/>
        </p:nvSpPr>
        <p:spPr>
          <a:xfrm>
            <a:off x="8229600" y="4754880"/>
            <a:ext cx="3200400" cy="137160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Powder is hygroscopic and clumps within minutes in monsoon air. A commercial dehumidifier holds the mill and pack room below 40% RH.</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08 · QUALITY &amp; COMPLIANCE</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Quality control: a CoA with every lot, controls at every step</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040880" cy="914400"/>
        </p:xfrm>
        <a:graphic>
          <a:graphicData uri="http://schemas.openxmlformats.org/drawingml/2006/table">
            <a:tbl>
              <a:tblPr/>
              <a:tblGrid>
                <a:gridCol w="2011680"/>
                <a:gridCol w="2834640"/>
                <a:gridCol w="2194560"/>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Specification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Identity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Macroscopy; ITS DNA barcode (per strain); HPTLC</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H. erinaceus fruiting body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Moisture / water activity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Loss on drying / aw meter</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 8% / ≤ 0.60</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β-glucans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Megazyme K-YBGL</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Report; target ≥ 20%</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α-glucan (starch)</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Megazyme enzymatic</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&lt; 5%: proves no grain filler</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Particle size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Sieve analysis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80–100 mesh</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Heavy metals (Pb, Cd, As, Hg)</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ICP-MS, NABL lab</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Within FSSAI contaminant limits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Microbiology</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TPC, yeast &amp; mould, E. coli, Salmonella, S. aureus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Within FSSAI / buyer limits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75488">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Pesticide residues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LC-MS/MS, GC-MS/MS</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Within FSSAI MRLs (none applied)</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7" name="Shape 4"/>
          <p:cNvSpPr/>
          <p:nvPr/>
        </p:nvSpPr>
        <p:spPr>
          <a:xfrm>
            <a:off x="7863840" y="1463040"/>
            <a:ext cx="3794760" cy="4800600"/>
          </a:xfrm>
          <a:prstGeom prst="roundRect">
            <a:avLst>
              <a:gd name="adj" fmla="val 1928"/>
            </a:avLst>
          </a:prstGeom>
          <a:solidFill>
            <a:srgbClr val="EEF4F0"/>
          </a:solidFill>
          <a:ln w="9525">
            <a:solidFill>
              <a:srgbClr val="EEF4F0"/>
            </a:solidFill>
            <a:prstDash val="solid"/>
          </a:ln>
        </p:spPr>
      </p:sp>
      <p:sp>
        <p:nvSpPr>
          <p:cNvPr id="8" name="Text 5"/>
          <p:cNvSpPr txBox="1"/>
          <p:nvPr/>
        </p:nvSpPr>
        <p:spPr>
          <a:xfrm>
            <a:off x="8092440" y="1600200"/>
            <a:ext cx="338328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In-process controls</a:t>
            </a:r>
            <a:endParaRPr lang="en-US" sz="1500" dirty="0"/>
          </a:p>
        </p:txBody>
      </p:sp>
      <p:sp>
        <p:nvSpPr>
          <p:cNvPr id="9" name="Text 6"/>
          <p:cNvSpPr txBox="1"/>
          <p:nvPr/>
        </p:nvSpPr>
        <p:spPr>
          <a:xfrm>
            <a:off x="8092440" y="2011680"/>
            <a:ext cx="3429000" cy="41148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Biological indicator in every weekly autoclave validation run.</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LAF settle plates weekly; particle count monthly.</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Contamination log per lot; targets &lt;5% blocks, &lt;2% spawn.</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Continuous T / RH / CO₂ data logging in every room.</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Lot code LM-YYMMDD-Room-Rack traces culture batch to dispatch.</a:t>
            </a:r>
            <a:endParaRPr lang="en-US" sz="1250" dirty="0"/>
          </a:p>
          <a:p>
            <a:pPr marL="342900" indent="-342900">
              <a:spcAft>
                <a:spcPts val="500"/>
              </a:spcAft>
              <a:buSzPct val="100000"/>
              <a:buChar char="•"/>
            </a:pPr>
            <a:r>
              <a:rPr lang="en-US" sz="1250" dirty="0">
                <a:solidFill>
                  <a:srgbClr val="1E2A26"/>
                </a:solidFill>
                <a:latin typeface="Calibri" pitchFamily="34" charset="0"/>
                <a:ea typeface="Calibri" pitchFamily="34" charset="-122"/>
                <a:cs typeface="Calibri" pitchFamily="34" charset="-120"/>
              </a:rPr>
              <a:t>Retained sample from every lot, kept 24 months.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09 · PRODUCTS &amp; MARKET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Value-addition roadmap: earn the right to each step</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548640" y="1508760"/>
            <a:ext cx="3566160" cy="4160520"/>
          </a:xfrm>
          <a:prstGeom prst="roundRect">
            <a:avLst>
              <a:gd name="adj" fmla="val 2051"/>
            </a:avLst>
          </a:prstGeom>
          <a:solidFill>
            <a:srgbClr val="EEF4F0"/>
          </a:solidFill>
          <a:ln w="9525">
            <a:solidFill>
              <a:srgbClr val="EEF4F0"/>
            </a:solidFill>
            <a:prstDash val="solid"/>
          </a:ln>
        </p:spPr>
      </p:sp>
      <p:sp>
        <p:nvSpPr>
          <p:cNvPr id="7" name="Text 5"/>
          <p:cNvSpPr txBox="1"/>
          <p:nvPr/>
        </p:nvSpPr>
        <p:spPr>
          <a:xfrm>
            <a:off x="777240" y="1664208"/>
            <a:ext cx="3108960" cy="274320"/>
          </a:xfrm>
          <a:prstGeom prst="rect">
            <a:avLst/>
          </a:prstGeom>
          <a:noFill/>
          <a:ln/>
        </p:spPr>
        <p:txBody>
          <a:bodyPr wrap="square" lIns="0" tIns="0" rIns="0" bIns="0" rtlCol="0" anchor="t"/>
          <a:lstStyle/>
          <a:p>
            <a:pPr indent="0" marL="0">
              <a:buNone/>
            </a:pPr>
            <a:r>
              <a:rPr lang="en-US" sz="1050" b="1" spc="100" kern="0" dirty="0">
                <a:solidFill>
                  <a:srgbClr val="D9962B"/>
                </a:solidFill>
                <a:latin typeface="Calibri" pitchFamily="34" charset="0"/>
                <a:ea typeface="Calibri" pitchFamily="34" charset="-122"/>
                <a:cs typeface="Calibri" pitchFamily="34" charset="-120"/>
              </a:rPr>
              <a:t>PHASE 1 · MONTH 7–18</a:t>
            </a:r>
            <a:endParaRPr lang="en-US" sz="1050" dirty="0"/>
          </a:p>
        </p:txBody>
      </p:sp>
      <p:sp>
        <p:nvSpPr>
          <p:cNvPr id="8" name="Text 6"/>
          <p:cNvSpPr txBox="1"/>
          <p:nvPr/>
        </p:nvSpPr>
        <p:spPr>
          <a:xfrm>
            <a:off x="777240" y="1965960"/>
            <a:ext cx="3108960" cy="457200"/>
          </a:xfrm>
          <a:prstGeom prst="rect">
            <a:avLst/>
          </a:prstGeom>
          <a:noFill/>
          <a:ln/>
        </p:spPr>
        <p:txBody>
          <a:bodyPr wrap="square" lIns="0" tIns="0" rIns="0" bIns="0" rtlCol="0" anchor="t"/>
          <a:lstStyle/>
          <a:p>
            <a:pPr indent="0" marL="0">
              <a:buNone/>
            </a:pPr>
            <a:r>
              <a:rPr lang="en-US" sz="2000" b="1" dirty="0">
                <a:solidFill>
                  <a:srgbClr val="14302A"/>
                </a:solidFill>
                <a:latin typeface="Cambria" pitchFamily="34" charset="0"/>
                <a:ea typeface="Cambria" pitchFamily="34" charset="-122"/>
                <a:cs typeface="Cambria" pitchFamily="34" charset="-120"/>
              </a:rPr>
              <a:t>Bulk ingredient</a:t>
            </a:r>
            <a:endParaRPr lang="en-US" sz="2000" dirty="0"/>
          </a:p>
        </p:txBody>
      </p:sp>
      <p:sp>
        <p:nvSpPr>
          <p:cNvPr id="9" name="Text 7"/>
          <p:cNvSpPr txBox="1"/>
          <p:nvPr/>
        </p:nvSpPr>
        <p:spPr>
          <a:xfrm>
            <a:off x="777240" y="2560320"/>
            <a:ext cx="315468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Fruiting-body powder, 80–100 mesh, 5 kg drums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Dried slices for extractors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Fresh surplus to local HoReCa</a:t>
            </a:r>
            <a:endParaRPr lang="en-US" sz="1400" dirty="0"/>
          </a:p>
        </p:txBody>
      </p:sp>
      <p:sp>
        <p:nvSpPr>
          <p:cNvPr id="10" name="Text 8"/>
          <p:cNvSpPr txBox="1"/>
          <p:nvPr/>
        </p:nvSpPr>
        <p:spPr>
          <a:xfrm>
            <a:off x="777240" y="4846320"/>
            <a:ext cx="3154680" cy="685800"/>
          </a:xfrm>
          <a:prstGeom prst="rect">
            <a:avLst/>
          </a:prstGeom>
          <a:noFill/>
          <a:ln/>
        </p:spPr>
        <p:txBody>
          <a:bodyPr wrap="square" lIns="0" tIns="0" rIns="0" bIns="0" rtlCol="0" anchor="t"/>
          <a:lstStyle/>
          <a:p>
            <a:pPr indent="0" marL="0">
              <a:buNone/>
            </a:pPr>
            <a:r>
              <a:rPr lang="en-US" sz="1150" i="1" dirty="0">
                <a:solidFill>
                  <a:srgbClr val="5F6F69"/>
                </a:solidFill>
                <a:latin typeface="Calibri" pitchFamily="34" charset="0"/>
                <a:ea typeface="Calibri" pitchFamily="34" charset="-122"/>
                <a:cs typeface="Calibri" pitchFamily="34" charset="-120"/>
              </a:rPr>
              <a:t>Needs: FSSAI licence · included in Phase-1 capex</a:t>
            </a:r>
            <a:endParaRPr lang="en-US" sz="1150" dirty="0"/>
          </a:p>
        </p:txBody>
      </p:sp>
      <p:sp>
        <p:nvSpPr>
          <p:cNvPr id="11" name="Shape 9"/>
          <p:cNvSpPr/>
          <p:nvPr/>
        </p:nvSpPr>
        <p:spPr>
          <a:xfrm>
            <a:off x="4133088" y="3566160"/>
            <a:ext cx="146304" cy="0"/>
          </a:xfrm>
          <a:prstGeom prst="line">
            <a:avLst/>
          </a:prstGeom>
          <a:noFill/>
          <a:ln w="19050">
            <a:solidFill>
              <a:srgbClr val="D9962B"/>
            </a:solidFill>
            <a:prstDash val="solid"/>
            <a:tailEnd type="triangle"/>
          </a:ln>
        </p:spPr>
      </p:sp>
      <p:sp>
        <p:nvSpPr>
          <p:cNvPr id="12" name="Shape 10"/>
          <p:cNvSpPr/>
          <p:nvPr/>
        </p:nvSpPr>
        <p:spPr>
          <a:xfrm>
            <a:off x="4297680" y="1508760"/>
            <a:ext cx="3566160" cy="4160520"/>
          </a:xfrm>
          <a:prstGeom prst="roundRect">
            <a:avLst>
              <a:gd name="adj" fmla="val 2051"/>
            </a:avLst>
          </a:prstGeom>
          <a:solidFill>
            <a:srgbClr val="EEF4F0"/>
          </a:solidFill>
          <a:ln w="9525">
            <a:solidFill>
              <a:srgbClr val="EEF4F0"/>
            </a:solidFill>
            <a:prstDash val="solid"/>
          </a:ln>
        </p:spPr>
      </p:sp>
      <p:sp>
        <p:nvSpPr>
          <p:cNvPr id="13" name="Text 11"/>
          <p:cNvSpPr txBox="1"/>
          <p:nvPr/>
        </p:nvSpPr>
        <p:spPr>
          <a:xfrm>
            <a:off x="4526280" y="1664208"/>
            <a:ext cx="3108960" cy="274320"/>
          </a:xfrm>
          <a:prstGeom prst="rect">
            <a:avLst/>
          </a:prstGeom>
          <a:noFill/>
          <a:ln/>
        </p:spPr>
        <p:txBody>
          <a:bodyPr wrap="square" lIns="0" tIns="0" rIns="0" bIns="0" rtlCol="0" anchor="t"/>
          <a:lstStyle/>
          <a:p>
            <a:pPr indent="0" marL="0">
              <a:buNone/>
            </a:pPr>
            <a:r>
              <a:rPr lang="en-US" sz="1050" b="1" spc="100" kern="0" dirty="0">
                <a:solidFill>
                  <a:srgbClr val="D9962B"/>
                </a:solidFill>
                <a:latin typeface="Calibri" pitchFamily="34" charset="0"/>
                <a:ea typeface="Calibri" pitchFamily="34" charset="-122"/>
                <a:cs typeface="Calibri" pitchFamily="34" charset="-120"/>
              </a:rPr>
              <a:t>PHASE 2 · YEAR 2</a:t>
            </a:r>
            <a:endParaRPr lang="en-US" sz="1050" dirty="0"/>
          </a:p>
        </p:txBody>
      </p:sp>
      <p:sp>
        <p:nvSpPr>
          <p:cNvPr id="14" name="Text 12"/>
          <p:cNvSpPr txBox="1"/>
          <p:nvPr/>
        </p:nvSpPr>
        <p:spPr>
          <a:xfrm>
            <a:off x="4526280" y="1965960"/>
            <a:ext cx="3108960" cy="457200"/>
          </a:xfrm>
          <a:prstGeom prst="rect">
            <a:avLst/>
          </a:prstGeom>
          <a:noFill/>
          <a:ln/>
        </p:spPr>
        <p:txBody>
          <a:bodyPr wrap="square" lIns="0" tIns="0" rIns="0" bIns="0" rtlCol="0" anchor="t"/>
          <a:lstStyle/>
          <a:p>
            <a:pPr indent="0" marL="0">
              <a:buNone/>
            </a:pPr>
            <a:r>
              <a:rPr lang="en-US" sz="2000" b="1" dirty="0">
                <a:solidFill>
                  <a:srgbClr val="14302A"/>
                </a:solidFill>
                <a:latin typeface="Cambria" pitchFamily="34" charset="0"/>
                <a:ea typeface="Cambria" pitchFamily="34" charset="-122"/>
                <a:cs typeface="Cambria" pitchFamily="34" charset="-120"/>
              </a:rPr>
              <a:t>Brand &amp; private label</a:t>
            </a:r>
            <a:endParaRPr lang="en-US" sz="2000" dirty="0"/>
          </a:p>
        </p:txBody>
      </p:sp>
      <p:sp>
        <p:nvSpPr>
          <p:cNvPr id="15" name="Text 13"/>
          <p:cNvSpPr txBox="1"/>
          <p:nvPr/>
        </p:nvSpPr>
        <p:spPr>
          <a:xfrm>
            <a:off x="4526280" y="2560320"/>
            <a:ext cx="315468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B2C 100 g pouches with hot-use instructions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Mushroom coffee / tea blends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Private label for D2C brands</a:t>
            </a:r>
            <a:endParaRPr lang="en-US" sz="1400" dirty="0"/>
          </a:p>
        </p:txBody>
      </p:sp>
      <p:sp>
        <p:nvSpPr>
          <p:cNvPr id="16" name="Text 14"/>
          <p:cNvSpPr txBox="1"/>
          <p:nvPr/>
        </p:nvSpPr>
        <p:spPr>
          <a:xfrm>
            <a:off x="4526280" y="4846320"/>
            <a:ext cx="3154680" cy="685800"/>
          </a:xfrm>
          <a:prstGeom prst="rect">
            <a:avLst/>
          </a:prstGeom>
          <a:noFill/>
          <a:ln/>
        </p:spPr>
        <p:txBody>
          <a:bodyPr wrap="square" lIns="0" tIns="0" rIns="0" bIns="0" rtlCol="0" anchor="t"/>
          <a:lstStyle/>
          <a:p>
            <a:pPr indent="0" marL="0">
              <a:buNone/>
            </a:pPr>
            <a:r>
              <a:rPr lang="en-US" sz="1150" i="1" dirty="0">
                <a:solidFill>
                  <a:srgbClr val="5F6F69"/>
                </a:solidFill>
                <a:latin typeface="Calibri" pitchFamily="34" charset="0"/>
                <a:ea typeface="Calibri" pitchFamily="34" charset="-122"/>
                <a:cs typeface="Calibri" pitchFamily="34" charset="-120"/>
              </a:rPr>
              <a:t>Needs: Legal Metrology (LMPC), trademark, pouch filler</a:t>
            </a:r>
            <a:endParaRPr lang="en-US" sz="1150" dirty="0"/>
          </a:p>
        </p:txBody>
      </p:sp>
      <p:sp>
        <p:nvSpPr>
          <p:cNvPr id="17" name="Shape 15"/>
          <p:cNvSpPr/>
          <p:nvPr/>
        </p:nvSpPr>
        <p:spPr>
          <a:xfrm>
            <a:off x="7882128" y="3566160"/>
            <a:ext cx="146304" cy="0"/>
          </a:xfrm>
          <a:prstGeom prst="line">
            <a:avLst/>
          </a:prstGeom>
          <a:noFill/>
          <a:ln w="19050">
            <a:solidFill>
              <a:srgbClr val="D9962B"/>
            </a:solidFill>
            <a:prstDash val="solid"/>
            <a:tailEnd type="triangle"/>
          </a:ln>
        </p:spPr>
      </p:sp>
      <p:sp>
        <p:nvSpPr>
          <p:cNvPr id="18" name="Shape 16"/>
          <p:cNvSpPr/>
          <p:nvPr/>
        </p:nvSpPr>
        <p:spPr>
          <a:xfrm>
            <a:off x="8046720" y="1508760"/>
            <a:ext cx="3566160" cy="4160520"/>
          </a:xfrm>
          <a:prstGeom prst="roundRect">
            <a:avLst>
              <a:gd name="adj" fmla="val 2051"/>
            </a:avLst>
          </a:prstGeom>
          <a:solidFill>
            <a:srgbClr val="14302A"/>
          </a:solidFill>
          <a:ln w="9525">
            <a:solidFill>
              <a:srgbClr val="14302A"/>
            </a:solidFill>
            <a:prstDash val="solid"/>
          </a:ln>
        </p:spPr>
      </p:sp>
      <p:sp>
        <p:nvSpPr>
          <p:cNvPr id="19" name="Text 17"/>
          <p:cNvSpPr txBox="1"/>
          <p:nvPr/>
        </p:nvSpPr>
        <p:spPr>
          <a:xfrm>
            <a:off x="8275320" y="1664208"/>
            <a:ext cx="3108960" cy="274320"/>
          </a:xfrm>
          <a:prstGeom prst="rect">
            <a:avLst/>
          </a:prstGeom>
          <a:noFill/>
          <a:ln/>
        </p:spPr>
        <p:txBody>
          <a:bodyPr wrap="square" lIns="0" tIns="0" rIns="0" bIns="0" rtlCol="0" anchor="t"/>
          <a:lstStyle/>
          <a:p>
            <a:pPr indent="0" marL="0">
              <a:buNone/>
            </a:pPr>
            <a:r>
              <a:rPr lang="en-US" sz="1050" b="1" spc="100" kern="0" dirty="0">
                <a:solidFill>
                  <a:srgbClr val="D9962B"/>
                </a:solidFill>
                <a:latin typeface="Calibri" pitchFamily="34" charset="0"/>
                <a:ea typeface="Calibri" pitchFamily="34" charset="-122"/>
                <a:cs typeface="Calibri" pitchFamily="34" charset="-120"/>
              </a:rPr>
              <a:t>PHASE 3 · YEAR 3+</a:t>
            </a:r>
            <a:endParaRPr lang="en-US" sz="1050" dirty="0"/>
          </a:p>
        </p:txBody>
      </p:sp>
      <p:sp>
        <p:nvSpPr>
          <p:cNvPr id="20" name="Text 18"/>
          <p:cNvSpPr txBox="1"/>
          <p:nvPr/>
        </p:nvSpPr>
        <p:spPr>
          <a:xfrm>
            <a:off x="8275320" y="1965960"/>
            <a:ext cx="3108960" cy="457200"/>
          </a:xfrm>
          <a:prstGeom prst="rect">
            <a:avLst/>
          </a:prstGeom>
          <a:noFill/>
          <a:ln/>
        </p:spPr>
        <p:txBody>
          <a:bodyPr wrap="square" lIns="0" tIns="0" rIns="0" bIns="0" rtlCol="0" anchor="t"/>
          <a:lstStyle/>
          <a:p>
            <a:pPr indent="0" marL="0">
              <a:buNone/>
            </a:pPr>
            <a:r>
              <a:rPr lang="en-US" sz="2000" b="1" dirty="0">
                <a:solidFill>
                  <a:srgbClr val="FFFFFF"/>
                </a:solidFill>
                <a:latin typeface="Cambria" pitchFamily="34" charset="0"/>
                <a:ea typeface="Cambria" pitchFamily="34" charset="-122"/>
                <a:cs typeface="Cambria" pitchFamily="34" charset="-120"/>
              </a:rPr>
              <a:t>Extracts</a:t>
            </a:r>
            <a:endParaRPr lang="en-US" sz="2000" dirty="0"/>
          </a:p>
        </p:txBody>
      </p:sp>
      <p:sp>
        <p:nvSpPr>
          <p:cNvPr id="21" name="Text 19"/>
          <p:cNvSpPr txBox="1"/>
          <p:nvPr/>
        </p:nvSpPr>
        <p:spPr>
          <a:xfrm>
            <a:off x="8275320" y="2560320"/>
            <a:ext cx="3154680" cy="210312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FFFFFF"/>
                </a:solidFill>
                <a:latin typeface="Calibri" pitchFamily="34" charset="0"/>
                <a:ea typeface="Calibri" pitchFamily="34" charset="-122"/>
                <a:cs typeface="Calibri" pitchFamily="34" charset="-120"/>
              </a:rPr>
              <a:t>Hot-water extract: vacuum evaporation + spray drying, standardized β-glucan</a:t>
            </a:r>
            <a:endParaRPr lang="en-US" sz="1400" dirty="0"/>
          </a:p>
          <a:p>
            <a:pPr marL="342900" indent="-342900">
              <a:spcAft>
                <a:spcPts val="500"/>
              </a:spcAft>
              <a:buSzPct val="100000"/>
              <a:buChar char="•"/>
            </a:pPr>
            <a:r>
              <a:rPr lang="en-US" sz="1400" dirty="0">
                <a:solidFill>
                  <a:srgbClr val="FFFFFF"/>
                </a:solidFill>
                <a:latin typeface="Calibri" pitchFamily="34" charset="0"/>
                <a:ea typeface="Calibri" pitchFamily="34" charset="-122"/>
                <a:cs typeface="Calibri" pitchFamily="34" charset="-120"/>
              </a:rPr>
              <a:t>Dual-extract tinctures: 70–95% ethanol + 80–90°C decoction, final &gt;25% ABV</a:t>
            </a:r>
            <a:endParaRPr lang="en-US" sz="1400" dirty="0"/>
          </a:p>
        </p:txBody>
      </p:sp>
      <p:sp>
        <p:nvSpPr>
          <p:cNvPr id="22" name="Text 20"/>
          <p:cNvSpPr txBox="1"/>
          <p:nvPr/>
        </p:nvSpPr>
        <p:spPr>
          <a:xfrm>
            <a:off x="8275320" y="4846320"/>
            <a:ext cx="3154680" cy="685800"/>
          </a:xfrm>
          <a:prstGeom prst="rect">
            <a:avLst/>
          </a:prstGeom>
          <a:noFill/>
          <a:ln/>
        </p:spPr>
        <p:txBody>
          <a:bodyPr wrap="square" lIns="0" tIns="0" rIns="0" bIns="0" rtlCol="0" anchor="t"/>
          <a:lstStyle/>
          <a:p>
            <a:pPr indent="0" marL="0">
              <a:buNone/>
            </a:pPr>
            <a:r>
              <a:rPr lang="en-US" sz="1150" i="1" dirty="0">
                <a:solidFill>
                  <a:srgbClr val="8DB596"/>
                </a:solidFill>
                <a:latin typeface="Calibri" pitchFamily="34" charset="0"/>
                <a:ea typeface="Calibri" pitchFamily="34" charset="-122"/>
                <a:cs typeface="Calibri" pitchFamily="34" charset="-120"/>
              </a:rPr>
              <a:t>Needs: extraction capex, HP Excise licence (ENA), fire upgrade</a:t>
            </a:r>
            <a:endParaRPr lang="en-US" sz="1150" dirty="0"/>
          </a:p>
        </p:txBody>
      </p:sp>
      <p:sp>
        <p:nvSpPr>
          <p:cNvPr id="23" name="Text 21"/>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200" i="1" dirty="0">
                <a:solidFill>
                  <a:srgbClr val="5F6F69"/>
                </a:solidFill>
                <a:latin typeface="Calibri" pitchFamily="34" charset="0"/>
                <a:ea typeface="Calibri" pitchFamily="34" charset="-122"/>
                <a:cs typeface="Calibri" pitchFamily="34" charset="-120"/>
              </a:rPr>
              <a:t>Realized price per kg rises at each step, but so do capex, licensing and working capital. Each phase is funded by the one before it.</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09 · PRODUCTS &amp; MARKET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Target buyers and what each one needs from us</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22</a:t>
            </a:r>
            <a:endParaRPr lang="en-US" sz="900" dirty="0"/>
          </a:p>
        </p:txBody>
      </p:sp>
      <p:sp>
        <p:nvSpPr>
          <p:cNvPr id="6" name="Shape 4"/>
          <p:cNvSpPr/>
          <p:nvPr/>
        </p:nvSpPr>
        <p:spPr>
          <a:xfrm>
            <a:off x="548640" y="1508760"/>
            <a:ext cx="5440680" cy="1828800"/>
          </a:xfrm>
          <a:prstGeom prst="roundRect">
            <a:avLst>
              <a:gd name="adj" fmla="val 4000"/>
            </a:avLst>
          </a:prstGeom>
          <a:solidFill>
            <a:srgbClr val="EEF4F0"/>
          </a:solidFill>
          <a:ln w="9525">
            <a:solidFill>
              <a:srgbClr val="EEF4F0"/>
            </a:solidFill>
            <a:prstDash val="solid"/>
          </a:ln>
        </p:spPr>
      </p:sp>
      <p:sp>
        <p:nvSpPr>
          <p:cNvPr id="7" name="Shape 5"/>
          <p:cNvSpPr/>
          <p:nvPr/>
        </p:nvSpPr>
        <p:spPr>
          <a:xfrm>
            <a:off x="777240" y="1783080"/>
            <a:ext cx="640080" cy="640080"/>
          </a:xfrm>
          <a:prstGeom prst="ellipse">
            <a:avLst/>
          </a:prstGeom>
          <a:solidFill>
            <a:srgbClr val="2E5E4E"/>
          </a:solidFill>
          <a:ln w="12700">
            <a:solidFill>
              <a:srgbClr val="2E5E4E"/>
            </a:solidFill>
            <a:prstDash val="solid"/>
          </a:ln>
        </p:spPr>
      </p:sp>
      <p:pic>
        <p:nvPicPr>
          <p:cNvPr id="8" name="Image 0" descr="preencoded.png">    </p:cNvPr>
          <p:cNvPicPr>
            <a:picLocks noChangeAspect="1"/>
          </p:cNvPicPr>
          <p:nvPr/>
        </p:nvPicPr>
        <p:blipFill>
          <a:blip r:embed="rId1"/>
          <a:stretch>
            <a:fillRect/>
          </a:stretch>
        </p:blipFill>
        <p:spPr>
          <a:xfrm>
            <a:off x="943661" y="1949501"/>
            <a:ext cx="307238" cy="307238"/>
          </a:xfrm>
          <a:prstGeom prst="rect">
            <a:avLst/>
          </a:prstGeom>
        </p:spPr>
      </p:pic>
      <p:sp>
        <p:nvSpPr>
          <p:cNvPr id="9" name="Text 6"/>
          <p:cNvSpPr txBox="1"/>
          <p:nvPr/>
        </p:nvSpPr>
        <p:spPr>
          <a:xfrm>
            <a:off x="1645920" y="1709928"/>
            <a:ext cx="4114800" cy="36576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Nutraceutical brands</a:t>
            </a:r>
            <a:endParaRPr lang="en-US" sz="1600" dirty="0"/>
          </a:p>
        </p:txBody>
      </p:sp>
      <p:sp>
        <p:nvSpPr>
          <p:cNvPr id="10" name="Text 7"/>
          <p:cNvSpPr txBox="1"/>
          <p:nvPr/>
        </p:nvSpPr>
        <p:spPr>
          <a:xfrm>
            <a:off x="1645920" y="2075688"/>
            <a:ext cx="4114800" cy="27432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Capsules, gummies, powders</a:t>
            </a:r>
            <a:endParaRPr lang="en-US" sz="1100" dirty="0"/>
          </a:p>
        </p:txBody>
      </p:sp>
      <p:sp>
        <p:nvSpPr>
          <p:cNvPr id="11" name="Text 8"/>
          <p:cNvSpPr txBox="1"/>
          <p:nvPr/>
        </p:nvSpPr>
        <p:spPr>
          <a:xfrm>
            <a:off x="1645920" y="2404872"/>
            <a:ext cx="4160520" cy="82296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Needs: CoA every lot, fixed mesh, fruiting-body declaration, annual contracts</a:t>
            </a:r>
            <a:endParaRPr lang="en-US" sz="1250" dirty="0"/>
          </a:p>
        </p:txBody>
      </p:sp>
      <p:sp>
        <p:nvSpPr>
          <p:cNvPr id="12" name="Shape 9"/>
          <p:cNvSpPr/>
          <p:nvPr/>
        </p:nvSpPr>
        <p:spPr>
          <a:xfrm>
            <a:off x="6172200" y="1508760"/>
            <a:ext cx="5440680" cy="1828800"/>
          </a:xfrm>
          <a:prstGeom prst="roundRect">
            <a:avLst>
              <a:gd name="adj" fmla="val 4000"/>
            </a:avLst>
          </a:prstGeom>
          <a:solidFill>
            <a:srgbClr val="EEF4F0"/>
          </a:solidFill>
          <a:ln w="9525">
            <a:solidFill>
              <a:srgbClr val="EEF4F0"/>
            </a:solidFill>
            <a:prstDash val="solid"/>
          </a:ln>
        </p:spPr>
      </p:sp>
      <p:sp>
        <p:nvSpPr>
          <p:cNvPr id="13" name="Shape 10"/>
          <p:cNvSpPr/>
          <p:nvPr/>
        </p:nvSpPr>
        <p:spPr>
          <a:xfrm>
            <a:off x="6400800" y="1783080"/>
            <a:ext cx="640080" cy="640080"/>
          </a:xfrm>
          <a:prstGeom prst="ellipse">
            <a:avLst/>
          </a:prstGeom>
          <a:solidFill>
            <a:srgbClr val="2E5E4E"/>
          </a:solidFill>
          <a:ln w="12700">
            <a:solidFill>
              <a:srgbClr val="2E5E4E"/>
            </a:solidFill>
            <a:prstDash val="solid"/>
          </a:ln>
        </p:spPr>
      </p:sp>
      <p:pic>
        <p:nvPicPr>
          <p:cNvPr id="14" name="Image 1" descr="preencoded.png">    </p:cNvPr>
          <p:cNvPicPr>
            <a:picLocks noChangeAspect="1"/>
          </p:cNvPicPr>
          <p:nvPr/>
        </p:nvPicPr>
        <p:blipFill>
          <a:blip r:embed="rId2"/>
          <a:stretch>
            <a:fillRect/>
          </a:stretch>
        </p:blipFill>
        <p:spPr>
          <a:xfrm>
            <a:off x="6567221" y="1949501"/>
            <a:ext cx="307238" cy="307238"/>
          </a:xfrm>
          <a:prstGeom prst="rect">
            <a:avLst/>
          </a:prstGeom>
        </p:spPr>
      </p:pic>
      <p:sp>
        <p:nvSpPr>
          <p:cNvPr id="15" name="Text 11"/>
          <p:cNvSpPr txBox="1"/>
          <p:nvPr/>
        </p:nvSpPr>
        <p:spPr>
          <a:xfrm>
            <a:off x="7269480" y="1709928"/>
            <a:ext cx="4114800" cy="36576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Ayurveda manufacturers</a:t>
            </a:r>
            <a:endParaRPr lang="en-US" sz="1600" dirty="0"/>
          </a:p>
        </p:txBody>
      </p:sp>
      <p:sp>
        <p:nvSpPr>
          <p:cNvPr id="16" name="Text 12"/>
          <p:cNvSpPr txBox="1"/>
          <p:nvPr/>
        </p:nvSpPr>
        <p:spPr>
          <a:xfrm>
            <a:off x="7269480" y="2075688"/>
            <a:ext cx="4114800" cy="27432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BBN (HP) · Haridwar–Dehradun</a:t>
            </a:r>
            <a:endParaRPr lang="en-US" sz="1100" dirty="0"/>
          </a:p>
        </p:txBody>
      </p:sp>
      <p:sp>
        <p:nvSpPr>
          <p:cNvPr id="17" name="Text 13"/>
          <p:cNvSpPr txBox="1"/>
          <p:nvPr/>
        </p:nvSpPr>
        <p:spPr>
          <a:xfrm>
            <a:off x="7269480" y="2404872"/>
            <a:ext cx="4160520" cy="82296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Needs: Botanical identity, heavy metals, bulk drums, stable pricing</a:t>
            </a:r>
            <a:endParaRPr lang="en-US" sz="1250" dirty="0"/>
          </a:p>
        </p:txBody>
      </p:sp>
      <p:sp>
        <p:nvSpPr>
          <p:cNvPr id="18" name="Shape 14"/>
          <p:cNvSpPr/>
          <p:nvPr/>
        </p:nvSpPr>
        <p:spPr>
          <a:xfrm>
            <a:off x="548640" y="3520440"/>
            <a:ext cx="5440680" cy="1828800"/>
          </a:xfrm>
          <a:prstGeom prst="roundRect">
            <a:avLst>
              <a:gd name="adj" fmla="val 4000"/>
            </a:avLst>
          </a:prstGeom>
          <a:solidFill>
            <a:srgbClr val="EEF4F0"/>
          </a:solidFill>
          <a:ln w="9525">
            <a:solidFill>
              <a:srgbClr val="EEF4F0"/>
            </a:solidFill>
            <a:prstDash val="solid"/>
          </a:ln>
        </p:spPr>
      </p:sp>
      <p:sp>
        <p:nvSpPr>
          <p:cNvPr id="19" name="Shape 15"/>
          <p:cNvSpPr/>
          <p:nvPr/>
        </p:nvSpPr>
        <p:spPr>
          <a:xfrm>
            <a:off x="777240" y="3794760"/>
            <a:ext cx="640080" cy="640080"/>
          </a:xfrm>
          <a:prstGeom prst="ellipse">
            <a:avLst/>
          </a:prstGeom>
          <a:solidFill>
            <a:srgbClr val="D9962B"/>
          </a:solidFill>
          <a:ln w="12700">
            <a:solidFill>
              <a:srgbClr val="D9962B"/>
            </a:solidFill>
            <a:prstDash val="solid"/>
          </a:ln>
        </p:spPr>
      </p:sp>
      <p:pic>
        <p:nvPicPr>
          <p:cNvPr id="20" name="Image 2" descr="preencoded.png">    </p:cNvPr>
          <p:cNvPicPr>
            <a:picLocks noChangeAspect="1"/>
          </p:cNvPicPr>
          <p:nvPr/>
        </p:nvPicPr>
        <p:blipFill>
          <a:blip r:embed="rId3"/>
          <a:stretch>
            <a:fillRect/>
          </a:stretch>
        </p:blipFill>
        <p:spPr>
          <a:xfrm>
            <a:off x="943661" y="3961181"/>
            <a:ext cx="307238" cy="307238"/>
          </a:xfrm>
          <a:prstGeom prst="rect">
            <a:avLst/>
          </a:prstGeom>
        </p:spPr>
      </p:pic>
      <p:sp>
        <p:nvSpPr>
          <p:cNvPr id="21" name="Text 16"/>
          <p:cNvSpPr txBox="1"/>
          <p:nvPr/>
        </p:nvSpPr>
        <p:spPr>
          <a:xfrm>
            <a:off x="1645920" y="3721608"/>
            <a:ext cx="4114800" cy="36576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Nootropic &amp; mushroom-coffee D2C</a:t>
            </a:r>
            <a:endParaRPr lang="en-US" sz="1600" dirty="0"/>
          </a:p>
        </p:txBody>
      </p:sp>
      <p:sp>
        <p:nvSpPr>
          <p:cNvPr id="22" name="Text 17"/>
          <p:cNvSpPr txBox="1"/>
          <p:nvPr/>
        </p:nvSpPr>
        <p:spPr>
          <a:xfrm>
            <a:off x="1645920" y="4087368"/>
            <a:ext cx="4114800" cy="27432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Delhi-NCR, Mumbai, Bengaluru</a:t>
            </a:r>
            <a:endParaRPr lang="en-US" sz="1100" dirty="0"/>
          </a:p>
        </p:txBody>
      </p:sp>
      <p:sp>
        <p:nvSpPr>
          <p:cNvPr id="23" name="Text 18"/>
          <p:cNvSpPr txBox="1"/>
          <p:nvPr/>
        </p:nvSpPr>
        <p:spPr>
          <a:xfrm>
            <a:off x="1645920" y="4416552"/>
            <a:ext cx="4160520" cy="82296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Needs: Small MOQs (25–100 kg), fast samples, private label</a:t>
            </a:r>
            <a:endParaRPr lang="en-US" sz="1250" dirty="0"/>
          </a:p>
        </p:txBody>
      </p:sp>
      <p:sp>
        <p:nvSpPr>
          <p:cNvPr id="24" name="Shape 19"/>
          <p:cNvSpPr/>
          <p:nvPr/>
        </p:nvSpPr>
        <p:spPr>
          <a:xfrm>
            <a:off x="6172200" y="3520440"/>
            <a:ext cx="5440680" cy="1828800"/>
          </a:xfrm>
          <a:prstGeom prst="roundRect">
            <a:avLst>
              <a:gd name="adj" fmla="val 4000"/>
            </a:avLst>
          </a:prstGeom>
          <a:solidFill>
            <a:srgbClr val="EEF4F0"/>
          </a:solidFill>
          <a:ln w="9525">
            <a:solidFill>
              <a:srgbClr val="EEF4F0"/>
            </a:solidFill>
            <a:prstDash val="solid"/>
          </a:ln>
        </p:spPr>
      </p:sp>
      <p:sp>
        <p:nvSpPr>
          <p:cNvPr id="25" name="Shape 20"/>
          <p:cNvSpPr/>
          <p:nvPr/>
        </p:nvSpPr>
        <p:spPr>
          <a:xfrm>
            <a:off x="6400800" y="3794760"/>
            <a:ext cx="640080" cy="640080"/>
          </a:xfrm>
          <a:prstGeom prst="ellipse">
            <a:avLst/>
          </a:prstGeom>
          <a:solidFill>
            <a:srgbClr val="2E5E4E"/>
          </a:solidFill>
          <a:ln w="12700">
            <a:solidFill>
              <a:srgbClr val="2E5E4E"/>
            </a:solidFill>
            <a:prstDash val="solid"/>
          </a:ln>
        </p:spPr>
      </p:sp>
      <p:pic>
        <p:nvPicPr>
          <p:cNvPr id="26" name="Image 3" descr="preencoded.png">    </p:cNvPr>
          <p:cNvPicPr>
            <a:picLocks noChangeAspect="1"/>
          </p:cNvPicPr>
          <p:nvPr/>
        </p:nvPicPr>
        <p:blipFill>
          <a:blip r:embed="rId4"/>
          <a:stretch>
            <a:fillRect/>
          </a:stretch>
        </p:blipFill>
        <p:spPr>
          <a:xfrm>
            <a:off x="6567221" y="3961181"/>
            <a:ext cx="307238" cy="307238"/>
          </a:xfrm>
          <a:prstGeom prst="rect">
            <a:avLst/>
          </a:prstGeom>
        </p:spPr>
      </p:pic>
      <p:sp>
        <p:nvSpPr>
          <p:cNvPr id="27" name="Text 21"/>
          <p:cNvSpPr txBox="1"/>
          <p:nvPr/>
        </p:nvSpPr>
        <p:spPr>
          <a:xfrm>
            <a:off x="7269480" y="3721608"/>
            <a:ext cx="4114800" cy="365760"/>
          </a:xfrm>
          <a:prstGeom prst="rect">
            <a:avLst/>
          </a:prstGeom>
          <a:noFill/>
          <a:ln/>
        </p:spPr>
        <p:txBody>
          <a:bodyPr wrap="square" lIns="0" tIns="0" rIns="0" bIns="0" rtlCol="0" anchor="t"/>
          <a:lstStyle/>
          <a:p>
            <a:pPr indent="0" marL="0">
              <a:buNone/>
            </a:pPr>
            <a:r>
              <a:rPr lang="en-US" sz="1600" b="1" dirty="0">
                <a:solidFill>
                  <a:srgbClr val="14302A"/>
                </a:solidFill>
                <a:latin typeface="Cambria" pitchFamily="34" charset="0"/>
                <a:ea typeface="Cambria" pitchFamily="34" charset="-122"/>
                <a:cs typeface="Cambria" pitchFamily="34" charset="-120"/>
              </a:rPr>
              <a:t>B2B extractors</a:t>
            </a:r>
            <a:endParaRPr lang="en-US" sz="1600" dirty="0"/>
          </a:p>
        </p:txBody>
      </p:sp>
      <p:sp>
        <p:nvSpPr>
          <p:cNvPr id="28" name="Text 22"/>
          <p:cNvSpPr txBox="1"/>
          <p:nvPr/>
        </p:nvSpPr>
        <p:spPr>
          <a:xfrm>
            <a:off x="7269480" y="4087368"/>
            <a:ext cx="4114800" cy="27432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Make 10:1 and β-glucan extracts</a:t>
            </a:r>
            <a:endParaRPr lang="en-US" sz="1100" dirty="0"/>
          </a:p>
        </p:txBody>
      </p:sp>
      <p:sp>
        <p:nvSpPr>
          <p:cNvPr id="29" name="Text 23"/>
          <p:cNvSpPr txBox="1"/>
          <p:nvPr/>
        </p:nvSpPr>
        <p:spPr>
          <a:xfrm>
            <a:off x="7269480" y="4416552"/>
            <a:ext cx="4160520" cy="822960"/>
          </a:xfrm>
          <a:prstGeom prst="rect">
            <a:avLst/>
          </a:prstGeom>
          <a:noFill/>
          <a:ln/>
        </p:spPr>
        <p:txBody>
          <a:bodyPr wrap="square" lIns="0" tIns="0" rIns="0" bIns="0" rtlCol="0" anchor="t"/>
          <a:lstStyle/>
          <a:p>
            <a:pPr indent="0" marL="0">
              <a:buNone/>
            </a:pPr>
            <a:r>
              <a:rPr lang="en-US" sz="1250" dirty="0">
                <a:solidFill>
                  <a:srgbClr val="1E2A26"/>
                </a:solidFill>
                <a:latin typeface="Calibri" pitchFamily="34" charset="0"/>
                <a:ea typeface="Calibri" pitchFamily="34" charset="-122"/>
                <a:cs typeface="Calibri" pitchFamily="34" charset="-120"/>
              </a:rPr>
              <a:t>Needs: Dried slices or whole, low moisture, volume and price</a:t>
            </a:r>
            <a:endParaRPr lang="en-US" sz="1250" dirty="0"/>
          </a:p>
        </p:txBody>
      </p:sp>
      <p:sp>
        <p:nvSpPr>
          <p:cNvPr id="30" name="Shape 24"/>
          <p:cNvSpPr/>
          <p:nvPr/>
        </p:nvSpPr>
        <p:spPr>
          <a:xfrm>
            <a:off x="548640" y="5577840"/>
            <a:ext cx="11109960" cy="685800"/>
          </a:xfrm>
          <a:prstGeom prst="roundRect">
            <a:avLst>
              <a:gd name="adj" fmla="val 10667"/>
            </a:avLst>
          </a:prstGeom>
          <a:solidFill>
            <a:srgbClr val="FBF1DE"/>
          </a:solidFill>
          <a:ln w="9525">
            <a:solidFill>
              <a:srgbClr val="FBF1DE"/>
            </a:solidFill>
            <a:prstDash val="solid"/>
          </a:ln>
        </p:spPr>
      </p:sp>
      <p:sp>
        <p:nvSpPr>
          <p:cNvPr id="31" name="Text 25"/>
          <p:cNvSpPr txBox="1"/>
          <p:nvPr/>
        </p:nvSpPr>
        <p:spPr>
          <a:xfrm>
            <a:off x="777240" y="5577840"/>
            <a:ext cx="10698480" cy="68580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Surplus valve: fresh Lion's Mane to premium restaurants and hotels in Chandigarh, Shimla and Dharamshala absorbs flush peaks without discounting powder.</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09 · PRODUCTS &amp; MARKET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Pricing ladder and B2B qualification path</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463040"/>
            <a:ext cx="5486400" cy="274320"/>
          </a:xfrm>
          <a:prstGeom prst="rect">
            <a:avLst/>
          </a:prstGeom>
          <a:noFill/>
          <a:ln/>
        </p:spPr>
        <p:txBody>
          <a:bodyPr wrap="square" lIns="0" tIns="0" rIns="0" bIns="0" rtlCol="0" anchor="t"/>
          <a:lstStyle/>
          <a:p>
            <a:pPr indent="0" marL="0">
              <a:buNone/>
            </a:pPr>
            <a:r>
              <a:rPr lang="en-US" sz="1200" b="1" dirty="0">
                <a:solidFill>
                  <a:srgbClr val="14302A"/>
                </a:solidFill>
                <a:latin typeface="Calibri" pitchFamily="34" charset="0"/>
                <a:ea typeface="Calibri" pitchFamily="34" charset="-122"/>
                <a:cs typeface="Calibri" pitchFamily="34" charset="-120"/>
              </a:rPr>
              <a:t>₹ per kg, dry</a:t>
            </a:r>
            <a:endParaRPr lang="en-US" sz="1200" dirty="0"/>
          </a:p>
        </p:txBody>
      </p:sp>
      <p:sp>
        <p:nvSpPr>
          <p:cNvPr id="7" name="Text 5"/>
          <p:cNvSpPr txBox="1"/>
          <p:nvPr/>
        </p:nvSpPr>
        <p:spPr>
          <a:xfrm>
            <a:off x="548640" y="1920240"/>
            <a:ext cx="1737360" cy="457200"/>
          </a:xfrm>
          <a:prstGeom prst="rect">
            <a:avLst/>
          </a:prstGeom>
          <a:noFill/>
          <a:ln/>
        </p:spPr>
        <p:txBody>
          <a:bodyPr wrap="square" lIns="0" tIns="0" rIns="0" bIns="0" rtlCol="0" anchor="ctr"/>
          <a:lstStyle/>
          <a:p>
            <a:pPr indent="0" marL="0">
              <a:buNone/>
            </a:pPr>
            <a:r>
              <a:rPr lang="en-US" sz="1200" b="1" dirty="0">
                <a:solidFill>
                  <a:srgbClr val="1E2A26"/>
                </a:solidFill>
                <a:latin typeface="Calibri" pitchFamily="34" charset="0"/>
                <a:ea typeface="Calibri" pitchFamily="34" charset="-122"/>
                <a:cs typeface="Calibri" pitchFamily="34" charset="-120"/>
              </a:rPr>
              <a:t>Cash cost</a:t>
            </a:r>
            <a:endParaRPr lang="en-US" sz="1200" dirty="0"/>
          </a:p>
        </p:txBody>
      </p:sp>
      <p:sp>
        <p:nvSpPr>
          <p:cNvPr id="8" name="Shape 6"/>
          <p:cNvSpPr/>
          <p:nvPr/>
        </p:nvSpPr>
        <p:spPr>
          <a:xfrm>
            <a:off x="2377440" y="2148840"/>
            <a:ext cx="3840480" cy="0"/>
          </a:xfrm>
          <a:prstGeom prst="line">
            <a:avLst/>
          </a:prstGeom>
          <a:noFill/>
          <a:ln w="76200">
            <a:solidFill>
              <a:srgbClr val="E5ECE8"/>
            </a:solidFill>
            <a:prstDash val="solid"/>
          </a:ln>
        </p:spPr>
      </p:sp>
      <p:sp>
        <p:nvSpPr>
          <p:cNvPr id="9" name="Shape 7"/>
          <p:cNvSpPr/>
          <p:nvPr/>
        </p:nvSpPr>
        <p:spPr>
          <a:xfrm>
            <a:off x="2807574" y="1965960"/>
            <a:ext cx="109728" cy="365760"/>
          </a:xfrm>
          <a:prstGeom prst="roundRect">
            <a:avLst>
              <a:gd name="adj" fmla="val 83333"/>
            </a:avLst>
          </a:prstGeom>
          <a:solidFill>
            <a:srgbClr val="D9D9D9"/>
          </a:solidFill>
          <a:ln w="12700">
            <a:solidFill>
              <a:srgbClr val="D9D9D9"/>
            </a:solidFill>
            <a:prstDash val="solid"/>
          </a:ln>
        </p:spPr>
      </p:sp>
      <p:sp>
        <p:nvSpPr>
          <p:cNvPr id="10" name="Text 8"/>
          <p:cNvSpPr txBox="1"/>
          <p:nvPr/>
        </p:nvSpPr>
        <p:spPr>
          <a:xfrm>
            <a:off x="548640" y="2377440"/>
            <a:ext cx="5669280" cy="274320"/>
          </a:xfrm>
          <a:prstGeom prst="rect">
            <a:avLst/>
          </a:prstGeom>
          <a:noFill/>
          <a:ln/>
        </p:spPr>
        <p:txBody>
          <a:bodyPr wrap="square" lIns="0" tIns="0" rIns="0" bIns="0" rtlCol="0" anchor="t"/>
          <a:lstStyle/>
          <a:p>
            <a:pPr algn="r" indent="0" marL="0">
              <a:buNone/>
            </a:pPr>
            <a:r>
              <a:rPr lang="en-US" sz="1050" dirty="0">
                <a:solidFill>
                  <a:srgbClr val="5F6F69"/>
                </a:solidFill>
                <a:latin typeface="Calibri" pitchFamily="34" charset="0"/>
                <a:ea typeface="Calibri" pitchFamily="34" charset="-122"/>
                <a:cs typeface="Calibri" pitchFamily="34" charset="-120"/>
              </a:rPr>
              <a:t>~₹3,000</a:t>
            </a:r>
            <a:endParaRPr lang="en-US" sz="1050" dirty="0"/>
          </a:p>
        </p:txBody>
      </p:sp>
      <p:sp>
        <p:nvSpPr>
          <p:cNvPr id="11" name="Text 9"/>
          <p:cNvSpPr txBox="1"/>
          <p:nvPr/>
        </p:nvSpPr>
        <p:spPr>
          <a:xfrm>
            <a:off x="548640" y="2788920"/>
            <a:ext cx="1737360" cy="457200"/>
          </a:xfrm>
          <a:prstGeom prst="rect">
            <a:avLst/>
          </a:prstGeom>
          <a:noFill/>
          <a:ln/>
        </p:spPr>
        <p:txBody>
          <a:bodyPr wrap="square" lIns="0" tIns="0" rIns="0" bIns="0" rtlCol="0" anchor="ctr"/>
          <a:lstStyle/>
          <a:p>
            <a:pPr indent="0" marL="0">
              <a:buNone/>
            </a:pPr>
            <a:r>
              <a:rPr lang="en-US" sz="1200" b="1" dirty="0">
                <a:solidFill>
                  <a:srgbClr val="1E2A26"/>
                </a:solidFill>
                <a:latin typeface="Calibri" pitchFamily="34" charset="0"/>
                <a:ea typeface="Calibri" pitchFamily="34" charset="-122"/>
                <a:cs typeface="Calibri" pitchFamily="34" charset="-120"/>
              </a:rPr>
              <a:t>B2B bulk powder</a:t>
            </a:r>
            <a:endParaRPr lang="en-US" sz="1200" dirty="0"/>
          </a:p>
        </p:txBody>
      </p:sp>
      <p:sp>
        <p:nvSpPr>
          <p:cNvPr id="12" name="Shape 10"/>
          <p:cNvSpPr/>
          <p:nvPr/>
        </p:nvSpPr>
        <p:spPr>
          <a:xfrm>
            <a:off x="2377440" y="3017520"/>
            <a:ext cx="3840480" cy="0"/>
          </a:xfrm>
          <a:prstGeom prst="line">
            <a:avLst/>
          </a:prstGeom>
          <a:noFill/>
          <a:ln w="76200">
            <a:solidFill>
              <a:srgbClr val="E5ECE8"/>
            </a:solidFill>
            <a:prstDash val="solid"/>
          </a:ln>
        </p:spPr>
      </p:sp>
      <p:sp>
        <p:nvSpPr>
          <p:cNvPr id="13" name="Shape 11"/>
          <p:cNvSpPr/>
          <p:nvPr/>
        </p:nvSpPr>
        <p:spPr>
          <a:xfrm>
            <a:off x="3606394" y="2834640"/>
            <a:ext cx="614477" cy="365760"/>
          </a:xfrm>
          <a:prstGeom prst="roundRect">
            <a:avLst>
              <a:gd name="adj" fmla="val 25000"/>
            </a:avLst>
          </a:prstGeom>
          <a:solidFill>
            <a:srgbClr val="2E5E4E"/>
          </a:solidFill>
          <a:ln w="12700">
            <a:solidFill>
              <a:srgbClr val="2E5E4E"/>
            </a:solidFill>
            <a:prstDash val="solid"/>
          </a:ln>
        </p:spPr>
      </p:sp>
      <p:sp>
        <p:nvSpPr>
          <p:cNvPr id="14" name="Text 12"/>
          <p:cNvSpPr txBox="1"/>
          <p:nvPr/>
        </p:nvSpPr>
        <p:spPr>
          <a:xfrm>
            <a:off x="548640" y="3246120"/>
            <a:ext cx="5669280" cy="274320"/>
          </a:xfrm>
          <a:prstGeom prst="rect">
            <a:avLst/>
          </a:prstGeom>
          <a:noFill/>
          <a:ln/>
        </p:spPr>
        <p:txBody>
          <a:bodyPr wrap="square" lIns="0" tIns="0" rIns="0" bIns="0" rtlCol="0" anchor="t"/>
          <a:lstStyle/>
          <a:p>
            <a:pPr algn="r" indent="0" marL="0">
              <a:buNone/>
            </a:pPr>
            <a:r>
              <a:rPr lang="en-US" sz="1050" dirty="0">
                <a:solidFill>
                  <a:srgbClr val="5F6F69"/>
                </a:solidFill>
                <a:latin typeface="Calibri" pitchFamily="34" charset="0"/>
                <a:ea typeface="Calibri" pitchFamily="34" charset="-122"/>
                <a:cs typeface="Calibri" pitchFamily="34" charset="-120"/>
              </a:rPr>
              <a:t>₹8,000–12,000</a:t>
            </a:r>
            <a:endParaRPr lang="en-US" sz="1050" dirty="0"/>
          </a:p>
        </p:txBody>
      </p:sp>
      <p:sp>
        <p:nvSpPr>
          <p:cNvPr id="15" name="Text 13"/>
          <p:cNvSpPr txBox="1"/>
          <p:nvPr/>
        </p:nvSpPr>
        <p:spPr>
          <a:xfrm>
            <a:off x="548640" y="3657600"/>
            <a:ext cx="1737360" cy="457200"/>
          </a:xfrm>
          <a:prstGeom prst="rect">
            <a:avLst/>
          </a:prstGeom>
          <a:noFill/>
          <a:ln/>
        </p:spPr>
        <p:txBody>
          <a:bodyPr wrap="square" lIns="0" tIns="0" rIns="0" bIns="0" rtlCol="0" anchor="ctr"/>
          <a:lstStyle/>
          <a:p>
            <a:pPr indent="0" marL="0">
              <a:buNone/>
            </a:pPr>
            <a:r>
              <a:rPr lang="en-US" sz="1200" b="1" dirty="0">
                <a:solidFill>
                  <a:srgbClr val="1E2A26"/>
                </a:solidFill>
                <a:latin typeface="Calibri" pitchFamily="34" charset="0"/>
                <a:ea typeface="Calibri" pitchFamily="34" charset="-122"/>
                <a:cs typeface="Calibri" pitchFamily="34" charset="-120"/>
              </a:rPr>
              <a:t>B2C retail (100 g)</a:t>
            </a:r>
            <a:endParaRPr lang="en-US" sz="1200" dirty="0"/>
          </a:p>
        </p:txBody>
      </p:sp>
      <p:sp>
        <p:nvSpPr>
          <p:cNvPr id="16" name="Shape 14"/>
          <p:cNvSpPr/>
          <p:nvPr/>
        </p:nvSpPr>
        <p:spPr>
          <a:xfrm>
            <a:off x="2377440" y="3886200"/>
            <a:ext cx="3840480" cy="0"/>
          </a:xfrm>
          <a:prstGeom prst="line">
            <a:avLst/>
          </a:prstGeom>
          <a:noFill/>
          <a:ln w="76200">
            <a:solidFill>
              <a:srgbClr val="E5ECE8"/>
            </a:solidFill>
            <a:prstDash val="solid"/>
          </a:ln>
        </p:spPr>
      </p:sp>
      <p:sp>
        <p:nvSpPr>
          <p:cNvPr id="17" name="Shape 15"/>
          <p:cNvSpPr/>
          <p:nvPr/>
        </p:nvSpPr>
        <p:spPr>
          <a:xfrm>
            <a:off x="5142586" y="3703320"/>
            <a:ext cx="1075334" cy="365760"/>
          </a:xfrm>
          <a:prstGeom prst="roundRect">
            <a:avLst>
              <a:gd name="adj" fmla="val 25000"/>
            </a:avLst>
          </a:prstGeom>
          <a:solidFill>
            <a:srgbClr val="D9962B"/>
          </a:solidFill>
          <a:ln w="12700">
            <a:solidFill>
              <a:srgbClr val="D9962B"/>
            </a:solidFill>
            <a:prstDash val="solid"/>
          </a:ln>
        </p:spPr>
      </p:sp>
      <p:sp>
        <p:nvSpPr>
          <p:cNvPr id="18" name="Text 16"/>
          <p:cNvSpPr txBox="1"/>
          <p:nvPr/>
        </p:nvSpPr>
        <p:spPr>
          <a:xfrm>
            <a:off x="548640" y="4114800"/>
            <a:ext cx="5669280" cy="274320"/>
          </a:xfrm>
          <a:prstGeom prst="rect">
            <a:avLst/>
          </a:prstGeom>
          <a:noFill/>
          <a:ln/>
        </p:spPr>
        <p:txBody>
          <a:bodyPr wrap="square" lIns="0" tIns="0" rIns="0" bIns="0" rtlCol="0" anchor="t"/>
          <a:lstStyle/>
          <a:p>
            <a:pPr algn="r" indent="0" marL="0">
              <a:buNone/>
            </a:pPr>
            <a:r>
              <a:rPr lang="en-US" sz="1050" dirty="0">
                <a:solidFill>
                  <a:srgbClr val="5F6F69"/>
                </a:solidFill>
                <a:latin typeface="Calibri" pitchFamily="34" charset="0"/>
                <a:ea typeface="Calibri" pitchFamily="34" charset="-122"/>
                <a:cs typeface="Calibri" pitchFamily="34" charset="-120"/>
              </a:rPr>
              <a:t>₹18,000–25,000+</a:t>
            </a:r>
            <a:endParaRPr lang="en-US" sz="1050" dirty="0"/>
          </a:p>
        </p:txBody>
      </p:sp>
      <p:sp>
        <p:nvSpPr>
          <p:cNvPr id="19" name="Shape 17"/>
          <p:cNvSpPr/>
          <p:nvPr/>
        </p:nvSpPr>
        <p:spPr>
          <a:xfrm>
            <a:off x="548640" y="4617720"/>
            <a:ext cx="5669280" cy="1645920"/>
          </a:xfrm>
          <a:prstGeom prst="roundRect">
            <a:avLst>
              <a:gd name="adj" fmla="val 4444"/>
            </a:avLst>
          </a:prstGeom>
          <a:solidFill>
            <a:srgbClr val="EEF4F0"/>
          </a:solidFill>
          <a:ln w="9525">
            <a:solidFill>
              <a:srgbClr val="EEF4F0"/>
            </a:solidFill>
            <a:prstDash val="solid"/>
          </a:ln>
        </p:spPr>
      </p:sp>
      <p:sp>
        <p:nvSpPr>
          <p:cNvPr id="20" name="Text 18"/>
          <p:cNvSpPr txBox="1"/>
          <p:nvPr/>
        </p:nvSpPr>
        <p:spPr>
          <a:xfrm>
            <a:off x="777240" y="4709160"/>
            <a:ext cx="5257800" cy="146304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At ₹8,000/kg the gross margin over cash cost is ~63%. B2C multiplies price per kg by ~2.5×, but adds packaging, marketing and retailer margins, so it is phased in during Year 2.</a:t>
            </a:r>
            <a:endParaRPr lang="en-US" sz="1150" dirty="0"/>
          </a:p>
        </p:txBody>
      </p:sp>
      <p:sp>
        <p:nvSpPr>
          <p:cNvPr id="21" name="Text 19"/>
          <p:cNvSpPr txBox="1"/>
          <p:nvPr/>
        </p:nvSpPr>
        <p:spPr>
          <a:xfrm>
            <a:off x="6675120" y="1463040"/>
            <a:ext cx="4937760" cy="32004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B2B qualification (3–6 months)</a:t>
            </a:r>
            <a:endParaRPr lang="en-US" sz="1500" dirty="0"/>
          </a:p>
        </p:txBody>
      </p:sp>
      <p:sp>
        <p:nvSpPr>
          <p:cNvPr id="22" name="Shape 20"/>
          <p:cNvSpPr/>
          <p:nvPr/>
        </p:nvSpPr>
        <p:spPr>
          <a:xfrm>
            <a:off x="6675120" y="1874520"/>
            <a:ext cx="548640" cy="548640"/>
          </a:xfrm>
          <a:prstGeom prst="ellipse">
            <a:avLst/>
          </a:prstGeom>
          <a:solidFill>
            <a:srgbClr val="2E5E4E"/>
          </a:solidFill>
          <a:ln w="12700">
            <a:solidFill>
              <a:srgbClr val="2E5E4E"/>
            </a:solidFill>
            <a:prstDash val="solid"/>
          </a:ln>
        </p:spPr>
      </p:sp>
      <p:pic>
        <p:nvPicPr>
          <p:cNvPr id="23" name="Image 0" descr="preencoded.png">    </p:cNvPr>
          <p:cNvPicPr>
            <a:picLocks noChangeAspect="1"/>
          </p:cNvPicPr>
          <p:nvPr/>
        </p:nvPicPr>
        <p:blipFill>
          <a:blip r:embed="rId1"/>
          <a:stretch>
            <a:fillRect/>
          </a:stretch>
        </p:blipFill>
        <p:spPr>
          <a:xfrm>
            <a:off x="6817766" y="2017166"/>
            <a:ext cx="263347" cy="263347"/>
          </a:xfrm>
          <a:prstGeom prst="rect">
            <a:avLst/>
          </a:prstGeom>
        </p:spPr>
      </p:pic>
      <p:sp>
        <p:nvSpPr>
          <p:cNvPr id="24" name="Text 21"/>
          <p:cNvSpPr txBox="1"/>
          <p:nvPr/>
        </p:nvSpPr>
        <p:spPr>
          <a:xfrm>
            <a:off x="7406640" y="1856232"/>
            <a:ext cx="4206240" cy="320040"/>
          </a:xfrm>
          <a:prstGeom prst="rect">
            <a:avLst/>
          </a:prstGeom>
          <a:noFill/>
          <a:ln/>
        </p:spPr>
        <p:txBody>
          <a:bodyPr wrap="square" lIns="0" tIns="0" rIns="0" bIns="0" rtlCol="0" anchor="t"/>
          <a:lstStyle/>
          <a:p>
            <a:pPr indent="0" marL="0">
              <a:buNone/>
            </a:pPr>
            <a:r>
              <a:rPr lang="en-US" sz="1300" b="1" dirty="0">
                <a:solidFill>
                  <a:srgbClr val="14302A"/>
                </a:solidFill>
                <a:latin typeface="Calibri" pitchFamily="34" charset="0"/>
                <a:ea typeface="Calibri" pitchFamily="34" charset="-122"/>
                <a:cs typeface="Calibri" pitchFamily="34" charset="-120"/>
              </a:rPr>
              <a:t>1. Sample kit</a:t>
            </a:r>
            <a:endParaRPr lang="en-US" sz="1300" dirty="0"/>
          </a:p>
        </p:txBody>
      </p:sp>
      <p:sp>
        <p:nvSpPr>
          <p:cNvPr id="25" name="Text 22"/>
          <p:cNvSpPr txBox="1"/>
          <p:nvPr/>
        </p:nvSpPr>
        <p:spPr>
          <a:xfrm>
            <a:off x="7406640" y="2167128"/>
            <a:ext cx="4206240" cy="27432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50–100 g + CoA from pilot lots</a:t>
            </a:r>
            <a:endParaRPr lang="en-US" sz="1100" dirty="0"/>
          </a:p>
        </p:txBody>
      </p:sp>
      <p:sp>
        <p:nvSpPr>
          <p:cNvPr id="26" name="Shape 23"/>
          <p:cNvSpPr/>
          <p:nvPr/>
        </p:nvSpPr>
        <p:spPr>
          <a:xfrm>
            <a:off x="6675120" y="2743200"/>
            <a:ext cx="548640" cy="548640"/>
          </a:xfrm>
          <a:prstGeom prst="ellipse">
            <a:avLst/>
          </a:prstGeom>
          <a:solidFill>
            <a:srgbClr val="2E5E4E"/>
          </a:solidFill>
          <a:ln w="12700">
            <a:solidFill>
              <a:srgbClr val="2E5E4E"/>
            </a:solidFill>
            <a:prstDash val="solid"/>
          </a:ln>
        </p:spPr>
      </p:sp>
      <p:pic>
        <p:nvPicPr>
          <p:cNvPr id="27" name="Image 1" descr="preencoded.png">    </p:cNvPr>
          <p:cNvPicPr>
            <a:picLocks noChangeAspect="1"/>
          </p:cNvPicPr>
          <p:nvPr/>
        </p:nvPicPr>
        <p:blipFill>
          <a:blip r:embed="rId2"/>
          <a:stretch>
            <a:fillRect/>
          </a:stretch>
        </p:blipFill>
        <p:spPr>
          <a:xfrm>
            <a:off x="6817766" y="2885846"/>
            <a:ext cx="263347" cy="263347"/>
          </a:xfrm>
          <a:prstGeom prst="rect">
            <a:avLst/>
          </a:prstGeom>
        </p:spPr>
      </p:pic>
      <p:sp>
        <p:nvSpPr>
          <p:cNvPr id="28" name="Text 24"/>
          <p:cNvSpPr txBox="1"/>
          <p:nvPr/>
        </p:nvSpPr>
        <p:spPr>
          <a:xfrm>
            <a:off x="7406640" y="2724912"/>
            <a:ext cx="4206240" cy="320040"/>
          </a:xfrm>
          <a:prstGeom prst="rect">
            <a:avLst/>
          </a:prstGeom>
          <a:noFill/>
          <a:ln/>
        </p:spPr>
        <p:txBody>
          <a:bodyPr wrap="square" lIns="0" tIns="0" rIns="0" bIns="0" rtlCol="0" anchor="t"/>
          <a:lstStyle/>
          <a:p>
            <a:pPr indent="0" marL="0">
              <a:buNone/>
            </a:pPr>
            <a:r>
              <a:rPr lang="en-US" sz="1300" b="1" dirty="0">
                <a:solidFill>
                  <a:srgbClr val="14302A"/>
                </a:solidFill>
                <a:latin typeface="Calibri" pitchFamily="34" charset="0"/>
                <a:ea typeface="Calibri" pitchFamily="34" charset="-122"/>
                <a:cs typeface="Calibri" pitchFamily="34" charset="-120"/>
              </a:rPr>
              <a:t>2. Buyer lab test</a:t>
            </a:r>
            <a:endParaRPr lang="en-US" sz="1300" dirty="0"/>
          </a:p>
        </p:txBody>
      </p:sp>
      <p:sp>
        <p:nvSpPr>
          <p:cNvPr id="29" name="Text 25"/>
          <p:cNvSpPr txBox="1"/>
          <p:nvPr/>
        </p:nvSpPr>
        <p:spPr>
          <a:xfrm>
            <a:off x="7406640" y="3035808"/>
            <a:ext cx="4206240" cy="27432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Identity, β-glucan, contaminants</a:t>
            </a:r>
            <a:endParaRPr lang="en-US" sz="1100" dirty="0"/>
          </a:p>
        </p:txBody>
      </p:sp>
      <p:sp>
        <p:nvSpPr>
          <p:cNvPr id="30" name="Shape 26"/>
          <p:cNvSpPr/>
          <p:nvPr/>
        </p:nvSpPr>
        <p:spPr>
          <a:xfrm>
            <a:off x="6675120" y="3611880"/>
            <a:ext cx="548640" cy="548640"/>
          </a:xfrm>
          <a:prstGeom prst="ellipse">
            <a:avLst/>
          </a:prstGeom>
          <a:solidFill>
            <a:srgbClr val="2E5E4E"/>
          </a:solidFill>
          <a:ln w="12700">
            <a:solidFill>
              <a:srgbClr val="2E5E4E"/>
            </a:solidFill>
            <a:prstDash val="solid"/>
          </a:ln>
        </p:spPr>
      </p:sp>
      <p:pic>
        <p:nvPicPr>
          <p:cNvPr id="31" name="Image 2" descr="preencoded.png">    </p:cNvPr>
          <p:cNvPicPr>
            <a:picLocks noChangeAspect="1"/>
          </p:cNvPicPr>
          <p:nvPr/>
        </p:nvPicPr>
        <p:blipFill>
          <a:blip r:embed="rId3"/>
          <a:stretch>
            <a:fillRect/>
          </a:stretch>
        </p:blipFill>
        <p:spPr>
          <a:xfrm>
            <a:off x="6817766" y="3754526"/>
            <a:ext cx="263347" cy="263347"/>
          </a:xfrm>
          <a:prstGeom prst="rect">
            <a:avLst/>
          </a:prstGeom>
        </p:spPr>
      </p:pic>
      <p:sp>
        <p:nvSpPr>
          <p:cNvPr id="32" name="Text 27"/>
          <p:cNvSpPr txBox="1"/>
          <p:nvPr/>
        </p:nvSpPr>
        <p:spPr>
          <a:xfrm>
            <a:off x="7406640" y="3593592"/>
            <a:ext cx="4206240" cy="320040"/>
          </a:xfrm>
          <a:prstGeom prst="rect">
            <a:avLst/>
          </a:prstGeom>
          <a:noFill/>
          <a:ln/>
        </p:spPr>
        <p:txBody>
          <a:bodyPr wrap="square" lIns="0" tIns="0" rIns="0" bIns="0" rtlCol="0" anchor="t"/>
          <a:lstStyle/>
          <a:p>
            <a:pPr indent="0" marL="0">
              <a:buNone/>
            </a:pPr>
            <a:r>
              <a:rPr lang="en-US" sz="1300" b="1" dirty="0">
                <a:solidFill>
                  <a:srgbClr val="14302A"/>
                </a:solidFill>
                <a:latin typeface="Calibri" pitchFamily="34" charset="0"/>
                <a:ea typeface="Calibri" pitchFamily="34" charset="-122"/>
                <a:cs typeface="Calibri" pitchFamily="34" charset="-120"/>
              </a:rPr>
              <a:t>3. Vendor audit</a:t>
            </a:r>
            <a:endParaRPr lang="en-US" sz="1300" dirty="0"/>
          </a:p>
        </p:txBody>
      </p:sp>
      <p:sp>
        <p:nvSpPr>
          <p:cNvPr id="33" name="Text 28"/>
          <p:cNvSpPr txBox="1"/>
          <p:nvPr/>
        </p:nvSpPr>
        <p:spPr>
          <a:xfrm>
            <a:off x="7406640" y="3904488"/>
            <a:ext cx="4206240" cy="27432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Site visit, SOPs, traceability</a:t>
            </a:r>
            <a:endParaRPr lang="en-US" sz="1100" dirty="0"/>
          </a:p>
        </p:txBody>
      </p:sp>
      <p:sp>
        <p:nvSpPr>
          <p:cNvPr id="34" name="Shape 29"/>
          <p:cNvSpPr/>
          <p:nvPr/>
        </p:nvSpPr>
        <p:spPr>
          <a:xfrm>
            <a:off x="6675120" y="4480560"/>
            <a:ext cx="548640" cy="548640"/>
          </a:xfrm>
          <a:prstGeom prst="ellipse">
            <a:avLst/>
          </a:prstGeom>
          <a:solidFill>
            <a:srgbClr val="2E5E4E"/>
          </a:solidFill>
          <a:ln w="12700">
            <a:solidFill>
              <a:srgbClr val="2E5E4E"/>
            </a:solidFill>
            <a:prstDash val="solid"/>
          </a:ln>
        </p:spPr>
      </p:sp>
      <p:pic>
        <p:nvPicPr>
          <p:cNvPr id="35" name="Image 3" descr="preencoded.png">    </p:cNvPr>
          <p:cNvPicPr>
            <a:picLocks noChangeAspect="1"/>
          </p:cNvPicPr>
          <p:nvPr/>
        </p:nvPicPr>
        <p:blipFill>
          <a:blip r:embed="rId4"/>
          <a:stretch>
            <a:fillRect/>
          </a:stretch>
        </p:blipFill>
        <p:spPr>
          <a:xfrm>
            <a:off x="6817766" y="4623206"/>
            <a:ext cx="263347" cy="263347"/>
          </a:xfrm>
          <a:prstGeom prst="rect">
            <a:avLst/>
          </a:prstGeom>
        </p:spPr>
      </p:pic>
      <p:sp>
        <p:nvSpPr>
          <p:cNvPr id="36" name="Text 30"/>
          <p:cNvSpPr txBox="1"/>
          <p:nvPr/>
        </p:nvSpPr>
        <p:spPr>
          <a:xfrm>
            <a:off x="7406640" y="4462272"/>
            <a:ext cx="4206240" cy="320040"/>
          </a:xfrm>
          <a:prstGeom prst="rect">
            <a:avLst/>
          </a:prstGeom>
          <a:noFill/>
          <a:ln/>
        </p:spPr>
        <p:txBody>
          <a:bodyPr wrap="square" lIns="0" tIns="0" rIns="0" bIns="0" rtlCol="0" anchor="t"/>
          <a:lstStyle/>
          <a:p>
            <a:pPr indent="0" marL="0">
              <a:buNone/>
            </a:pPr>
            <a:r>
              <a:rPr lang="en-US" sz="1300" b="1" dirty="0">
                <a:solidFill>
                  <a:srgbClr val="14302A"/>
                </a:solidFill>
                <a:latin typeface="Calibri" pitchFamily="34" charset="0"/>
                <a:ea typeface="Calibri" pitchFamily="34" charset="-122"/>
                <a:cs typeface="Calibri" pitchFamily="34" charset="-120"/>
              </a:rPr>
              <a:t>4. Trial PO</a:t>
            </a:r>
            <a:endParaRPr lang="en-US" sz="1300" dirty="0"/>
          </a:p>
        </p:txBody>
      </p:sp>
      <p:sp>
        <p:nvSpPr>
          <p:cNvPr id="37" name="Text 31"/>
          <p:cNvSpPr txBox="1"/>
          <p:nvPr/>
        </p:nvSpPr>
        <p:spPr>
          <a:xfrm>
            <a:off x="7406640" y="4773168"/>
            <a:ext cx="4206240" cy="27432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25–100 kg first order</a:t>
            </a:r>
            <a:endParaRPr lang="en-US" sz="1100" dirty="0"/>
          </a:p>
        </p:txBody>
      </p:sp>
      <p:sp>
        <p:nvSpPr>
          <p:cNvPr id="38" name="Shape 32"/>
          <p:cNvSpPr/>
          <p:nvPr/>
        </p:nvSpPr>
        <p:spPr>
          <a:xfrm>
            <a:off x="6675120" y="5349240"/>
            <a:ext cx="548640" cy="548640"/>
          </a:xfrm>
          <a:prstGeom prst="ellipse">
            <a:avLst/>
          </a:prstGeom>
          <a:solidFill>
            <a:srgbClr val="D9962B"/>
          </a:solidFill>
          <a:ln w="12700">
            <a:solidFill>
              <a:srgbClr val="D9962B"/>
            </a:solidFill>
            <a:prstDash val="solid"/>
          </a:ln>
        </p:spPr>
      </p:sp>
      <p:pic>
        <p:nvPicPr>
          <p:cNvPr id="39" name="Image 4" descr="preencoded.png">    </p:cNvPr>
          <p:cNvPicPr>
            <a:picLocks noChangeAspect="1"/>
          </p:cNvPicPr>
          <p:nvPr/>
        </p:nvPicPr>
        <p:blipFill>
          <a:blip r:embed="rId5"/>
          <a:stretch>
            <a:fillRect/>
          </a:stretch>
        </p:blipFill>
        <p:spPr>
          <a:xfrm>
            <a:off x="6817766" y="5491886"/>
            <a:ext cx="263347" cy="263347"/>
          </a:xfrm>
          <a:prstGeom prst="rect">
            <a:avLst/>
          </a:prstGeom>
        </p:spPr>
      </p:pic>
      <p:sp>
        <p:nvSpPr>
          <p:cNvPr id="40" name="Text 33"/>
          <p:cNvSpPr txBox="1"/>
          <p:nvPr/>
        </p:nvSpPr>
        <p:spPr>
          <a:xfrm>
            <a:off x="7406640" y="5330952"/>
            <a:ext cx="4206240" cy="320040"/>
          </a:xfrm>
          <a:prstGeom prst="rect">
            <a:avLst/>
          </a:prstGeom>
          <a:noFill/>
          <a:ln/>
        </p:spPr>
        <p:txBody>
          <a:bodyPr wrap="square" lIns="0" tIns="0" rIns="0" bIns="0" rtlCol="0" anchor="t"/>
          <a:lstStyle/>
          <a:p>
            <a:pPr indent="0" marL="0">
              <a:buNone/>
            </a:pPr>
            <a:r>
              <a:rPr lang="en-US" sz="1300" b="1" dirty="0">
                <a:solidFill>
                  <a:srgbClr val="14302A"/>
                </a:solidFill>
                <a:latin typeface="Calibri" pitchFamily="34" charset="0"/>
                <a:ea typeface="Calibri" pitchFamily="34" charset="-122"/>
                <a:cs typeface="Calibri" pitchFamily="34" charset="-120"/>
              </a:rPr>
              <a:t>5. Supply agreement</a:t>
            </a:r>
            <a:endParaRPr lang="en-US" sz="1300" dirty="0"/>
          </a:p>
        </p:txBody>
      </p:sp>
      <p:sp>
        <p:nvSpPr>
          <p:cNvPr id="41" name="Text 34"/>
          <p:cNvSpPr txBox="1"/>
          <p:nvPr/>
        </p:nvSpPr>
        <p:spPr>
          <a:xfrm>
            <a:off x="7406640" y="5641848"/>
            <a:ext cx="4206240" cy="274320"/>
          </a:xfrm>
          <a:prstGeom prst="rect">
            <a:avLst/>
          </a:prstGeom>
          <a:noFill/>
          <a:ln/>
        </p:spPr>
        <p:txBody>
          <a:bodyPr wrap="square" lIns="0" tIns="0" rIns="0" bIns="0" rtlCol="0" anchor="t"/>
          <a:lstStyle/>
          <a:p>
            <a:pPr indent="0" marL="0">
              <a:buNone/>
            </a:pPr>
            <a:r>
              <a:rPr lang="en-US" sz="1100" dirty="0">
                <a:solidFill>
                  <a:srgbClr val="5F6F69"/>
                </a:solidFill>
                <a:latin typeface="Calibri" pitchFamily="34" charset="0"/>
                <a:ea typeface="Calibri" pitchFamily="34" charset="-122"/>
                <a:cs typeface="Calibri" pitchFamily="34" charset="-120"/>
              </a:rPr>
              <a:t>Annual volume, price band, quarterly calls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09 · PRODUCTS &amp; MARKET</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Distribution and logistics: dry product, simple chain</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560320"/>
                <a:gridCol w="2194560"/>
                <a:gridCol w="1920240"/>
              </a:tblGrid>
              <a:tr h="5029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Lane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Indicative freight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50292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Hamirpur → Dehradun (320 km)</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LTL: Safexpress / Delhivery</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₹15–30 per kg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0292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Hamirpur → BBN cluster, HP</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LTL or shared dedicated</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₹15–30 per kg (to confirm)</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0292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Hamirpur → Delhi-NCR</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LTL / express surface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₹15–30 per kg (to confirm)</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50292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Samples &amp; small MOQs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Courier</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Per parcel</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0292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Fresh to HoReCa</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Insulated boxes, 2–4°C</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Within 48 h of harvest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754880"/>
            <a:ext cx="6675120" cy="1463040"/>
          </a:xfrm>
          <a:prstGeom prst="roundRect">
            <a:avLst>
              <a:gd name="adj" fmla="val 5000"/>
            </a:avLst>
          </a:prstGeom>
          <a:solidFill>
            <a:srgbClr val="FBF1DE"/>
          </a:solidFill>
          <a:ln w="9525">
            <a:solidFill>
              <a:srgbClr val="FBF1DE"/>
            </a:solidFill>
            <a:prstDash val="solid"/>
          </a:ln>
        </p:spPr>
      </p:sp>
      <p:sp>
        <p:nvSpPr>
          <p:cNvPr id="8" name="Text 5"/>
          <p:cNvSpPr txBox="1"/>
          <p:nvPr/>
        </p:nvSpPr>
        <p:spPr>
          <a:xfrm>
            <a:off x="777240" y="4846320"/>
            <a:ext cx="6263640" cy="128016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Dry powder needs no cold chain. At ₹25/kg freight on ₹8,000/kg product, logistics is ~0.3% of revenue, so distance from Delhi is not a competitive handicap.</a:t>
            </a:r>
            <a:endParaRPr lang="en-US" sz="1200" dirty="0"/>
          </a:p>
        </p:txBody>
      </p:sp>
      <p:sp>
        <p:nvSpPr>
          <p:cNvPr id="9" name="Shape 6"/>
          <p:cNvSpPr/>
          <p:nvPr/>
        </p:nvSpPr>
        <p:spPr>
          <a:xfrm>
            <a:off x="7543800" y="1508760"/>
            <a:ext cx="4114800" cy="4709160"/>
          </a:xfrm>
          <a:prstGeom prst="roundRect">
            <a:avLst>
              <a:gd name="adj" fmla="val 1778"/>
            </a:avLst>
          </a:prstGeom>
          <a:solidFill>
            <a:srgbClr val="EEF4F0"/>
          </a:solidFill>
          <a:ln w="9525">
            <a:solidFill>
              <a:srgbClr val="EEF4F0"/>
            </a:solidFill>
            <a:prstDash val="solid"/>
          </a:ln>
        </p:spPr>
      </p:sp>
      <p:sp>
        <p:nvSpPr>
          <p:cNvPr id="10" name="Text 7"/>
          <p:cNvSpPr txBox="1"/>
          <p:nvPr/>
        </p:nvSpPr>
        <p:spPr>
          <a:xfrm>
            <a:off x="7772400" y="1645920"/>
            <a:ext cx="3657600" cy="36576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Every dispatch carries</a:t>
            </a:r>
            <a:endParaRPr lang="en-US" sz="1500" dirty="0"/>
          </a:p>
        </p:txBody>
      </p:sp>
      <p:pic>
        <p:nvPicPr>
          <p:cNvPr id="11" name="Image 0" descr="preencoded.png">    </p:cNvPr>
          <p:cNvPicPr>
            <a:picLocks noChangeAspect="1"/>
          </p:cNvPicPr>
          <p:nvPr/>
        </p:nvPicPr>
        <p:blipFill>
          <a:blip r:embed="rId1"/>
          <a:stretch>
            <a:fillRect/>
          </a:stretch>
        </p:blipFill>
        <p:spPr>
          <a:xfrm>
            <a:off x="7772400" y="2194560"/>
            <a:ext cx="274320" cy="274320"/>
          </a:xfrm>
          <a:prstGeom prst="rect">
            <a:avLst/>
          </a:prstGeom>
        </p:spPr>
      </p:pic>
      <p:sp>
        <p:nvSpPr>
          <p:cNvPr id="12" name="Text 8"/>
          <p:cNvSpPr txBox="1"/>
          <p:nvPr/>
        </p:nvSpPr>
        <p:spPr>
          <a:xfrm>
            <a:off x="8183880" y="213055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GST tax invoice</a:t>
            </a:r>
            <a:endParaRPr lang="en-US" sz="1200" dirty="0"/>
          </a:p>
        </p:txBody>
      </p:sp>
      <p:pic>
        <p:nvPicPr>
          <p:cNvPr id="13" name="Image 1" descr="preencoded.png">    </p:cNvPr>
          <p:cNvPicPr>
            <a:picLocks noChangeAspect="1"/>
          </p:cNvPicPr>
          <p:nvPr/>
        </p:nvPicPr>
        <p:blipFill>
          <a:blip r:embed="rId2"/>
          <a:stretch>
            <a:fillRect/>
          </a:stretch>
        </p:blipFill>
        <p:spPr>
          <a:xfrm>
            <a:off x="7772400" y="2834640"/>
            <a:ext cx="274320" cy="274320"/>
          </a:xfrm>
          <a:prstGeom prst="rect">
            <a:avLst/>
          </a:prstGeom>
        </p:spPr>
      </p:pic>
      <p:sp>
        <p:nvSpPr>
          <p:cNvPr id="14" name="Text 9"/>
          <p:cNvSpPr txBox="1"/>
          <p:nvPr/>
        </p:nvSpPr>
        <p:spPr>
          <a:xfrm>
            <a:off x="8183880" y="277063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E-way bill (goods value &gt; ₹50,000)</a:t>
            </a:r>
            <a:endParaRPr lang="en-US" sz="1200" dirty="0"/>
          </a:p>
        </p:txBody>
      </p:sp>
      <p:pic>
        <p:nvPicPr>
          <p:cNvPr id="15" name="Image 2" descr="preencoded.png">    </p:cNvPr>
          <p:cNvPicPr>
            <a:picLocks noChangeAspect="1"/>
          </p:cNvPicPr>
          <p:nvPr/>
        </p:nvPicPr>
        <p:blipFill>
          <a:blip r:embed="rId3"/>
          <a:stretch>
            <a:fillRect/>
          </a:stretch>
        </p:blipFill>
        <p:spPr>
          <a:xfrm>
            <a:off x="7772400" y="3474720"/>
            <a:ext cx="274320" cy="274320"/>
          </a:xfrm>
          <a:prstGeom prst="rect">
            <a:avLst/>
          </a:prstGeom>
        </p:spPr>
      </p:pic>
      <p:sp>
        <p:nvSpPr>
          <p:cNvPr id="16" name="Text 10"/>
          <p:cNvSpPr txBox="1"/>
          <p:nvPr/>
        </p:nvSpPr>
        <p:spPr>
          <a:xfrm>
            <a:off x="8183880" y="341071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Lot-wise CoA, lot code on each drum</a:t>
            </a:r>
            <a:endParaRPr lang="en-US" sz="1200" dirty="0"/>
          </a:p>
        </p:txBody>
      </p:sp>
      <p:pic>
        <p:nvPicPr>
          <p:cNvPr id="17" name="Image 3" descr="preencoded.png">    </p:cNvPr>
          <p:cNvPicPr>
            <a:picLocks noChangeAspect="1"/>
          </p:cNvPicPr>
          <p:nvPr/>
        </p:nvPicPr>
        <p:blipFill>
          <a:blip r:embed="rId4"/>
          <a:stretch>
            <a:fillRect/>
          </a:stretch>
        </p:blipFill>
        <p:spPr>
          <a:xfrm>
            <a:off x="7772400" y="4114800"/>
            <a:ext cx="274320" cy="274320"/>
          </a:xfrm>
          <a:prstGeom prst="rect">
            <a:avLst/>
          </a:prstGeom>
        </p:spPr>
      </p:pic>
      <p:sp>
        <p:nvSpPr>
          <p:cNvPr id="18" name="Text 11"/>
          <p:cNvSpPr txBox="1"/>
          <p:nvPr/>
        </p:nvSpPr>
        <p:spPr>
          <a:xfrm>
            <a:off x="8183880" y="405079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Transit insurance at 0.5–1% of value</a:t>
            </a:r>
            <a:endParaRPr lang="en-US" sz="1200" dirty="0"/>
          </a:p>
        </p:txBody>
      </p:sp>
      <p:pic>
        <p:nvPicPr>
          <p:cNvPr id="19" name="Image 4" descr="preencoded.png">    </p:cNvPr>
          <p:cNvPicPr>
            <a:picLocks noChangeAspect="1"/>
          </p:cNvPicPr>
          <p:nvPr/>
        </p:nvPicPr>
        <p:blipFill>
          <a:blip r:embed="rId5"/>
          <a:stretch>
            <a:fillRect/>
          </a:stretch>
        </p:blipFill>
        <p:spPr>
          <a:xfrm>
            <a:off x="7772400" y="4754880"/>
            <a:ext cx="274320" cy="274320"/>
          </a:xfrm>
          <a:prstGeom prst="rect">
            <a:avLst/>
          </a:prstGeom>
        </p:spPr>
      </p:pic>
      <p:sp>
        <p:nvSpPr>
          <p:cNvPr id="20" name="Text 12"/>
          <p:cNvSpPr txBox="1"/>
          <p:nvPr/>
        </p:nvSpPr>
        <p:spPr>
          <a:xfrm>
            <a:off x="8183880" y="469087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Moisture-proof foil + desiccant packing</a:t>
            </a:r>
            <a:endParaRPr lang="en-US" sz="1200" dirty="0"/>
          </a:p>
        </p:txBody>
      </p:sp>
      <p:pic>
        <p:nvPicPr>
          <p:cNvPr id="21" name="Image 5" descr="preencoded.png">    </p:cNvPr>
          <p:cNvPicPr>
            <a:picLocks noChangeAspect="1"/>
          </p:cNvPicPr>
          <p:nvPr/>
        </p:nvPicPr>
        <p:blipFill>
          <a:blip r:embed="rId6"/>
          <a:stretch>
            <a:fillRect/>
          </a:stretch>
        </p:blipFill>
        <p:spPr>
          <a:xfrm>
            <a:off x="7772400" y="5394960"/>
            <a:ext cx="274320" cy="274320"/>
          </a:xfrm>
          <a:prstGeom prst="rect">
            <a:avLst/>
          </a:prstGeom>
        </p:spPr>
      </p:pic>
      <p:sp>
        <p:nvSpPr>
          <p:cNvPr id="22" name="Text 13"/>
          <p:cNvSpPr txBox="1"/>
          <p:nvPr/>
        </p:nvSpPr>
        <p:spPr>
          <a:xfrm>
            <a:off x="8183880" y="5330952"/>
            <a:ext cx="3383280" cy="41148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Packing list with net / gross weights</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10 · ECONOMICS</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Capital expenditure: Phase 1 (indicative, ₹ lakh)</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6675120"/>
                <a:gridCol w="822960"/>
              </a:tblGrid>
              <a:tr h="26517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Item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 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Civil works, PUF clean-room panels, epoxy floor, coving, doors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Autoclave 400–500 L horizontal, double-door, SS-304</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Processing: slicer, 96-tray dehydrator, 3 HP pulverizer, sifter, vacuum sealer, dehumidifier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6.5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HVAC: copper-coil inverter ACs, H14 HEPA box, FAE fans, ducting</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DG set 20 kVA with auto-transfer switch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Epoxy-coated racking: incubation + two fruiting rooms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Mixer 200 L, bag filler, impulse sealers, cooling racks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Electrical, plumbing, drainage, RO water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LAF hoods (2), UV pass box, airlock interlock</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Humidifiers, humidistats, T / RH / CO₂ controllers and loggers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Culture &amp; spawn lab: grain kettle, fridge, agar kit, incubator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QC lab: moisture analyser, aw meter, microscope, balances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DPR, licences, validation, certifications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b="1" dirty="0">
                          <a:solidFill>
                            <a:srgbClr val="1E2A26"/>
                          </a:solidFill>
                          <a:latin typeface="Calibri" pitchFamily="34" charset="0"/>
                          <a:ea typeface="Calibri" pitchFamily="34" charset="-122"/>
                          <a:cs typeface="Calibri" pitchFamily="34" charset="-120"/>
                        </a:rPr>
                        <a:t>Subtotal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b="1" dirty="0">
                          <a:solidFill>
                            <a:srgbClr val="1E2A26"/>
                          </a:solidFill>
                          <a:latin typeface="Calibri" pitchFamily="34" charset="0"/>
                          <a:ea typeface="Calibri" pitchFamily="34" charset="-122"/>
                          <a:cs typeface="Calibri" pitchFamily="34" charset="-120"/>
                        </a:rPr>
                        <a:t>48.9</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Contingency (10%)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4.9</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265176">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Working capital (3 months OpEx + receivables buffer)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050" dirty="0">
                          <a:solidFill>
                            <a:srgbClr val="1E2A26"/>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26517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Total project cost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65.8</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r>
            </a:tbl>
          </a:graphicData>
        </a:graphic>
      </p:graphicFrame>
      <p:sp>
        <p:nvSpPr>
          <p:cNvPr id="7" name="Shape 4"/>
          <p:cNvSpPr/>
          <p:nvPr/>
        </p:nvSpPr>
        <p:spPr>
          <a:xfrm>
            <a:off x="8366760" y="1463040"/>
            <a:ext cx="3291840" cy="1371600"/>
          </a:xfrm>
          <a:prstGeom prst="roundRect">
            <a:avLst>
              <a:gd name="adj" fmla="val 5333"/>
            </a:avLst>
          </a:prstGeom>
          <a:solidFill>
            <a:srgbClr val="14302A"/>
          </a:solidFill>
          <a:ln w="9525">
            <a:solidFill>
              <a:srgbClr val="14302A"/>
            </a:solidFill>
            <a:prstDash val="solid"/>
          </a:ln>
        </p:spPr>
      </p:sp>
      <p:sp>
        <p:nvSpPr>
          <p:cNvPr id="8" name="Text 5"/>
          <p:cNvSpPr txBox="1"/>
          <p:nvPr/>
        </p:nvSpPr>
        <p:spPr>
          <a:xfrm>
            <a:off x="8595360" y="1627632"/>
            <a:ext cx="28346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₹53.8 L</a:t>
            </a:r>
            <a:endParaRPr lang="en-US" sz="3000" dirty="0"/>
          </a:p>
        </p:txBody>
      </p:sp>
      <p:sp>
        <p:nvSpPr>
          <p:cNvPr id="9" name="Text 6"/>
          <p:cNvSpPr txBox="1"/>
          <p:nvPr/>
        </p:nvSpPr>
        <p:spPr>
          <a:xfrm>
            <a:off x="8595360" y="2217420"/>
            <a:ext cx="2834640" cy="548640"/>
          </a:xfrm>
          <a:prstGeom prst="rect">
            <a:avLst/>
          </a:prstGeom>
          <a:noFill/>
          <a:ln/>
        </p:spPr>
        <p:txBody>
          <a:bodyPr wrap="square" lIns="0" tIns="0" rIns="0" bIns="0" rtlCol="0" anchor="t"/>
          <a:lstStyle/>
          <a:p>
            <a:pPr indent="0" marL="0">
              <a:buNone/>
            </a:pPr>
            <a:r>
              <a:rPr lang="en-US" sz="1150" dirty="0">
                <a:solidFill>
                  <a:srgbClr val="C9D9CF"/>
                </a:solidFill>
                <a:latin typeface="Calibri" pitchFamily="34" charset="0"/>
                <a:ea typeface="Calibri" pitchFamily="34" charset="-122"/>
                <a:cs typeface="Calibri" pitchFamily="34" charset="-120"/>
              </a:rPr>
              <a:t>fixed capital incl. contingency</a:t>
            </a:r>
            <a:endParaRPr lang="en-US" sz="1150" dirty="0"/>
          </a:p>
        </p:txBody>
      </p:sp>
      <p:sp>
        <p:nvSpPr>
          <p:cNvPr id="10" name="Shape 7"/>
          <p:cNvSpPr/>
          <p:nvPr/>
        </p:nvSpPr>
        <p:spPr>
          <a:xfrm>
            <a:off x="8366760" y="3017520"/>
            <a:ext cx="3291840" cy="1371600"/>
          </a:xfrm>
          <a:prstGeom prst="roundRect">
            <a:avLst>
              <a:gd name="adj" fmla="val 5333"/>
            </a:avLst>
          </a:prstGeom>
          <a:solidFill>
            <a:srgbClr val="EEF4F0"/>
          </a:solidFill>
          <a:ln w="9525">
            <a:solidFill>
              <a:srgbClr val="EEF4F0"/>
            </a:solidFill>
            <a:prstDash val="solid"/>
          </a:ln>
        </p:spPr>
      </p:sp>
      <p:sp>
        <p:nvSpPr>
          <p:cNvPr id="11" name="Text 8"/>
          <p:cNvSpPr txBox="1"/>
          <p:nvPr/>
        </p:nvSpPr>
        <p:spPr>
          <a:xfrm>
            <a:off x="8595360" y="3182112"/>
            <a:ext cx="2834640" cy="68580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~₹22 L</a:t>
            </a:r>
            <a:endParaRPr lang="en-US" sz="3000" dirty="0"/>
          </a:p>
        </p:txBody>
      </p:sp>
      <p:sp>
        <p:nvSpPr>
          <p:cNvPr id="12" name="Text 9"/>
          <p:cNvSpPr txBox="1"/>
          <p:nvPr/>
        </p:nvSpPr>
        <p:spPr>
          <a:xfrm>
            <a:off x="8595360" y="3771900"/>
            <a:ext cx="2834640" cy="548640"/>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Phase 2 add-on: 3rd fruiting room, incubation extension, 2nd autoclave &amp; dryer</a:t>
            </a:r>
            <a:endParaRPr lang="en-US" sz="1150" dirty="0"/>
          </a:p>
        </p:txBody>
      </p:sp>
      <p:sp>
        <p:nvSpPr>
          <p:cNvPr id="13" name="Shape 10"/>
          <p:cNvSpPr/>
          <p:nvPr/>
        </p:nvSpPr>
        <p:spPr>
          <a:xfrm>
            <a:off x="8366760" y="4572000"/>
            <a:ext cx="3291840" cy="1691640"/>
          </a:xfrm>
          <a:prstGeom prst="roundRect">
            <a:avLst>
              <a:gd name="adj" fmla="val 4324"/>
            </a:avLst>
          </a:prstGeom>
          <a:solidFill>
            <a:srgbClr val="FBF1DE"/>
          </a:solidFill>
          <a:ln w="9525">
            <a:solidFill>
              <a:srgbClr val="FBF1DE"/>
            </a:solidFill>
            <a:prstDash val="solid"/>
          </a:ln>
        </p:spPr>
      </p:sp>
      <p:sp>
        <p:nvSpPr>
          <p:cNvPr id="14" name="Text 11"/>
          <p:cNvSpPr txBox="1"/>
          <p:nvPr/>
        </p:nvSpPr>
        <p:spPr>
          <a:xfrm>
            <a:off x="8549640" y="4663440"/>
            <a:ext cx="2926080" cy="1508760"/>
          </a:xfrm>
          <a:prstGeom prst="rect">
            <a:avLst/>
          </a:prstGeom>
          <a:noFill/>
          <a:ln/>
        </p:spPr>
        <p:txBody>
          <a:bodyPr wrap="square" lIns="0" tIns="0" rIns="0" bIns="0" rtlCol="0" anchor="ctr"/>
          <a:lstStyle/>
          <a:p>
            <a:pPr indent="0" marL="0">
              <a:buNone/>
            </a:pPr>
            <a:r>
              <a:rPr lang="en-US" sz="1100" dirty="0">
                <a:solidFill>
                  <a:srgbClr val="1E2A26"/>
                </a:solidFill>
                <a:latin typeface="Calibri" pitchFamily="34" charset="0"/>
                <a:ea typeface="Calibri" pitchFamily="34" charset="-122"/>
                <a:cs typeface="Calibri" pitchFamily="34" charset="-120"/>
              </a:rPr>
              <a:t>Figures are planning estimates. Firm them with 3 vendor proforma invoices per item, which the MIDH/NHB route also requires.</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10 · ECONOMICS</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Operating costs: Phase 1 steady state (₹ per month)</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760720" cy="914400"/>
        </p:xfrm>
        <a:graphic>
          <a:graphicData uri="http://schemas.openxmlformats.org/drawingml/2006/table">
            <a:tbl>
              <a:tblPr/>
              <a:tblGrid>
                <a:gridCol w="4206240"/>
                <a:gridCol w="1554480"/>
              </a:tblGrid>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Cost head</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 month</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Labour (5 staff)</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99,000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Power (~220 kWh/day at ~₹7)</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46,000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Substrate: sawdust + soy hull incl. freight</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45,000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Filter-patch bags (blocks + spawn)</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17,000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NABL testing (lot CoAs)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15,000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Lab consumables: IPA, gloves, masks, pre-filters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12,000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Maintenance &amp; miscellaneous</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12,000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Packaging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10,000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Diesel for DG backup</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8,000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Grain, gypsum, culture media</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6,000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65760">
                <a:tc>
                  <a:txBody>
                    <a:bodyPr/>
                    <a:lstStyle/>
                    <a:p>
                      <a:pPr indent="0" marL="0">
                        <a:buNone/>
                      </a:pPr>
                      <a:r>
                        <a:rPr lang="en-US" sz="1150" dirty="0">
                          <a:solidFill>
                            <a:srgbClr val="1E2A26"/>
                          </a:solidFill>
                          <a:latin typeface="Calibri" pitchFamily="34" charset="0"/>
                          <a:ea typeface="Calibri" pitchFamily="34" charset="-122"/>
                          <a:cs typeface="Calibri" pitchFamily="34" charset="-120"/>
                        </a:rPr>
                        <a:t>Logistics &amp; insurance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E2A26"/>
                          </a:solidFill>
                          <a:latin typeface="Calibri" pitchFamily="34" charset="0"/>
                          <a:ea typeface="Calibri" pitchFamily="34" charset="-122"/>
                          <a:cs typeface="Calibri" pitchFamily="34" charset="-120"/>
                        </a:rPr>
                        <a:t>6,000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2,76,000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r>
            </a:tbl>
          </a:graphicData>
        </a:graphic>
      </p:graphicFrame>
      <p:sp>
        <p:nvSpPr>
          <p:cNvPr id="7" name="Shape 4"/>
          <p:cNvSpPr/>
          <p:nvPr/>
        </p:nvSpPr>
        <p:spPr>
          <a:xfrm>
            <a:off x="6675120" y="1463040"/>
            <a:ext cx="2377440" cy="1463040"/>
          </a:xfrm>
          <a:prstGeom prst="roundRect">
            <a:avLst>
              <a:gd name="adj" fmla="val 5000"/>
            </a:avLst>
          </a:prstGeom>
          <a:solidFill>
            <a:srgbClr val="EEF4F0"/>
          </a:solidFill>
          <a:ln w="9525">
            <a:solidFill>
              <a:srgbClr val="EEF4F0"/>
            </a:solidFill>
            <a:prstDash val="solid"/>
          </a:ln>
        </p:spPr>
      </p:sp>
      <p:sp>
        <p:nvSpPr>
          <p:cNvPr id="8" name="Text 5"/>
          <p:cNvSpPr txBox="1"/>
          <p:nvPr/>
        </p:nvSpPr>
        <p:spPr>
          <a:xfrm>
            <a:off x="6903720" y="1627632"/>
            <a:ext cx="192024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₹2,960</a:t>
            </a:r>
            <a:endParaRPr lang="en-US" sz="3000" dirty="0"/>
          </a:p>
        </p:txBody>
      </p:sp>
      <p:sp>
        <p:nvSpPr>
          <p:cNvPr id="9" name="Text 6"/>
          <p:cNvSpPr txBox="1"/>
          <p:nvPr/>
        </p:nvSpPr>
        <p:spPr>
          <a:xfrm>
            <a:off x="6903720" y="2267712"/>
            <a:ext cx="1920240" cy="585216"/>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cash cost per kg dry powder</a:t>
            </a:r>
            <a:endParaRPr lang="en-US" sz="1150" dirty="0"/>
          </a:p>
        </p:txBody>
      </p:sp>
      <p:sp>
        <p:nvSpPr>
          <p:cNvPr id="10" name="Shape 7"/>
          <p:cNvSpPr/>
          <p:nvPr/>
        </p:nvSpPr>
        <p:spPr>
          <a:xfrm>
            <a:off x="9281160" y="1463040"/>
            <a:ext cx="2377440" cy="1463040"/>
          </a:xfrm>
          <a:prstGeom prst="roundRect">
            <a:avLst>
              <a:gd name="adj" fmla="val 5000"/>
            </a:avLst>
          </a:prstGeom>
          <a:solidFill>
            <a:srgbClr val="FBF1DE"/>
          </a:solidFill>
          <a:ln w="9525">
            <a:solidFill>
              <a:srgbClr val="FBF1DE"/>
            </a:solidFill>
            <a:prstDash val="solid"/>
          </a:ln>
        </p:spPr>
      </p:sp>
      <p:sp>
        <p:nvSpPr>
          <p:cNvPr id="11" name="Text 8"/>
          <p:cNvSpPr txBox="1"/>
          <p:nvPr/>
        </p:nvSpPr>
        <p:spPr>
          <a:xfrm>
            <a:off x="9509760" y="1627632"/>
            <a:ext cx="1920240" cy="731520"/>
          </a:xfrm>
          <a:prstGeom prst="rect">
            <a:avLst/>
          </a:prstGeom>
          <a:noFill/>
          <a:ln/>
        </p:spPr>
        <p:txBody>
          <a:bodyPr wrap="square" lIns="0" tIns="0" rIns="0" bIns="0" rtlCol="0" anchor="ctr"/>
          <a:lstStyle/>
          <a:p>
            <a:pPr indent="0" marL="0">
              <a:buNone/>
            </a:pPr>
            <a:r>
              <a:rPr lang="en-US" sz="3000" b="1" dirty="0">
                <a:solidFill>
                  <a:srgbClr val="A36A12"/>
                </a:solidFill>
                <a:latin typeface="Cambria" pitchFamily="34" charset="0"/>
                <a:ea typeface="Cambria" pitchFamily="34" charset="-122"/>
                <a:cs typeface="Cambria" pitchFamily="34" charset="-120"/>
              </a:rPr>
              <a:t>35 kg</a:t>
            </a:r>
            <a:endParaRPr lang="en-US" sz="3000" dirty="0"/>
          </a:p>
        </p:txBody>
      </p:sp>
      <p:sp>
        <p:nvSpPr>
          <p:cNvPr id="12" name="Text 9"/>
          <p:cNvSpPr txBox="1"/>
          <p:nvPr/>
        </p:nvSpPr>
        <p:spPr>
          <a:xfrm>
            <a:off x="9509760" y="2267712"/>
            <a:ext cx="1920240" cy="585216"/>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monthly break-even at ₹8,000/kg (37% of capacity)</a:t>
            </a:r>
            <a:endParaRPr lang="en-US" sz="1150" dirty="0"/>
          </a:p>
        </p:txBody>
      </p:sp>
      <p:sp>
        <p:nvSpPr>
          <p:cNvPr id="13" name="Shape 10"/>
          <p:cNvSpPr/>
          <p:nvPr/>
        </p:nvSpPr>
        <p:spPr>
          <a:xfrm>
            <a:off x="6675120" y="3154680"/>
            <a:ext cx="4983480" cy="3108960"/>
          </a:xfrm>
          <a:prstGeom prst="roundRect">
            <a:avLst>
              <a:gd name="adj" fmla="val 2353"/>
            </a:avLst>
          </a:prstGeom>
          <a:solidFill>
            <a:srgbClr val="FFFFFF"/>
          </a:solidFill>
          <a:ln w="9525">
            <a:solidFill>
              <a:srgbClr val="D3DED8"/>
            </a:solidFill>
            <a:prstDash val="solid"/>
          </a:ln>
        </p:spPr>
      </p:sp>
      <p:sp>
        <p:nvSpPr>
          <p:cNvPr id="14" name="Text 11"/>
          <p:cNvSpPr txBox="1"/>
          <p:nvPr/>
        </p:nvSpPr>
        <p:spPr>
          <a:xfrm>
            <a:off x="6903720" y="3273552"/>
            <a:ext cx="4572000" cy="32004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Power budget, kWh/day (summer peak)</a:t>
            </a:r>
            <a:endParaRPr lang="en-US" sz="1400" dirty="0"/>
          </a:p>
        </p:txBody>
      </p:sp>
      <p:sp>
        <p:nvSpPr>
          <p:cNvPr id="15" name="Text 12"/>
          <p:cNvSpPr txBox="1"/>
          <p:nvPr/>
        </p:nvSpPr>
        <p:spPr>
          <a:xfrm>
            <a:off x="6903720" y="3703320"/>
            <a:ext cx="2286000" cy="365760"/>
          </a:xfrm>
          <a:prstGeom prst="rect">
            <a:avLst/>
          </a:prstGeom>
          <a:noFill/>
          <a:ln/>
        </p:spPr>
        <p:txBody>
          <a:bodyPr wrap="square" lIns="0" tIns="0" rIns="0" bIns="0" rtlCol="0" anchor="ctr"/>
          <a:lstStyle/>
          <a:p>
            <a:pPr indent="0" marL="0">
              <a:buNone/>
            </a:pPr>
            <a:r>
              <a:rPr lang="en-US" sz="1100" dirty="0">
                <a:solidFill>
                  <a:srgbClr val="1E2A26"/>
                </a:solidFill>
                <a:latin typeface="Calibri" pitchFamily="34" charset="0"/>
                <a:ea typeface="Calibri" pitchFamily="34" charset="-122"/>
                <a:cs typeface="Calibri" pitchFamily="34" charset="-120"/>
              </a:rPr>
              <a:t>Cooling (4–5 ACs, ~7 TR)</a:t>
            </a:r>
            <a:endParaRPr lang="en-US" sz="1100" dirty="0"/>
          </a:p>
        </p:txBody>
      </p:sp>
      <p:sp>
        <p:nvSpPr>
          <p:cNvPr id="16" name="Shape 13"/>
          <p:cNvSpPr/>
          <p:nvPr/>
        </p:nvSpPr>
        <p:spPr>
          <a:xfrm>
            <a:off x="9235440" y="3767328"/>
            <a:ext cx="1737360" cy="256032"/>
          </a:xfrm>
          <a:prstGeom prst="roundRect">
            <a:avLst>
              <a:gd name="adj" fmla="val 21429"/>
            </a:avLst>
          </a:prstGeom>
          <a:solidFill>
            <a:srgbClr val="D9962B"/>
          </a:solidFill>
          <a:ln w="12700">
            <a:solidFill>
              <a:srgbClr val="D9962B"/>
            </a:solidFill>
            <a:prstDash val="solid"/>
          </a:ln>
        </p:spPr>
      </p:sp>
      <p:sp>
        <p:nvSpPr>
          <p:cNvPr id="17" name="Text 14"/>
          <p:cNvSpPr txBox="1"/>
          <p:nvPr/>
        </p:nvSpPr>
        <p:spPr>
          <a:xfrm>
            <a:off x="11018520" y="3703320"/>
            <a:ext cx="457200" cy="365760"/>
          </a:xfrm>
          <a:prstGeom prst="rect">
            <a:avLst/>
          </a:prstGeom>
          <a:noFill/>
          <a:ln/>
        </p:spPr>
        <p:txBody>
          <a:bodyPr wrap="square" lIns="0" tIns="0" rIns="0" bIns="0" rtlCol="0" anchor="ctr"/>
          <a:lstStyle/>
          <a:p>
            <a:pPr indent="0" marL="0">
              <a:buNone/>
            </a:pPr>
            <a:r>
              <a:rPr lang="en-US" sz="1100" b="1" dirty="0">
                <a:solidFill>
                  <a:srgbClr val="1E2A26"/>
                </a:solidFill>
                <a:latin typeface="Calibri" pitchFamily="34" charset="0"/>
                <a:ea typeface="Calibri" pitchFamily="34" charset="-122"/>
                <a:cs typeface="Calibri" pitchFamily="34" charset="-120"/>
              </a:rPr>
              <a:t>125</a:t>
            </a:r>
            <a:endParaRPr lang="en-US" sz="1100" dirty="0"/>
          </a:p>
        </p:txBody>
      </p:sp>
      <p:sp>
        <p:nvSpPr>
          <p:cNvPr id="18" name="Text 15"/>
          <p:cNvSpPr txBox="1"/>
          <p:nvPr/>
        </p:nvSpPr>
        <p:spPr>
          <a:xfrm>
            <a:off x="6903720" y="4270248"/>
            <a:ext cx="2286000" cy="365760"/>
          </a:xfrm>
          <a:prstGeom prst="rect">
            <a:avLst/>
          </a:prstGeom>
          <a:noFill/>
          <a:ln/>
        </p:spPr>
        <p:txBody>
          <a:bodyPr wrap="square" lIns="0" tIns="0" rIns="0" bIns="0" rtlCol="0" anchor="ctr"/>
          <a:lstStyle/>
          <a:p>
            <a:pPr indent="0" marL="0">
              <a:buNone/>
            </a:pPr>
            <a:r>
              <a:rPr lang="en-US" sz="1100" dirty="0">
                <a:solidFill>
                  <a:srgbClr val="1E2A26"/>
                </a:solidFill>
                <a:latin typeface="Calibri" pitchFamily="34" charset="0"/>
                <a:ea typeface="Calibri" pitchFamily="34" charset="-122"/>
                <a:cs typeface="Calibri" pitchFamily="34" charset="-120"/>
              </a:rPr>
              <a:t>Autoclave, 2 cycles</a:t>
            </a:r>
            <a:endParaRPr lang="en-US" sz="1100" dirty="0"/>
          </a:p>
        </p:txBody>
      </p:sp>
      <p:sp>
        <p:nvSpPr>
          <p:cNvPr id="19" name="Shape 16"/>
          <p:cNvSpPr/>
          <p:nvPr/>
        </p:nvSpPr>
        <p:spPr>
          <a:xfrm>
            <a:off x="9235440" y="4334256"/>
            <a:ext cx="694944" cy="256032"/>
          </a:xfrm>
          <a:prstGeom prst="roundRect">
            <a:avLst>
              <a:gd name="adj" fmla="val 21429"/>
            </a:avLst>
          </a:prstGeom>
          <a:solidFill>
            <a:srgbClr val="2E5E4E"/>
          </a:solidFill>
          <a:ln w="12700">
            <a:solidFill>
              <a:srgbClr val="2E5E4E"/>
            </a:solidFill>
            <a:prstDash val="solid"/>
          </a:ln>
        </p:spPr>
      </p:sp>
      <p:sp>
        <p:nvSpPr>
          <p:cNvPr id="20" name="Text 17"/>
          <p:cNvSpPr txBox="1"/>
          <p:nvPr/>
        </p:nvSpPr>
        <p:spPr>
          <a:xfrm>
            <a:off x="9976104" y="4270248"/>
            <a:ext cx="457200" cy="365760"/>
          </a:xfrm>
          <a:prstGeom prst="rect">
            <a:avLst/>
          </a:prstGeom>
          <a:noFill/>
          <a:ln/>
        </p:spPr>
        <p:txBody>
          <a:bodyPr wrap="square" lIns="0" tIns="0" rIns="0" bIns="0" rtlCol="0" anchor="ctr"/>
          <a:lstStyle/>
          <a:p>
            <a:pPr indent="0" marL="0">
              <a:buNone/>
            </a:pPr>
            <a:r>
              <a:rPr lang="en-US" sz="1100" b="1" dirty="0">
                <a:solidFill>
                  <a:srgbClr val="1E2A26"/>
                </a:solidFill>
                <a:latin typeface="Calibri" pitchFamily="34" charset="0"/>
                <a:ea typeface="Calibri" pitchFamily="34" charset="-122"/>
                <a:cs typeface="Calibri" pitchFamily="34" charset="-120"/>
              </a:rPr>
              <a:t>50</a:t>
            </a:r>
            <a:endParaRPr lang="en-US" sz="1100" dirty="0"/>
          </a:p>
        </p:txBody>
      </p:sp>
      <p:sp>
        <p:nvSpPr>
          <p:cNvPr id="21" name="Text 18"/>
          <p:cNvSpPr txBox="1"/>
          <p:nvPr/>
        </p:nvSpPr>
        <p:spPr>
          <a:xfrm>
            <a:off x="6903720" y="4837176"/>
            <a:ext cx="2286000" cy="365760"/>
          </a:xfrm>
          <a:prstGeom prst="rect">
            <a:avLst/>
          </a:prstGeom>
          <a:noFill/>
          <a:ln/>
        </p:spPr>
        <p:txBody>
          <a:bodyPr wrap="square" lIns="0" tIns="0" rIns="0" bIns="0" rtlCol="0" anchor="ctr"/>
          <a:lstStyle/>
          <a:p>
            <a:pPr indent="0" marL="0">
              <a:buNone/>
            </a:pPr>
            <a:r>
              <a:rPr lang="en-US" sz="1100" dirty="0">
                <a:solidFill>
                  <a:srgbClr val="1E2A26"/>
                </a:solidFill>
                <a:latin typeface="Calibri" pitchFamily="34" charset="0"/>
                <a:ea typeface="Calibri" pitchFamily="34" charset="-122"/>
                <a:cs typeface="Calibri" pitchFamily="34" charset="-120"/>
              </a:rPr>
              <a:t>Dehydrator</a:t>
            </a:r>
            <a:endParaRPr lang="en-US" sz="1100" dirty="0"/>
          </a:p>
        </p:txBody>
      </p:sp>
      <p:sp>
        <p:nvSpPr>
          <p:cNvPr id="22" name="Shape 19"/>
          <p:cNvSpPr/>
          <p:nvPr/>
        </p:nvSpPr>
        <p:spPr>
          <a:xfrm>
            <a:off x="9235440" y="4901184"/>
            <a:ext cx="486461" cy="256032"/>
          </a:xfrm>
          <a:prstGeom prst="roundRect">
            <a:avLst>
              <a:gd name="adj" fmla="val 21429"/>
            </a:avLst>
          </a:prstGeom>
          <a:solidFill>
            <a:srgbClr val="2E5E4E"/>
          </a:solidFill>
          <a:ln w="12700">
            <a:solidFill>
              <a:srgbClr val="2E5E4E"/>
            </a:solidFill>
            <a:prstDash val="solid"/>
          </a:ln>
        </p:spPr>
      </p:sp>
      <p:sp>
        <p:nvSpPr>
          <p:cNvPr id="23" name="Text 20"/>
          <p:cNvSpPr txBox="1"/>
          <p:nvPr/>
        </p:nvSpPr>
        <p:spPr>
          <a:xfrm>
            <a:off x="9767621" y="4837176"/>
            <a:ext cx="457200" cy="365760"/>
          </a:xfrm>
          <a:prstGeom prst="rect">
            <a:avLst/>
          </a:prstGeom>
          <a:noFill/>
          <a:ln/>
        </p:spPr>
        <p:txBody>
          <a:bodyPr wrap="square" lIns="0" tIns="0" rIns="0" bIns="0" rtlCol="0" anchor="ctr"/>
          <a:lstStyle/>
          <a:p>
            <a:pPr indent="0" marL="0">
              <a:buNone/>
            </a:pPr>
            <a:r>
              <a:rPr lang="en-US" sz="1100" b="1" dirty="0">
                <a:solidFill>
                  <a:srgbClr val="1E2A26"/>
                </a:solidFill>
                <a:latin typeface="Calibri" pitchFamily="34" charset="0"/>
                <a:ea typeface="Calibri" pitchFamily="34" charset="-122"/>
                <a:cs typeface="Calibri" pitchFamily="34" charset="-120"/>
              </a:rPr>
              <a:t>35</a:t>
            </a:r>
            <a:endParaRPr lang="en-US" sz="1100" dirty="0"/>
          </a:p>
        </p:txBody>
      </p:sp>
      <p:sp>
        <p:nvSpPr>
          <p:cNvPr id="24" name="Text 21"/>
          <p:cNvSpPr txBox="1"/>
          <p:nvPr/>
        </p:nvSpPr>
        <p:spPr>
          <a:xfrm>
            <a:off x="6903720" y="5404104"/>
            <a:ext cx="2286000" cy="365760"/>
          </a:xfrm>
          <a:prstGeom prst="rect">
            <a:avLst/>
          </a:prstGeom>
          <a:noFill/>
          <a:ln/>
        </p:spPr>
        <p:txBody>
          <a:bodyPr wrap="square" lIns="0" tIns="0" rIns="0" bIns="0" rtlCol="0" anchor="ctr"/>
          <a:lstStyle/>
          <a:p>
            <a:pPr indent="0" marL="0">
              <a:buNone/>
            </a:pPr>
            <a:r>
              <a:rPr lang="en-US" sz="1100" dirty="0">
                <a:solidFill>
                  <a:srgbClr val="1E2A26"/>
                </a:solidFill>
                <a:latin typeface="Calibri" pitchFamily="34" charset="0"/>
                <a:ea typeface="Calibri" pitchFamily="34" charset="-122"/>
                <a:cs typeface="Calibri" pitchFamily="34" charset="-120"/>
              </a:rPr>
              <a:t>Fans, LAF, fogger, lights, mill</a:t>
            </a:r>
            <a:endParaRPr lang="en-US" sz="1100" dirty="0"/>
          </a:p>
        </p:txBody>
      </p:sp>
      <p:sp>
        <p:nvSpPr>
          <p:cNvPr id="25" name="Shape 22"/>
          <p:cNvSpPr/>
          <p:nvPr/>
        </p:nvSpPr>
        <p:spPr>
          <a:xfrm>
            <a:off x="9235440" y="5468112"/>
            <a:ext cx="208483" cy="256032"/>
          </a:xfrm>
          <a:prstGeom prst="roundRect">
            <a:avLst>
              <a:gd name="adj" fmla="val 26316"/>
            </a:avLst>
          </a:prstGeom>
          <a:solidFill>
            <a:srgbClr val="2E5E4E"/>
          </a:solidFill>
          <a:ln w="12700">
            <a:solidFill>
              <a:srgbClr val="2E5E4E"/>
            </a:solidFill>
            <a:prstDash val="solid"/>
          </a:ln>
        </p:spPr>
      </p:sp>
      <p:sp>
        <p:nvSpPr>
          <p:cNvPr id="26" name="Text 23"/>
          <p:cNvSpPr txBox="1"/>
          <p:nvPr/>
        </p:nvSpPr>
        <p:spPr>
          <a:xfrm>
            <a:off x="9489643" y="5404104"/>
            <a:ext cx="457200" cy="365760"/>
          </a:xfrm>
          <a:prstGeom prst="rect">
            <a:avLst/>
          </a:prstGeom>
          <a:noFill/>
          <a:ln/>
        </p:spPr>
        <p:txBody>
          <a:bodyPr wrap="square" lIns="0" tIns="0" rIns="0" bIns="0" rtlCol="0" anchor="ctr"/>
          <a:lstStyle/>
          <a:p>
            <a:pPr indent="0" marL="0">
              <a:buNone/>
            </a:pPr>
            <a:r>
              <a:rPr lang="en-US" sz="1100" b="1" dirty="0">
                <a:solidFill>
                  <a:srgbClr val="1E2A26"/>
                </a:solidFill>
                <a:latin typeface="Calibri" pitchFamily="34" charset="0"/>
                <a:ea typeface="Calibri" pitchFamily="34" charset="-122"/>
                <a:cs typeface="Calibri" pitchFamily="34" charset="-120"/>
              </a:rPr>
              <a:t>15</a:t>
            </a:r>
            <a:endParaRPr lang="en-US" sz="1100" dirty="0"/>
          </a:p>
        </p:txBody>
      </p:sp>
      <p:sp>
        <p:nvSpPr>
          <p:cNvPr id="27" name="Text 24"/>
          <p:cNvSpPr txBox="1"/>
          <p:nvPr/>
        </p:nvSpPr>
        <p:spPr>
          <a:xfrm>
            <a:off x="6903720" y="5943600"/>
            <a:ext cx="4572000" cy="274320"/>
          </a:xfrm>
          <a:prstGeom prst="rect">
            <a:avLst/>
          </a:prstGeom>
          <a:noFill/>
          <a:ln/>
        </p:spPr>
        <p:txBody>
          <a:bodyPr wrap="square" lIns="0" tIns="0" rIns="0" bIns="0" rtlCol="0" anchor="t"/>
          <a:lstStyle/>
          <a:p>
            <a:pPr indent="0" marL="0">
              <a:buNone/>
            </a:pPr>
            <a:r>
              <a:rPr lang="en-US" sz="1050" i="1" dirty="0">
                <a:solidFill>
                  <a:srgbClr val="5F6F69"/>
                </a:solidFill>
                <a:latin typeface="Calibri" pitchFamily="34" charset="0"/>
                <a:ea typeface="Calibri" pitchFamily="34" charset="-122"/>
                <a:cs typeface="Calibri" pitchFamily="34" charset="-120"/>
              </a:rPr>
              <a:t>Total ~225 kWh/day in summer, ~150 in winter. Rooftop solar is a Year-2 option.</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10 · ECONOMICS</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Three-year projection (₹ lakh, pre-tax, pre-debt service)</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27</a:t>
            </a:r>
            <a:endParaRPr lang="en-US" sz="900" dirty="0"/>
          </a:p>
        </p:txBody>
      </p:sp>
      <p:graphicFrame>
        <p:nvGraphicFramePr>
          <p:cNvPr id="6" name="Chart 0" descr=""/>
          <p:cNvGraphicFramePr/>
          <p:nvPr/>
        </p:nvGraphicFramePr>
        <p:xfrm>
          <a:off x="548640" y="146304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6309360" cy="548640"/>
          </a:xfrm>
          <a:prstGeom prst="rect">
            <a:avLst/>
          </a:prstGeom>
          <a:noFill/>
          <a:ln/>
        </p:spPr>
        <p:txBody>
          <a:bodyPr wrap="square" lIns="0" tIns="0" rIns="0" bIns="0" rtlCol="0" anchor="t"/>
          <a:lstStyle/>
          <a:p>
            <a:pPr indent="0" marL="0">
              <a:buNone/>
            </a:pPr>
            <a:r>
              <a:rPr lang="en-US" sz="1050" i="1" dirty="0">
                <a:solidFill>
                  <a:srgbClr val="5F6F69"/>
                </a:solidFill>
                <a:latin typeface="Calibri" pitchFamily="34" charset="0"/>
                <a:ea typeface="Calibri" pitchFamily="34" charset="-122"/>
                <a:cs typeface="Calibri" pitchFamily="34" charset="-120"/>
              </a:rPr>
              <a:t>Y1: sales from Month 7 (485 kg). Y2: full Phase 1 (1,120 kg). Y3: Phase 2 at 90 blocks/day (1,680 kg) after ~₹22 L added capex. Price flat at ₹8,000/kg; no extract upside modelled.</a:t>
            </a:r>
            <a:endParaRPr lang="en-US" sz="1050" dirty="0"/>
          </a:p>
        </p:txBody>
      </p:sp>
      <p:sp>
        <p:nvSpPr>
          <p:cNvPr id="8" name="Text 5"/>
          <p:cNvSpPr txBox="1"/>
          <p:nvPr/>
        </p:nvSpPr>
        <p:spPr>
          <a:xfrm>
            <a:off x="7223760" y="1463040"/>
            <a:ext cx="4434840" cy="32004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Monthly EBITDA sensitivity, Phase 1 (₹ lakh)</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223760" y="1874520"/>
          <a:ext cx="4434840" cy="914400"/>
        </p:xfrm>
        <a:graphic>
          <a:graphicData uri="http://schemas.openxmlformats.org/drawingml/2006/table">
            <a:tbl>
              <a:tblPr/>
              <a:tblGrid>
                <a:gridCol w="1325880"/>
                <a:gridCol w="1033272"/>
                <a:gridCol w="1033272"/>
                <a:gridCol w="1042416"/>
              </a:tblGrid>
              <a:tr h="41148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Price / BE</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65%</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80%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411480">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₹6,000/kg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1.55</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2.84</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4.13</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₹8,000/kg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2.98</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2A26"/>
                          </a:solidFill>
                          <a:latin typeface="Calibri" pitchFamily="34" charset="0"/>
                          <a:ea typeface="Calibri" pitchFamily="34" charset="-122"/>
                          <a:cs typeface="Calibri" pitchFamily="34" charset="-120"/>
                        </a:rPr>
                        <a:t>4.70</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F1DE"/>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50" b="1" dirty="0">
                          <a:solidFill>
                            <a:srgbClr val="1E2A26"/>
                          </a:solidFill>
                          <a:latin typeface="Calibri" pitchFamily="34" charset="0"/>
                          <a:ea typeface="Calibri" pitchFamily="34" charset="-122"/>
                          <a:cs typeface="Calibri" pitchFamily="34" charset="-120"/>
                        </a:rPr>
                        <a:t>₹10,000/kg</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4.42</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6.57</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E2A26"/>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bl>
          </a:graphicData>
        </a:graphic>
      </p:graphicFrame>
      <p:sp>
        <p:nvSpPr>
          <p:cNvPr id="10" name="Shape 6"/>
          <p:cNvSpPr/>
          <p:nvPr/>
        </p:nvSpPr>
        <p:spPr>
          <a:xfrm>
            <a:off x="7223760" y="3749040"/>
            <a:ext cx="2103120" cy="1325880"/>
          </a:xfrm>
          <a:prstGeom prst="roundRect">
            <a:avLst>
              <a:gd name="adj" fmla="val 5517"/>
            </a:avLst>
          </a:prstGeom>
          <a:solidFill>
            <a:srgbClr val="EEF4F0"/>
          </a:solidFill>
          <a:ln w="9525">
            <a:solidFill>
              <a:srgbClr val="EEF4F0"/>
            </a:solidFill>
            <a:prstDash val="solid"/>
          </a:ln>
        </p:spPr>
      </p:sp>
      <p:sp>
        <p:nvSpPr>
          <p:cNvPr id="11" name="Text 7"/>
          <p:cNvSpPr txBox="1"/>
          <p:nvPr/>
        </p:nvSpPr>
        <p:spPr>
          <a:xfrm>
            <a:off x="7452360" y="3913632"/>
            <a:ext cx="1645920" cy="66294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~23 mo</a:t>
            </a:r>
            <a:endParaRPr lang="en-US" sz="3000" dirty="0"/>
          </a:p>
        </p:txBody>
      </p:sp>
      <p:sp>
        <p:nvSpPr>
          <p:cNvPr id="12" name="Text 8"/>
          <p:cNvSpPr txBox="1"/>
          <p:nvPr/>
        </p:nvSpPr>
        <p:spPr>
          <a:xfrm>
            <a:off x="7452360" y="4478274"/>
            <a:ext cx="1645920" cy="530352"/>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EBITDA payback on ₹66 L from project start</a:t>
            </a:r>
            <a:endParaRPr lang="en-US" sz="1150" dirty="0"/>
          </a:p>
        </p:txBody>
      </p:sp>
      <p:sp>
        <p:nvSpPr>
          <p:cNvPr id="13" name="Shape 9"/>
          <p:cNvSpPr/>
          <p:nvPr/>
        </p:nvSpPr>
        <p:spPr>
          <a:xfrm>
            <a:off x="9555480" y="3749040"/>
            <a:ext cx="2103120" cy="1325880"/>
          </a:xfrm>
          <a:prstGeom prst="roundRect">
            <a:avLst>
              <a:gd name="adj" fmla="val 5517"/>
            </a:avLst>
          </a:prstGeom>
          <a:solidFill>
            <a:srgbClr val="FBF1DE"/>
          </a:solidFill>
          <a:ln w="9525">
            <a:solidFill>
              <a:srgbClr val="FBF1DE"/>
            </a:solidFill>
            <a:prstDash val="solid"/>
          </a:ln>
        </p:spPr>
      </p:sp>
      <p:sp>
        <p:nvSpPr>
          <p:cNvPr id="14" name="Text 10"/>
          <p:cNvSpPr txBox="1"/>
          <p:nvPr/>
        </p:nvSpPr>
        <p:spPr>
          <a:xfrm>
            <a:off x="9784080" y="3913632"/>
            <a:ext cx="1645920" cy="662940"/>
          </a:xfrm>
          <a:prstGeom prst="rect">
            <a:avLst/>
          </a:prstGeom>
          <a:noFill/>
          <a:ln/>
        </p:spPr>
        <p:txBody>
          <a:bodyPr wrap="square" lIns="0" tIns="0" rIns="0" bIns="0" rtlCol="0" anchor="ctr"/>
          <a:lstStyle/>
          <a:p>
            <a:pPr indent="0" marL="0">
              <a:buNone/>
            </a:pPr>
            <a:r>
              <a:rPr lang="en-US" sz="3000" b="1" dirty="0">
                <a:solidFill>
                  <a:srgbClr val="A36A12"/>
                </a:solidFill>
                <a:latin typeface="Cambria" pitchFamily="34" charset="0"/>
                <a:ea typeface="Cambria" pitchFamily="34" charset="-122"/>
                <a:cs typeface="Cambria" pitchFamily="34" charset="-120"/>
              </a:rPr>
              <a:t>+₹1.5 L</a:t>
            </a:r>
            <a:endParaRPr lang="en-US" sz="3000" dirty="0"/>
          </a:p>
        </p:txBody>
      </p:sp>
      <p:sp>
        <p:nvSpPr>
          <p:cNvPr id="15" name="Text 11"/>
          <p:cNvSpPr txBox="1"/>
          <p:nvPr/>
        </p:nvSpPr>
        <p:spPr>
          <a:xfrm>
            <a:off x="9784080" y="4478274"/>
            <a:ext cx="1645920" cy="530352"/>
          </a:xfrm>
          <a:prstGeom prst="rect">
            <a:avLst/>
          </a:prstGeom>
          <a:noFill/>
          <a:ln/>
        </p:spPr>
        <p:txBody>
          <a:bodyPr wrap="square" lIns="0" tIns="0" rIns="0" bIns="0" rtlCol="0" anchor="t"/>
          <a:lstStyle/>
          <a:p>
            <a:pPr indent="0" marL="0">
              <a:buNone/>
            </a:pPr>
            <a:r>
              <a:rPr lang="en-US" sz="1150" dirty="0">
                <a:solidFill>
                  <a:srgbClr val="5F6F69"/>
                </a:solidFill>
                <a:latin typeface="Calibri" pitchFamily="34" charset="0"/>
                <a:ea typeface="Calibri" pitchFamily="34" charset="-122"/>
                <a:cs typeface="Calibri" pitchFamily="34" charset="-120"/>
              </a:rPr>
              <a:t>monthly EBITDA even at worst case (₹6,000, 50% BE)</a:t>
            </a:r>
            <a:endParaRPr lang="en-US" sz="1150" dirty="0"/>
          </a:p>
        </p:txBody>
      </p:sp>
      <p:sp>
        <p:nvSpPr>
          <p:cNvPr id="16" name="Text 12"/>
          <p:cNvSpPr txBox="1"/>
          <p:nvPr/>
        </p:nvSpPr>
        <p:spPr>
          <a:xfrm>
            <a:off x="7223760" y="5257800"/>
            <a:ext cx="4434840" cy="548640"/>
          </a:xfrm>
          <a:prstGeom prst="rect">
            <a:avLst/>
          </a:prstGeom>
          <a:noFill/>
          <a:ln/>
        </p:spPr>
        <p:txBody>
          <a:bodyPr wrap="square" lIns="0" tIns="0" rIns="0" bIns="0" rtlCol="0" anchor="t"/>
          <a:lstStyle/>
          <a:p>
            <a:pPr indent="0" marL="0">
              <a:buNone/>
            </a:pPr>
            <a:r>
              <a:rPr lang="en-US" sz="1150" dirty="0">
                <a:solidFill>
                  <a:srgbClr val="1E2A26"/>
                </a:solidFill>
                <a:latin typeface="Calibri" pitchFamily="34" charset="0"/>
                <a:ea typeface="Calibri" pitchFamily="34" charset="-122"/>
                <a:cs typeface="Calibri" pitchFamily="34" charset="-120"/>
              </a:rPr>
              <a:t>The plant stays cash-positive across every price and yield combination tested.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10 · ECONOMICS</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Funding structure and government support</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548640" y="1463040"/>
            <a:ext cx="6309360" cy="1051560"/>
          </a:xfrm>
          <a:prstGeom prst="roundRect">
            <a:avLst>
              <a:gd name="adj" fmla="val 6957"/>
            </a:avLst>
          </a:prstGeom>
          <a:solidFill>
            <a:srgbClr val="EEF4F0"/>
          </a:solidFill>
          <a:ln w="9525">
            <a:solidFill>
              <a:srgbClr val="EEF4F0"/>
            </a:solidFill>
            <a:prstDash val="solid"/>
          </a:ln>
        </p:spPr>
      </p:sp>
      <p:sp>
        <p:nvSpPr>
          <p:cNvPr id="7" name="Shape 5"/>
          <p:cNvSpPr/>
          <p:nvPr/>
        </p:nvSpPr>
        <p:spPr>
          <a:xfrm>
            <a:off x="731520" y="1691640"/>
            <a:ext cx="566928" cy="566928"/>
          </a:xfrm>
          <a:prstGeom prst="ellipse">
            <a:avLst/>
          </a:prstGeom>
          <a:solidFill>
            <a:srgbClr val="2E5E4E"/>
          </a:solidFill>
          <a:ln w="12700">
            <a:solidFill>
              <a:srgbClr val="2E5E4E"/>
            </a:solidFill>
            <a:prstDash val="solid"/>
          </a:ln>
        </p:spPr>
      </p:sp>
      <p:pic>
        <p:nvPicPr>
          <p:cNvPr id="8" name="Image 0" descr="preencoded.png">    </p:cNvPr>
          <p:cNvPicPr>
            <a:picLocks noChangeAspect="1"/>
          </p:cNvPicPr>
          <p:nvPr/>
        </p:nvPicPr>
        <p:blipFill>
          <a:blip r:embed="rId1"/>
          <a:stretch>
            <a:fillRect/>
          </a:stretch>
        </p:blipFill>
        <p:spPr>
          <a:xfrm>
            <a:off x="878921" y="1839041"/>
            <a:ext cx="272125" cy="272125"/>
          </a:xfrm>
          <a:prstGeom prst="rect">
            <a:avLst/>
          </a:prstGeom>
        </p:spPr>
      </p:pic>
      <p:sp>
        <p:nvSpPr>
          <p:cNvPr id="9" name="Text 6"/>
          <p:cNvSpPr txBox="1"/>
          <p:nvPr/>
        </p:nvSpPr>
        <p:spPr>
          <a:xfrm>
            <a:off x="1463040" y="1554480"/>
            <a:ext cx="2926080" cy="320040"/>
          </a:xfrm>
          <a:prstGeom prst="rect">
            <a:avLst/>
          </a:prstGeom>
          <a:noFill/>
          <a:ln/>
        </p:spPr>
        <p:txBody>
          <a:bodyPr wrap="square" lIns="0" tIns="0" rIns="0" bIns="0" rtlCol="0" anchor="t"/>
          <a:lstStyle/>
          <a:p>
            <a:pPr indent="0" marL="0">
              <a:buNone/>
            </a:pPr>
            <a:r>
              <a:rPr lang="en-US" sz="1350" b="1" dirty="0">
                <a:solidFill>
                  <a:srgbClr val="14302A"/>
                </a:solidFill>
                <a:latin typeface="Calibri" pitchFamily="34" charset="0"/>
                <a:ea typeface="Calibri" pitchFamily="34" charset="-122"/>
                <a:cs typeface="Calibri" pitchFamily="34" charset="-120"/>
              </a:rPr>
              <a:t>PMEGP (MSME / KVIC)</a:t>
            </a:r>
            <a:endParaRPr lang="en-US" sz="1350" dirty="0"/>
          </a:p>
        </p:txBody>
      </p:sp>
      <p:sp>
        <p:nvSpPr>
          <p:cNvPr id="10" name="Text 7"/>
          <p:cNvSpPr txBox="1"/>
          <p:nvPr/>
        </p:nvSpPr>
        <p:spPr>
          <a:xfrm>
            <a:off x="4389120" y="1554480"/>
            <a:ext cx="2331720" cy="320040"/>
          </a:xfrm>
          <a:prstGeom prst="rect">
            <a:avLst/>
          </a:prstGeom>
          <a:noFill/>
          <a:ln/>
        </p:spPr>
        <p:txBody>
          <a:bodyPr wrap="square" lIns="0" tIns="0" rIns="0" bIns="0" rtlCol="0" anchor="t"/>
          <a:lstStyle/>
          <a:p>
            <a:pPr algn="r" indent="0" marL="0">
              <a:buNone/>
            </a:pPr>
            <a:r>
              <a:rPr lang="en-US" sz="1050" b="1" dirty="0">
                <a:solidFill>
                  <a:srgbClr val="D9962B"/>
                </a:solidFill>
                <a:latin typeface="Calibri" pitchFamily="34" charset="0"/>
                <a:ea typeface="Calibri" pitchFamily="34" charset="-122"/>
                <a:cs typeface="Calibri" pitchFamily="34" charset="-120"/>
              </a:rPr>
              <a:t>Recommended lead route</a:t>
            </a:r>
            <a:endParaRPr lang="en-US" sz="1050" dirty="0"/>
          </a:p>
        </p:txBody>
      </p:sp>
      <p:sp>
        <p:nvSpPr>
          <p:cNvPr id="11" name="Text 8"/>
          <p:cNvSpPr txBox="1"/>
          <p:nvPr/>
        </p:nvSpPr>
        <p:spPr>
          <a:xfrm>
            <a:off x="1463040" y="1874520"/>
            <a:ext cx="5257800" cy="59436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35% margin-money subsidy for rural units in a Special Category State; 5% promoter contribution. Manufacturing project cap ₹50 L.</a:t>
            </a:r>
            <a:endParaRPr lang="en-US" sz="1050" dirty="0"/>
          </a:p>
        </p:txBody>
      </p:sp>
      <p:sp>
        <p:nvSpPr>
          <p:cNvPr id="12" name="Shape 9"/>
          <p:cNvSpPr/>
          <p:nvPr/>
        </p:nvSpPr>
        <p:spPr>
          <a:xfrm>
            <a:off x="548640" y="2651760"/>
            <a:ext cx="6309360" cy="1051560"/>
          </a:xfrm>
          <a:prstGeom prst="roundRect">
            <a:avLst>
              <a:gd name="adj" fmla="val 6957"/>
            </a:avLst>
          </a:prstGeom>
          <a:solidFill>
            <a:srgbClr val="EEF4F0"/>
          </a:solidFill>
          <a:ln w="9525">
            <a:solidFill>
              <a:srgbClr val="EEF4F0"/>
            </a:solidFill>
            <a:prstDash val="solid"/>
          </a:ln>
        </p:spPr>
      </p:sp>
      <p:sp>
        <p:nvSpPr>
          <p:cNvPr id="13" name="Shape 10"/>
          <p:cNvSpPr/>
          <p:nvPr/>
        </p:nvSpPr>
        <p:spPr>
          <a:xfrm>
            <a:off x="731520" y="2880360"/>
            <a:ext cx="566928" cy="566928"/>
          </a:xfrm>
          <a:prstGeom prst="ellipse">
            <a:avLst/>
          </a:prstGeom>
          <a:solidFill>
            <a:srgbClr val="4E7D6B"/>
          </a:solidFill>
          <a:ln w="12700">
            <a:solidFill>
              <a:srgbClr val="4E7D6B"/>
            </a:solidFill>
            <a:prstDash val="solid"/>
          </a:ln>
        </p:spPr>
      </p:sp>
      <p:pic>
        <p:nvPicPr>
          <p:cNvPr id="14" name="Image 1" descr="preencoded.png">    </p:cNvPr>
          <p:cNvPicPr>
            <a:picLocks noChangeAspect="1"/>
          </p:cNvPicPr>
          <p:nvPr/>
        </p:nvPicPr>
        <p:blipFill>
          <a:blip r:embed="rId2"/>
          <a:stretch>
            <a:fillRect/>
          </a:stretch>
        </p:blipFill>
        <p:spPr>
          <a:xfrm>
            <a:off x="878921" y="3027761"/>
            <a:ext cx="272125" cy="272125"/>
          </a:xfrm>
          <a:prstGeom prst="rect">
            <a:avLst/>
          </a:prstGeom>
        </p:spPr>
      </p:pic>
      <p:sp>
        <p:nvSpPr>
          <p:cNvPr id="15" name="Text 11"/>
          <p:cNvSpPr txBox="1"/>
          <p:nvPr/>
        </p:nvSpPr>
        <p:spPr>
          <a:xfrm>
            <a:off x="1463040" y="2743200"/>
            <a:ext cx="2926080" cy="320040"/>
          </a:xfrm>
          <a:prstGeom prst="rect">
            <a:avLst/>
          </a:prstGeom>
          <a:noFill/>
          <a:ln/>
        </p:spPr>
        <p:txBody>
          <a:bodyPr wrap="square" lIns="0" tIns="0" rIns="0" bIns="0" rtlCol="0" anchor="t"/>
          <a:lstStyle/>
          <a:p>
            <a:pPr indent="0" marL="0">
              <a:buNone/>
            </a:pPr>
            <a:r>
              <a:rPr lang="en-US" sz="1350" b="1" dirty="0">
                <a:solidFill>
                  <a:srgbClr val="14302A"/>
                </a:solidFill>
                <a:latin typeface="Calibri" pitchFamily="34" charset="0"/>
                <a:ea typeface="Calibri" pitchFamily="34" charset="-122"/>
                <a:cs typeface="Calibri" pitchFamily="34" charset="-120"/>
              </a:rPr>
              <a:t>MIDH / NHB</a:t>
            </a:r>
            <a:endParaRPr lang="en-US" sz="1350" dirty="0"/>
          </a:p>
        </p:txBody>
      </p:sp>
      <p:sp>
        <p:nvSpPr>
          <p:cNvPr id="16" name="Text 12"/>
          <p:cNvSpPr txBox="1"/>
          <p:nvPr/>
        </p:nvSpPr>
        <p:spPr>
          <a:xfrm>
            <a:off x="4389120" y="2743200"/>
            <a:ext cx="2331720" cy="320040"/>
          </a:xfrm>
          <a:prstGeom prst="rect">
            <a:avLst/>
          </a:prstGeom>
          <a:noFill/>
          <a:ln/>
        </p:spPr>
        <p:txBody>
          <a:bodyPr wrap="square" lIns="0" tIns="0" rIns="0" bIns="0" rtlCol="0" anchor="t"/>
          <a:lstStyle/>
          <a:p>
            <a:pPr algn="r" indent="0" marL="0">
              <a:buNone/>
            </a:pPr>
            <a:r>
              <a:rPr lang="en-US" sz="1050" b="1" dirty="0">
                <a:solidFill>
                  <a:srgbClr val="D9962B"/>
                </a:solidFill>
                <a:latin typeface="Calibri" pitchFamily="34" charset="0"/>
                <a:ea typeface="Calibri" pitchFamily="34" charset="-122"/>
                <a:cs typeface="Calibri" pitchFamily="34" charset="-120"/>
              </a:rPr>
              <a:t>Alternate for larger scope</a:t>
            </a:r>
            <a:endParaRPr lang="en-US" sz="1050" dirty="0"/>
          </a:p>
        </p:txBody>
      </p:sp>
      <p:sp>
        <p:nvSpPr>
          <p:cNvPr id="17" name="Text 13"/>
          <p:cNvSpPr txBox="1"/>
          <p:nvPr/>
        </p:nvSpPr>
        <p:spPr>
          <a:xfrm>
            <a:off x="1463040" y="3063240"/>
            <a:ext cx="5257800" cy="59436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Credit-linked back-ended subsidy on eligible horticulture infrastructure (50% in HP per notes). DPR with 3 proformas; no purchases before in-principle approval.</a:t>
            </a:r>
            <a:endParaRPr lang="en-US" sz="1050" dirty="0"/>
          </a:p>
        </p:txBody>
      </p:sp>
      <p:sp>
        <p:nvSpPr>
          <p:cNvPr id="18" name="Shape 14"/>
          <p:cNvSpPr/>
          <p:nvPr/>
        </p:nvSpPr>
        <p:spPr>
          <a:xfrm>
            <a:off x="548640" y="3840480"/>
            <a:ext cx="6309360" cy="1051560"/>
          </a:xfrm>
          <a:prstGeom prst="roundRect">
            <a:avLst>
              <a:gd name="adj" fmla="val 6957"/>
            </a:avLst>
          </a:prstGeom>
          <a:solidFill>
            <a:srgbClr val="EEF4F0"/>
          </a:solidFill>
          <a:ln w="9525">
            <a:solidFill>
              <a:srgbClr val="EEF4F0"/>
            </a:solidFill>
            <a:prstDash val="solid"/>
          </a:ln>
        </p:spPr>
      </p:sp>
      <p:sp>
        <p:nvSpPr>
          <p:cNvPr id="19" name="Shape 15"/>
          <p:cNvSpPr/>
          <p:nvPr/>
        </p:nvSpPr>
        <p:spPr>
          <a:xfrm>
            <a:off x="731520" y="4069080"/>
            <a:ext cx="566928" cy="566928"/>
          </a:xfrm>
          <a:prstGeom prst="ellipse">
            <a:avLst/>
          </a:prstGeom>
          <a:solidFill>
            <a:srgbClr val="4E7D6B"/>
          </a:solidFill>
          <a:ln w="12700">
            <a:solidFill>
              <a:srgbClr val="4E7D6B"/>
            </a:solidFill>
            <a:prstDash val="solid"/>
          </a:ln>
        </p:spPr>
      </p:sp>
      <p:pic>
        <p:nvPicPr>
          <p:cNvPr id="20" name="Image 2" descr="preencoded.png">    </p:cNvPr>
          <p:cNvPicPr>
            <a:picLocks noChangeAspect="1"/>
          </p:cNvPicPr>
          <p:nvPr/>
        </p:nvPicPr>
        <p:blipFill>
          <a:blip r:embed="rId3"/>
          <a:stretch>
            <a:fillRect/>
          </a:stretch>
        </p:blipFill>
        <p:spPr>
          <a:xfrm>
            <a:off x="878921" y="4216481"/>
            <a:ext cx="272125" cy="272125"/>
          </a:xfrm>
          <a:prstGeom prst="rect">
            <a:avLst/>
          </a:prstGeom>
        </p:spPr>
      </p:pic>
      <p:sp>
        <p:nvSpPr>
          <p:cNvPr id="21" name="Text 16"/>
          <p:cNvSpPr txBox="1"/>
          <p:nvPr/>
        </p:nvSpPr>
        <p:spPr>
          <a:xfrm>
            <a:off x="1463040" y="3931920"/>
            <a:ext cx="2926080" cy="320040"/>
          </a:xfrm>
          <a:prstGeom prst="rect">
            <a:avLst/>
          </a:prstGeom>
          <a:noFill/>
          <a:ln/>
        </p:spPr>
        <p:txBody>
          <a:bodyPr wrap="square" lIns="0" tIns="0" rIns="0" bIns="0" rtlCol="0" anchor="t"/>
          <a:lstStyle/>
          <a:p>
            <a:pPr indent="0" marL="0">
              <a:buNone/>
            </a:pPr>
            <a:r>
              <a:rPr lang="en-US" sz="1350" b="1" dirty="0">
                <a:solidFill>
                  <a:srgbClr val="14302A"/>
                </a:solidFill>
                <a:latin typeface="Calibri" pitchFamily="34" charset="0"/>
                <a:ea typeface="Calibri" pitchFamily="34" charset="-122"/>
                <a:cs typeface="Calibri" pitchFamily="34" charset="-120"/>
              </a:rPr>
              <a:t>PMFME (MoFPI)</a:t>
            </a:r>
            <a:endParaRPr lang="en-US" sz="1350" dirty="0"/>
          </a:p>
        </p:txBody>
      </p:sp>
      <p:sp>
        <p:nvSpPr>
          <p:cNvPr id="22" name="Text 17"/>
          <p:cNvSpPr txBox="1"/>
          <p:nvPr/>
        </p:nvSpPr>
        <p:spPr>
          <a:xfrm>
            <a:off x="4389120" y="3931920"/>
            <a:ext cx="2331720" cy="320040"/>
          </a:xfrm>
          <a:prstGeom prst="rect">
            <a:avLst/>
          </a:prstGeom>
          <a:noFill/>
          <a:ln/>
        </p:spPr>
        <p:txBody>
          <a:bodyPr wrap="square" lIns="0" tIns="0" rIns="0" bIns="0" rtlCol="0" anchor="t"/>
          <a:lstStyle/>
          <a:p>
            <a:pPr algn="r" indent="0" marL="0">
              <a:buNone/>
            </a:pPr>
            <a:r>
              <a:rPr lang="en-US" sz="1050" b="1" dirty="0">
                <a:solidFill>
                  <a:srgbClr val="D9962B"/>
                </a:solidFill>
                <a:latin typeface="Calibri" pitchFamily="34" charset="0"/>
                <a:ea typeface="Calibri" pitchFamily="34" charset="-122"/>
                <a:cs typeface="Calibri" pitchFamily="34" charset="-120"/>
              </a:rPr>
              <a:t>For processing assets</a:t>
            </a:r>
            <a:endParaRPr lang="en-US" sz="1050" dirty="0"/>
          </a:p>
        </p:txBody>
      </p:sp>
      <p:sp>
        <p:nvSpPr>
          <p:cNvPr id="23" name="Text 18"/>
          <p:cNvSpPr txBox="1"/>
          <p:nvPr/>
        </p:nvSpPr>
        <p:spPr>
          <a:xfrm>
            <a:off x="1463040" y="4251960"/>
            <a:ext cx="5257800" cy="59436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35% credit-linked subsidy up to ₹10 L on food-processing machinery (dryer, mill, packing).</a:t>
            </a:r>
            <a:endParaRPr lang="en-US" sz="1050" dirty="0"/>
          </a:p>
        </p:txBody>
      </p:sp>
      <p:sp>
        <p:nvSpPr>
          <p:cNvPr id="24" name="Shape 19"/>
          <p:cNvSpPr/>
          <p:nvPr/>
        </p:nvSpPr>
        <p:spPr>
          <a:xfrm>
            <a:off x="548640" y="5029200"/>
            <a:ext cx="6309360" cy="1051560"/>
          </a:xfrm>
          <a:prstGeom prst="roundRect">
            <a:avLst>
              <a:gd name="adj" fmla="val 6957"/>
            </a:avLst>
          </a:prstGeom>
          <a:solidFill>
            <a:srgbClr val="EEF4F0"/>
          </a:solidFill>
          <a:ln w="9525">
            <a:solidFill>
              <a:srgbClr val="EEF4F0"/>
            </a:solidFill>
            <a:prstDash val="solid"/>
          </a:ln>
        </p:spPr>
      </p:sp>
      <p:sp>
        <p:nvSpPr>
          <p:cNvPr id="25" name="Shape 20"/>
          <p:cNvSpPr/>
          <p:nvPr/>
        </p:nvSpPr>
        <p:spPr>
          <a:xfrm>
            <a:off x="731520" y="5257800"/>
            <a:ext cx="566928" cy="566928"/>
          </a:xfrm>
          <a:prstGeom prst="ellipse">
            <a:avLst/>
          </a:prstGeom>
          <a:solidFill>
            <a:srgbClr val="D9962B"/>
          </a:solidFill>
          <a:ln w="12700">
            <a:solidFill>
              <a:srgbClr val="D9962B"/>
            </a:solidFill>
            <a:prstDash val="solid"/>
          </a:ln>
        </p:spPr>
      </p:sp>
      <p:pic>
        <p:nvPicPr>
          <p:cNvPr id="26" name="Image 3" descr="preencoded.png">    </p:cNvPr>
          <p:cNvPicPr>
            <a:picLocks noChangeAspect="1"/>
          </p:cNvPicPr>
          <p:nvPr/>
        </p:nvPicPr>
        <p:blipFill>
          <a:blip r:embed="rId4"/>
          <a:stretch>
            <a:fillRect/>
          </a:stretch>
        </p:blipFill>
        <p:spPr>
          <a:xfrm>
            <a:off x="878921" y="5405201"/>
            <a:ext cx="272125" cy="272125"/>
          </a:xfrm>
          <a:prstGeom prst="rect">
            <a:avLst/>
          </a:prstGeom>
        </p:spPr>
      </p:pic>
      <p:sp>
        <p:nvSpPr>
          <p:cNvPr id="27" name="Text 21"/>
          <p:cNvSpPr txBox="1"/>
          <p:nvPr/>
        </p:nvSpPr>
        <p:spPr>
          <a:xfrm>
            <a:off x="1463040" y="5120640"/>
            <a:ext cx="2926080" cy="320040"/>
          </a:xfrm>
          <a:prstGeom prst="rect">
            <a:avLst/>
          </a:prstGeom>
          <a:noFill/>
          <a:ln/>
        </p:spPr>
        <p:txBody>
          <a:bodyPr wrap="square" lIns="0" tIns="0" rIns="0" bIns="0" rtlCol="0" anchor="t"/>
          <a:lstStyle/>
          <a:p>
            <a:pPr indent="0" marL="0">
              <a:buNone/>
            </a:pPr>
            <a:r>
              <a:rPr lang="en-US" sz="1350" b="1" dirty="0">
                <a:solidFill>
                  <a:srgbClr val="14302A"/>
                </a:solidFill>
                <a:latin typeface="Calibri" pitchFamily="34" charset="0"/>
                <a:ea typeface="Calibri" pitchFamily="34" charset="-122"/>
                <a:cs typeface="Calibri" pitchFamily="34" charset="-120"/>
              </a:rPr>
              <a:t>AIF</a:t>
            </a:r>
            <a:endParaRPr lang="en-US" sz="1350" dirty="0"/>
          </a:p>
        </p:txBody>
      </p:sp>
      <p:sp>
        <p:nvSpPr>
          <p:cNvPr id="28" name="Text 22"/>
          <p:cNvSpPr txBox="1"/>
          <p:nvPr/>
        </p:nvSpPr>
        <p:spPr>
          <a:xfrm>
            <a:off x="4389120" y="5120640"/>
            <a:ext cx="2331720" cy="320040"/>
          </a:xfrm>
          <a:prstGeom prst="rect">
            <a:avLst/>
          </a:prstGeom>
          <a:noFill/>
          <a:ln/>
        </p:spPr>
        <p:txBody>
          <a:bodyPr wrap="square" lIns="0" tIns="0" rIns="0" bIns="0" rtlCol="0" anchor="t"/>
          <a:lstStyle/>
          <a:p>
            <a:pPr algn="r" indent="0" marL="0">
              <a:buNone/>
            </a:pPr>
            <a:r>
              <a:rPr lang="en-US" sz="1050" b="1" dirty="0">
                <a:solidFill>
                  <a:srgbClr val="D9962B"/>
                </a:solidFill>
                <a:latin typeface="Calibri" pitchFamily="34" charset="0"/>
                <a:ea typeface="Calibri" pitchFamily="34" charset="-122"/>
                <a:cs typeface="Calibri" pitchFamily="34" charset="-120"/>
              </a:rPr>
              <a:t>Interest cost reducer</a:t>
            </a:r>
            <a:endParaRPr lang="en-US" sz="1050" dirty="0"/>
          </a:p>
        </p:txBody>
      </p:sp>
      <p:sp>
        <p:nvSpPr>
          <p:cNvPr id="29" name="Text 23"/>
          <p:cNvSpPr txBox="1"/>
          <p:nvPr/>
        </p:nvSpPr>
        <p:spPr>
          <a:xfrm>
            <a:off x="1463040" y="5440680"/>
            <a:ext cx="5257800" cy="594360"/>
          </a:xfrm>
          <a:prstGeom prst="rect">
            <a:avLst/>
          </a:prstGeom>
          <a:noFill/>
          <a:ln/>
        </p:spPr>
        <p:txBody>
          <a:bodyPr wrap="square" lIns="0" tIns="0" rIns="0" bIns="0" rtlCol="0" anchor="t"/>
          <a:lstStyle/>
          <a:p>
            <a:pPr indent="0" marL="0">
              <a:buNone/>
            </a:pPr>
            <a:r>
              <a:rPr lang="en-US" sz="1050" dirty="0">
                <a:solidFill>
                  <a:srgbClr val="1E2A26"/>
                </a:solidFill>
                <a:latin typeface="Calibri" pitchFamily="34" charset="0"/>
                <a:ea typeface="Calibri" pitchFamily="34" charset="-122"/>
                <a:cs typeface="Calibri" pitchFamily="34" charset="-120"/>
              </a:rPr>
              <a:t>3% interest subvention on eligible term loans; can sit alongside a capital subsidy.</a:t>
            </a:r>
            <a:endParaRPr lang="en-US" sz="1050" dirty="0"/>
          </a:p>
        </p:txBody>
      </p:sp>
      <p:sp>
        <p:nvSpPr>
          <p:cNvPr id="30" name="Text 24"/>
          <p:cNvSpPr txBox="1"/>
          <p:nvPr/>
        </p:nvSpPr>
        <p:spPr>
          <a:xfrm>
            <a:off x="7223760" y="1463040"/>
            <a:ext cx="4434840" cy="320040"/>
          </a:xfrm>
          <a:prstGeom prst="rect">
            <a:avLst/>
          </a:prstGeom>
          <a:noFill/>
          <a:ln/>
        </p:spPr>
        <p:txBody>
          <a:bodyPr wrap="square" lIns="0" tIns="0" rIns="0" bIns="0" rtlCol="0" anchor="t"/>
          <a:lstStyle/>
          <a:p>
            <a:pPr indent="0" marL="0">
              <a:buNone/>
            </a:pPr>
            <a:r>
              <a:rPr lang="en-US" sz="1400" b="1" dirty="0">
                <a:solidFill>
                  <a:srgbClr val="14302A"/>
                </a:solidFill>
                <a:latin typeface="Cambria" pitchFamily="34" charset="0"/>
                <a:ea typeface="Cambria" pitchFamily="34" charset="-122"/>
                <a:cs typeface="Cambria" pitchFamily="34" charset="-120"/>
              </a:rPr>
              <a:t>Indicative sources of funds (₹ L)</a:t>
            </a:r>
            <a:endParaRPr lang="en-US"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23760" y="1874520"/>
          <a:ext cx="4434840" cy="914400"/>
        </p:xfrm>
        <a:graphic>
          <a:graphicData uri="http://schemas.openxmlformats.org/drawingml/2006/table">
            <a:tbl>
              <a:tblPr/>
              <a:tblGrid>
                <a:gridCol w="3611880"/>
                <a:gridCol w="82296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Source</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 L</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502920">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Promoter contribution (5% of PMEGP project)</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E2A26"/>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411480">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PMEGP bank term loan (95%)</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r" indent="0" marL="0">
                        <a:buNone/>
                      </a:pPr>
                      <a:r>
                        <a:rPr lang="en-US" sz="1100" dirty="0">
                          <a:solidFill>
                            <a:srgbClr val="1E2A26"/>
                          </a:solidFill>
                          <a:latin typeface="Calibri" pitchFamily="34" charset="0"/>
                          <a:ea typeface="Calibri" pitchFamily="34" charset="-122"/>
                          <a:cs typeface="Calibri" pitchFamily="34" charset="-120"/>
                        </a:rPr>
                        <a:t>47.5</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640080">
                <a:tc>
                  <a:txBody>
                    <a:bodyPr/>
                    <a:lstStyle/>
                    <a:p>
                      <a:pPr indent="0" marL="0">
                        <a:buNone/>
                      </a:pPr>
                      <a:r>
                        <a:rPr lang="en-US" sz="1100" dirty="0">
                          <a:solidFill>
                            <a:srgbClr val="1E2A26"/>
                          </a:solidFill>
                          <a:latin typeface="Calibri" pitchFamily="34" charset="0"/>
                          <a:ea typeface="Calibri" pitchFamily="34" charset="-122"/>
                          <a:cs typeface="Calibri" pitchFamily="34" charset="-120"/>
                        </a:rPr>
                        <a:t>Balance above PMEGP cap: promoter equity or separate term / WC loan</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E2A26"/>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Total</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65.8</a:t>
                      </a:r>
                      <a:endParaRPr lang="en-US" sz="110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14302A"/>
                    </a:solidFill>
                  </a:tcPr>
                </a:tc>
              </a:tr>
            </a:tbl>
          </a:graphicData>
        </a:graphic>
      </p:graphicFrame>
      <p:sp>
        <p:nvSpPr>
          <p:cNvPr id="32" name="Shape 25"/>
          <p:cNvSpPr/>
          <p:nvPr/>
        </p:nvSpPr>
        <p:spPr>
          <a:xfrm>
            <a:off x="7223760" y="4389120"/>
            <a:ext cx="4434840" cy="1874520"/>
          </a:xfrm>
          <a:prstGeom prst="roundRect">
            <a:avLst>
              <a:gd name="adj" fmla="val 3902"/>
            </a:avLst>
          </a:prstGeom>
          <a:solidFill>
            <a:srgbClr val="FBF1DE"/>
          </a:solidFill>
          <a:ln w="9525">
            <a:solidFill>
              <a:srgbClr val="FBF1DE"/>
            </a:solidFill>
            <a:prstDash val="solid"/>
          </a:ln>
        </p:spPr>
      </p:sp>
      <p:sp>
        <p:nvSpPr>
          <p:cNvPr id="33" name="Text 26"/>
          <p:cNvSpPr txBox="1"/>
          <p:nvPr/>
        </p:nvSpPr>
        <p:spPr>
          <a:xfrm>
            <a:off x="7406640" y="4480560"/>
            <a:ext cx="4069080" cy="1691640"/>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PMEGP subsidy of ~₹17.5 L is held and adjusted against the loan after a 3-year lock-in. Capital subsidies generally cannot be claimed twice on one asset: confirm the route per asset with DIC Hamirpur, KVIB, HP Horticulture and NHB.</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11 · REGULATORY</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Licensing roadmap</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29</a:t>
            </a:r>
            <a:endParaRPr lang="en-US" sz="9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863840" cy="914400"/>
        </p:xfrm>
        <a:graphic>
          <a:graphicData uri="http://schemas.openxmlformats.org/drawingml/2006/table">
            <a:tbl>
              <a:tblPr/>
              <a:tblGrid>
                <a:gridCol w="2194560"/>
                <a:gridCol w="2148840"/>
                <a:gridCol w="1051560"/>
                <a:gridCol w="246888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Licence / registration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Authority</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When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Note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Udyam (MSME)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Ministry of MSME portal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Free; prerequisite for schemes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GST registration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GSTN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M1</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B2B invoicing and e-way bills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Trade licence / panchayat NOC</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Local body</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M1–M2</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Premises use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HP Horticulture registration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Dept. of Horticulture, HP</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M1–M2</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Needed for the MIDH/NHB route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Consent to Establish → Operate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HP State Pollution Control Board</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M2 → M4</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White category per notes; confirm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Fire NOC</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HP Fire Services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M4</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Autoclave, IPA store, DG, electricals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56692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FSSAI licence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FSSAI (State or Central)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M4, before sale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Category depends on product; confirm H. erinaceus status for health-supplement use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Legal Metrology (LMPC)</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Legal Metrology, HP</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Mandatory for B2C pre-packs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Trademark</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IP India</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Protect the brand before B2C launch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State Excise (ENA)</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HP Excise Dept.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Only for ethanol tinctures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bl>
          </a:graphicData>
        </a:graphic>
      </p:graphicFrame>
      <p:sp>
        <p:nvSpPr>
          <p:cNvPr id="7" name="Shape 4"/>
          <p:cNvSpPr/>
          <p:nvPr/>
        </p:nvSpPr>
        <p:spPr>
          <a:xfrm>
            <a:off x="8686800" y="1417320"/>
            <a:ext cx="2971800" cy="4846320"/>
          </a:xfrm>
          <a:prstGeom prst="roundRect">
            <a:avLst>
              <a:gd name="adj" fmla="val 2462"/>
            </a:avLst>
          </a:prstGeom>
          <a:solidFill>
            <a:srgbClr val="14302A"/>
          </a:solidFill>
          <a:ln w="9525">
            <a:solidFill>
              <a:srgbClr val="14302A"/>
            </a:solidFill>
            <a:prstDash val="solid"/>
          </a:ln>
        </p:spPr>
      </p:sp>
      <p:sp>
        <p:nvSpPr>
          <p:cNvPr id="8" name="Shape 5"/>
          <p:cNvSpPr/>
          <p:nvPr/>
        </p:nvSpPr>
        <p:spPr>
          <a:xfrm>
            <a:off x="8915400" y="1645920"/>
            <a:ext cx="594360" cy="594360"/>
          </a:xfrm>
          <a:prstGeom prst="ellipse">
            <a:avLst/>
          </a:prstGeom>
          <a:solidFill>
            <a:srgbClr val="D9962B"/>
          </a:solidFill>
          <a:ln w="12700">
            <a:solidFill>
              <a:srgbClr val="D9962B"/>
            </a:solidFill>
            <a:prstDash val="solid"/>
          </a:ln>
        </p:spPr>
      </p:sp>
      <p:pic>
        <p:nvPicPr>
          <p:cNvPr id="9" name="Image 0" descr="preencoded.png">    </p:cNvPr>
          <p:cNvPicPr>
            <a:picLocks noChangeAspect="1"/>
          </p:cNvPicPr>
          <p:nvPr/>
        </p:nvPicPr>
        <p:blipFill>
          <a:blip r:embed="rId1"/>
          <a:stretch>
            <a:fillRect/>
          </a:stretch>
        </p:blipFill>
        <p:spPr>
          <a:xfrm>
            <a:off x="9069934" y="1800454"/>
            <a:ext cx="285293" cy="285293"/>
          </a:xfrm>
          <a:prstGeom prst="rect">
            <a:avLst/>
          </a:prstGeom>
        </p:spPr>
      </p:pic>
      <p:sp>
        <p:nvSpPr>
          <p:cNvPr id="10" name="Text 6"/>
          <p:cNvSpPr txBox="1"/>
          <p:nvPr/>
        </p:nvSpPr>
        <p:spPr>
          <a:xfrm>
            <a:off x="8915400" y="2377440"/>
            <a:ext cx="256032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Claims discipline</a:t>
            </a:r>
            <a:endParaRPr lang="en-US" sz="1600" dirty="0"/>
          </a:p>
        </p:txBody>
      </p:sp>
      <p:sp>
        <p:nvSpPr>
          <p:cNvPr id="11" name="Text 7"/>
          <p:cNvSpPr txBox="1"/>
          <p:nvPr/>
        </p:nvSpPr>
        <p:spPr>
          <a:xfrm>
            <a:off x="8915400" y="2788920"/>
            <a:ext cx="2560320" cy="3383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FSSAI does not permit disease-treatment claims on foods or health supplements. Labels and buyer decks will describe composition (β-glucan, fruiting body) and usage only.</a:t>
            </a:r>
            <a:endParaRPr lang="en-US" sz="1100" dirty="0"/>
          </a:p>
          <a:p>
            <a:pPr indent="0" marL="0">
              <a:buNone/>
            </a:pP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If Hericium erinaceus is not listed in the applicable FSSAI schedule for the intended use, the non-specified food approval route applies.</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12 · OPERATIONS</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Team and daily operating rhythm</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30</a:t>
            </a:r>
            <a:endParaRPr lang="en-US" sz="900" dirty="0"/>
          </a:p>
        </p:txBody>
      </p:sp>
      <p:sp>
        <p:nvSpPr>
          <p:cNvPr id="6" name="Shape 4"/>
          <p:cNvSpPr/>
          <p:nvPr/>
        </p:nvSpPr>
        <p:spPr>
          <a:xfrm>
            <a:off x="1691640" y="1463040"/>
            <a:ext cx="3200400" cy="868680"/>
          </a:xfrm>
          <a:prstGeom prst="roundRect">
            <a:avLst>
              <a:gd name="adj" fmla="val 8421"/>
            </a:avLst>
          </a:prstGeom>
          <a:solidFill>
            <a:srgbClr val="14302A"/>
          </a:solidFill>
          <a:ln w="9525">
            <a:solidFill>
              <a:srgbClr val="14302A"/>
            </a:solidFill>
            <a:prstDash val="solid"/>
          </a:ln>
        </p:spPr>
      </p:sp>
      <p:sp>
        <p:nvSpPr>
          <p:cNvPr id="7" name="Text 5"/>
          <p:cNvSpPr txBox="1"/>
          <p:nvPr/>
        </p:nvSpPr>
        <p:spPr>
          <a:xfrm>
            <a:off x="1783080" y="1554480"/>
            <a:ext cx="301752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Promoter / Facility Head</a:t>
            </a:r>
            <a:endParaRPr lang="en-US" sz="1250" dirty="0"/>
          </a:p>
        </p:txBody>
      </p:sp>
      <p:sp>
        <p:nvSpPr>
          <p:cNvPr id="8" name="Text 6"/>
          <p:cNvSpPr txBox="1"/>
          <p:nvPr/>
        </p:nvSpPr>
        <p:spPr>
          <a:xfrm>
            <a:off x="1783080" y="1920240"/>
            <a:ext cx="3017520" cy="347472"/>
          </a:xfrm>
          <a:prstGeom prst="rect">
            <a:avLst/>
          </a:prstGeom>
          <a:noFill/>
          <a:ln/>
        </p:spPr>
        <p:txBody>
          <a:bodyPr wrap="square" lIns="0" tIns="0" rIns="0" bIns="0" rtlCol="0" anchor="ctr"/>
          <a:lstStyle/>
          <a:p>
            <a:pPr algn="ctr" indent="0" marL="0">
              <a:buNone/>
            </a:pPr>
            <a:r>
              <a:rPr lang="en-US" sz="1000" dirty="0">
                <a:solidFill>
                  <a:srgbClr val="8DB596"/>
                </a:solidFill>
                <a:latin typeface="Calibri" pitchFamily="34" charset="0"/>
                <a:ea typeface="Calibri" pitchFamily="34" charset="-122"/>
                <a:cs typeface="Calibri" pitchFamily="34" charset="-120"/>
              </a:rPr>
              <a:t>Sales, finance, compliance</a:t>
            </a:r>
            <a:endParaRPr lang="en-US" sz="1000" dirty="0"/>
          </a:p>
        </p:txBody>
      </p:sp>
      <p:sp>
        <p:nvSpPr>
          <p:cNvPr id="9" name="Shape 7"/>
          <p:cNvSpPr/>
          <p:nvPr/>
        </p:nvSpPr>
        <p:spPr>
          <a:xfrm>
            <a:off x="1691640" y="2651760"/>
            <a:ext cx="3200400" cy="868680"/>
          </a:xfrm>
          <a:prstGeom prst="roundRect">
            <a:avLst>
              <a:gd name="adj" fmla="val 8421"/>
            </a:avLst>
          </a:prstGeom>
          <a:solidFill>
            <a:srgbClr val="2E5E4E"/>
          </a:solidFill>
          <a:ln w="9525">
            <a:solidFill>
              <a:srgbClr val="2E5E4E"/>
            </a:solidFill>
            <a:prstDash val="solid"/>
          </a:ln>
        </p:spPr>
      </p:sp>
      <p:sp>
        <p:nvSpPr>
          <p:cNvPr id="10" name="Text 8"/>
          <p:cNvSpPr txBox="1"/>
          <p:nvPr/>
        </p:nvSpPr>
        <p:spPr>
          <a:xfrm>
            <a:off x="1783080" y="2743200"/>
            <a:ext cx="301752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Production Manager–Mycologist</a:t>
            </a:r>
            <a:endParaRPr lang="en-US" sz="1250" dirty="0"/>
          </a:p>
        </p:txBody>
      </p:sp>
      <p:sp>
        <p:nvSpPr>
          <p:cNvPr id="11" name="Text 9"/>
          <p:cNvSpPr txBox="1"/>
          <p:nvPr/>
        </p:nvSpPr>
        <p:spPr>
          <a:xfrm>
            <a:off x="1783080" y="3108960"/>
            <a:ext cx="3017520" cy="347472"/>
          </a:xfrm>
          <a:prstGeom prst="rect">
            <a:avLst/>
          </a:prstGeom>
          <a:noFill/>
          <a:ln/>
        </p:spPr>
        <p:txBody>
          <a:bodyPr wrap="square" lIns="0" tIns="0" rIns="0" bIns="0" rtlCol="0" anchor="ctr"/>
          <a:lstStyle/>
          <a:p>
            <a:pPr algn="ctr" indent="0" marL="0">
              <a:buNone/>
            </a:pPr>
            <a:r>
              <a:rPr lang="en-US" sz="1000" dirty="0">
                <a:solidFill>
                  <a:srgbClr val="8DB596"/>
                </a:solidFill>
                <a:latin typeface="Calibri" pitchFamily="34" charset="0"/>
                <a:ea typeface="Calibri" pitchFamily="34" charset="-122"/>
                <a:cs typeface="Calibri" pitchFamily="34" charset="-120"/>
              </a:rPr>
              <a:t>Strains, SOPs, QC release</a:t>
            </a:r>
            <a:endParaRPr lang="en-US" sz="1000" dirty="0"/>
          </a:p>
        </p:txBody>
      </p:sp>
      <p:sp>
        <p:nvSpPr>
          <p:cNvPr id="12" name="Shape 10"/>
          <p:cNvSpPr/>
          <p:nvPr/>
        </p:nvSpPr>
        <p:spPr>
          <a:xfrm>
            <a:off x="3291840" y="2350008"/>
            <a:ext cx="0" cy="283464"/>
          </a:xfrm>
          <a:prstGeom prst="line">
            <a:avLst/>
          </a:prstGeom>
          <a:noFill/>
          <a:ln w="19050">
            <a:solidFill>
              <a:srgbClr val="5F6F69"/>
            </a:solidFill>
            <a:prstDash val="solid"/>
            <a:tailEnd type="triangle"/>
          </a:ln>
        </p:spPr>
      </p:sp>
      <p:sp>
        <p:nvSpPr>
          <p:cNvPr id="13" name="Shape 11"/>
          <p:cNvSpPr/>
          <p:nvPr/>
        </p:nvSpPr>
        <p:spPr>
          <a:xfrm>
            <a:off x="3291840" y="3538728"/>
            <a:ext cx="0" cy="283464"/>
          </a:xfrm>
          <a:prstGeom prst="line">
            <a:avLst/>
          </a:prstGeom>
          <a:noFill/>
          <a:ln w="19050">
            <a:solidFill>
              <a:srgbClr val="5F6F69"/>
            </a:solidFill>
            <a:prstDash val="solid"/>
            <a:tailEnd type="triangle"/>
          </a:ln>
        </p:spPr>
      </p:sp>
      <p:sp>
        <p:nvSpPr>
          <p:cNvPr id="14" name="Shape 12"/>
          <p:cNvSpPr/>
          <p:nvPr/>
        </p:nvSpPr>
        <p:spPr>
          <a:xfrm>
            <a:off x="1097280" y="3822192"/>
            <a:ext cx="4389120" cy="0"/>
          </a:xfrm>
          <a:prstGeom prst="line">
            <a:avLst/>
          </a:prstGeom>
          <a:noFill/>
          <a:ln w="19050">
            <a:solidFill>
              <a:srgbClr val="5F6F69"/>
            </a:solidFill>
            <a:prstDash val="solid"/>
          </a:ln>
        </p:spPr>
      </p:sp>
      <p:sp>
        <p:nvSpPr>
          <p:cNvPr id="15" name="Shape 13"/>
          <p:cNvSpPr/>
          <p:nvPr/>
        </p:nvSpPr>
        <p:spPr>
          <a:xfrm>
            <a:off x="1371600" y="3822192"/>
            <a:ext cx="0" cy="246888"/>
          </a:xfrm>
          <a:prstGeom prst="line">
            <a:avLst/>
          </a:prstGeom>
          <a:noFill/>
          <a:ln w="19050">
            <a:solidFill>
              <a:srgbClr val="5F6F69"/>
            </a:solidFill>
            <a:prstDash val="solid"/>
            <a:tailEnd type="triangle"/>
          </a:ln>
        </p:spPr>
      </p:sp>
      <p:sp>
        <p:nvSpPr>
          <p:cNvPr id="16" name="Shape 14"/>
          <p:cNvSpPr/>
          <p:nvPr/>
        </p:nvSpPr>
        <p:spPr>
          <a:xfrm>
            <a:off x="548640" y="4114800"/>
            <a:ext cx="1691640" cy="1188720"/>
          </a:xfrm>
          <a:prstGeom prst="roundRect">
            <a:avLst>
              <a:gd name="adj" fmla="val 6154"/>
            </a:avLst>
          </a:prstGeom>
          <a:solidFill>
            <a:srgbClr val="EEF4F0"/>
          </a:solidFill>
          <a:ln w="9525">
            <a:solidFill>
              <a:srgbClr val="EEF4F0"/>
            </a:solidFill>
            <a:prstDash val="solid"/>
          </a:ln>
        </p:spPr>
      </p:sp>
      <p:sp>
        <p:nvSpPr>
          <p:cNvPr id="17" name="Text 15"/>
          <p:cNvSpPr txBox="1"/>
          <p:nvPr/>
        </p:nvSpPr>
        <p:spPr>
          <a:xfrm>
            <a:off x="640080" y="4187952"/>
            <a:ext cx="1508760" cy="365760"/>
          </a:xfrm>
          <a:prstGeom prst="rect">
            <a:avLst/>
          </a:prstGeom>
          <a:noFill/>
          <a:ln/>
        </p:spPr>
        <p:txBody>
          <a:bodyPr wrap="square" lIns="0" tIns="0" rIns="0" bIns="0" rtlCol="0" anchor="t"/>
          <a:lstStyle/>
          <a:p>
            <a:pPr algn="ctr" indent="0" marL="0">
              <a:buNone/>
            </a:pPr>
            <a:r>
              <a:rPr lang="en-US" sz="1200" b="1" dirty="0">
                <a:solidFill>
                  <a:srgbClr val="14302A"/>
                </a:solidFill>
                <a:latin typeface="Calibri" pitchFamily="34" charset="0"/>
                <a:ea typeface="Calibri" pitchFamily="34" charset="-122"/>
                <a:cs typeface="Calibri" pitchFamily="34" charset="-120"/>
              </a:rPr>
              <a:t>Lab Technician</a:t>
            </a:r>
            <a:endParaRPr lang="en-US" sz="1200" dirty="0"/>
          </a:p>
        </p:txBody>
      </p:sp>
      <p:sp>
        <p:nvSpPr>
          <p:cNvPr id="18" name="Text 16"/>
          <p:cNvSpPr txBox="1"/>
          <p:nvPr/>
        </p:nvSpPr>
        <p:spPr>
          <a:xfrm>
            <a:off x="640080" y="4572000"/>
            <a:ext cx="1508760" cy="64008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Culture, spawn, inoculation</a:t>
            </a:r>
            <a:endParaRPr lang="en-US" sz="1000" dirty="0"/>
          </a:p>
        </p:txBody>
      </p:sp>
      <p:sp>
        <p:nvSpPr>
          <p:cNvPr id="19" name="Shape 17"/>
          <p:cNvSpPr/>
          <p:nvPr/>
        </p:nvSpPr>
        <p:spPr>
          <a:xfrm>
            <a:off x="3246120" y="3822192"/>
            <a:ext cx="0" cy="246888"/>
          </a:xfrm>
          <a:prstGeom prst="line">
            <a:avLst/>
          </a:prstGeom>
          <a:noFill/>
          <a:ln w="19050">
            <a:solidFill>
              <a:srgbClr val="5F6F69"/>
            </a:solidFill>
            <a:prstDash val="solid"/>
            <a:tailEnd type="triangle"/>
          </a:ln>
        </p:spPr>
      </p:sp>
      <p:sp>
        <p:nvSpPr>
          <p:cNvPr id="20" name="Shape 18"/>
          <p:cNvSpPr/>
          <p:nvPr/>
        </p:nvSpPr>
        <p:spPr>
          <a:xfrm>
            <a:off x="2423160" y="4114800"/>
            <a:ext cx="1691640" cy="1188720"/>
          </a:xfrm>
          <a:prstGeom prst="roundRect">
            <a:avLst>
              <a:gd name="adj" fmla="val 6154"/>
            </a:avLst>
          </a:prstGeom>
          <a:solidFill>
            <a:srgbClr val="EEF4F0"/>
          </a:solidFill>
          <a:ln w="9525">
            <a:solidFill>
              <a:srgbClr val="EEF4F0"/>
            </a:solidFill>
            <a:prstDash val="solid"/>
          </a:ln>
        </p:spPr>
      </p:sp>
      <p:sp>
        <p:nvSpPr>
          <p:cNvPr id="21" name="Text 19"/>
          <p:cNvSpPr txBox="1"/>
          <p:nvPr/>
        </p:nvSpPr>
        <p:spPr>
          <a:xfrm>
            <a:off x="2514600" y="4187952"/>
            <a:ext cx="1508760" cy="365760"/>
          </a:xfrm>
          <a:prstGeom prst="rect">
            <a:avLst/>
          </a:prstGeom>
          <a:noFill/>
          <a:ln/>
        </p:spPr>
        <p:txBody>
          <a:bodyPr wrap="square" lIns="0" tIns="0" rIns="0" bIns="0" rtlCol="0" anchor="t"/>
          <a:lstStyle/>
          <a:p>
            <a:pPr algn="ctr" indent="0" marL="0">
              <a:buNone/>
            </a:pPr>
            <a:r>
              <a:rPr lang="en-US" sz="1200" b="1" dirty="0">
                <a:solidFill>
                  <a:srgbClr val="14302A"/>
                </a:solidFill>
                <a:latin typeface="Calibri" pitchFamily="34" charset="0"/>
                <a:ea typeface="Calibri" pitchFamily="34" charset="-122"/>
                <a:cs typeface="Calibri" pitchFamily="34" charset="-120"/>
              </a:rPr>
              <a:t>Production ×2</a:t>
            </a:r>
            <a:endParaRPr lang="en-US" sz="1200" dirty="0"/>
          </a:p>
        </p:txBody>
      </p:sp>
      <p:sp>
        <p:nvSpPr>
          <p:cNvPr id="22" name="Text 20"/>
          <p:cNvSpPr txBox="1"/>
          <p:nvPr/>
        </p:nvSpPr>
        <p:spPr>
          <a:xfrm>
            <a:off x="2514600" y="4572000"/>
            <a:ext cx="1508760" cy="64008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Substrate &amp; autoclave; fruiting &amp; harvest</a:t>
            </a:r>
            <a:endParaRPr lang="en-US" sz="1000" dirty="0"/>
          </a:p>
        </p:txBody>
      </p:sp>
      <p:sp>
        <p:nvSpPr>
          <p:cNvPr id="23" name="Shape 21"/>
          <p:cNvSpPr/>
          <p:nvPr/>
        </p:nvSpPr>
        <p:spPr>
          <a:xfrm>
            <a:off x="5120640" y="3822192"/>
            <a:ext cx="0" cy="246888"/>
          </a:xfrm>
          <a:prstGeom prst="line">
            <a:avLst/>
          </a:prstGeom>
          <a:noFill/>
          <a:ln w="19050">
            <a:solidFill>
              <a:srgbClr val="5F6F69"/>
            </a:solidFill>
            <a:prstDash val="solid"/>
            <a:tailEnd type="triangle"/>
          </a:ln>
        </p:spPr>
      </p:sp>
      <p:sp>
        <p:nvSpPr>
          <p:cNvPr id="24" name="Shape 22"/>
          <p:cNvSpPr/>
          <p:nvPr/>
        </p:nvSpPr>
        <p:spPr>
          <a:xfrm>
            <a:off x="4297680" y="4114800"/>
            <a:ext cx="1691640" cy="1188720"/>
          </a:xfrm>
          <a:prstGeom prst="roundRect">
            <a:avLst>
              <a:gd name="adj" fmla="val 6154"/>
            </a:avLst>
          </a:prstGeom>
          <a:solidFill>
            <a:srgbClr val="EEF4F0"/>
          </a:solidFill>
          <a:ln w="9525">
            <a:solidFill>
              <a:srgbClr val="EEF4F0"/>
            </a:solidFill>
            <a:prstDash val="solid"/>
          </a:ln>
        </p:spPr>
      </p:sp>
      <p:sp>
        <p:nvSpPr>
          <p:cNvPr id="25" name="Text 23"/>
          <p:cNvSpPr txBox="1"/>
          <p:nvPr/>
        </p:nvSpPr>
        <p:spPr>
          <a:xfrm>
            <a:off x="4389120" y="4187952"/>
            <a:ext cx="1508760" cy="365760"/>
          </a:xfrm>
          <a:prstGeom prst="rect">
            <a:avLst/>
          </a:prstGeom>
          <a:noFill/>
          <a:ln/>
        </p:spPr>
        <p:txBody>
          <a:bodyPr wrap="square" lIns="0" tIns="0" rIns="0" bIns="0" rtlCol="0" anchor="t"/>
          <a:lstStyle/>
          <a:p>
            <a:pPr algn="ctr" indent="0" marL="0">
              <a:buNone/>
            </a:pPr>
            <a:r>
              <a:rPr lang="en-US" sz="1200" b="1" dirty="0">
                <a:solidFill>
                  <a:srgbClr val="14302A"/>
                </a:solidFill>
                <a:latin typeface="Calibri" pitchFamily="34" charset="0"/>
                <a:ea typeface="Calibri" pitchFamily="34" charset="-122"/>
                <a:cs typeface="Calibri" pitchFamily="34" charset="-120"/>
              </a:rPr>
              <a:t>Processing</a:t>
            </a:r>
            <a:endParaRPr lang="en-US" sz="1200" dirty="0"/>
          </a:p>
        </p:txBody>
      </p:sp>
      <p:sp>
        <p:nvSpPr>
          <p:cNvPr id="26" name="Text 24"/>
          <p:cNvSpPr txBox="1"/>
          <p:nvPr/>
        </p:nvSpPr>
        <p:spPr>
          <a:xfrm>
            <a:off x="4389120" y="4572000"/>
            <a:ext cx="1508760" cy="640080"/>
          </a:xfrm>
          <a:prstGeom prst="rect">
            <a:avLst/>
          </a:prstGeom>
          <a:noFill/>
          <a:ln/>
        </p:spPr>
        <p:txBody>
          <a:bodyPr wrap="square" lIns="0" tIns="0" rIns="0" bIns="0" rtlCol="0" anchor="t"/>
          <a:lstStyle/>
          <a:p>
            <a:pPr algn="ctr" indent="0" marL="0">
              <a:buNone/>
            </a:pPr>
            <a:r>
              <a:rPr lang="en-US" sz="1000" dirty="0">
                <a:solidFill>
                  <a:srgbClr val="5F6F69"/>
                </a:solidFill>
                <a:latin typeface="Calibri" pitchFamily="34" charset="0"/>
                <a:ea typeface="Calibri" pitchFamily="34" charset="-122"/>
                <a:cs typeface="Calibri" pitchFamily="34" charset="-120"/>
              </a:rPr>
              <a:t>Dry, mill, pack, dispatch</a:t>
            </a:r>
            <a:endParaRPr lang="en-US" sz="1000" dirty="0"/>
          </a:p>
        </p:txBody>
      </p:sp>
      <p:sp>
        <p:nvSpPr>
          <p:cNvPr id="27" name="Text 25"/>
          <p:cNvSpPr txBox="1"/>
          <p:nvPr/>
        </p:nvSpPr>
        <p:spPr>
          <a:xfrm>
            <a:off x="548640" y="5532120"/>
            <a:ext cx="5394960" cy="685800"/>
          </a:xfrm>
          <a:prstGeom prst="rect">
            <a:avLst/>
          </a:prstGeom>
          <a:noFill/>
          <a:ln/>
        </p:spPr>
        <p:txBody>
          <a:bodyPr wrap="square" lIns="0" tIns="0" rIns="0" bIns="0" rtlCol="0" anchor="t"/>
          <a:lstStyle/>
          <a:p>
            <a:pPr indent="0" marL="0">
              <a:buNone/>
            </a:pPr>
            <a:r>
              <a:rPr lang="en-US" sz="1100" i="1" dirty="0">
                <a:solidFill>
                  <a:srgbClr val="5F6F69"/>
                </a:solidFill>
                <a:latin typeface="Calibri" pitchFamily="34" charset="0"/>
                <a:ea typeface="Calibri" pitchFamily="34" charset="-122"/>
                <a:cs typeface="Calibri" pitchFamily="34" charset="-120"/>
              </a:rPr>
              <a:t>5 staff plus promoter; Phase 2 adds one production associate. Training at ICAR-DMR Solan before commissioning.</a:t>
            </a:r>
            <a:endParaRPr lang="en-US" sz="1100" dirty="0"/>
          </a:p>
        </p:txBody>
      </p:sp>
      <p:sp>
        <p:nvSpPr>
          <p:cNvPr id="28" name="Text 26"/>
          <p:cNvSpPr txBox="1"/>
          <p:nvPr/>
        </p:nvSpPr>
        <p:spPr>
          <a:xfrm>
            <a:off x="6400800" y="1463040"/>
            <a:ext cx="5212080" cy="320040"/>
          </a:xfrm>
          <a:prstGeom prst="rect">
            <a:avLst/>
          </a:prstGeom>
          <a:noFill/>
          <a:ln/>
        </p:spPr>
        <p:txBody>
          <a:bodyPr wrap="square" lIns="0" tIns="0" rIns="0" bIns="0" rtlCol="0" anchor="t"/>
          <a:lstStyle/>
          <a:p>
            <a:pPr indent="0" marL="0">
              <a:buNone/>
            </a:pPr>
            <a:r>
              <a:rPr lang="en-US" sz="1500" b="1" dirty="0">
                <a:solidFill>
                  <a:srgbClr val="14302A"/>
                </a:solidFill>
                <a:latin typeface="Cambria" pitchFamily="34" charset="0"/>
                <a:ea typeface="Cambria" pitchFamily="34" charset="-122"/>
                <a:cs typeface="Cambria" pitchFamily="34" charset="-120"/>
              </a:rPr>
              <a:t>A day in the plant</a:t>
            </a:r>
            <a:endParaRPr lang="en-US" sz="1500" dirty="0"/>
          </a:p>
        </p:txBody>
      </p:sp>
      <p:sp>
        <p:nvSpPr>
          <p:cNvPr id="29" name="Shape 27"/>
          <p:cNvSpPr/>
          <p:nvPr/>
        </p:nvSpPr>
        <p:spPr>
          <a:xfrm>
            <a:off x="7059168" y="1965960"/>
            <a:ext cx="0" cy="4160520"/>
          </a:xfrm>
          <a:prstGeom prst="line">
            <a:avLst/>
          </a:prstGeom>
          <a:noFill/>
          <a:ln w="25400">
            <a:solidFill>
              <a:srgbClr val="D3DED8"/>
            </a:solidFill>
            <a:prstDash val="solid"/>
          </a:ln>
        </p:spPr>
      </p:sp>
      <p:sp>
        <p:nvSpPr>
          <p:cNvPr id="30" name="Shape 28"/>
          <p:cNvSpPr/>
          <p:nvPr/>
        </p:nvSpPr>
        <p:spPr>
          <a:xfrm>
            <a:off x="6976872" y="1984248"/>
            <a:ext cx="164592" cy="164592"/>
          </a:xfrm>
          <a:prstGeom prst="ellipse">
            <a:avLst/>
          </a:prstGeom>
          <a:solidFill>
            <a:srgbClr val="2E5E4E"/>
          </a:solidFill>
          <a:ln w="12700">
            <a:solidFill>
              <a:srgbClr val="FFFFFF"/>
            </a:solidFill>
            <a:prstDash val="solid"/>
          </a:ln>
        </p:spPr>
      </p:sp>
      <p:sp>
        <p:nvSpPr>
          <p:cNvPr id="31" name="Text 29"/>
          <p:cNvSpPr txBox="1"/>
          <p:nvPr/>
        </p:nvSpPr>
        <p:spPr>
          <a:xfrm>
            <a:off x="6400800" y="1920240"/>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06:30</a:t>
            </a:r>
            <a:endParaRPr lang="en-US" sz="1050" dirty="0"/>
          </a:p>
        </p:txBody>
      </p:sp>
      <p:sp>
        <p:nvSpPr>
          <p:cNvPr id="32" name="Text 30"/>
          <p:cNvSpPr txBox="1"/>
          <p:nvPr/>
        </p:nvSpPr>
        <p:spPr>
          <a:xfrm>
            <a:off x="7315200" y="1901952"/>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Lab tech gowns in; LAF runs 30 min; UV off</a:t>
            </a:r>
            <a:endParaRPr lang="en-US" sz="1150" dirty="0"/>
          </a:p>
        </p:txBody>
      </p:sp>
      <p:sp>
        <p:nvSpPr>
          <p:cNvPr id="33" name="Shape 31"/>
          <p:cNvSpPr/>
          <p:nvPr/>
        </p:nvSpPr>
        <p:spPr>
          <a:xfrm>
            <a:off x="6976872" y="2523744"/>
            <a:ext cx="164592" cy="164592"/>
          </a:xfrm>
          <a:prstGeom prst="ellipse">
            <a:avLst/>
          </a:prstGeom>
          <a:solidFill>
            <a:srgbClr val="D9962B"/>
          </a:solidFill>
          <a:ln w="12700">
            <a:solidFill>
              <a:srgbClr val="FFFFFF"/>
            </a:solidFill>
            <a:prstDash val="solid"/>
          </a:ln>
        </p:spPr>
      </p:sp>
      <p:sp>
        <p:nvSpPr>
          <p:cNvPr id="34" name="Text 32"/>
          <p:cNvSpPr txBox="1"/>
          <p:nvPr/>
        </p:nvSpPr>
        <p:spPr>
          <a:xfrm>
            <a:off x="6400800" y="2459736"/>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07:00</a:t>
            </a:r>
            <a:endParaRPr lang="en-US" sz="1050" dirty="0"/>
          </a:p>
        </p:txBody>
      </p:sp>
      <p:sp>
        <p:nvSpPr>
          <p:cNvPr id="35" name="Text 33"/>
          <p:cNvSpPr txBox="1"/>
          <p:nvPr/>
        </p:nvSpPr>
        <p:spPr>
          <a:xfrm>
            <a:off x="7315200" y="2441448"/>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Inoculate yesterday's cooled blocks (60) and spawn bags</a:t>
            </a:r>
            <a:endParaRPr lang="en-US" sz="1150" dirty="0"/>
          </a:p>
        </p:txBody>
      </p:sp>
      <p:sp>
        <p:nvSpPr>
          <p:cNvPr id="36" name="Shape 34"/>
          <p:cNvSpPr/>
          <p:nvPr/>
        </p:nvSpPr>
        <p:spPr>
          <a:xfrm>
            <a:off x="6976872" y="3063240"/>
            <a:ext cx="164592" cy="164592"/>
          </a:xfrm>
          <a:prstGeom prst="ellipse">
            <a:avLst/>
          </a:prstGeom>
          <a:solidFill>
            <a:srgbClr val="2E5E4E"/>
          </a:solidFill>
          <a:ln w="12700">
            <a:solidFill>
              <a:srgbClr val="FFFFFF"/>
            </a:solidFill>
            <a:prstDash val="solid"/>
          </a:ln>
        </p:spPr>
      </p:sp>
      <p:sp>
        <p:nvSpPr>
          <p:cNvPr id="37" name="Text 35"/>
          <p:cNvSpPr txBox="1"/>
          <p:nvPr/>
        </p:nvSpPr>
        <p:spPr>
          <a:xfrm>
            <a:off x="6400800" y="2999232"/>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08:00</a:t>
            </a:r>
            <a:endParaRPr lang="en-US" sz="1050" dirty="0"/>
          </a:p>
        </p:txBody>
      </p:sp>
      <p:sp>
        <p:nvSpPr>
          <p:cNvPr id="38" name="Text 36"/>
          <p:cNvSpPr txBox="1"/>
          <p:nvPr/>
        </p:nvSpPr>
        <p:spPr>
          <a:xfrm>
            <a:off x="7315200" y="2980944"/>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Mix and bag batch 1; autoclave cycle 1 starts</a:t>
            </a:r>
            <a:endParaRPr lang="en-US" sz="1150" dirty="0"/>
          </a:p>
        </p:txBody>
      </p:sp>
      <p:sp>
        <p:nvSpPr>
          <p:cNvPr id="39" name="Shape 37"/>
          <p:cNvSpPr/>
          <p:nvPr/>
        </p:nvSpPr>
        <p:spPr>
          <a:xfrm>
            <a:off x="6976872" y="3602736"/>
            <a:ext cx="164592" cy="164592"/>
          </a:xfrm>
          <a:prstGeom prst="ellipse">
            <a:avLst/>
          </a:prstGeom>
          <a:solidFill>
            <a:srgbClr val="2E5E4E"/>
          </a:solidFill>
          <a:ln w="12700">
            <a:solidFill>
              <a:srgbClr val="FFFFFF"/>
            </a:solidFill>
            <a:prstDash val="solid"/>
          </a:ln>
        </p:spPr>
      </p:sp>
      <p:sp>
        <p:nvSpPr>
          <p:cNvPr id="40" name="Text 38"/>
          <p:cNvSpPr txBox="1"/>
          <p:nvPr/>
        </p:nvSpPr>
        <p:spPr>
          <a:xfrm>
            <a:off x="6400800" y="3538728"/>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10:00</a:t>
            </a:r>
            <a:endParaRPr lang="en-US" sz="1050" dirty="0"/>
          </a:p>
        </p:txBody>
      </p:sp>
      <p:sp>
        <p:nvSpPr>
          <p:cNvPr id="41" name="Text 39"/>
          <p:cNvSpPr txBox="1"/>
          <p:nvPr/>
        </p:nvSpPr>
        <p:spPr>
          <a:xfrm>
            <a:off x="7315200" y="3520440"/>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Fruiting rooms: harvest, CO₂/RH checks, remove spent blocks</a:t>
            </a:r>
            <a:endParaRPr lang="en-US" sz="1150" dirty="0"/>
          </a:p>
        </p:txBody>
      </p:sp>
      <p:sp>
        <p:nvSpPr>
          <p:cNvPr id="42" name="Shape 40"/>
          <p:cNvSpPr/>
          <p:nvPr/>
        </p:nvSpPr>
        <p:spPr>
          <a:xfrm>
            <a:off x="6976872" y="4142232"/>
            <a:ext cx="164592" cy="164592"/>
          </a:xfrm>
          <a:prstGeom prst="ellipse">
            <a:avLst/>
          </a:prstGeom>
          <a:solidFill>
            <a:srgbClr val="2E5E4E"/>
          </a:solidFill>
          <a:ln w="12700">
            <a:solidFill>
              <a:srgbClr val="FFFFFF"/>
            </a:solidFill>
            <a:prstDash val="solid"/>
          </a:ln>
        </p:spPr>
      </p:sp>
      <p:sp>
        <p:nvSpPr>
          <p:cNvPr id="43" name="Text 41"/>
          <p:cNvSpPr txBox="1"/>
          <p:nvPr/>
        </p:nvSpPr>
        <p:spPr>
          <a:xfrm>
            <a:off x="6400800" y="4078224"/>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12:00</a:t>
            </a:r>
            <a:endParaRPr lang="en-US" sz="1050" dirty="0"/>
          </a:p>
        </p:txBody>
      </p:sp>
      <p:sp>
        <p:nvSpPr>
          <p:cNvPr id="44" name="Text 42"/>
          <p:cNvSpPr txBox="1"/>
          <p:nvPr/>
        </p:nvSpPr>
        <p:spPr>
          <a:xfrm>
            <a:off x="7315200" y="4059936"/>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Slice harvest and load dehydrator</a:t>
            </a:r>
            <a:endParaRPr lang="en-US" sz="1150" dirty="0"/>
          </a:p>
        </p:txBody>
      </p:sp>
      <p:sp>
        <p:nvSpPr>
          <p:cNvPr id="45" name="Shape 43"/>
          <p:cNvSpPr/>
          <p:nvPr/>
        </p:nvSpPr>
        <p:spPr>
          <a:xfrm>
            <a:off x="6976872" y="4681728"/>
            <a:ext cx="164592" cy="164592"/>
          </a:xfrm>
          <a:prstGeom prst="ellipse">
            <a:avLst/>
          </a:prstGeom>
          <a:solidFill>
            <a:srgbClr val="2E5E4E"/>
          </a:solidFill>
          <a:ln w="12700">
            <a:solidFill>
              <a:srgbClr val="FFFFFF"/>
            </a:solidFill>
            <a:prstDash val="solid"/>
          </a:ln>
        </p:spPr>
      </p:sp>
      <p:sp>
        <p:nvSpPr>
          <p:cNvPr id="46" name="Text 44"/>
          <p:cNvSpPr txBox="1"/>
          <p:nvPr/>
        </p:nvSpPr>
        <p:spPr>
          <a:xfrm>
            <a:off x="6400800" y="4617720"/>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14:00</a:t>
            </a:r>
            <a:endParaRPr lang="en-US" sz="1050" dirty="0"/>
          </a:p>
        </p:txBody>
      </p:sp>
      <p:sp>
        <p:nvSpPr>
          <p:cNvPr id="47" name="Text 45"/>
          <p:cNvSpPr txBox="1"/>
          <p:nvPr/>
        </p:nvSpPr>
        <p:spPr>
          <a:xfrm>
            <a:off x="7315200" y="4599432"/>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Mix batch 2; autoclave cycle 2; unload cycle 1 to clean side</a:t>
            </a:r>
            <a:endParaRPr lang="en-US" sz="1150" dirty="0"/>
          </a:p>
        </p:txBody>
      </p:sp>
      <p:sp>
        <p:nvSpPr>
          <p:cNvPr id="48" name="Shape 46"/>
          <p:cNvSpPr/>
          <p:nvPr/>
        </p:nvSpPr>
        <p:spPr>
          <a:xfrm>
            <a:off x="6976872" y="5221224"/>
            <a:ext cx="164592" cy="164592"/>
          </a:xfrm>
          <a:prstGeom prst="ellipse">
            <a:avLst/>
          </a:prstGeom>
          <a:solidFill>
            <a:srgbClr val="2E5E4E"/>
          </a:solidFill>
          <a:ln w="12700">
            <a:solidFill>
              <a:srgbClr val="FFFFFF"/>
            </a:solidFill>
            <a:prstDash val="solid"/>
          </a:ln>
        </p:spPr>
      </p:sp>
      <p:sp>
        <p:nvSpPr>
          <p:cNvPr id="49" name="Text 47"/>
          <p:cNvSpPr txBox="1"/>
          <p:nvPr/>
        </p:nvSpPr>
        <p:spPr>
          <a:xfrm>
            <a:off x="6400800" y="5157216"/>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16:00</a:t>
            </a:r>
            <a:endParaRPr lang="en-US" sz="1050" dirty="0"/>
          </a:p>
        </p:txBody>
      </p:sp>
      <p:sp>
        <p:nvSpPr>
          <p:cNvPr id="50" name="Text 48"/>
          <p:cNvSpPr txBox="1"/>
          <p:nvPr/>
        </p:nvSpPr>
        <p:spPr>
          <a:xfrm>
            <a:off x="7315200" y="5138928"/>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Mill and pack yesterday's dry lot; lot coding</a:t>
            </a:r>
            <a:endParaRPr lang="en-US" sz="1150" dirty="0"/>
          </a:p>
        </p:txBody>
      </p:sp>
      <p:sp>
        <p:nvSpPr>
          <p:cNvPr id="51" name="Shape 49"/>
          <p:cNvSpPr/>
          <p:nvPr/>
        </p:nvSpPr>
        <p:spPr>
          <a:xfrm>
            <a:off x="6976872" y="5760720"/>
            <a:ext cx="164592" cy="164592"/>
          </a:xfrm>
          <a:prstGeom prst="ellipse">
            <a:avLst/>
          </a:prstGeom>
          <a:solidFill>
            <a:srgbClr val="2E5E4E"/>
          </a:solidFill>
          <a:ln w="12700">
            <a:solidFill>
              <a:srgbClr val="FFFFFF"/>
            </a:solidFill>
            <a:prstDash val="solid"/>
          </a:ln>
        </p:spPr>
      </p:sp>
      <p:sp>
        <p:nvSpPr>
          <p:cNvPr id="52" name="Text 50"/>
          <p:cNvSpPr txBox="1"/>
          <p:nvPr/>
        </p:nvSpPr>
        <p:spPr>
          <a:xfrm>
            <a:off x="6400800" y="5696712"/>
            <a:ext cx="548640" cy="292608"/>
          </a:xfrm>
          <a:prstGeom prst="rect">
            <a:avLst/>
          </a:prstGeom>
          <a:noFill/>
          <a:ln/>
        </p:spPr>
        <p:txBody>
          <a:bodyPr wrap="square" lIns="0" tIns="0" rIns="0" bIns="0" rtlCol="0" anchor="t"/>
          <a:lstStyle/>
          <a:p>
            <a:pPr indent="0" marL="0">
              <a:buNone/>
            </a:pPr>
            <a:r>
              <a:rPr lang="en-US" sz="1050" b="1" dirty="0">
                <a:solidFill>
                  <a:srgbClr val="2E5E4E"/>
                </a:solidFill>
                <a:latin typeface="Calibri" pitchFamily="34" charset="0"/>
                <a:ea typeface="Calibri" pitchFamily="34" charset="-122"/>
                <a:cs typeface="Calibri" pitchFamily="34" charset="-120"/>
              </a:rPr>
              <a:t>17:30</a:t>
            </a:r>
            <a:endParaRPr lang="en-US" sz="1050" dirty="0"/>
          </a:p>
        </p:txBody>
      </p:sp>
      <p:sp>
        <p:nvSpPr>
          <p:cNvPr id="53" name="Text 51"/>
          <p:cNvSpPr txBox="1"/>
          <p:nvPr/>
        </p:nvSpPr>
        <p:spPr>
          <a:xfrm>
            <a:off x="7315200" y="5678424"/>
            <a:ext cx="4343400" cy="365760"/>
          </a:xfrm>
          <a:prstGeom prst="rect">
            <a:avLst/>
          </a:prstGeom>
          <a:noFill/>
          <a:ln/>
        </p:spPr>
        <p:txBody>
          <a:bodyPr wrap="square" lIns="0" tIns="0" rIns="0" bIns="0" rtlCol="0" anchor="ctr"/>
          <a:lstStyle/>
          <a:p>
            <a:pPr indent="0" marL="0">
              <a:buNone/>
            </a:pPr>
            <a:r>
              <a:rPr lang="en-US" sz="1150" dirty="0">
                <a:solidFill>
                  <a:srgbClr val="1E2A26"/>
                </a:solidFill>
                <a:latin typeface="Calibri" pitchFamily="34" charset="0"/>
                <a:ea typeface="Calibri" pitchFamily="34" charset="-122"/>
                <a:cs typeface="Calibri" pitchFamily="34" charset="-120"/>
              </a:rPr>
              <a:t>Sanitation clean → dirty; logs signed off</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13 · IMPLEMENTATION</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Nine months from approval to steady state</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31</a:t>
            </a:r>
            <a:endParaRPr lang="en-US" sz="900" dirty="0"/>
          </a:p>
        </p:txBody>
      </p:sp>
      <p:sp>
        <p:nvSpPr>
          <p:cNvPr id="6" name="Text 4"/>
          <p:cNvSpPr txBox="1"/>
          <p:nvPr/>
        </p:nvSpPr>
        <p:spPr>
          <a:xfrm>
            <a:off x="41148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M1</a:t>
            </a:r>
            <a:endParaRPr lang="en-US" sz="1100" dirty="0"/>
          </a:p>
        </p:txBody>
      </p:sp>
      <p:sp>
        <p:nvSpPr>
          <p:cNvPr id="7" name="Shape 5"/>
          <p:cNvSpPr/>
          <p:nvPr/>
        </p:nvSpPr>
        <p:spPr>
          <a:xfrm>
            <a:off x="4114800" y="1737360"/>
            <a:ext cx="0" cy="4526280"/>
          </a:xfrm>
          <a:prstGeom prst="line">
            <a:avLst/>
          </a:prstGeom>
          <a:noFill/>
          <a:ln w="9525">
            <a:solidFill>
              <a:srgbClr val="E5ECE8"/>
            </a:solidFill>
            <a:prstDash val="solid"/>
          </a:ln>
        </p:spPr>
      </p:sp>
      <p:sp>
        <p:nvSpPr>
          <p:cNvPr id="8" name="Text 6"/>
          <p:cNvSpPr txBox="1"/>
          <p:nvPr/>
        </p:nvSpPr>
        <p:spPr>
          <a:xfrm>
            <a:off x="49530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M2</a:t>
            </a:r>
            <a:endParaRPr lang="en-US" sz="1100" dirty="0"/>
          </a:p>
        </p:txBody>
      </p:sp>
      <p:sp>
        <p:nvSpPr>
          <p:cNvPr id="9" name="Shape 7"/>
          <p:cNvSpPr/>
          <p:nvPr/>
        </p:nvSpPr>
        <p:spPr>
          <a:xfrm>
            <a:off x="4953000" y="1737360"/>
            <a:ext cx="0" cy="4526280"/>
          </a:xfrm>
          <a:prstGeom prst="line">
            <a:avLst/>
          </a:prstGeom>
          <a:noFill/>
          <a:ln w="9525">
            <a:solidFill>
              <a:srgbClr val="E5ECE8"/>
            </a:solidFill>
            <a:prstDash val="solid"/>
          </a:ln>
        </p:spPr>
      </p:sp>
      <p:sp>
        <p:nvSpPr>
          <p:cNvPr id="10" name="Text 8"/>
          <p:cNvSpPr txBox="1"/>
          <p:nvPr/>
        </p:nvSpPr>
        <p:spPr>
          <a:xfrm>
            <a:off x="57912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M3</a:t>
            </a:r>
            <a:endParaRPr lang="en-US" sz="1100" dirty="0"/>
          </a:p>
        </p:txBody>
      </p:sp>
      <p:sp>
        <p:nvSpPr>
          <p:cNvPr id="11" name="Shape 9"/>
          <p:cNvSpPr/>
          <p:nvPr/>
        </p:nvSpPr>
        <p:spPr>
          <a:xfrm>
            <a:off x="5791200" y="1737360"/>
            <a:ext cx="0" cy="4526280"/>
          </a:xfrm>
          <a:prstGeom prst="line">
            <a:avLst/>
          </a:prstGeom>
          <a:noFill/>
          <a:ln w="9525">
            <a:solidFill>
              <a:srgbClr val="E5ECE8"/>
            </a:solidFill>
            <a:prstDash val="solid"/>
          </a:ln>
        </p:spPr>
      </p:sp>
      <p:sp>
        <p:nvSpPr>
          <p:cNvPr id="12" name="Text 10"/>
          <p:cNvSpPr txBox="1"/>
          <p:nvPr/>
        </p:nvSpPr>
        <p:spPr>
          <a:xfrm>
            <a:off x="66294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M4</a:t>
            </a:r>
            <a:endParaRPr lang="en-US" sz="1100" dirty="0"/>
          </a:p>
        </p:txBody>
      </p:sp>
      <p:sp>
        <p:nvSpPr>
          <p:cNvPr id="13" name="Shape 11"/>
          <p:cNvSpPr/>
          <p:nvPr/>
        </p:nvSpPr>
        <p:spPr>
          <a:xfrm>
            <a:off x="6629400" y="1737360"/>
            <a:ext cx="0" cy="4526280"/>
          </a:xfrm>
          <a:prstGeom prst="line">
            <a:avLst/>
          </a:prstGeom>
          <a:noFill/>
          <a:ln w="9525">
            <a:solidFill>
              <a:srgbClr val="E5ECE8"/>
            </a:solidFill>
            <a:prstDash val="solid"/>
          </a:ln>
        </p:spPr>
      </p:sp>
      <p:sp>
        <p:nvSpPr>
          <p:cNvPr id="14" name="Text 12"/>
          <p:cNvSpPr txBox="1"/>
          <p:nvPr/>
        </p:nvSpPr>
        <p:spPr>
          <a:xfrm>
            <a:off x="74676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M5</a:t>
            </a:r>
            <a:endParaRPr lang="en-US" sz="1100" dirty="0"/>
          </a:p>
        </p:txBody>
      </p:sp>
      <p:sp>
        <p:nvSpPr>
          <p:cNvPr id="15" name="Shape 13"/>
          <p:cNvSpPr/>
          <p:nvPr/>
        </p:nvSpPr>
        <p:spPr>
          <a:xfrm>
            <a:off x="7467600" y="1737360"/>
            <a:ext cx="0" cy="4526280"/>
          </a:xfrm>
          <a:prstGeom prst="line">
            <a:avLst/>
          </a:prstGeom>
          <a:noFill/>
          <a:ln w="9525">
            <a:solidFill>
              <a:srgbClr val="E5ECE8"/>
            </a:solidFill>
            <a:prstDash val="solid"/>
          </a:ln>
        </p:spPr>
      </p:sp>
      <p:sp>
        <p:nvSpPr>
          <p:cNvPr id="16" name="Text 14"/>
          <p:cNvSpPr txBox="1"/>
          <p:nvPr/>
        </p:nvSpPr>
        <p:spPr>
          <a:xfrm>
            <a:off x="83058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M6</a:t>
            </a:r>
            <a:endParaRPr lang="en-US" sz="1100" dirty="0"/>
          </a:p>
        </p:txBody>
      </p:sp>
      <p:sp>
        <p:nvSpPr>
          <p:cNvPr id="17" name="Shape 15"/>
          <p:cNvSpPr/>
          <p:nvPr/>
        </p:nvSpPr>
        <p:spPr>
          <a:xfrm>
            <a:off x="8305800" y="1737360"/>
            <a:ext cx="0" cy="4526280"/>
          </a:xfrm>
          <a:prstGeom prst="line">
            <a:avLst/>
          </a:prstGeom>
          <a:noFill/>
          <a:ln w="9525">
            <a:solidFill>
              <a:srgbClr val="E5ECE8"/>
            </a:solidFill>
            <a:prstDash val="solid"/>
          </a:ln>
        </p:spPr>
      </p:sp>
      <p:sp>
        <p:nvSpPr>
          <p:cNvPr id="18" name="Text 16"/>
          <p:cNvSpPr txBox="1"/>
          <p:nvPr/>
        </p:nvSpPr>
        <p:spPr>
          <a:xfrm>
            <a:off x="91440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M7</a:t>
            </a:r>
            <a:endParaRPr lang="en-US" sz="1100" dirty="0"/>
          </a:p>
        </p:txBody>
      </p:sp>
      <p:sp>
        <p:nvSpPr>
          <p:cNvPr id="19" name="Shape 17"/>
          <p:cNvSpPr/>
          <p:nvPr/>
        </p:nvSpPr>
        <p:spPr>
          <a:xfrm>
            <a:off x="9144000" y="1737360"/>
            <a:ext cx="0" cy="4526280"/>
          </a:xfrm>
          <a:prstGeom prst="line">
            <a:avLst/>
          </a:prstGeom>
          <a:noFill/>
          <a:ln w="9525">
            <a:solidFill>
              <a:srgbClr val="E5ECE8"/>
            </a:solidFill>
            <a:prstDash val="solid"/>
          </a:ln>
        </p:spPr>
      </p:sp>
      <p:sp>
        <p:nvSpPr>
          <p:cNvPr id="20" name="Text 18"/>
          <p:cNvSpPr txBox="1"/>
          <p:nvPr/>
        </p:nvSpPr>
        <p:spPr>
          <a:xfrm>
            <a:off x="99822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M8</a:t>
            </a:r>
            <a:endParaRPr lang="en-US" sz="1100" dirty="0"/>
          </a:p>
        </p:txBody>
      </p:sp>
      <p:sp>
        <p:nvSpPr>
          <p:cNvPr id="21" name="Shape 19"/>
          <p:cNvSpPr/>
          <p:nvPr/>
        </p:nvSpPr>
        <p:spPr>
          <a:xfrm>
            <a:off x="9982200" y="1737360"/>
            <a:ext cx="0" cy="4526280"/>
          </a:xfrm>
          <a:prstGeom prst="line">
            <a:avLst/>
          </a:prstGeom>
          <a:noFill/>
          <a:ln w="9525">
            <a:solidFill>
              <a:srgbClr val="E5ECE8"/>
            </a:solidFill>
            <a:prstDash val="solid"/>
          </a:ln>
        </p:spPr>
      </p:sp>
      <p:sp>
        <p:nvSpPr>
          <p:cNvPr id="22" name="Text 20"/>
          <p:cNvSpPr txBox="1"/>
          <p:nvPr/>
        </p:nvSpPr>
        <p:spPr>
          <a:xfrm>
            <a:off x="10820400" y="1417320"/>
            <a:ext cx="838200" cy="274320"/>
          </a:xfrm>
          <a:prstGeom prst="rect">
            <a:avLst/>
          </a:prstGeom>
          <a:noFill/>
          <a:ln/>
        </p:spPr>
        <p:txBody>
          <a:bodyPr wrap="square" lIns="0" tIns="0" rIns="0" bIns="0" rtlCol="0" anchor="t"/>
          <a:lstStyle/>
          <a:p>
            <a:pPr algn="ctr" indent="0" marL="0">
              <a:buNone/>
            </a:pPr>
            <a:r>
              <a:rPr lang="en-US" sz="1100" b="1" dirty="0">
                <a:solidFill>
                  <a:srgbClr val="5F6F69"/>
                </a:solidFill>
                <a:latin typeface="Calibri" pitchFamily="34" charset="0"/>
                <a:ea typeface="Calibri" pitchFamily="34" charset="-122"/>
                <a:cs typeface="Calibri" pitchFamily="34" charset="-120"/>
              </a:rPr>
              <a:t>M9</a:t>
            </a:r>
            <a:endParaRPr lang="en-US" sz="1100" dirty="0"/>
          </a:p>
        </p:txBody>
      </p:sp>
      <p:sp>
        <p:nvSpPr>
          <p:cNvPr id="23" name="Shape 21"/>
          <p:cNvSpPr/>
          <p:nvPr/>
        </p:nvSpPr>
        <p:spPr>
          <a:xfrm>
            <a:off x="10820400" y="1737360"/>
            <a:ext cx="0" cy="4526280"/>
          </a:xfrm>
          <a:prstGeom prst="line">
            <a:avLst/>
          </a:prstGeom>
          <a:noFill/>
          <a:ln w="9525">
            <a:solidFill>
              <a:srgbClr val="E5ECE8"/>
            </a:solidFill>
            <a:prstDash val="solid"/>
          </a:ln>
        </p:spPr>
      </p:sp>
      <p:sp>
        <p:nvSpPr>
          <p:cNvPr id="24" name="Text 22"/>
          <p:cNvSpPr txBox="1"/>
          <p:nvPr/>
        </p:nvSpPr>
        <p:spPr>
          <a:xfrm>
            <a:off x="548640" y="17830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DPR, bank and subsidy applications</a:t>
            </a:r>
            <a:endParaRPr lang="en-US" sz="1050" dirty="0"/>
          </a:p>
        </p:txBody>
      </p:sp>
      <p:sp>
        <p:nvSpPr>
          <p:cNvPr id="25" name="Shape 23"/>
          <p:cNvSpPr/>
          <p:nvPr/>
        </p:nvSpPr>
        <p:spPr>
          <a:xfrm>
            <a:off x="4114800" y="1819656"/>
            <a:ext cx="1257300" cy="237744"/>
          </a:xfrm>
          <a:prstGeom prst="roundRect">
            <a:avLst>
              <a:gd name="adj" fmla="val 23077"/>
            </a:avLst>
          </a:prstGeom>
          <a:solidFill>
            <a:srgbClr val="2E5E4E"/>
          </a:solidFill>
          <a:ln w="12700">
            <a:solidFill>
              <a:srgbClr val="2E5E4E"/>
            </a:solidFill>
            <a:prstDash val="solid"/>
          </a:ln>
        </p:spPr>
      </p:sp>
      <p:sp>
        <p:nvSpPr>
          <p:cNvPr id="26" name="Text 24"/>
          <p:cNvSpPr txBox="1"/>
          <p:nvPr/>
        </p:nvSpPr>
        <p:spPr>
          <a:xfrm>
            <a:off x="548640" y="21259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Order mother culture (ICAR-DMR) + backup</a:t>
            </a:r>
            <a:endParaRPr lang="en-US" sz="1050" dirty="0"/>
          </a:p>
        </p:txBody>
      </p:sp>
      <p:sp>
        <p:nvSpPr>
          <p:cNvPr id="27" name="Shape 25"/>
          <p:cNvSpPr/>
          <p:nvPr/>
        </p:nvSpPr>
        <p:spPr>
          <a:xfrm>
            <a:off x="4114800" y="2162556"/>
            <a:ext cx="1676400" cy="237744"/>
          </a:xfrm>
          <a:prstGeom prst="roundRect">
            <a:avLst>
              <a:gd name="adj" fmla="val 23077"/>
            </a:avLst>
          </a:prstGeom>
          <a:solidFill>
            <a:srgbClr val="8DB596"/>
          </a:solidFill>
          <a:ln w="12700">
            <a:solidFill>
              <a:srgbClr val="8DB596"/>
            </a:solidFill>
            <a:prstDash val="solid"/>
          </a:ln>
        </p:spPr>
      </p:sp>
      <p:sp>
        <p:nvSpPr>
          <p:cNvPr id="28" name="Text 26"/>
          <p:cNvSpPr txBox="1"/>
          <p:nvPr/>
        </p:nvSpPr>
        <p:spPr>
          <a:xfrm>
            <a:off x="548640" y="24688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Udyam, GST, Horticulture, HPSPCB CTE</a:t>
            </a:r>
            <a:endParaRPr lang="en-US" sz="1050" dirty="0"/>
          </a:p>
        </p:txBody>
      </p:sp>
      <p:sp>
        <p:nvSpPr>
          <p:cNvPr id="29" name="Shape 27"/>
          <p:cNvSpPr/>
          <p:nvPr/>
        </p:nvSpPr>
        <p:spPr>
          <a:xfrm>
            <a:off x="4114800" y="2505456"/>
            <a:ext cx="1257300" cy="237744"/>
          </a:xfrm>
          <a:prstGeom prst="roundRect">
            <a:avLst>
              <a:gd name="adj" fmla="val 23077"/>
            </a:avLst>
          </a:prstGeom>
          <a:solidFill>
            <a:srgbClr val="2E5E4E"/>
          </a:solidFill>
          <a:ln w="12700">
            <a:solidFill>
              <a:srgbClr val="2E5E4E"/>
            </a:solidFill>
            <a:prstDash val="solid"/>
          </a:ln>
        </p:spPr>
      </p:sp>
      <p:sp>
        <p:nvSpPr>
          <p:cNvPr id="30" name="Text 28"/>
          <p:cNvSpPr txBox="1"/>
          <p:nvPr/>
        </p:nvSpPr>
        <p:spPr>
          <a:xfrm>
            <a:off x="548640" y="28117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In-principle subsidy approval (pre-purchase)</a:t>
            </a:r>
            <a:endParaRPr lang="en-US" sz="1050" dirty="0"/>
          </a:p>
        </p:txBody>
      </p:sp>
      <p:sp>
        <p:nvSpPr>
          <p:cNvPr id="31" name="Shape 29"/>
          <p:cNvSpPr/>
          <p:nvPr/>
        </p:nvSpPr>
        <p:spPr>
          <a:xfrm>
            <a:off x="5372100" y="2848356"/>
            <a:ext cx="419100" cy="237744"/>
          </a:xfrm>
          <a:prstGeom prst="roundRect">
            <a:avLst>
              <a:gd name="adj" fmla="val 23077"/>
            </a:avLst>
          </a:prstGeom>
          <a:solidFill>
            <a:srgbClr val="D9962B"/>
          </a:solidFill>
          <a:ln w="12700">
            <a:solidFill>
              <a:srgbClr val="D9962B"/>
            </a:solidFill>
            <a:prstDash val="solid"/>
          </a:ln>
        </p:spPr>
      </p:sp>
      <p:sp>
        <p:nvSpPr>
          <p:cNvPr id="32" name="Text 30"/>
          <p:cNvSpPr txBox="1"/>
          <p:nvPr/>
        </p:nvSpPr>
        <p:spPr>
          <a:xfrm>
            <a:off x="548640" y="31546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Civil and clean-room build</a:t>
            </a:r>
            <a:endParaRPr lang="en-US" sz="1050" dirty="0"/>
          </a:p>
        </p:txBody>
      </p:sp>
      <p:sp>
        <p:nvSpPr>
          <p:cNvPr id="33" name="Shape 31"/>
          <p:cNvSpPr/>
          <p:nvPr/>
        </p:nvSpPr>
        <p:spPr>
          <a:xfrm>
            <a:off x="5791200" y="3191256"/>
            <a:ext cx="1676400" cy="237744"/>
          </a:xfrm>
          <a:prstGeom prst="roundRect">
            <a:avLst>
              <a:gd name="adj" fmla="val 23077"/>
            </a:avLst>
          </a:prstGeom>
          <a:solidFill>
            <a:srgbClr val="2E5E4E"/>
          </a:solidFill>
          <a:ln w="12700">
            <a:solidFill>
              <a:srgbClr val="2E5E4E"/>
            </a:solidFill>
            <a:prstDash val="solid"/>
          </a:ln>
        </p:spPr>
      </p:sp>
      <p:sp>
        <p:nvSpPr>
          <p:cNvPr id="34" name="Text 32"/>
          <p:cNvSpPr txBox="1"/>
          <p:nvPr/>
        </p:nvSpPr>
        <p:spPr>
          <a:xfrm>
            <a:off x="548640" y="34975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Equipment procurement and installation</a:t>
            </a:r>
            <a:endParaRPr lang="en-US" sz="1050" dirty="0"/>
          </a:p>
        </p:txBody>
      </p:sp>
      <p:sp>
        <p:nvSpPr>
          <p:cNvPr id="35" name="Shape 33"/>
          <p:cNvSpPr/>
          <p:nvPr/>
        </p:nvSpPr>
        <p:spPr>
          <a:xfrm>
            <a:off x="6210300" y="3534156"/>
            <a:ext cx="1257300" cy="237744"/>
          </a:xfrm>
          <a:prstGeom prst="roundRect">
            <a:avLst>
              <a:gd name="adj" fmla="val 23077"/>
            </a:avLst>
          </a:prstGeom>
          <a:solidFill>
            <a:srgbClr val="2E5E4E"/>
          </a:solidFill>
          <a:ln w="12700">
            <a:solidFill>
              <a:srgbClr val="2E5E4E"/>
            </a:solidFill>
            <a:prstDash val="solid"/>
          </a:ln>
        </p:spPr>
      </p:sp>
      <p:sp>
        <p:nvSpPr>
          <p:cNvPr id="36" name="Text 34"/>
          <p:cNvSpPr txBox="1"/>
          <p:nvPr/>
        </p:nvSpPr>
        <p:spPr>
          <a:xfrm>
            <a:off x="548640" y="38404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FSSAI, Fire NOC, HPSPCB CTO</a:t>
            </a:r>
            <a:endParaRPr lang="en-US" sz="1050" dirty="0"/>
          </a:p>
        </p:txBody>
      </p:sp>
      <p:sp>
        <p:nvSpPr>
          <p:cNvPr id="37" name="Shape 35"/>
          <p:cNvSpPr/>
          <p:nvPr/>
        </p:nvSpPr>
        <p:spPr>
          <a:xfrm>
            <a:off x="6629400" y="3877056"/>
            <a:ext cx="1257300" cy="237744"/>
          </a:xfrm>
          <a:prstGeom prst="roundRect">
            <a:avLst>
              <a:gd name="adj" fmla="val 23077"/>
            </a:avLst>
          </a:prstGeom>
          <a:solidFill>
            <a:srgbClr val="8DB596"/>
          </a:solidFill>
          <a:ln w="12700">
            <a:solidFill>
              <a:srgbClr val="8DB596"/>
            </a:solidFill>
            <a:prstDash val="solid"/>
          </a:ln>
        </p:spPr>
      </p:sp>
      <p:sp>
        <p:nvSpPr>
          <p:cNvPr id="38" name="Text 36"/>
          <p:cNvSpPr txBox="1"/>
          <p:nvPr/>
        </p:nvSpPr>
        <p:spPr>
          <a:xfrm>
            <a:off x="548640" y="41833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Commissioning and validation (BI, HEPA, ΔP)</a:t>
            </a:r>
            <a:endParaRPr lang="en-US" sz="1050" dirty="0"/>
          </a:p>
        </p:txBody>
      </p:sp>
      <p:sp>
        <p:nvSpPr>
          <p:cNvPr id="39" name="Shape 37"/>
          <p:cNvSpPr/>
          <p:nvPr/>
        </p:nvSpPr>
        <p:spPr>
          <a:xfrm>
            <a:off x="7467600" y="4219956"/>
            <a:ext cx="628650" cy="237744"/>
          </a:xfrm>
          <a:prstGeom prst="roundRect">
            <a:avLst>
              <a:gd name="adj" fmla="val 23077"/>
            </a:avLst>
          </a:prstGeom>
          <a:solidFill>
            <a:srgbClr val="D9962B"/>
          </a:solidFill>
          <a:ln w="12700">
            <a:solidFill>
              <a:srgbClr val="D9962B"/>
            </a:solidFill>
            <a:prstDash val="solid"/>
          </a:ln>
        </p:spPr>
      </p:sp>
      <p:sp>
        <p:nvSpPr>
          <p:cNvPr id="40" name="Text 38"/>
          <p:cNvSpPr txBox="1"/>
          <p:nvPr/>
        </p:nvSpPr>
        <p:spPr>
          <a:xfrm>
            <a:off x="548640" y="45262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Strain trial and pilot blocks</a:t>
            </a:r>
            <a:endParaRPr lang="en-US" sz="1050" dirty="0"/>
          </a:p>
        </p:txBody>
      </p:sp>
      <p:sp>
        <p:nvSpPr>
          <p:cNvPr id="41" name="Shape 39"/>
          <p:cNvSpPr/>
          <p:nvPr/>
        </p:nvSpPr>
        <p:spPr>
          <a:xfrm>
            <a:off x="7467600" y="4562856"/>
            <a:ext cx="1257300" cy="237744"/>
          </a:xfrm>
          <a:prstGeom prst="roundRect">
            <a:avLst>
              <a:gd name="adj" fmla="val 23077"/>
            </a:avLst>
          </a:prstGeom>
          <a:solidFill>
            <a:srgbClr val="8DB596"/>
          </a:solidFill>
          <a:ln w="12700">
            <a:solidFill>
              <a:srgbClr val="8DB596"/>
            </a:solidFill>
            <a:prstDash val="solid"/>
          </a:ln>
        </p:spPr>
      </p:sp>
      <p:sp>
        <p:nvSpPr>
          <p:cNvPr id="42" name="Text 40"/>
          <p:cNvSpPr txBox="1"/>
          <p:nvPr/>
        </p:nvSpPr>
        <p:spPr>
          <a:xfrm>
            <a:off x="548640" y="48691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Commercial ramp 30 → 60 blocks/day</a:t>
            </a:r>
            <a:endParaRPr lang="en-US" sz="1050" dirty="0"/>
          </a:p>
        </p:txBody>
      </p:sp>
      <p:sp>
        <p:nvSpPr>
          <p:cNvPr id="43" name="Shape 41"/>
          <p:cNvSpPr/>
          <p:nvPr/>
        </p:nvSpPr>
        <p:spPr>
          <a:xfrm>
            <a:off x="8305800" y="4905756"/>
            <a:ext cx="838200" cy="237744"/>
          </a:xfrm>
          <a:prstGeom prst="roundRect">
            <a:avLst>
              <a:gd name="adj" fmla="val 23077"/>
            </a:avLst>
          </a:prstGeom>
          <a:solidFill>
            <a:srgbClr val="2E5E4E"/>
          </a:solidFill>
          <a:ln w="12700">
            <a:solidFill>
              <a:srgbClr val="2E5E4E"/>
            </a:solidFill>
            <a:prstDash val="solid"/>
          </a:ln>
        </p:spPr>
      </p:sp>
      <p:sp>
        <p:nvSpPr>
          <p:cNvPr id="44" name="Text 42"/>
          <p:cNvSpPr txBox="1"/>
          <p:nvPr/>
        </p:nvSpPr>
        <p:spPr>
          <a:xfrm>
            <a:off x="548640" y="52120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First harvest, drying, NABL CoA</a:t>
            </a:r>
            <a:endParaRPr lang="en-US" sz="1050" dirty="0"/>
          </a:p>
        </p:txBody>
      </p:sp>
      <p:sp>
        <p:nvSpPr>
          <p:cNvPr id="45" name="Shape 43"/>
          <p:cNvSpPr/>
          <p:nvPr/>
        </p:nvSpPr>
        <p:spPr>
          <a:xfrm>
            <a:off x="9144000" y="5248656"/>
            <a:ext cx="838200" cy="237744"/>
          </a:xfrm>
          <a:prstGeom prst="roundRect">
            <a:avLst>
              <a:gd name="adj" fmla="val 23077"/>
            </a:avLst>
          </a:prstGeom>
          <a:solidFill>
            <a:srgbClr val="D9962B"/>
          </a:solidFill>
          <a:ln w="12700">
            <a:solidFill>
              <a:srgbClr val="D9962B"/>
            </a:solidFill>
            <a:prstDash val="solid"/>
          </a:ln>
        </p:spPr>
      </p:sp>
      <p:sp>
        <p:nvSpPr>
          <p:cNvPr id="46" name="Text 44"/>
          <p:cNvSpPr txBox="1"/>
          <p:nvPr/>
        </p:nvSpPr>
        <p:spPr>
          <a:xfrm>
            <a:off x="548640" y="55549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Buyer sampling → trial POs</a:t>
            </a:r>
            <a:endParaRPr lang="en-US" sz="1050" dirty="0"/>
          </a:p>
        </p:txBody>
      </p:sp>
      <p:sp>
        <p:nvSpPr>
          <p:cNvPr id="47" name="Shape 45"/>
          <p:cNvSpPr/>
          <p:nvPr/>
        </p:nvSpPr>
        <p:spPr>
          <a:xfrm>
            <a:off x="7886700" y="5591556"/>
            <a:ext cx="2514600" cy="237744"/>
          </a:xfrm>
          <a:prstGeom prst="roundRect">
            <a:avLst>
              <a:gd name="adj" fmla="val 23077"/>
            </a:avLst>
          </a:prstGeom>
          <a:solidFill>
            <a:srgbClr val="8DB596"/>
          </a:solidFill>
          <a:ln w="12700">
            <a:solidFill>
              <a:srgbClr val="8DB596"/>
            </a:solidFill>
            <a:prstDash val="solid"/>
          </a:ln>
        </p:spPr>
      </p:sp>
      <p:sp>
        <p:nvSpPr>
          <p:cNvPr id="48" name="Text 46"/>
          <p:cNvSpPr txBox="1"/>
          <p:nvPr/>
        </p:nvSpPr>
        <p:spPr>
          <a:xfrm>
            <a:off x="548640" y="5897880"/>
            <a:ext cx="3474720" cy="292608"/>
          </a:xfrm>
          <a:prstGeom prst="rect">
            <a:avLst/>
          </a:prstGeom>
          <a:noFill/>
          <a:ln/>
        </p:spPr>
        <p:txBody>
          <a:bodyPr wrap="square" lIns="0" tIns="0" rIns="0" bIns="0" rtlCol="0" anchor="ctr"/>
          <a:lstStyle/>
          <a:p>
            <a:pPr indent="0" marL="0">
              <a:buNone/>
            </a:pPr>
            <a:r>
              <a:rPr lang="en-US" sz="1050" dirty="0">
                <a:solidFill>
                  <a:srgbClr val="1E2A26"/>
                </a:solidFill>
                <a:latin typeface="Calibri" pitchFamily="34" charset="0"/>
                <a:ea typeface="Calibri" pitchFamily="34" charset="-122"/>
                <a:cs typeface="Calibri" pitchFamily="34" charset="-120"/>
              </a:rPr>
              <a:t>Steady-state operations</a:t>
            </a:r>
            <a:endParaRPr lang="en-US" sz="1050" dirty="0"/>
          </a:p>
        </p:txBody>
      </p:sp>
      <p:sp>
        <p:nvSpPr>
          <p:cNvPr id="49" name="Shape 47"/>
          <p:cNvSpPr/>
          <p:nvPr/>
        </p:nvSpPr>
        <p:spPr>
          <a:xfrm>
            <a:off x="9982200" y="5934456"/>
            <a:ext cx="1676400" cy="237744"/>
          </a:xfrm>
          <a:prstGeom prst="roundRect">
            <a:avLst>
              <a:gd name="adj" fmla="val 23077"/>
            </a:avLst>
          </a:prstGeom>
          <a:solidFill>
            <a:srgbClr val="14302A"/>
          </a:solidFill>
          <a:ln w="12700">
            <a:solidFill>
              <a:srgbClr val="14302A"/>
            </a:solidFill>
            <a:prstDash val="solid"/>
          </a:ln>
        </p:spPr>
      </p:sp>
      <p:sp>
        <p:nvSpPr>
          <p:cNvPr id="50" name="Shape 48"/>
          <p:cNvSpPr/>
          <p:nvPr/>
        </p:nvSpPr>
        <p:spPr>
          <a:xfrm>
            <a:off x="8997696" y="5221224"/>
            <a:ext cx="292608" cy="292608"/>
          </a:xfrm>
          <a:prstGeom prst="diamond">
            <a:avLst/>
          </a:prstGeom>
          <a:solidFill>
            <a:srgbClr val="FFFFFF"/>
          </a:solidFill>
          <a:ln w="19050">
            <a:solidFill>
              <a:srgbClr val="A36A12"/>
            </a:solidFill>
            <a:prstDash val="solid"/>
          </a:ln>
        </p:spPr>
      </p:sp>
      <p:sp>
        <p:nvSpPr>
          <p:cNvPr id="51" name="Shape 49"/>
          <p:cNvSpPr/>
          <p:nvPr/>
        </p:nvSpPr>
        <p:spPr>
          <a:xfrm>
            <a:off x="9835896" y="5907024"/>
            <a:ext cx="292608" cy="292608"/>
          </a:xfrm>
          <a:prstGeom prst="diamond">
            <a:avLst/>
          </a:prstGeom>
          <a:solidFill>
            <a:srgbClr val="FFFFFF"/>
          </a:solidFill>
          <a:ln w="19050">
            <a:solidFill>
              <a:srgbClr val="A36A12"/>
            </a:solidFill>
            <a:prstDash val="solid"/>
          </a:ln>
        </p:spPr>
      </p:sp>
      <p:sp>
        <p:nvSpPr>
          <p:cNvPr id="52" name="Text 50"/>
          <p:cNvSpPr txBox="1"/>
          <p:nvPr/>
        </p:nvSpPr>
        <p:spPr>
          <a:xfrm>
            <a:off x="4114800" y="6217920"/>
            <a:ext cx="4572000" cy="228600"/>
          </a:xfrm>
          <a:prstGeom prst="rect">
            <a:avLst/>
          </a:prstGeom>
          <a:noFill/>
          <a:ln/>
        </p:spPr>
        <p:txBody>
          <a:bodyPr wrap="square" lIns="0" tIns="0" rIns="0" bIns="0" rtlCol="0" anchor="t"/>
          <a:lstStyle/>
          <a:p>
            <a:pPr indent="0" marL="0">
              <a:buNone/>
            </a:pPr>
            <a:r>
              <a:rPr lang="en-US" sz="1050" b="1" dirty="0">
                <a:solidFill>
                  <a:srgbClr val="A36A12"/>
                </a:solidFill>
                <a:latin typeface="Calibri" pitchFamily="34" charset="0"/>
                <a:ea typeface="Calibri" pitchFamily="34" charset="-122"/>
                <a:cs typeface="Calibri" pitchFamily="34" charset="-120"/>
              </a:rPr>
              <a:t>◆ Milestones: first harvest M7 · steady state M8</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14 · RISK</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Risk register and mitigation</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32</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09960" cy="914400"/>
        </p:xfrm>
        <a:graphic>
          <a:graphicData uri="http://schemas.openxmlformats.org/drawingml/2006/table">
            <a:tbl>
              <a:tblPr/>
              <a:tblGrid>
                <a:gridCol w="3108960"/>
                <a:gridCol w="457200"/>
                <a:gridCol w="457200"/>
                <a:gridCol w="708660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Risk</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Mitigation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2E5E4E"/>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Trichoderma (green mould) in blocks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Validated sterilization, HEPA, unidirectional flow; remove infected bags unopened via back door</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Bacillus / wet spot in grain spawn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12–16 h soak, full surface drying, 120 min cycles, LC streak test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Power outages (monsoon)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20 kVA DG for HVAC, FAE, LAF; interrupted autoclave cycles fully re-run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Summer heat + thermogenesis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PUF insulation, sized copper-coil ACs, daily core-temp checks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Poor fruit quality (coral, yellowing)</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CO₂ &lt;800 ppm, fog not droplets, harvest at 0.5–1 cm spines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Sciarid / phorid flies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40-mesh screens, sticky traps, A/B all-in all-out; no pesticides</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Strain senescence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DDEED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G2 cap, culture bank with off-site backup, annual re-validation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Powder clumping in monsoon</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Pack room &lt;40% RH, foil + desiccant, aw ≤0.60 release test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Autoclave breakdown (single point)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AMC and spares kit; second autoclave in Phase 2</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B2B payment delays / demand dip</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BEBC8"/>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₹12 L WC buffer, 12–24 mo shelf life, B2C and fresh channels, oyster/shiitake pivot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6F9F7"/>
                    </a:solidFill>
                  </a:tcPr>
                </a:tc>
              </a:tr>
              <a:tr h="384048">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Regulatory or claims non-compliance</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L</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DDEEDF"/>
                    </a:solidFill>
                  </a:tcPr>
                </a:tc>
                <a:tc>
                  <a:txBody>
                    <a:bodyPr/>
                    <a:lstStyle/>
                    <a:p>
                      <a:pPr algn="ctr" indent="0" marL="0">
                        <a:buNone/>
                      </a:pPr>
                      <a:r>
                        <a:rPr lang="en-US" sz="1050" b="1" dirty="0">
                          <a:solidFill>
                            <a:srgbClr val="1E2A26"/>
                          </a:solidFill>
                          <a:latin typeface="Calibri" pitchFamily="34" charset="0"/>
                          <a:ea typeface="Calibri" pitchFamily="34" charset="-122"/>
                          <a:cs typeface="Calibri" pitchFamily="34" charset="-120"/>
                        </a:rPr>
                        <a:t>H</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4D9D3"/>
                    </a:solidFill>
                  </a:tcPr>
                </a:tc>
                <a:tc>
                  <a:txBody>
                    <a:bodyPr/>
                    <a:lstStyle/>
                    <a:p>
                      <a:pPr indent="0" marL="0">
                        <a:buNone/>
                      </a:pPr>
                      <a:r>
                        <a:rPr lang="en-US" sz="1050" dirty="0">
                          <a:solidFill>
                            <a:srgbClr val="1E2A26"/>
                          </a:solidFill>
                          <a:latin typeface="Calibri" pitchFamily="34" charset="0"/>
                          <a:ea typeface="Calibri" pitchFamily="34" charset="-122"/>
                          <a:cs typeface="Calibri" pitchFamily="34" charset="-120"/>
                        </a:rPr>
                        <a:t>Pre-cleared labels, CoA per lot, regulatory consultant</a:t>
                      </a:r>
                      <a:endParaRPr lang="en-US" sz="1050" dirty="0">
                        <a:latin typeface="Calibri" charset="0"/>
                        <a:ea typeface="Calibri" charset="0"/>
                        <a:cs typeface="Calibri" charset="0"/>
                      </a:endParaRPr>
                    </a:p>
                  </a:txBody>
                  <a:tcPr marL="63500" marR="63500" marT="38100" marB="38100" anchor="ctr">
                    <a:lnL w="6350" cap="flat" cmpd="sng" algn="ctr">
                      <a:solidFill>
                        <a:srgbClr val="D3DED8"/>
                      </a:solidFill>
                      <a:prstDash val="solid"/>
                      <a:round/>
                      <a:headEnd type="none" w="med" len="med"/>
                      <a:tailEnd type="none" w="med" len="med"/>
                    </a:lnL>
                    <a:lnR w="6350" cap="flat" cmpd="sng" algn="ctr">
                      <a:solidFill>
                        <a:srgbClr val="D3DED8"/>
                      </a:solidFill>
                      <a:prstDash val="solid"/>
                      <a:round/>
                      <a:headEnd type="none" w="med" len="med"/>
                      <a:tailEnd type="none" w="med" len="med"/>
                    </a:lnR>
                    <a:lnT w="6350" cap="flat" cmpd="sng" algn="ctr">
                      <a:solidFill>
                        <a:srgbClr val="D3DED8"/>
                      </a:solidFill>
                      <a:prstDash val="solid"/>
                      <a:round/>
                      <a:headEnd type="none" w="med" len="med"/>
                      <a:tailEnd type="none" w="med" len="med"/>
                    </a:lnT>
                    <a:lnB w="6350" cap="flat" cmpd="sng" algn="ctr">
                      <a:solidFill>
                        <a:srgbClr val="D3DE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126480"/>
            <a:ext cx="7315200" cy="274320"/>
          </a:xfrm>
          <a:prstGeom prst="rect">
            <a:avLst/>
          </a:prstGeom>
          <a:noFill/>
          <a:ln/>
        </p:spPr>
        <p:txBody>
          <a:bodyPr wrap="square" lIns="0" tIns="0" rIns="0" bIns="0" rtlCol="0" anchor="t"/>
          <a:lstStyle/>
          <a:p>
            <a:pPr indent="0" marL="0">
              <a:buNone/>
            </a:pPr>
            <a:r>
              <a:rPr lang="en-US" sz="1000" i="1" dirty="0">
                <a:solidFill>
                  <a:srgbClr val="5F6F69"/>
                </a:solidFill>
                <a:latin typeface="Calibri" pitchFamily="34" charset="0"/>
                <a:ea typeface="Calibri" pitchFamily="34" charset="-122"/>
                <a:cs typeface="Calibri" pitchFamily="34" charset="-120"/>
              </a:rPr>
              <a:t>L = likelihood, I = impact  ·  H high · M medium · L low</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14 · GOVERNANCE</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KPIs we will report monthly</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548640" y="1508760"/>
            <a:ext cx="2606040" cy="1645920"/>
          </a:xfrm>
          <a:prstGeom prst="roundRect">
            <a:avLst>
              <a:gd name="adj" fmla="val 4444"/>
            </a:avLst>
          </a:prstGeom>
          <a:solidFill>
            <a:srgbClr val="EEF4F0"/>
          </a:solidFill>
          <a:ln w="9525">
            <a:solidFill>
              <a:srgbClr val="EEF4F0"/>
            </a:solidFill>
            <a:prstDash val="solid"/>
          </a:ln>
        </p:spPr>
      </p:sp>
      <p:sp>
        <p:nvSpPr>
          <p:cNvPr id="7" name="Text 5"/>
          <p:cNvSpPr txBox="1"/>
          <p:nvPr/>
        </p:nvSpPr>
        <p:spPr>
          <a:xfrm>
            <a:off x="731520" y="169164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&lt;5%</a:t>
            </a:r>
            <a:endParaRPr lang="en-US" sz="3000" dirty="0"/>
          </a:p>
        </p:txBody>
      </p:sp>
      <p:sp>
        <p:nvSpPr>
          <p:cNvPr id="8" name="Text 6"/>
          <p:cNvSpPr txBox="1"/>
          <p:nvPr/>
        </p:nvSpPr>
        <p:spPr>
          <a:xfrm>
            <a:off x="731520" y="246888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block contamination rate</a:t>
            </a:r>
            <a:endParaRPr lang="en-US" sz="1200" dirty="0"/>
          </a:p>
        </p:txBody>
      </p:sp>
      <p:sp>
        <p:nvSpPr>
          <p:cNvPr id="9" name="Shape 7"/>
          <p:cNvSpPr/>
          <p:nvPr/>
        </p:nvSpPr>
        <p:spPr>
          <a:xfrm>
            <a:off x="3355848" y="1508760"/>
            <a:ext cx="2606040" cy="1645920"/>
          </a:xfrm>
          <a:prstGeom prst="roundRect">
            <a:avLst>
              <a:gd name="adj" fmla="val 4444"/>
            </a:avLst>
          </a:prstGeom>
          <a:solidFill>
            <a:srgbClr val="EEF4F0"/>
          </a:solidFill>
          <a:ln w="9525">
            <a:solidFill>
              <a:srgbClr val="EEF4F0"/>
            </a:solidFill>
            <a:prstDash val="solid"/>
          </a:ln>
        </p:spPr>
      </p:sp>
      <p:sp>
        <p:nvSpPr>
          <p:cNvPr id="10" name="Text 8"/>
          <p:cNvSpPr txBox="1"/>
          <p:nvPr/>
        </p:nvSpPr>
        <p:spPr>
          <a:xfrm>
            <a:off x="3538728" y="169164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&lt;2%</a:t>
            </a:r>
            <a:endParaRPr lang="en-US" sz="3000" dirty="0"/>
          </a:p>
        </p:txBody>
      </p:sp>
      <p:sp>
        <p:nvSpPr>
          <p:cNvPr id="11" name="Text 9"/>
          <p:cNvSpPr txBox="1"/>
          <p:nvPr/>
        </p:nvSpPr>
        <p:spPr>
          <a:xfrm>
            <a:off x="3538728" y="246888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spawn contamination rate</a:t>
            </a:r>
            <a:endParaRPr lang="en-US" sz="1200" dirty="0"/>
          </a:p>
        </p:txBody>
      </p:sp>
      <p:sp>
        <p:nvSpPr>
          <p:cNvPr id="12" name="Shape 10"/>
          <p:cNvSpPr/>
          <p:nvPr/>
        </p:nvSpPr>
        <p:spPr>
          <a:xfrm>
            <a:off x="6163056" y="1508760"/>
            <a:ext cx="2606040" cy="1645920"/>
          </a:xfrm>
          <a:prstGeom prst="roundRect">
            <a:avLst>
              <a:gd name="adj" fmla="val 4444"/>
            </a:avLst>
          </a:prstGeom>
          <a:solidFill>
            <a:srgbClr val="14302A"/>
          </a:solidFill>
          <a:ln w="9525">
            <a:solidFill>
              <a:srgbClr val="14302A"/>
            </a:solidFill>
            <a:prstDash val="solid"/>
          </a:ln>
        </p:spPr>
      </p:sp>
      <p:sp>
        <p:nvSpPr>
          <p:cNvPr id="13" name="Text 11"/>
          <p:cNvSpPr txBox="1"/>
          <p:nvPr/>
        </p:nvSpPr>
        <p:spPr>
          <a:xfrm>
            <a:off x="6345936" y="1691640"/>
            <a:ext cx="2240280" cy="731520"/>
          </a:xfrm>
          <a:prstGeom prst="rect">
            <a:avLst/>
          </a:prstGeom>
          <a:noFill/>
          <a:ln/>
        </p:spPr>
        <p:txBody>
          <a:bodyPr wrap="square" lIns="0" tIns="0" rIns="0" bIns="0" rtlCol="0" anchor="ctr"/>
          <a:lstStyle/>
          <a:p>
            <a:pPr indent="0" marL="0">
              <a:buNone/>
            </a:pPr>
            <a:r>
              <a:rPr lang="en-US" sz="3000" b="1" dirty="0">
                <a:solidFill>
                  <a:srgbClr val="D9962B"/>
                </a:solidFill>
                <a:latin typeface="Cambria" pitchFamily="34" charset="0"/>
                <a:ea typeface="Cambria" pitchFamily="34" charset="-122"/>
                <a:cs typeface="Cambria" pitchFamily="34" charset="-120"/>
              </a:rPr>
              <a:t>≥65%</a:t>
            </a:r>
            <a:endParaRPr lang="en-US" sz="3000" dirty="0"/>
          </a:p>
        </p:txBody>
      </p:sp>
      <p:sp>
        <p:nvSpPr>
          <p:cNvPr id="14" name="Text 12"/>
          <p:cNvSpPr txBox="1"/>
          <p:nvPr/>
        </p:nvSpPr>
        <p:spPr>
          <a:xfrm>
            <a:off x="6345936" y="2468880"/>
            <a:ext cx="2240280" cy="5486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biological efficiency (stretch 80%)</a:t>
            </a:r>
            <a:endParaRPr lang="en-US" sz="1200" dirty="0"/>
          </a:p>
        </p:txBody>
      </p:sp>
      <p:sp>
        <p:nvSpPr>
          <p:cNvPr id="15" name="Shape 13"/>
          <p:cNvSpPr/>
          <p:nvPr/>
        </p:nvSpPr>
        <p:spPr>
          <a:xfrm>
            <a:off x="8970264" y="1508760"/>
            <a:ext cx="2606040" cy="1645920"/>
          </a:xfrm>
          <a:prstGeom prst="roundRect">
            <a:avLst>
              <a:gd name="adj" fmla="val 4444"/>
            </a:avLst>
          </a:prstGeom>
          <a:solidFill>
            <a:srgbClr val="EEF4F0"/>
          </a:solidFill>
          <a:ln w="9525">
            <a:solidFill>
              <a:srgbClr val="EEF4F0"/>
            </a:solidFill>
            <a:prstDash val="solid"/>
          </a:ln>
        </p:spPr>
      </p:sp>
      <p:sp>
        <p:nvSpPr>
          <p:cNvPr id="16" name="Text 14"/>
          <p:cNvSpPr txBox="1"/>
          <p:nvPr/>
        </p:nvSpPr>
        <p:spPr>
          <a:xfrm>
            <a:off x="9153144" y="169164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≤21 d</a:t>
            </a:r>
            <a:endParaRPr lang="en-US" sz="3000" dirty="0"/>
          </a:p>
        </p:txBody>
      </p:sp>
      <p:sp>
        <p:nvSpPr>
          <p:cNvPr id="17" name="Text 15"/>
          <p:cNvSpPr txBox="1"/>
          <p:nvPr/>
        </p:nvSpPr>
        <p:spPr>
          <a:xfrm>
            <a:off x="9153144" y="246888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block colonization time</a:t>
            </a:r>
            <a:endParaRPr lang="en-US" sz="1200" dirty="0"/>
          </a:p>
        </p:txBody>
      </p:sp>
      <p:sp>
        <p:nvSpPr>
          <p:cNvPr id="18" name="Shape 16"/>
          <p:cNvSpPr/>
          <p:nvPr/>
        </p:nvSpPr>
        <p:spPr>
          <a:xfrm>
            <a:off x="548640" y="3383280"/>
            <a:ext cx="2606040" cy="1645920"/>
          </a:xfrm>
          <a:prstGeom prst="roundRect">
            <a:avLst>
              <a:gd name="adj" fmla="val 4444"/>
            </a:avLst>
          </a:prstGeom>
          <a:solidFill>
            <a:srgbClr val="EEF4F0"/>
          </a:solidFill>
          <a:ln w="9525">
            <a:solidFill>
              <a:srgbClr val="EEF4F0"/>
            </a:solidFill>
            <a:prstDash val="solid"/>
          </a:ln>
        </p:spPr>
      </p:sp>
      <p:sp>
        <p:nvSpPr>
          <p:cNvPr id="19" name="Text 17"/>
          <p:cNvSpPr txBox="1"/>
          <p:nvPr/>
        </p:nvSpPr>
        <p:spPr>
          <a:xfrm>
            <a:off x="731520" y="356616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9–11 : 1</a:t>
            </a:r>
            <a:endParaRPr lang="en-US" sz="3000" dirty="0"/>
          </a:p>
        </p:txBody>
      </p:sp>
      <p:sp>
        <p:nvSpPr>
          <p:cNvPr id="20" name="Text 18"/>
          <p:cNvSpPr txBox="1"/>
          <p:nvPr/>
        </p:nvSpPr>
        <p:spPr>
          <a:xfrm>
            <a:off x="731520" y="434340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fresh-to-dry ratio</a:t>
            </a:r>
            <a:endParaRPr lang="en-US" sz="1200" dirty="0"/>
          </a:p>
        </p:txBody>
      </p:sp>
      <p:sp>
        <p:nvSpPr>
          <p:cNvPr id="21" name="Shape 19"/>
          <p:cNvSpPr/>
          <p:nvPr/>
        </p:nvSpPr>
        <p:spPr>
          <a:xfrm>
            <a:off x="3355848" y="3383280"/>
            <a:ext cx="2606040" cy="1645920"/>
          </a:xfrm>
          <a:prstGeom prst="roundRect">
            <a:avLst>
              <a:gd name="adj" fmla="val 4444"/>
            </a:avLst>
          </a:prstGeom>
          <a:solidFill>
            <a:srgbClr val="14302A"/>
          </a:solidFill>
          <a:ln w="9525">
            <a:solidFill>
              <a:srgbClr val="14302A"/>
            </a:solidFill>
            <a:prstDash val="solid"/>
          </a:ln>
        </p:spPr>
      </p:sp>
      <p:sp>
        <p:nvSpPr>
          <p:cNvPr id="22" name="Text 20"/>
          <p:cNvSpPr txBox="1"/>
          <p:nvPr/>
        </p:nvSpPr>
        <p:spPr>
          <a:xfrm>
            <a:off x="3538728" y="3566160"/>
            <a:ext cx="2240280" cy="731520"/>
          </a:xfrm>
          <a:prstGeom prst="rect">
            <a:avLst/>
          </a:prstGeom>
          <a:noFill/>
          <a:ln/>
        </p:spPr>
        <p:txBody>
          <a:bodyPr wrap="square" lIns="0" tIns="0" rIns="0" bIns="0" rtlCol="0" anchor="ctr"/>
          <a:lstStyle/>
          <a:p>
            <a:pPr indent="0" marL="0">
              <a:buNone/>
            </a:pPr>
            <a:r>
              <a:rPr lang="en-US" sz="3000" b="1" dirty="0">
                <a:solidFill>
                  <a:srgbClr val="D9962B"/>
                </a:solidFill>
                <a:latin typeface="Cambria" pitchFamily="34" charset="0"/>
                <a:ea typeface="Cambria" pitchFamily="34" charset="-122"/>
                <a:cs typeface="Cambria" pitchFamily="34" charset="-120"/>
              </a:rPr>
              <a:t>≤₹3,000</a:t>
            </a:r>
            <a:endParaRPr lang="en-US" sz="3000" dirty="0"/>
          </a:p>
        </p:txBody>
      </p:sp>
      <p:sp>
        <p:nvSpPr>
          <p:cNvPr id="23" name="Text 21"/>
          <p:cNvSpPr txBox="1"/>
          <p:nvPr/>
        </p:nvSpPr>
        <p:spPr>
          <a:xfrm>
            <a:off x="3538728" y="4343400"/>
            <a:ext cx="2240280" cy="5486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cash cost per kg dry</a:t>
            </a:r>
            <a:endParaRPr lang="en-US" sz="1200" dirty="0"/>
          </a:p>
        </p:txBody>
      </p:sp>
      <p:sp>
        <p:nvSpPr>
          <p:cNvPr id="24" name="Shape 22"/>
          <p:cNvSpPr/>
          <p:nvPr/>
        </p:nvSpPr>
        <p:spPr>
          <a:xfrm>
            <a:off x="6163056" y="3383280"/>
            <a:ext cx="2606040" cy="1645920"/>
          </a:xfrm>
          <a:prstGeom prst="roundRect">
            <a:avLst>
              <a:gd name="adj" fmla="val 4444"/>
            </a:avLst>
          </a:prstGeom>
          <a:solidFill>
            <a:srgbClr val="EEF4F0"/>
          </a:solidFill>
          <a:ln w="9525">
            <a:solidFill>
              <a:srgbClr val="EEF4F0"/>
            </a:solidFill>
            <a:prstDash val="solid"/>
          </a:ln>
        </p:spPr>
      </p:sp>
      <p:sp>
        <p:nvSpPr>
          <p:cNvPr id="25" name="Text 23"/>
          <p:cNvSpPr txBox="1"/>
          <p:nvPr/>
        </p:nvSpPr>
        <p:spPr>
          <a:xfrm>
            <a:off x="6345936" y="356616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100%</a:t>
            </a:r>
            <a:endParaRPr lang="en-US" sz="3000" dirty="0"/>
          </a:p>
        </p:txBody>
      </p:sp>
      <p:sp>
        <p:nvSpPr>
          <p:cNvPr id="26" name="Text 24"/>
          <p:cNvSpPr txBox="1"/>
          <p:nvPr/>
        </p:nvSpPr>
        <p:spPr>
          <a:xfrm>
            <a:off x="6345936" y="434340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lots passing CoA first time</a:t>
            </a:r>
            <a:endParaRPr lang="en-US" sz="1200" dirty="0"/>
          </a:p>
        </p:txBody>
      </p:sp>
      <p:sp>
        <p:nvSpPr>
          <p:cNvPr id="27" name="Shape 25"/>
          <p:cNvSpPr/>
          <p:nvPr/>
        </p:nvSpPr>
        <p:spPr>
          <a:xfrm>
            <a:off x="8970264" y="3383280"/>
            <a:ext cx="2606040" cy="1645920"/>
          </a:xfrm>
          <a:prstGeom prst="roundRect">
            <a:avLst>
              <a:gd name="adj" fmla="val 4444"/>
            </a:avLst>
          </a:prstGeom>
          <a:solidFill>
            <a:srgbClr val="EEF4F0"/>
          </a:solidFill>
          <a:ln w="9525">
            <a:solidFill>
              <a:srgbClr val="EEF4F0"/>
            </a:solidFill>
            <a:prstDash val="solid"/>
          </a:ln>
        </p:spPr>
      </p:sp>
      <p:sp>
        <p:nvSpPr>
          <p:cNvPr id="28" name="Text 26"/>
          <p:cNvSpPr txBox="1"/>
          <p:nvPr/>
        </p:nvSpPr>
        <p:spPr>
          <a:xfrm>
            <a:off x="9153144" y="3566160"/>
            <a:ext cx="2240280" cy="731520"/>
          </a:xfrm>
          <a:prstGeom prst="rect">
            <a:avLst/>
          </a:prstGeom>
          <a:noFill/>
          <a:ln/>
        </p:spPr>
        <p:txBody>
          <a:bodyPr wrap="square" lIns="0" tIns="0" rIns="0" bIns="0" rtlCol="0" anchor="ctr"/>
          <a:lstStyle/>
          <a:p>
            <a:pPr indent="0" marL="0">
              <a:buNone/>
            </a:pPr>
            <a:r>
              <a:rPr lang="en-US" sz="3000" b="1" dirty="0">
                <a:solidFill>
                  <a:srgbClr val="2E5E4E"/>
                </a:solidFill>
                <a:latin typeface="Cambria" pitchFamily="34" charset="0"/>
                <a:ea typeface="Cambria" pitchFamily="34" charset="-122"/>
                <a:cs typeface="Cambria" pitchFamily="34" charset="-120"/>
              </a:rPr>
              <a:t>≥95%</a:t>
            </a:r>
            <a:endParaRPr lang="en-US" sz="3000" dirty="0"/>
          </a:p>
        </p:txBody>
      </p:sp>
      <p:sp>
        <p:nvSpPr>
          <p:cNvPr id="29" name="Text 27"/>
          <p:cNvSpPr txBox="1"/>
          <p:nvPr/>
        </p:nvSpPr>
        <p:spPr>
          <a:xfrm>
            <a:off x="9153144" y="4343400"/>
            <a:ext cx="2240280" cy="548640"/>
          </a:xfrm>
          <a:prstGeom prst="rect">
            <a:avLst/>
          </a:prstGeom>
          <a:noFill/>
          <a:ln/>
        </p:spPr>
        <p:txBody>
          <a:bodyPr wrap="square" lIns="0" tIns="0" rIns="0" bIns="0" rtlCol="0" anchor="t"/>
          <a:lstStyle/>
          <a:p>
            <a:pPr indent="0" marL="0">
              <a:buNone/>
            </a:pPr>
            <a:r>
              <a:rPr lang="en-US" sz="1200" dirty="0">
                <a:solidFill>
                  <a:srgbClr val="5F6F69"/>
                </a:solidFill>
                <a:latin typeface="Calibri" pitchFamily="34" charset="0"/>
                <a:ea typeface="Calibri" pitchFamily="34" charset="-122"/>
                <a:cs typeface="Calibri" pitchFamily="34" charset="-120"/>
              </a:rPr>
              <a:t>on-time B2B deliveries</a:t>
            </a:r>
            <a:endParaRPr lang="en-US" sz="1200" dirty="0"/>
          </a:p>
        </p:txBody>
      </p:sp>
      <p:sp>
        <p:nvSpPr>
          <p:cNvPr id="30" name="Shape 28"/>
          <p:cNvSpPr/>
          <p:nvPr/>
        </p:nvSpPr>
        <p:spPr>
          <a:xfrm>
            <a:off x="548640" y="5349240"/>
            <a:ext cx="11109960" cy="914400"/>
          </a:xfrm>
          <a:prstGeom prst="roundRect">
            <a:avLst>
              <a:gd name="adj" fmla="val 8000"/>
            </a:avLst>
          </a:prstGeom>
          <a:solidFill>
            <a:srgbClr val="FBF1DE"/>
          </a:solidFill>
          <a:ln w="9525">
            <a:solidFill>
              <a:srgbClr val="FBF1DE"/>
            </a:solidFill>
            <a:prstDash val="solid"/>
          </a:ln>
        </p:spPr>
      </p:sp>
      <p:sp>
        <p:nvSpPr>
          <p:cNvPr id="31" name="Text 29"/>
          <p:cNvSpPr txBox="1"/>
          <p:nvPr/>
        </p:nvSpPr>
        <p:spPr>
          <a:xfrm>
            <a:off x="777240" y="5349240"/>
            <a:ext cx="10698480" cy="914400"/>
          </a:xfrm>
          <a:prstGeom prst="rect">
            <a:avLst/>
          </a:prstGeom>
          <a:noFill/>
          <a:ln/>
        </p:spPr>
        <p:txBody>
          <a:bodyPr wrap="square" lIns="0" tIns="0" rIns="0" bIns="0" rtlCol="0" anchor="ctr"/>
          <a:lstStyle/>
          <a:p>
            <a:pPr indent="0" marL="0">
              <a:buNone/>
            </a:pPr>
            <a:r>
              <a:rPr lang="en-US" sz="1200" dirty="0">
                <a:solidFill>
                  <a:srgbClr val="1E2A26"/>
                </a:solidFill>
                <a:latin typeface="Calibri" pitchFamily="34" charset="0"/>
                <a:ea typeface="Calibri" pitchFamily="34" charset="-122"/>
                <a:cs typeface="Calibri" pitchFamily="34" charset="-120"/>
              </a:rPr>
              <a:t>Weekly production review on lot data; monthly dashboard to promoters, lenders and scientific advisors. Any contamination spike above 8% triggers a root-cause review of sterilization and pressure logs within 48 h.</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100" b="1" spc="300" kern="0" dirty="0">
                <a:solidFill>
                  <a:srgbClr val="D9962B"/>
                </a:solidFill>
                <a:latin typeface="Calibri" pitchFamily="34" charset="0"/>
                <a:ea typeface="Calibri" pitchFamily="34" charset="-122"/>
                <a:cs typeface="Calibri" pitchFamily="34" charset="-120"/>
              </a:rPr>
              <a:t>15 · SUSTAINABILITY &amp; SAFETY</a:t>
            </a:r>
            <a:endParaRPr lang="en-US" sz="1100" dirty="0"/>
          </a:p>
        </p:txBody>
      </p:sp>
      <p:sp>
        <p:nvSpPr>
          <p:cNvPr id="3" name="Text 1"/>
          <p:cNvSpPr txBox="1"/>
          <p:nvPr/>
        </p:nvSpPr>
        <p:spPr>
          <a:xfrm>
            <a:off x="548640" y="548640"/>
            <a:ext cx="11064240" cy="685800"/>
          </a:xfrm>
          <a:prstGeom prst="rect">
            <a:avLst/>
          </a:prstGeom>
          <a:noFill/>
          <a:ln/>
        </p:spPr>
        <p:txBody>
          <a:bodyPr wrap="square" lIns="0" tIns="0" rIns="0" bIns="0" rtlCol="0" anchor="ctr"/>
          <a:lstStyle/>
          <a:p>
            <a:pPr indent="0" marL="0">
              <a:buNone/>
            </a:pPr>
            <a:r>
              <a:rPr lang="en-US" sz="3000" b="1" dirty="0">
                <a:solidFill>
                  <a:srgbClr val="14302A"/>
                </a:solidFill>
                <a:latin typeface="Cambria" pitchFamily="34" charset="0"/>
                <a:ea typeface="Cambria" pitchFamily="34" charset="-122"/>
                <a:cs typeface="Cambria" pitchFamily="34" charset="-120"/>
              </a:rPr>
              <a:t>A circular, safe workplace</a:t>
            </a:r>
            <a:endParaRPr lang="en-US" sz="3000" dirty="0"/>
          </a:p>
        </p:txBody>
      </p:sp>
      <p:sp>
        <p:nvSpPr>
          <p:cNvPr id="4" name="Text 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F6F69"/>
                </a:solidFill>
                <a:latin typeface="Calibri" pitchFamily="34" charset="0"/>
                <a:ea typeface="Calibri" pitchFamily="34" charset="-122"/>
                <a:cs typeface="Calibri" pitchFamily="34" charset="-120"/>
              </a:rPr>
              <a:t>Lion's Mane Facility  ·  Hamirpur, HP  ·  Project Plan</a:t>
            </a:r>
            <a:endParaRPr lang="en-US" sz="900" dirty="0"/>
          </a:p>
        </p:txBody>
      </p:sp>
      <p:sp>
        <p:nvSpPr>
          <p:cNvPr id="5" name="Text 3"/>
          <p:cNvSpPr txBox="1"/>
          <p:nvPr/>
        </p:nvSpPr>
        <p:spPr>
          <a:xfrm>
            <a:off x="11155680" y="6446520"/>
            <a:ext cx="457200" cy="228600"/>
          </a:xfrm>
          <a:prstGeom prst="rect">
            <a:avLst/>
          </a:prstGeom>
          <a:noFill/>
          <a:ln/>
        </p:spPr>
        <p:txBody>
          <a:bodyPr wrap="square" lIns="0" tIns="0" rIns="0" bIns="0" rtlCol="0" anchor="ctr"/>
          <a:lstStyle/>
          <a:p>
            <a:pPr algn="r" indent="0" marL="0">
              <a:buNone/>
            </a:pPr>
            <a:r>
              <a:rPr lang="en-US" sz="900" dirty="0">
                <a:solidFill>
                  <a:srgbClr val="5F6F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548640" y="1463040"/>
            <a:ext cx="5440680" cy="4800600"/>
          </a:xfrm>
          <a:prstGeom prst="roundRect">
            <a:avLst>
              <a:gd name="adj" fmla="val 1524"/>
            </a:avLst>
          </a:prstGeom>
          <a:solidFill>
            <a:srgbClr val="EEF4F0"/>
          </a:solidFill>
          <a:ln w="9525">
            <a:solidFill>
              <a:srgbClr val="EEF4F0"/>
            </a:solidFill>
            <a:prstDash val="solid"/>
          </a:ln>
        </p:spPr>
      </p:sp>
      <p:sp>
        <p:nvSpPr>
          <p:cNvPr id="7" name="Shape 5"/>
          <p:cNvSpPr/>
          <p:nvPr/>
        </p:nvSpPr>
        <p:spPr>
          <a:xfrm>
            <a:off x="777240" y="1645920"/>
            <a:ext cx="594360" cy="594360"/>
          </a:xfrm>
          <a:prstGeom prst="ellipse">
            <a:avLst/>
          </a:prstGeom>
          <a:solidFill>
            <a:srgbClr val="2E5E4E"/>
          </a:solidFill>
          <a:ln w="12700">
            <a:solidFill>
              <a:srgbClr val="2E5E4E"/>
            </a:solidFill>
            <a:prstDash val="solid"/>
          </a:ln>
        </p:spPr>
      </p:sp>
      <p:pic>
        <p:nvPicPr>
          <p:cNvPr id="8" name="Image 0" descr="preencoded.png">    </p:cNvPr>
          <p:cNvPicPr>
            <a:picLocks noChangeAspect="1"/>
          </p:cNvPicPr>
          <p:nvPr/>
        </p:nvPicPr>
        <p:blipFill>
          <a:blip r:embed="rId1"/>
          <a:stretch>
            <a:fillRect/>
          </a:stretch>
        </p:blipFill>
        <p:spPr>
          <a:xfrm>
            <a:off x="931774" y="1800454"/>
            <a:ext cx="285293" cy="285293"/>
          </a:xfrm>
          <a:prstGeom prst="rect">
            <a:avLst/>
          </a:prstGeom>
        </p:spPr>
      </p:pic>
      <p:sp>
        <p:nvSpPr>
          <p:cNvPr id="9" name="Text 6"/>
          <p:cNvSpPr txBox="1"/>
          <p:nvPr/>
        </p:nvSpPr>
        <p:spPr>
          <a:xfrm>
            <a:off x="1554480" y="1691640"/>
            <a:ext cx="4206240" cy="502920"/>
          </a:xfrm>
          <a:prstGeom prst="rect">
            <a:avLst/>
          </a:prstGeom>
          <a:noFill/>
          <a:ln/>
        </p:spPr>
        <p:txBody>
          <a:bodyPr wrap="square" lIns="0" tIns="0" rIns="0" bIns="0" rtlCol="0" anchor="ctr"/>
          <a:lstStyle/>
          <a:p>
            <a:pPr indent="0" marL="0">
              <a:buNone/>
            </a:pPr>
            <a:r>
              <a:rPr lang="en-US" sz="1700" b="1" dirty="0">
                <a:solidFill>
                  <a:srgbClr val="14302A"/>
                </a:solidFill>
                <a:latin typeface="Cambria" pitchFamily="34" charset="0"/>
                <a:ea typeface="Cambria" pitchFamily="34" charset="-122"/>
                <a:cs typeface="Cambria" pitchFamily="34" charset="-120"/>
              </a:rPr>
              <a:t>Circular operations</a:t>
            </a:r>
            <a:endParaRPr lang="en-US" sz="1700" dirty="0"/>
          </a:p>
        </p:txBody>
      </p:sp>
      <p:sp>
        <p:nvSpPr>
          <p:cNvPr id="10" name="Text 7"/>
          <p:cNvSpPr txBox="1"/>
          <p:nvPr/>
        </p:nvSpPr>
        <p:spPr>
          <a:xfrm>
            <a:off x="777240" y="2377440"/>
            <a:ext cx="5029200" cy="3794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Spent substrate (~100–120 kg/day) goes to vermicompost and mulch for local farmers and nurseries: a small revenue line and a clean HPSPCB story.</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Inputs are agro-industrial by-products: sawmill dust and soy hulls.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Water: ~95 L/day into substrate plus cleaning; RO reject reused for floor washing.</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No pesticides or fungicides, ever; buyers test for residues.</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Rooftop solar (20–30 kWp) evaluated in Year 2 to offset daytime cooling.</a:t>
            </a:r>
            <a:endParaRPr lang="en-US" sz="1400" dirty="0"/>
          </a:p>
        </p:txBody>
      </p:sp>
      <p:sp>
        <p:nvSpPr>
          <p:cNvPr id="11" name="Shape 8"/>
          <p:cNvSpPr/>
          <p:nvPr/>
        </p:nvSpPr>
        <p:spPr>
          <a:xfrm>
            <a:off x="6217920" y="1463040"/>
            <a:ext cx="5440680" cy="4800600"/>
          </a:xfrm>
          <a:prstGeom prst="roundRect">
            <a:avLst>
              <a:gd name="adj" fmla="val 1524"/>
            </a:avLst>
          </a:prstGeom>
          <a:solidFill>
            <a:srgbClr val="FFFFFF"/>
          </a:solidFill>
          <a:ln w="9525">
            <a:solidFill>
              <a:srgbClr val="D3DED8"/>
            </a:solidFill>
            <a:prstDash val="solid"/>
          </a:ln>
        </p:spPr>
      </p:sp>
      <p:sp>
        <p:nvSpPr>
          <p:cNvPr id="12" name="Shape 9"/>
          <p:cNvSpPr/>
          <p:nvPr/>
        </p:nvSpPr>
        <p:spPr>
          <a:xfrm>
            <a:off x="6446520" y="1645920"/>
            <a:ext cx="594360" cy="594360"/>
          </a:xfrm>
          <a:prstGeom prst="ellipse">
            <a:avLst/>
          </a:prstGeom>
          <a:solidFill>
            <a:srgbClr val="D9962B"/>
          </a:solidFill>
          <a:ln w="12700">
            <a:solidFill>
              <a:srgbClr val="D9962B"/>
            </a:solidFill>
            <a:prstDash val="solid"/>
          </a:ln>
        </p:spPr>
      </p:sp>
      <p:pic>
        <p:nvPicPr>
          <p:cNvPr id="13" name="Image 1" descr="preencoded.png">    </p:cNvPr>
          <p:cNvPicPr>
            <a:picLocks noChangeAspect="1"/>
          </p:cNvPicPr>
          <p:nvPr/>
        </p:nvPicPr>
        <p:blipFill>
          <a:blip r:embed="rId2"/>
          <a:stretch>
            <a:fillRect/>
          </a:stretch>
        </p:blipFill>
        <p:spPr>
          <a:xfrm>
            <a:off x="6601054" y="1800454"/>
            <a:ext cx="285293" cy="285293"/>
          </a:xfrm>
          <a:prstGeom prst="rect">
            <a:avLst/>
          </a:prstGeom>
        </p:spPr>
      </p:pic>
      <p:sp>
        <p:nvSpPr>
          <p:cNvPr id="14" name="Text 10"/>
          <p:cNvSpPr txBox="1"/>
          <p:nvPr/>
        </p:nvSpPr>
        <p:spPr>
          <a:xfrm>
            <a:off x="7223760" y="1691640"/>
            <a:ext cx="4206240" cy="502920"/>
          </a:xfrm>
          <a:prstGeom prst="rect">
            <a:avLst/>
          </a:prstGeom>
          <a:noFill/>
          <a:ln/>
        </p:spPr>
        <p:txBody>
          <a:bodyPr wrap="square" lIns="0" tIns="0" rIns="0" bIns="0" rtlCol="0" anchor="ctr"/>
          <a:lstStyle/>
          <a:p>
            <a:pPr indent="0" marL="0">
              <a:buNone/>
            </a:pPr>
            <a:r>
              <a:rPr lang="en-US" sz="1700" b="1" dirty="0">
                <a:solidFill>
                  <a:srgbClr val="14302A"/>
                </a:solidFill>
                <a:latin typeface="Cambria" pitchFamily="34" charset="0"/>
                <a:ea typeface="Cambria" pitchFamily="34" charset="-122"/>
                <a:cs typeface="Cambria" pitchFamily="34" charset="-120"/>
              </a:rPr>
              <a:t>Worker safety</a:t>
            </a:r>
            <a:endParaRPr lang="en-US" sz="1700" dirty="0"/>
          </a:p>
        </p:txBody>
      </p:sp>
      <p:sp>
        <p:nvSpPr>
          <p:cNvPr id="15" name="Text 11"/>
          <p:cNvSpPr txBox="1"/>
          <p:nvPr/>
        </p:nvSpPr>
        <p:spPr>
          <a:xfrm>
            <a:off x="6446520" y="2377440"/>
            <a:ext cx="5029200" cy="3794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N95 / FFP2 masks in fruiting rooms: repeated spore exposure can cause hypersensitivity pneumonitis ("mushroom worker's lung").</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Autoclave: trained operators only, safety-valve tests, heat-resistant gloves, never open under pressure.</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IPA is flammable: small dispensed volumes; flame only after alcohol has evaporated; CO₂ extinguisher in lab.</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Slip-resistant epoxy in wet rooms; trolleys for loads over 20 kg.</a:t>
            </a:r>
            <a:endParaRPr lang="en-US" sz="1400" dirty="0"/>
          </a:p>
          <a:p>
            <a:pPr marL="342900" indent="-342900">
              <a:spcAft>
                <a:spcPts val="500"/>
              </a:spcAft>
              <a:buSzPct val="100000"/>
              <a:buChar char="•"/>
            </a:pPr>
            <a:r>
              <a:rPr lang="en-US" sz="1400" dirty="0">
                <a:solidFill>
                  <a:srgbClr val="1E2A26"/>
                </a:solidFill>
                <a:latin typeface="Calibri" pitchFamily="34" charset="0"/>
                <a:ea typeface="Calibri" pitchFamily="34" charset="-122"/>
                <a:cs typeface="Calibri" pitchFamily="34" charset="-120"/>
              </a:rPr>
              <a:t>First-aid kit and trained first-aider on every shift.</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430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20000"/>
          </a:blip>
          <a:stretch>
            <a:fillRect/>
          </a:stretch>
        </p:blipFill>
        <p:spPr>
          <a:xfrm>
            <a:off x="8503920" y="3291840"/>
            <a:ext cx="3108960" cy="3108960"/>
          </a:xfrm>
          <a:prstGeom prst="rect">
            <a:avLst/>
          </a:prstGeom>
        </p:spPr>
      </p:pic>
      <p:sp>
        <p:nvSpPr>
          <p:cNvPr id="3" name="Text 0"/>
          <p:cNvSpPr txBox="1"/>
          <p:nvPr/>
        </p:nvSpPr>
        <p:spPr>
          <a:xfrm>
            <a:off x="731520" y="731520"/>
            <a:ext cx="7315200" cy="320040"/>
          </a:xfrm>
          <a:prstGeom prst="rect">
            <a:avLst/>
          </a:prstGeom>
          <a:noFill/>
          <a:ln/>
        </p:spPr>
        <p:txBody>
          <a:bodyPr wrap="square" lIns="0" tIns="0" rIns="0" bIns="0" rtlCol="0" anchor="t"/>
          <a:lstStyle/>
          <a:p>
            <a:pPr indent="0" marL="0">
              <a:buNone/>
            </a:pPr>
            <a:r>
              <a:rPr lang="en-US" sz="1300" b="1" spc="400" kern="0" dirty="0">
                <a:solidFill>
                  <a:srgbClr val="D9962B"/>
                </a:solidFill>
                <a:latin typeface="Calibri" pitchFamily="34" charset="0"/>
                <a:ea typeface="Calibri" pitchFamily="34" charset="-122"/>
                <a:cs typeface="Calibri" pitchFamily="34" charset="-120"/>
              </a:rPr>
              <a:t>DECISIONS REQUESTED</a:t>
            </a:r>
            <a:endParaRPr lang="en-US" sz="1300" dirty="0"/>
          </a:p>
        </p:txBody>
      </p:sp>
      <p:sp>
        <p:nvSpPr>
          <p:cNvPr id="4" name="Text 1"/>
          <p:cNvSpPr txBox="1"/>
          <p:nvPr/>
        </p:nvSpPr>
        <p:spPr>
          <a:xfrm>
            <a:off x="731520" y="1097280"/>
            <a:ext cx="10058400" cy="82296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Next steps to start the plant</a:t>
            </a:r>
            <a:endParaRPr lang="en-US" sz="3800" dirty="0"/>
          </a:p>
        </p:txBody>
      </p:sp>
      <p:sp>
        <p:nvSpPr>
          <p:cNvPr id="5" name="Shape 2"/>
          <p:cNvSpPr/>
          <p:nvPr/>
        </p:nvSpPr>
        <p:spPr>
          <a:xfrm>
            <a:off x="731520" y="2194560"/>
            <a:ext cx="548640" cy="548640"/>
          </a:xfrm>
          <a:prstGeom prst="ellipse">
            <a:avLst/>
          </a:prstGeom>
          <a:solidFill>
            <a:srgbClr val="2E5E4E"/>
          </a:solidFill>
          <a:ln w="12700">
            <a:solidFill>
              <a:srgbClr val="8DB596"/>
            </a:solidFill>
            <a:prstDash val="solid"/>
          </a:ln>
        </p:spPr>
      </p:sp>
      <p:sp>
        <p:nvSpPr>
          <p:cNvPr id="6" name="Text 3"/>
          <p:cNvSpPr txBox="1"/>
          <p:nvPr/>
        </p:nvSpPr>
        <p:spPr>
          <a:xfrm>
            <a:off x="731520" y="2194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4"/>
          <p:cNvSpPr txBox="1"/>
          <p:nvPr/>
        </p:nvSpPr>
        <p:spPr>
          <a:xfrm>
            <a:off x="1508760" y="2167128"/>
            <a:ext cx="713232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Approve the phased plan</a:t>
            </a:r>
            <a:endParaRPr lang="en-US" sz="1600" dirty="0"/>
          </a:p>
        </p:txBody>
      </p:sp>
      <p:sp>
        <p:nvSpPr>
          <p:cNvPr id="8" name="Text 5"/>
          <p:cNvSpPr txBox="1"/>
          <p:nvPr/>
        </p:nvSpPr>
        <p:spPr>
          <a:xfrm>
            <a:off x="1508760" y="2487168"/>
            <a:ext cx="7132320" cy="320040"/>
          </a:xfrm>
          <a:prstGeom prst="rect">
            <a:avLst/>
          </a:prstGeom>
          <a:noFill/>
          <a:ln/>
        </p:spPr>
        <p:txBody>
          <a:bodyPr wrap="square" lIns="0" tIns="0" rIns="0" bIns="0" rtlCol="0" anchor="t"/>
          <a:lstStyle/>
          <a:p>
            <a:pPr indent="0" marL="0">
              <a:buNone/>
            </a:pPr>
            <a:r>
              <a:rPr lang="en-US" sz="1250" dirty="0">
                <a:solidFill>
                  <a:srgbClr val="8DB596"/>
                </a:solidFill>
                <a:latin typeface="Calibri" pitchFamily="34" charset="0"/>
                <a:ea typeface="Calibri" pitchFamily="34" charset="-122"/>
                <a:cs typeface="Calibri" pitchFamily="34" charset="-120"/>
              </a:rPr>
              <a:t>Phase 1 at 60 blocks/day with a ₹66 L budget, designed to expand to 90.</a:t>
            </a:r>
            <a:endParaRPr lang="en-US" sz="1250" dirty="0"/>
          </a:p>
        </p:txBody>
      </p:sp>
      <p:sp>
        <p:nvSpPr>
          <p:cNvPr id="9" name="Shape 6"/>
          <p:cNvSpPr/>
          <p:nvPr/>
        </p:nvSpPr>
        <p:spPr>
          <a:xfrm>
            <a:off x="731520" y="2999232"/>
            <a:ext cx="548640" cy="548640"/>
          </a:xfrm>
          <a:prstGeom prst="ellipse">
            <a:avLst/>
          </a:prstGeom>
          <a:solidFill>
            <a:srgbClr val="2E5E4E"/>
          </a:solidFill>
          <a:ln w="12700">
            <a:solidFill>
              <a:srgbClr val="8DB596"/>
            </a:solidFill>
            <a:prstDash val="solid"/>
          </a:ln>
        </p:spPr>
      </p:sp>
      <p:sp>
        <p:nvSpPr>
          <p:cNvPr id="10" name="Text 7"/>
          <p:cNvSpPr txBox="1"/>
          <p:nvPr/>
        </p:nvSpPr>
        <p:spPr>
          <a:xfrm>
            <a:off x="731520" y="2999232"/>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Text 8"/>
          <p:cNvSpPr txBox="1"/>
          <p:nvPr/>
        </p:nvSpPr>
        <p:spPr>
          <a:xfrm>
            <a:off x="1508760" y="2971800"/>
            <a:ext cx="713232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Confirm the site</a:t>
            </a:r>
            <a:endParaRPr lang="en-US" sz="1600" dirty="0"/>
          </a:p>
        </p:txBody>
      </p:sp>
      <p:sp>
        <p:nvSpPr>
          <p:cNvPr id="12" name="Text 9"/>
          <p:cNvSpPr txBox="1"/>
          <p:nvPr/>
        </p:nvSpPr>
        <p:spPr>
          <a:xfrm>
            <a:off x="1508760" y="3291840"/>
            <a:ext cx="7132320" cy="320040"/>
          </a:xfrm>
          <a:prstGeom prst="rect">
            <a:avLst/>
          </a:prstGeom>
          <a:noFill/>
          <a:ln/>
        </p:spPr>
        <p:txBody>
          <a:bodyPr wrap="square" lIns="0" tIns="0" rIns="0" bIns="0" rtlCol="0" anchor="t"/>
          <a:lstStyle/>
          <a:p>
            <a:pPr indent="0" marL="0">
              <a:buNone/>
            </a:pPr>
            <a:r>
              <a:rPr lang="en-US" sz="1250" dirty="0">
                <a:solidFill>
                  <a:srgbClr val="8DB596"/>
                </a:solidFill>
                <a:latin typeface="Calibri" pitchFamily="34" charset="0"/>
                <a:ea typeface="Calibri" pitchFamily="34" charset="-122"/>
                <a:cs typeface="Calibri" pitchFamily="34" charset="-120"/>
              </a:rPr>
              <a:t>Extend the current two-storey building or secure ~1,200 sq ft; run the existing space as the pilot.</a:t>
            </a:r>
            <a:endParaRPr lang="en-US" sz="1250" dirty="0"/>
          </a:p>
        </p:txBody>
      </p:sp>
      <p:sp>
        <p:nvSpPr>
          <p:cNvPr id="13" name="Shape 10"/>
          <p:cNvSpPr/>
          <p:nvPr/>
        </p:nvSpPr>
        <p:spPr>
          <a:xfrm>
            <a:off x="731520" y="3803904"/>
            <a:ext cx="548640" cy="548640"/>
          </a:xfrm>
          <a:prstGeom prst="ellipse">
            <a:avLst/>
          </a:prstGeom>
          <a:solidFill>
            <a:srgbClr val="2E5E4E"/>
          </a:solidFill>
          <a:ln w="12700">
            <a:solidFill>
              <a:srgbClr val="8DB596"/>
            </a:solidFill>
            <a:prstDash val="solid"/>
          </a:ln>
        </p:spPr>
      </p:sp>
      <p:sp>
        <p:nvSpPr>
          <p:cNvPr id="14" name="Text 11"/>
          <p:cNvSpPr txBox="1"/>
          <p:nvPr/>
        </p:nvSpPr>
        <p:spPr>
          <a:xfrm>
            <a:off x="731520" y="38039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Text 12"/>
          <p:cNvSpPr txBox="1"/>
          <p:nvPr/>
        </p:nvSpPr>
        <p:spPr>
          <a:xfrm>
            <a:off x="1508760" y="3776472"/>
            <a:ext cx="713232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Launch DPR and subsidy route</a:t>
            </a:r>
            <a:endParaRPr lang="en-US" sz="1600" dirty="0"/>
          </a:p>
        </p:txBody>
      </p:sp>
      <p:sp>
        <p:nvSpPr>
          <p:cNvPr id="16" name="Text 13"/>
          <p:cNvSpPr txBox="1"/>
          <p:nvPr/>
        </p:nvSpPr>
        <p:spPr>
          <a:xfrm>
            <a:off x="1508760" y="4096512"/>
            <a:ext cx="7132320" cy="320040"/>
          </a:xfrm>
          <a:prstGeom prst="rect">
            <a:avLst/>
          </a:prstGeom>
          <a:noFill/>
          <a:ln/>
        </p:spPr>
        <p:txBody>
          <a:bodyPr wrap="square" lIns="0" tIns="0" rIns="0" bIns="0" rtlCol="0" anchor="t"/>
          <a:lstStyle/>
          <a:p>
            <a:pPr indent="0" marL="0">
              <a:buNone/>
            </a:pPr>
            <a:r>
              <a:rPr lang="en-US" sz="1250" dirty="0">
                <a:solidFill>
                  <a:srgbClr val="8DB596"/>
                </a:solidFill>
                <a:latin typeface="Calibri" pitchFamily="34" charset="0"/>
                <a:ea typeface="Calibri" pitchFamily="34" charset="-122"/>
                <a:cs typeface="Calibri" pitchFamily="34" charset="-120"/>
              </a:rPr>
              <a:t>PMEGP-led application with DIC Hamirpur; collect 3 proformas per major item.</a:t>
            </a:r>
            <a:endParaRPr lang="en-US" sz="1250" dirty="0"/>
          </a:p>
        </p:txBody>
      </p:sp>
      <p:sp>
        <p:nvSpPr>
          <p:cNvPr id="17" name="Shape 14"/>
          <p:cNvSpPr/>
          <p:nvPr/>
        </p:nvSpPr>
        <p:spPr>
          <a:xfrm>
            <a:off x="731520" y="4608576"/>
            <a:ext cx="548640" cy="548640"/>
          </a:xfrm>
          <a:prstGeom prst="ellipse">
            <a:avLst/>
          </a:prstGeom>
          <a:solidFill>
            <a:srgbClr val="2E5E4E"/>
          </a:solidFill>
          <a:ln w="12700">
            <a:solidFill>
              <a:srgbClr val="8DB596"/>
            </a:solidFill>
            <a:prstDash val="solid"/>
          </a:ln>
        </p:spPr>
      </p:sp>
      <p:sp>
        <p:nvSpPr>
          <p:cNvPr id="18" name="Text 15"/>
          <p:cNvSpPr txBox="1"/>
          <p:nvPr/>
        </p:nvSpPr>
        <p:spPr>
          <a:xfrm>
            <a:off x="731520" y="460857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9" name="Text 16"/>
          <p:cNvSpPr txBox="1"/>
          <p:nvPr/>
        </p:nvSpPr>
        <p:spPr>
          <a:xfrm>
            <a:off x="1508760" y="4581144"/>
            <a:ext cx="713232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Place the culture order now</a:t>
            </a:r>
            <a:endParaRPr lang="en-US" sz="1600" dirty="0"/>
          </a:p>
        </p:txBody>
      </p:sp>
      <p:sp>
        <p:nvSpPr>
          <p:cNvPr id="20" name="Text 17"/>
          <p:cNvSpPr txBox="1"/>
          <p:nvPr/>
        </p:nvSpPr>
        <p:spPr>
          <a:xfrm>
            <a:off x="1508760" y="4901184"/>
            <a:ext cx="7132320" cy="320040"/>
          </a:xfrm>
          <a:prstGeom prst="rect">
            <a:avLst/>
          </a:prstGeom>
          <a:noFill/>
          <a:ln/>
        </p:spPr>
        <p:txBody>
          <a:bodyPr wrap="square" lIns="0" tIns="0" rIns="0" bIns="0" rtlCol="0" anchor="t"/>
          <a:lstStyle/>
          <a:p>
            <a:pPr indent="0" marL="0">
              <a:buNone/>
            </a:pPr>
            <a:r>
              <a:rPr lang="en-US" sz="1250" dirty="0">
                <a:solidFill>
                  <a:srgbClr val="8DB596"/>
                </a:solidFill>
                <a:latin typeface="Calibri" pitchFamily="34" charset="0"/>
                <a:ea typeface="Calibri" pitchFamily="34" charset="-122"/>
                <a:cs typeface="Calibri" pitchFamily="34" charset="-120"/>
              </a:rPr>
              <a:t>ICAR-DMR Solan has a ~2-month lead time; add a private-lab backup strain.</a:t>
            </a:r>
            <a:endParaRPr lang="en-US" sz="1250" dirty="0"/>
          </a:p>
        </p:txBody>
      </p:sp>
      <p:sp>
        <p:nvSpPr>
          <p:cNvPr id="21" name="Shape 18"/>
          <p:cNvSpPr/>
          <p:nvPr/>
        </p:nvSpPr>
        <p:spPr>
          <a:xfrm>
            <a:off x="731520" y="5413248"/>
            <a:ext cx="548640" cy="548640"/>
          </a:xfrm>
          <a:prstGeom prst="ellipse">
            <a:avLst/>
          </a:prstGeom>
          <a:solidFill>
            <a:srgbClr val="2E5E4E"/>
          </a:solidFill>
          <a:ln w="12700">
            <a:solidFill>
              <a:srgbClr val="8DB596"/>
            </a:solidFill>
            <a:prstDash val="solid"/>
          </a:ln>
        </p:spPr>
      </p:sp>
      <p:sp>
        <p:nvSpPr>
          <p:cNvPr id="22" name="Text 19"/>
          <p:cNvSpPr txBox="1"/>
          <p:nvPr/>
        </p:nvSpPr>
        <p:spPr>
          <a:xfrm>
            <a:off x="731520" y="54132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3" name="Text 20"/>
          <p:cNvSpPr txBox="1"/>
          <p:nvPr/>
        </p:nvSpPr>
        <p:spPr>
          <a:xfrm>
            <a:off x="1508760" y="5385816"/>
            <a:ext cx="7132320" cy="3200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Open buyer conversations</a:t>
            </a:r>
            <a:endParaRPr lang="en-US" sz="1600" dirty="0"/>
          </a:p>
        </p:txBody>
      </p:sp>
      <p:sp>
        <p:nvSpPr>
          <p:cNvPr id="24" name="Text 21"/>
          <p:cNvSpPr txBox="1"/>
          <p:nvPr/>
        </p:nvSpPr>
        <p:spPr>
          <a:xfrm>
            <a:off x="1508760" y="5705856"/>
            <a:ext cx="7132320" cy="320040"/>
          </a:xfrm>
          <a:prstGeom prst="rect">
            <a:avLst/>
          </a:prstGeom>
          <a:noFill/>
          <a:ln/>
        </p:spPr>
        <p:txBody>
          <a:bodyPr wrap="square" lIns="0" tIns="0" rIns="0" bIns="0" rtlCol="0" anchor="t"/>
          <a:lstStyle/>
          <a:p>
            <a:pPr indent="0" marL="0">
              <a:buNone/>
            </a:pPr>
            <a:r>
              <a:rPr lang="en-US" sz="1250" dirty="0">
                <a:solidFill>
                  <a:srgbClr val="8DB596"/>
                </a:solidFill>
                <a:latin typeface="Calibri" pitchFamily="34" charset="0"/>
                <a:ea typeface="Calibri" pitchFamily="34" charset="-122"/>
                <a:cs typeface="Calibri" pitchFamily="34" charset="-120"/>
              </a:rPr>
              <a:t>Line up 5–10 B2B buyers for pilot samples from Month 5.</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Lion's Mane Cultivation &amp; Processing Facility - Project Plan</dc:title>
  <dc:subject>PptxGenJS Presentation</dc:subject>
  <dc:creator>PptxGenJS</dc:creator>
  <cp:lastModifiedBy>PptxGenJS</cp:lastModifiedBy>
  <cp:revision>1</cp:revision>
  <dcterms:created xsi:type="dcterms:W3CDTF">2026-09-30T15:27:57Z</dcterms:created>
  <dcterms:modified xsi:type="dcterms:W3CDTF">2026-09-30T15:27:57Z</dcterms:modified>
</cp:coreProperties>
</file>